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Lst>
  <p:sldSz cx="18288000" cy="10287000"/>
  <p:notesSz cx="6858000" cy="9144000"/>
  <p:embeddedFontLst>
    <p:embeddedFont>
      <p:font typeface="Montserrat" panose="00000500000000000000" pitchFamily="2" charset="0"/>
      <p:regular r:id="rId37"/>
    </p:embeddedFont>
    <p:embeddedFont>
      <p:font typeface="Montserrat Bold" panose="00000800000000000000" charset="0"/>
      <p:regular r:id="rId38"/>
    </p:embeddedFont>
    <p:embeddedFont>
      <p:font typeface="Montserrat Ultra-Bold" panose="020B0604020202020204" charset="0"/>
      <p:regular r:id="rId39"/>
    </p:embeddedFont>
    <p:embeddedFont>
      <p:font typeface="Open Sans Bold" panose="020B0604020202020204" charset="0"/>
      <p:regular r:id="rId40"/>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52" d="100"/>
          <a:sy n="52" d="100"/>
        </p:scale>
        <p:origin x="850" y="6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3.fntdata"/><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font" Target="fonts/font1.fntdata"/><Relationship Id="rId40" Type="http://schemas.openxmlformats.org/officeDocument/2006/relationships/font" Target="fonts/font4.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font" Target="fonts/font2.fntdata"/></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6/14/2026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6/14/2026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6/14/2026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6/14/2026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6/14/2026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6/14/2026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6/14/2026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6/14/2026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6/14/2026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6/14/2026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6/14/2026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6/14/2026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jpeg"/><Relationship Id="rId1" Type="http://schemas.openxmlformats.org/officeDocument/2006/relationships/slideLayout" Target="../slideLayouts/slideLayout7.xml"/><Relationship Id="rId5" Type="http://schemas.openxmlformats.org/officeDocument/2006/relationships/image" Target="../media/image4.svg"/><Relationship Id="rId4" Type="http://schemas.openxmlformats.org/officeDocument/2006/relationships/image" Target="../media/image3.svg"/></Relationships>
</file>

<file path=ppt/slides/_rels/slide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18.png"/><Relationship Id="rId1" Type="http://schemas.openxmlformats.org/officeDocument/2006/relationships/slideLayout" Target="../slideLayouts/slideLayout7.xml"/><Relationship Id="rId4" Type="http://schemas.openxmlformats.org/officeDocument/2006/relationships/image" Target="../media/image22.png"/></Relationships>
</file>

<file path=ppt/slides/_rels/slide16.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5.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pn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41.png"/><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43.png"/><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hyperlink" Target="https://np.linkedin.com/in/nabaraj-ghimire" TargetMode="External"/><Relationship Id="rId5" Type="http://schemas.openxmlformats.org/officeDocument/2006/relationships/image" Target="../media/image4.svg"/><Relationship Id="rId4" Type="http://schemas.openxmlformats.org/officeDocument/2006/relationships/image" Target="../media/image3.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59" b="-9259"/>
            </a:stretch>
          </a:blipFill>
        </p:spPr>
      </p:sp>
      <p:sp>
        <p:nvSpPr>
          <p:cNvPr id="3" name="Freeform 3"/>
          <p:cNvSpPr/>
          <p:nvPr/>
        </p:nvSpPr>
        <p:spPr>
          <a:xfrm>
            <a:off x="-580528" y="5143500"/>
            <a:ext cx="6374432" cy="5431548"/>
          </a:xfrm>
          <a:custGeom>
            <a:avLst/>
            <a:gdLst/>
            <a:ahLst/>
            <a:cxnLst/>
            <a:rect l="l" t="t" r="r" b="b"/>
            <a:pathLst>
              <a:path w="6374432" h="5431548">
                <a:moveTo>
                  <a:pt x="0" y="0"/>
                </a:moveTo>
                <a:lnTo>
                  <a:pt x="6374432" y="0"/>
                </a:lnTo>
                <a:lnTo>
                  <a:pt x="6374432" y="5431548"/>
                </a:lnTo>
                <a:lnTo>
                  <a:pt x="0" y="5431548"/>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4" name="Freeform 4"/>
          <p:cNvSpPr/>
          <p:nvPr/>
        </p:nvSpPr>
        <p:spPr>
          <a:xfrm flipH="1" flipV="1">
            <a:off x="12275902" y="-805572"/>
            <a:ext cx="6374432" cy="5431548"/>
          </a:xfrm>
          <a:custGeom>
            <a:avLst/>
            <a:gdLst/>
            <a:ahLst/>
            <a:cxnLst/>
            <a:rect l="l" t="t" r="r" b="b"/>
            <a:pathLst>
              <a:path w="6374432" h="5431548">
                <a:moveTo>
                  <a:pt x="6374432" y="5431548"/>
                </a:moveTo>
                <a:lnTo>
                  <a:pt x="0" y="5431548"/>
                </a:lnTo>
                <a:lnTo>
                  <a:pt x="0" y="0"/>
                </a:lnTo>
                <a:lnTo>
                  <a:pt x="6374432" y="0"/>
                </a:lnTo>
                <a:lnTo>
                  <a:pt x="6374432" y="5431548"/>
                </a:lnTo>
                <a:close/>
              </a:path>
            </a:pathLst>
          </a:custGeom>
          <a:blipFill>
            <a:blip>
              <a:extLst>
                <a:ext uri="{96DAC541-7B7A-43D3-8B79-37D633B846F1}">
                  <asvg:svgBlip xmlns:asvg="http://schemas.microsoft.com/office/drawing/2016/SVG/main" r:embed="rId3"/>
                </a:ext>
              </a:extLst>
            </a:blip>
            <a:stretch>
              <a:fillRect/>
            </a:stretch>
          </a:blipFill>
        </p:spPr>
      </p:sp>
      <p:grpSp>
        <p:nvGrpSpPr>
          <p:cNvPr id="5" name="Group 5"/>
          <p:cNvGrpSpPr/>
          <p:nvPr/>
        </p:nvGrpSpPr>
        <p:grpSpPr>
          <a:xfrm>
            <a:off x="5013278" y="5786007"/>
            <a:ext cx="8261444" cy="772385"/>
            <a:chOff x="0" y="0"/>
            <a:chExt cx="1699886" cy="158927"/>
          </a:xfrm>
        </p:grpSpPr>
        <p:sp>
          <p:nvSpPr>
            <p:cNvPr id="6" name="Freeform 6"/>
            <p:cNvSpPr/>
            <p:nvPr/>
          </p:nvSpPr>
          <p:spPr>
            <a:xfrm>
              <a:off x="0" y="0"/>
              <a:ext cx="1699886" cy="158927"/>
            </a:xfrm>
            <a:custGeom>
              <a:avLst/>
              <a:gdLst/>
              <a:ahLst/>
              <a:cxnLst/>
              <a:rect l="l" t="t" r="r" b="b"/>
              <a:pathLst>
                <a:path w="1699886" h="158927">
                  <a:moveTo>
                    <a:pt x="73212" y="0"/>
                  </a:moveTo>
                  <a:lnTo>
                    <a:pt x="1626674" y="0"/>
                  </a:lnTo>
                  <a:cubicBezTo>
                    <a:pt x="1667107" y="0"/>
                    <a:pt x="1699886" y="32778"/>
                    <a:pt x="1699886" y="73212"/>
                  </a:cubicBezTo>
                  <a:lnTo>
                    <a:pt x="1699886" y="85715"/>
                  </a:lnTo>
                  <a:cubicBezTo>
                    <a:pt x="1699886" y="126149"/>
                    <a:pt x="1667107" y="158927"/>
                    <a:pt x="1626674" y="158927"/>
                  </a:cubicBezTo>
                  <a:lnTo>
                    <a:pt x="73212" y="158927"/>
                  </a:lnTo>
                  <a:cubicBezTo>
                    <a:pt x="32778" y="158927"/>
                    <a:pt x="0" y="126149"/>
                    <a:pt x="0" y="85715"/>
                  </a:cubicBezTo>
                  <a:lnTo>
                    <a:pt x="0" y="73212"/>
                  </a:lnTo>
                  <a:cubicBezTo>
                    <a:pt x="0" y="32778"/>
                    <a:pt x="32778" y="0"/>
                    <a:pt x="73212" y="0"/>
                  </a:cubicBezTo>
                  <a:close/>
                </a:path>
              </a:pathLst>
            </a:custGeom>
            <a:solidFill>
              <a:srgbClr val="334368"/>
            </a:solidFill>
          </p:spPr>
        </p:sp>
        <p:sp>
          <p:nvSpPr>
            <p:cNvPr id="7" name="TextBox 7"/>
            <p:cNvSpPr txBox="1"/>
            <p:nvPr/>
          </p:nvSpPr>
          <p:spPr>
            <a:xfrm>
              <a:off x="0" y="-38100"/>
              <a:ext cx="1699886" cy="197027"/>
            </a:xfrm>
            <a:prstGeom prst="rect">
              <a:avLst/>
            </a:prstGeom>
          </p:spPr>
          <p:txBody>
            <a:bodyPr lIns="50800" tIns="50800" rIns="50800" bIns="50800" rtlCol="0" anchor="ctr"/>
            <a:lstStyle/>
            <a:p>
              <a:pPr marL="0" lvl="0" indent="0" algn="ctr">
                <a:lnSpc>
                  <a:spcPts val="2659"/>
                </a:lnSpc>
                <a:spcBef>
                  <a:spcPct val="0"/>
                </a:spcBef>
              </a:pPr>
              <a:endParaRPr/>
            </a:p>
          </p:txBody>
        </p:sp>
      </p:grpSp>
      <p:sp>
        <p:nvSpPr>
          <p:cNvPr id="8" name="Freeform 8"/>
          <p:cNvSpPr/>
          <p:nvPr/>
        </p:nvSpPr>
        <p:spPr>
          <a:xfrm rot="5400000" flipH="1" flipV="1">
            <a:off x="15923080" y="-1557401"/>
            <a:ext cx="3461576" cy="4114800"/>
          </a:xfrm>
          <a:custGeom>
            <a:avLst/>
            <a:gdLst/>
            <a:ahLst/>
            <a:cxnLst/>
            <a:rect l="l" t="t" r="r" b="b"/>
            <a:pathLst>
              <a:path w="3461576" h="4114800">
                <a:moveTo>
                  <a:pt x="3461576" y="4114800"/>
                </a:moveTo>
                <a:lnTo>
                  <a:pt x="0" y="4114800"/>
                </a:lnTo>
                <a:lnTo>
                  <a:pt x="0" y="0"/>
                </a:lnTo>
                <a:lnTo>
                  <a:pt x="3461576" y="0"/>
                </a:lnTo>
                <a:lnTo>
                  <a:pt x="3461576" y="4114800"/>
                </a:lnTo>
                <a:close/>
              </a:path>
            </a:pathLst>
          </a:custGeom>
          <a:blipFill>
            <a:blip>
              <a:extLst>
                <a:ext uri="{96DAC541-7B7A-43D3-8B79-37D633B846F1}">
                  <asvg:svgBlip xmlns:asvg="http://schemas.microsoft.com/office/drawing/2016/SVG/main" r:embed="rId4"/>
                </a:ext>
              </a:extLst>
            </a:blip>
            <a:stretch>
              <a:fillRect/>
            </a:stretch>
          </a:blipFill>
        </p:spPr>
      </p:sp>
      <p:sp>
        <p:nvSpPr>
          <p:cNvPr id="9" name="Freeform 9"/>
          <p:cNvSpPr/>
          <p:nvPr/>
        </p:nvSpPr>
        <p:spPr>
          <a:xfrm rot="5400000">
            <a:off x="-1076725" y="7532662"/>
            <a:ext cx="3461576" cy="4114800"/>
          </a:xfrm>
          <a:custGeom>
            <a:avLst/>
            <a:gdLst/>
            <a:ahLst/>
            <a:cxnLst/>
            <a:rect l="l" t="t" r="r" b="b"/>
            <a:pathLst>
              <a:path w="3461576" h="4114800">
                <a:moveTo>
                  <a:pt x="0" y="0"/>
                </a:moveTo>
                <a:lnTo>
                  <a:pt x="3461576" y="0"/>
                </a:lnTo>
                <a:lnTo>
                  <a:pt x="3461576" y="4114800"/>
                </a:lnTo>
                <a:lnTo>
                  <a:pt x="0" y="4114800"/>
                </a:lnTo>
                <a:lnTo>
                  <a:pt x="0" y="0"/>
                </a:lnTo>
                <a:close/>
              </a:path>
            </a:pathLst>
          </a:custGeom>
          <a:blipFill>
            <a:blip>
              <a:extLst>
                <a:ext uri="{96DAC541-7B7A-43D3-8B79-37D633B846F1}">
                  <asvg:svgBlip xmlns:asvg="http://schemas.microsoft.com/office/drawing/2016/SVG/main" r:embed="rId4"/>
                </a:ext>
              </a:extLst>
            </a:blip>
            <a:stretch>
              <a:fillRect/>
            </a:stretch>
          </a:blipFill>
        </p:spPr>
      </p:sp>
      <p:sp>
        <p:nvSpPr>
          <p:cNvPr id="10" name="TextBox 10"/>
          <p:cNvSpPr txBox="1"/>
          <p:nvPr/>
        </p:nvSpPr>
        <p:spPr>
          <a:xfrm>
            <a:off x="1786995" y="3852432"/>
            <a:ext cx="14714010" cy="1761874"/>
          </a:xfrm>
          <a:prstGeom prst="rect">
            <a:avLst/>
          </a:prstGeom>
        </p:spPr>
        <p:txBody>
          <a:bodyPr lIns="0" tIns="0" rIns="0" bIns="0" rtlCol="0" anchor="t">
            <a:spAutoFit/>
          </a:bodyPr>
          <a:lstStyle/>
          <a:p>
            <a:pPr marL="0" lvl="0" indent="0" algn="ctr">
              <a:lnSpc>
                <a:spcPts val="6753"/>
              </a:lnSpc>
            </a:pPr>
            <a:r>
              <a:rPr lang="en-US" sz="6753" b="1">
                <a:solidFill>
                  <a:srgbClr val="324370"/>
                </a:solidFill>
                <a:latin typeface="Montserrat Ultra-Bold"/>
                <a:ea typeface="Montserrat Ultra-Bold"/>
                <a:cs typeface="Montserrat Ultra-Bold"/>
                <a:sym typeface="Montserrat Ultra-Bold"/>
              </a:rPr>
              <a:t>AI-NATIVE DATA APPLICATIONS WITH SQL MCP</a:t>
            </a:r>
          </a:p>
        </p:txBody>
      </p:sp>
      <p:sp>
        <p:nvSpPr>
          <p:cNvPr id="11" name="TextBox 11"/>
          <p:cNvSpPr txBox="1"/>
          <p:nvPr/>
        </p:nvSpPr>
        <p:spPr>
          <a:xfrm>
            <a:off x="5368405" y="5841994"/>
            <a:ext cx="7551191" cy="406144"/>
          </a:xfrm>
          <a:prstGeom prst="rect">
            <a:avLst/>
          </a:prstGeom>
        </p:spPr>
        <p:txBody>
          <a:bodyPr lIns="0" tIns="0" rIns="0" bIns="0" rtlCol="0" anchor="t">
            <a:spAutoFit/>
          </a:bodyPr>
          <a:lstStyle/>
          <a:p>
            <a:pPr marL="0" lvl="0" indent="0" algn="ctr">
              <a:lnSpc>
                <a:spcPts val="3339"/>
              </a:lnSpc>
            </a:pPr>
            <a:r>
              <a:rPr lang="en-US" sz="2385">
                <a:solidFill>
                  <a:srgbClr val="FFFFFF"/>
                </a:solidFill>
                <a:latin typeface="Montserrat"/>
                <a:ea typeface="Montserrat"/>
                <a:cs typeface="Montserrat"/>
                <a:sym typeface="Montserrat"/>
              </a:rPr>
              <a:t>Microsoft Build 2026, June 14 | Kathmandu, Nepal</a:t>
            </a:r>
          </a:p>
        </p:txBody>
      </p:sp>
      <p:sp>
        <p:nvSpPr>
          <p:cNvPr id="12" name="TextBox 12"/>
          <p:cNvSpPr txBox="1"/>
          <p:nvPr/>
        </p:nvSpPr>
        <p:spPr>
          <a:xfrm>
            <a:off x="5368405" y="8607412"/>
            <a:ext cx="8039260" cy="341102"/>
          </a:xfrm>
          <a:prstGeom prst="rect">
            <a:avLst/>
          </a:prstGeom>
        </p:spPr>
        <p:txBody>
          <a:bodyPr lIns="0" tIns="0" rIns="0" bIns="0" rtlCol="0" anchor="t">
            <a:spAutoFit/>
          </a:bodyPr>
          <a:lstStyle/>
          <a:p>
            <a:pPr marL="0" lvl="0" indent="0" algn="ctr">
              <a:lnSpc>
                <a:spcPts val="2724"/>
              </a:lnSpc>
            </a:pPr>
            <a:r>
              <a:rPr lang="en-US" sz="1945" b="1">
                <a:solidFill>
                  <a:srgbClr val="334368"/>
                </a:solidFill>
                <a:latin typeface="Montserrat Bold"/>
                <a:ea typeface="Montserrat Bold"/>
                <a:cs typeface="Montserrat Bold"/>
                <a:sym typeface="Montserrat Bold"/>
              </a:rPr>
              <a:t>Nabaraj Ghimire | Principal Software Engineer, SELISE Group</a:t>
            </a:r>
          </a:p>
        </p:txBody>
      </p:sp>
      <p:sp>
        <p:nvSpPr>
          <p:cNvPr id="13" name="Freeform 13"/>
          <p:cNvSpPr/>
          <p:nvPr/>
        </p:nvSpPr>
        <p:spPr>
          <a:xfrm flipH="1">
            <a:off x="14665939" y="6826231"/>
            <a:ext cx="5186723" cy="4114800"/>
          </a:xfrm>
          <a:custGeom>
            <a:avLst/>
            <a:gdLst/>
            <a:ahLst/>
            <a:cxnLst/>
            <a:rect l="l" t="t" r="r" b="b"/>
            <a:pathLst>
              <a:path w="5186723" h="4114800">
                <a:moveTo>
                  <a:pt x="5186722" y="0"/>
                </a:moveTo>
                <a:lnTo>
                  <a:pt x="0" y="0"/>
                </a:lnTo>
                <a:lnTo>
                  <a:pt x="0" y="4114800"/>
                </a:lnTo>
                <a:lnTo>
                  <a:pt x="5186722" y="4114800"/>
                </a:lnTo>
                <a:lnTo>
                  <a:pt x="5186722" y="0"/>
                </a:lnTo>
                <a:close/>
              </a:path>
            </a:pathLst>
          </a:custGeom>
          <a:blipFill>
            <a:blip>
              <a:extLst>
                <a:ext uri="{96DAC541-7B7A-43D3-8B79-37D633B846F1}">
                  <asvg:svgBlip xmlns:asvg="http://schemas.microsoft.com/office/drawing/2016/SVG/main" r:embed="rId5"/>
                </a:ext>
              </a:extLst>
            </a:blip>
            <a:stretch>
              <a:fillRect/>
            </a:stretch>
          </a:blipFill>
        </p:spPr>
      </p:sp>
      <p:sp>
        <p:nvSpPr>
          <p:cNvPr id="14" name="Freeform 14"/>
          <p:cNvSpPr/>
          <p:nvPr/>
        </p:nvSpPr>
        <p:spPr>
          <a:xfrm flipV="1">
            <a:off x="-1939298" y="-147198"/>
            <a:ext cx="5186723" cy="4114800"/>
          </a:xfrm>
          <a:custGeom>
            <a:avLst/>
            <a:gdLst/>
            <a:ahLst/>
            <a:cxnLst/>
            <a:rect l="l" t="t" r="r" b="b"/>
            <a:pathLst>
              <a:path w="5186723" h="4114800">
                <a:moveTo>
                  <a:pt x="0" y="4114800"/>
                </a:moveTo>
                <a:lnTo>
                  <a:pt x="5186722" y="4114800"/>
                </a:lnTo>
                <a:lnTo>
                  <a:pt x="5186722" y="0"/>
                </a:lnTo>
                <a:lnTo>
                  <a:pt x="0" y="0"/>
                </a:lnTo>
                <a:lnTo>
                  <a:pt x="0" y="4114800"/>
                </a:lnTo>
                <a:close/>
              </a:path>
            </a:pathLst>
          </a:custGeom>
          <a:blipFill>
            <a:blip>
              <a:extLst>
                <a:ext uri="{96DAC541-7B7A-43D3-8B79-37D633B846F1}">
                  <asvg:svgBlip xmlns:asvg="http://schemas.microsoft.com/office/drawing/2016/SVG/main" r:embed="rId5"/>
                </a:ext>
              </a:extLst>
            </a:blip>
            <a:stretch>
              <a:fillRect/>
            </a:stretch>
          </a:blipFill>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666" b="-666"/>
            </a:stretch>
          </a:blipFill>
        </p:spPr>
      </p:sp>
      <p:sp>
        <p:nvSpPr>
          <p:cNvPr id="3" name="Freeform 3"/>
          <p:cNvSpPr/>
          <p:nvPr/>
        </p:nvSpPr>
        <p:spPr>
          <a:xfrm>
            <a:off x="1028700" y="1028700"/>
            <a:ext cx="6043342" cy="8229600"/>
          </a:xfrm>
          <a:custGeom>
            <a:avLst/>
            <a:gdLst/>
            <a:ahLst/>
            <a:cxnLst/>
            <a:rect l="l" t="t" r="r" b="b"/>
            <a:pathLst>
              <a:path w="6043342" h="8229600">
                <a:moveTo>
                  <a:pt x="0" y="0"/>
                </a:moveTo>
                <a:lnTo>
                  <a:pt x="6043342" y="0"/>
                </a:lnTo>
                <a:lnTo>
                  <a:pt x="6043342" y="8229600"/>
                </a:lnTo>
                <a:lnTo>
                  <a:pt x="0" y="8229600"/>
                </a:lnTo>
                <a:lnTo>
                  <a:pt x="0" y="0"/>
                </a:lnTo>
                <a:close/>
              </a:path>
            </a:pathLst>
          </a:custGeom>
          <a:blipFill>
            <a:blip r:embed="rId3"/>
            <a:stretch>
              <a:fillRect l="-810" r="-810"/>
            </a:stretch>
          </a:blipFill>
        </p:spPr>
      </p:sp>
      <p:sp>
        <p:nvSpPr>
          <p:cNvPr id="4" name="TextBox 4"/>
          <p:cNvSpPr txBox="1"/>
          <p:nvPr/>
        </p:nvSpPr>
        <p:spPr>
          <a:xfrm>
            <a:off x="8061659" y="4775674"/>
            <a:ext cx="9172951" cy="895990"/>
          </a:xfrm>
          <a:prstGeom prst="rect">
            <a:avLst/>
          </a:prstGeom>
        </p:spPr>
        <p:txBody>
          <a:bodyPr lIns="0" tIns="0" rIns="0" bIns="0" rtlCol="0" anchor="t">
            <a:spAutoFit/>
          </a:bodyPr>
          <a:lstStyle/>
          <a:p>
            <a:pPr marL="0" lvl="0" indent="0" algn="just">
              <a:lnSpc>
                <a:spcPts val="3639"/>
              </a:lnSpc>
            </a:pPr>
            <a:r>
              <a:rPr lang="en-US" sz="2599">
                <a:solidFill>
                  <a:srgbClr val="324370"/>
                </a:solidFill>
                <a:latin typeface="Montserrat"/>
                <a:ea typeface="Montserrat"/>
                <a:cs typeface="Montserrat"/>
                <a:sym typeface="Montserrat"/>
              </a:rPr>
              <a:t>Enterprise data is locked inside databases.</a:t>
            </a:r>
          </a:p>
          <a:p>
            <a:pPr marL="0" lvl="0" indent="0" algn="just">
              <a:lnSpc>
                <a:spcPts val="3639"/>
              </a:lnSpc>
            </a:pPr>
            <a:endParaRPr lang="en-US" sz="2599">
              <a:solidFill>
                <a:srgbClr val="324370"/>
              </a:solidFill>
              <a:latin typeface="Montserrat"/>
              <a:ea typeface="Montserrat"/>
              <a:cs typeface="Montserrat"/>
              <a:sym typeface="Montserrat"/>
            </a:endParaRPr>
          </a:p>
        </p:txBody>
      </p:sp>
      <p:sp>
        <p:nvSpPr>
          <p:cNvPr id="5" name="TextBox 5"/>
          <p:cNvSpPr txBox="1"/>
          <p:nvPr/>
        </p:nvSpPr>
        <p:spPr>
          <a:xfrm>
            <a:off x="8061659" y="2144491"/>
            <a:ext cx="9197641" cy="1071288"/>
          </a:xfrm>
          <a:prstGeom prst="rect">
            <a:avLst/>
          </a:prstGeom>
        </p:spPr>
        <p:txBody>
          <a:bodyPr lIns="0" tIns="0" rIns="0" bIns="0" rtlCol="0" anchor="t">
            <a:spAutoFit/>
          </a:bodyPr>
          <a:lstStyle/>
          <a:p>
            <a:pPr marL="0" lvl="0" indent="0" algn="l">
              <a:lnSpc>
                <a:spcPts val="8051"/>
              </a:lnSpc>
            </a:pPr>
            <a:r>
              <a:rPr lang="en-US" sz="8051" b="1">
                <a:solidFill>
                  <a:srgbClr val="324370"/>
                </a:solidFill>
                <a:latin typeface="Montserrat Ultra-Bold"/>
                <a:ea typeface="Montserrat Ultra-Bold"/>
                <a:cs typeface="Montserrat Ultra-Bold"/>
                <a:sym typeface="Montserrat Ultra-Bold"/>
              </a:rPr>
              <a:t>WHY THIS TOPIC</a:t>
            </a:r>
          </a:p>
        </p:txBody>
      </p:sp>
      <p:grpSp>
        <p:nvGrpSpPr>
          <p:cNvPr id="6" name="Group 6"/>
          <p:cNvGrpSpPr/>
          <p:nvPr/>
        </p:nvGrpSpPr>
        <p:grpSpPr>
          <a:xfrm>
            <a:off x="8061659" y="3411268"/>
            <a:ext cx="9197641" cy="1231494"/>
            <a:chOff x="0" y="0"/>
            <a:chExt cx="2282038" cy="305547"/>
          </a:xfrm>
        </p:grpSpPr>
        <p:sp>
          <p:nvSpPr>
            <p:cNvPr id="7" name="Freeform 7"/>
            <p:cNvSpPr/>
            <p:nvPr/>
          </p:nvSpPr>
          <p:spPr>
            <a:xfrm>
              <a:off x="0" y="0"/>
              <a:ext cx="2282038" cy="305547"/>
            </a:xfrm>
            <a:custGeom>
              <a:avLst/>
              <a:gdLst/>
              <a:ahLst/>
              <a:cxnLst/>
              <a:rect l="l" t="t" r="r" b="b"/>
              <a:pathLst>
                <a:path w="2282038" h="305547">
                  <a:moveTo>
                    <a:pt x="0" y="0"/>
                  </a:moveTo>
                  <a:lnTo>
                    <a:pt x="2282038" y="0"/>
                  </a:lnTo>
                  <a:lnTo>
                    <a:pt x="2282038" y="305547"/>
                  </a:lnTo>
                  <a:lnTo>
                    <a:pt x="0" y="305547"/>
                  </a:lnTo>
                  <a:close/>
                </a:path>
              </a:pathLst>
            </a:custGeom>
            <a:solidFill>
              <a:srgbClr val="324370"/>
            </a:solidFill>
          </p:spPr>
        </p:sp>
        <p:sp>
          <p:nvSpPr>
            <p:cNvPr id="8" name="TextBox 8"/>
            <p:cNvSpPr txBox="1"/>
            <p:nvPr/>
          </p:nvSpPr>
          <p:spPr>
            <a:xfrm>
              <a:off x="0" y="-38100"/>
              <a:ext cx="2282038" cy="343647"/>
            </a:xfrm>
            <a:prstGeom prst="rect">
              <a:avLst/>
            </a:prstGeom>
          </p:spPr>
          <p:txBody>
            <a:bodyPr lIns="42129" tIns="42129" rIns="42129" bIns="42129" rtlCol="0" anchor="ctr"/>
            <a:lstStyle/>
            <a:p>
              <a:pPr marL="0" lvl="0" indent="0" algn="ctr">
                <a:lnSpc>
                  <a:spcPts val="2659"/>
                </a:lnSpc>
              </a:pPr>
              <a:endParaRPr/>
            </a:p>
          </p:txBody>
        </p:sp>
      </p:grpSp>
      <p:sp>
        <p:nvSpPr>
          <p:cNvPr id="9" name="TextBox 9"/>
          <p:cNvSpPr txBox="1"/>
          <p:nvPr/>
        </p:nvSpPr>
        <p:spPr>
          <a:xfrm>
            <a:off x="8061659" y="3663188"/>
            <a:ext cx="9172951" cy="845951"/>
          </a:xfrm>
          <a:prstGeom prst="rect">
            <a:avLst/>
          </a:prstGeom>
        </p:spPr>
        <p:txBody>
          <a:bodyPr lIns="0" tIns="0" rIns="0" bIns="0" rtlCol="0" anchor="t">
            <a:spAutoFit/>
          </a:bodyPr>
          <a:lstStyle/>
          <a:p>
            <a:pPr marL="0" lvl="0" indent="0" algn="ctr">
              <a:lnSpc>
                <a:spcPts val="6305"/>
              </a:lnSpc>
            </a:pPr>
            <a:r>
              <a:rPr lang="en-US" sz="6305" b="1">
                <a:solidFill>
                  <a:srgbClr val="FFFFFF"/>
                </a:solidFill>
                <a:latin typeface="Montserrat Ultra-Bold"/>
                <a:ea typeface="Montserrat Ultra-Bold"/>
                <a:cs typeface="Montserrat Ultra-Bold"/>
                <a:sym typeface="Montserrat Ultra-Bold"/>
              </a:rPr>
              <a:t>MATTERS</a:t>
            </a:r>
          </a:p>
        </p:txBody>
      </p:sp>
      <p:grpSp>
        <p:nvGrpSpPr>
          <p:cNvPr id="10" name="Group 10"/>
          <p:cNvGrpSpPr/>
          <p:nvPr/>
        </p:nvGrpSpPr>
        <p:grpSpPr>
          <a:xfrm>
            <a:off x="11284513" y="6664461"/>
            <a:ext cx="6315563" cy="2593839"/>
            <a:chOff x="0" y="0"/>
            <a:chExt cx="1566962" cy="643561"/>
          </a:xfrm>
        </p:grpSpPr>
        <p:sp>
          <p:nvSpPr>
            <p:cNvPr id="11" name="Freeform 11"/>
            <p:cNvSpPr/>
            <p:nvPr/>
          </p:nvSpPr>
          <p:spPr>
            <a:xfrm>
              <a:off x="0" y="0"/>
              <a:ext cx="1566962" cy="643561"/>
            </a:xfrm>
            <a:custGeom>
              <a:avLst/>
              <a:gdLst/>
              <a:ahLst/>
              <a:cxnLst/>
              <a:rect l="l" t="t" r="r" b="b"/>
              <a:pathLst>
                <a:path w="1566962" h="643561">
                  <a:moveTo>
                    <a:pt x="0" y="0"/>
                  </a:moveTo>
                  <a:lnTo>
                    <a:pt x="1566962" y="0"/>
                  </a:lnTo>
                  <a:lnTo>
                    <a:pt x="1566962" y="643561"/>
                  </a:lnTo>
                  <a:lnTo>
                    <a:pt x="0" y="643561"/>
                  </a:lnTo>
                  <a:close/>
                </a:path>
              </a:pathLst>
            </a:custGeom>
            <a:solidFill>
              <a:srgbClr val="546791"/>
            </a:solidFill>
          </p:spPr>
        </p:sp>
        <p:sp>
          <p:nvSpPr>
            <p:cNvPr id="12" name="TextBox 12"/>
            <p:cNvSpPr txBox="1"/>
            <p:nvPr/>
          </p:nvSpPr>
          <p:spPr>
            <a:xfrm>
              <a:off x="0" y="-38100"/>
              <a:ext cx="1566962" cy="681661"/>
            </a:xfrm>
            <a:prstGeom prst="rect">
              <a:avLst/>
            </a:prstGeom>
          </p:spPr>
          <p:txBody>
            <a:bodyPr lIns="42129" tIns="42129" rIns="42129" bIns="42129" rtlCol="0" anchor="ctr"/>
            <a:lstStyle/>
            <a:p>
              <a:pPr marL="0" lvl="0" indent="0" algn="ctr">
                <a:lnSpc>
                  <a:spcPts val="2659"/>
                </a:lnSpc>
              </a:pPr>
              <a:endParaRPr/>
            </a:p>
          </p:txBody>
        </p:sp>
      </p:grpSp>
      <p:sp>
        <p:nvSpPr>
          <p:cNvPr id="13" name="TextBox 13"/>
          <p:cNvSpPr txBox="1"/>
          <p:nvPr/>
        </p:nvSpPr>
        <p:spPr>
          <a:xfrm>
            <a:off x="12197235" y="7041794"/>
            <a:ext cx="923458" cy="629423"/>
          </a:xfrm>
          <a:prstGeom prst="rect">
            <a:avLst/>
          </a:prstGeom>
        </p:spPr>
        <p:txBody>
          <a:bodyPr lIns="0" tIns="0" rIns="0" bIns="0" rtlCol="0" anchor="t">
            <a:spAutoFit/>
          </a:bodyPr>
          <a:lstStyle/>
          <a:p>
            <a:pPr marL="0" lvl="0" indent="0" algn="ctr">
              <a:lnSpc>
                <a:spcPts val="4758"/>
              </a:lnSpc>
            </a:pPr>
            <a:r>
              <a:rPr lang="en-US" sz="4758" b="1">
                <a:solidFill>
                  <a:srgbClr val="FFFFFF"/>
                </a:solidFill>
                <a:latin typeface="Montserrat Ultra-Bold"/>
                <a:ea typeface="Montserrat Ultra-Bold"/>
                <a:cs typeface="Montserrat Ultra-Bold"/>
                <a:sym typeface="Montserrat Ultra-Bold"/>
              </a:rPr>
              <a:t>2</a:t>
            </a:r>
          </a:p>
        </p:txBody>
      </p:sp>
      <p:sp>
        <p:nvSpPr>
          <p:cNvPr id="14" name="TextBox 14"/>
          <p:cNvSpPr txBox="1"/>
          <p:nvPr/>
        </p:nvSpPr>
        <p:spPr>
          <a:xfrm>
            <a:off x="11615682" y="7642736"/>
            <a:ext cx="5484278" cy="762000"/>
          </a:xfrm>
          <a:prstGeom prst="rect">
            <a:avLst/>
          </a:prstGeom>
        </p:spPr>
        <p:txBody>
          <a:bodyPr lIns="0" tIns="0" rIns="0" bIns="0" rtlCol="0" anchor="t">
            <a:spAutoFit/>
          </a:bodyPr>
          <a:lstStyle/>
          <a:p>
            <a:pPr marL="0" lvl="0" indent="0" algn="ctr">
              <a:lnSpc>
                <a:spcPts val="2099"/>
              </a:lnSpc>
            </a:pPr>
            <a:r>
              <a:rPr lang="en-US" sz="1499">
                <a:solidFill>
                  <a:srgbClr val="FFFFFF"/>
                </a:solidFill>
                <a:latin typeface="Montserrat"/>
                <a:ea typeface="Montserrat"/>
                <a:cs typeface="Montserrat"/>
                <a:sym typeface="Montserrat"/>
              </a:rPr>
              <a:t>MCP: open standard by Anthropic (Nov 2024) connecting AI models to external tools and data with a common protocol instead of custom integrations for every system.</a:t>
            </a:r>
          </a:p>
        </p:txBody>
      </p:sp>
      <p:grpSp>
        <p:nvGrpSpPr>
          <p:cNvPr id="15" name="Group 15"/>
          <p:cNvGrpSpPr/>
          <p:nvPr/>
        </p:nvGrpSpPr>
        <p:grpSpPr>
          <a:xfrm>
            <a:off x="8061659" y="6664461"/>
            <a:ext cx="2748902" cy="2593839"/>
            <a:chOff x="0" y="0"/>
            <a:chExt cx="682033" cy="643561"/>
          </a:xfrm>
        </p:grpSpPr>
        <p:sp>
          <p:nvSpPr>
            <p:cNvPr id="16" name="Freeform 16"/>
            <p:cNvSpPr/>
            <p:nvPr/>
          </p:nvSpPr>
          <p:spPr>
            <a:xfrm>
              <a:off x="0" y="0"/>
              <a:ext cx="682033" cy="643561"/>
            </a:xfrm>
            <a:custGeom>
              <a:avLst/>
              <a:gdLst/>
              <a:ahLst/>
              <a:cxnLst/>
              <a:rect l="l" t="t" r="r" b="b"/>
              <a:pathLst>
                <a:path w="682033" h="643561">
                  <a:moveTo>
                    <a:pt x="0" y="0"/>
                  </a:moveTo>
                  <a:lnTo>
                    <a:pt x="682033" y="0"/>
                  </a:lnTo>
                  <a:lnTo>
                    <a:pt x="682033" y="643561"/>
                  </a:lnTo>
                  <a:lnTo>
                    <a:pt x="0" y="643561"/>
                  </a:lnTo>
                  <a:close/>
                </a:path>
              </a:pathLst>
            </a:custGeom>
            <a:solidFill>
              <a:srgbClr val="8093BB"/>
            </a:solidFill>
          </p:spPr>
        </p:sp>
        <p:sp>
          <p:nvSpPr>
            <p:cNvPr id="17" name="TextBox 17"/>
            <p:cNvSpPr txBox="1"/>
            <p:nvPr/>
          </p:nvSpPr>
          <p:spPr>
            <a:xfrm>
              <a:off x="0" y="-38100"/>
              <a:ext cx="682033" cy="681661"/>
            </a:xfrm>
            <a:prstGeom prst="rect">
              <a:avLst/>
            </a:prstGeom>
          </p:spPr>
          <p:txBody>
            <a:bodyPr lIns="42129" tIns="42129" rIns="42129" bIns="42129" rtlCol="0" anchor="ctr"/>
            <a:lstStyle/>
            <a:p>
              <a:pPr marL="0" lvl="0" indent="0" algn="ctr">
                <a:lnSpc>
                  <a:spcPts val="2659"/>
                </a:lnSpc>
              </a:pPr>
              <a:endParaRPr/>
            </a:p>
          </p:txBody>
        </p:sp>
      </p:grpSp>
      <p:sp>
        <p:nvSpPr>
          <p:cNvPr id="18" name="TextBox 18"/>
          <p:cNvSpPr txBox="1"/>
          <p:nvPr/>
        </p:nvSpPr>
        <p:spPr>
          <a:xfrm>
            <a:off x="8974381" y="7041794"/>
            <a:ext cx="923458" cy="629423"/>
          </a:xfrm>
          <a:prstGeom prst="rect">
            <a:avLst/>
          </a:prstGeom>
        </p:spPr>
        <p:txBody>
          <a:bodyPr lIns="0" tIns="0" rIns="0" bIns="0" rtlCol="0" anchor="t">
            <a:spAutoFit/>
          </a:bodyPr>
          <a:lstStyle/>
          <a:p>
            <a:pPr marL="0" lvl="0" indent="0" algn="ctr">
              <a:lnSpc>
                <a:spcPts val="4758"/>
              </a:lnSpc>
            </a:pPr>
            <a:r>
              <a:rPr lang="en-US" sz="4758" b="1">
                <a:solidFill>
                  <a:srgbClr val="FFFFFF"/>
                </a:solidFill>
                <a:latin typeface="Montserrat Ultra-Bold"/>
                <a:ea typeface="Montserrat Ultra-Bold"/>
                <a:cs typeface="Montserrat Ultra-Bold"/>
                <a:sym typeface="Montserrat Ultra-Bold"/>
              </a:rPr>
              <a:t>1</a:t>
            </a:r>
          </a:p>
        </p:txBody>
      </p:sp>
      <p:sp>
        <p:nvSpPr>
          <p:cNvPr id="19" name="TextBox 19"/>
          <p:cNvSpPr txBox="1"/>
          <p:nvPr/>
        </p:nvSpPr>
        <p:spPr>
          <a:xfrm>
            <a:off x="8392828" y="7633211"/>
            <a:ext cx="2086564" cy="1332674"/>
          </a:xfrm>
          <a:prstGeom prst="rect">
            <a:avLst/>
          </a:prstGeom>
        </p:spPr>
        <p:txBody>
          <a:bodyPr lIns="0" tIns="0" rIns="0" bIns="0" rtlCol="0" anchor="t">
            <a:spAutoFit/>
          </a:bodyPr>
          <a:lstStyle/>
          <a:p>
            <a:pPr marL="0" lvl="0" indent="0" algn="ctr">
              <a:lnSpc>
                <a:spcPts val="2145"/>
              </a:lnSpc>
            </a:pPr>
            <a:r>
              <a:rPr lang="en-US" sz="1532">
                <a:solidFill>
                  <a:srgbClr val="FFFFFF"/>
                </a:solidFill>
                <a:latin typeface="Montserrat"/>
                <a:ea typeface="Montserrat"/>
                <a:cs typeface="Montserrat"/>
                <a:sym typeface="Montserrat"/>
              </a:rPr>
              <a:t>SQL is the universal standard language for relational databases and enterprise data.</a:t>
            </a:r>
          </a:p>
        </p:txBody>
      </p:sp>
      <p:sp>
        <p:nvSpPr>
          <p:cNvPr id="20" name="TextBox 20"/>
          <p:cNvSpPr txBox="1"/>
          <p:nvPr/>
        </p:nvSpPr>
        <p:spPr>
          <a:xfrm>
            <a:off x="15764299" y="741861"/>
            <a:ext cx="1473411" cy="776539"/>
          </a:xfrm>
          <a:prstGeom prst="rect">
            <a:avLst/>
          </a:prstGeom>
        </p:spPr>
        <p:txBody>
          <a:bodyPr lIns="0" tIns="0" rIns="0" bIns="0" rtlCol="0" anchor="t">
            <a:spAutoFit/>
          </a:bodyPr>
          <a:lstStyle/>
          <a:p>
            <a:pPr marL="0" lvl="0" indent="0" algn="ctr">
              <a:lnSpc>
                <a:spcPts val="5822"/>
              </a:lnSpc>
            </a:pPr>
            <a:r>
              <a:rPr lang="en-US" sz="5822" b="1">
                <a:solidFill>
                  <a:srgbClr val="8093BB"/>
                </a:solidFill>
                <a:latin typeface="Montserrat Bold"/>
                <a:ea typeface="Montserrat Bold"/>
                <a:cs typeface="Montserrat Bold"/>
                <a:sym typeface="Montserrat Bold"/>
              </a:rPr>
              <a:t>02</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666" b="-666"/>
            </a:stretch>
          </a:blipFill>
        </p:spPr>
      </p:sp>
      <p:sp>
        <p:nvSpPr>
          <p:cNvPr id="3" name="TextBox 3"/>
          <p:cNvSpPr txBox="1"/>
          <p:nvPr/>
        </p:nvSpPr>
        <p:spPr>
          <a:xfrm>
            <a:off x="4773314" y="1123950"/>
            <a:ext cx="8741372" cy="592203"/>
          </a:xfrm>
          <a:prstGeom prst="rect">
            <a:avLst/>
          </a:prstGeom>
        </p:spPr>
        <p:txBody>
          <a:bodyPr lIns="0" tIns="0" rIns="0" bIns="0" rtlCol="0" anchor="t">
            <a:spAutoFit/>
          </a:bodyPr>
          <a:lstStyle/>
          <a:p>
            <a:pPr marL="0" lvl="0" indent="0" algn="ctr">
              <a:lnSpc>
                <a:spcPts val="4551"/>
              </a:lnSpc>
            </a:pPr>
            <a:r>
              <a:rPr lang="en-US" sz="4551" b="1">
                <a:solidFill>
                  <a:srgbClr val="324370"/>
                </a:solidFill>
                <a:latin typeface="Montserrat Ultra-Bold"/>
                <a:ea typeface="Montserrat Ultra-Bold"/>
                <a:cs typeface="Montserrat Ultra-Bold"/>
                <a:sym typeface="Montserrat Ultra-Bold"/>
              </a:rPr>
              <a:t>WHY MCP MATTERS</a:t>
            </a:r>
          </a:p>
        </p:txBody>
      </p:sp>
      <p:sp>
        <p:nvSpPr>
          <p:cNvPr id="4" name="TextBox 4"/>
          <p:cNvSpPr txBox="1"/>
          <p:nvPr/>
        </p:nvSpPr>
        <p:spPr>
          <a:xfrm>
            <a:off x="1028700" y="2675223"/>
            <a:ext cx="16230600" cy="1244532"/>
          </a:xfrm>
          <a:prstGeom prst="rect">
            <a:avLst/>
          </a:prstGeom>
        </p:spPr>
        <p:txBody>
          <a:bodyPr lIns="0" tIns="0" rIns="0" bIns="0" rtlCol="0" anchor="t">
            <a:spAutoFit/>
          </a:bodyPr>
          <a:lstStyle/>
          <a:p>
            <a:pPr marL="0" lvl="0" indent="0" algn="just">
              <a:lnSpc>
                <a:spcPts val="3328"/>
              </a:lnSpc>
            </a:pPr>
            <a:r>
              <a:rPr lang="en-US" sz="2377">
                <a:solidFill>
                  <a:srgbClr val="324370"/>
                </a:solidFill>
                <a:latin typeface="Montserrat"/>
                <a:ea typeface="Montserrat"/>
                <a:cs typeface="Montserrat"/>
                <a:sym typeface="Montserrat"/>
              </a:rPr>
              <a:t>Users now expect conversational access to data. Instead of asking IT guy for a new report, users want to ask: “Find inventory items with missing documents.”</a:t>
            </a:r>
          </a:p>
          <a:p>
            <a:pPr marL="0" lvl="0" indent="0" algn="just">
              <a:lnSpc>
                <a:spcPts val="3328"/>
              </a:lnSpc>
            </a:pPr>
            <a:endParaRPr lang="en-US" sz="2377">
              <a:solidFill>
                <a:srgbClr val="324370"/>
              </a:solidFill>
              <a:latin typeface="Montserrat"/>
              <a:ea typeface="Montserrat"/>
              <a:cs typeface="Montserrat"/>
              <a:sym typeface="Montserrat"/>
            </a:endParaRPr>
          </a:p>
        </p:txBody>
      </p:sp>
      <p:sp>
        <p:nvSpPr>
          <p:cNvPr id="5" name="Freeform 5"/>
          <p:cNvSpPr/>
          <p:nvPr/>
        </p:nvSpPr>
        <p:spPr>
          <a:xfrm>
            <a:off x="1028700" y="6853144"/>
            <a:ext cx="16230600" cy="2405156"/>
          </a:xfrm>
          <a:custGeom>
            <a:avLst/>
            <a:gdLst/>
            <a:ahLst/>
            <a:cxnLst/>
            <a:rect l="l" t="t" r="r" b="b"/>
            <a:pathLst>
              <a:path w="16230600" h="2405156">
                <a:moveTo>
                  <a:pt x="0" y="0"/>
                </a:moveTo>
                <a:lnTo>
                  <a:pt x="16230600" y="0"/>
                </a:lnTo>
                <a:lnTo>
                  <a:pt x="16230600" y="2405156"/>
                </a:lnTo>
                <a:lnTo>
                  <a:pt x="0" y="2405156"/>
                </a:lnTo>
                <a:lnTo>
                  <a:pt x="0" y="0"/>
                </a:lnTo>
                <a:close/>
              </a:path>
            </a:pathLst>
          </a:custGeom>
          <a:blipFill>
            <a:blip r:embed="rId3"/>
            <a:stretch>
              <a:fillRect t="-142325" b="-142325"/>
            </a:stretch>
          </a:blipFill>
        </p:spPr>
      </p:sp>
      <p:grpSp>
        <p:nvGrpSpPr>
          <p:cNvPr id="6" name="Group 6"/>
          <p:cNvGrpSpPr/>
          <p:nvPr/>
        </p:nvGrpSpPr>
        <p:grpSpPr>
          <a:xfrm>
            <a:off x="1028700" y="5143500"/>
            <a:ext cx="5410200" cy="2101888"/>
            <a:chOff x="0" y="0"/>
            <a:chExt cx="1378861" cy="535694"/>
          </a:xfrm>
        </p:grpSpPr>
        <p:sp>
          <p:nvSpPr>
            <p:cNvPr id="7" name="Freeform 7"/>
            <p:cNvSpPr/>
            <p:nvPr/>
          </p:nvSpPr>
          <p:spPr>
            <a:xfrm>
              <a:off x="0" y="0"/>
              <a:ext cx="1378861" cy="535694"/>
            </a:xfrm>
            <a:custGeom>
              <a:avLst/>
              <a:gdLst/>
              <a:ahLst/>
              <a:cxnLst/>
              <a:rect l="l" t="t" r="r" b="b"/>
              <a:pathLst>
                <a:path w="1378861" h="535694">
                  <a:moveTo>
                    <a:pt x="0" y="0"/>
                  </a:moveTo>
                  <a:lnTo>
                    <a:pt x="1378861" y="0"/>
                  </a:lnTo>
                  <a:lnTo>
                    <a:pt x="1378861" y="535694"/>
                  </a:lnTo>
                  <a:lnTo>
                    <a:pt x="0" y="535694"/>
                  </a:lnTo>
                  <a:close/>
                </a:path>
              </a:pathLst>
            </a:custGeom>
            <a:solidFill>
              <a:srgbClr val="8093BB"/>
            </a:solidFill>
          </p:spPr>
        </p:sp>
        <p:sp>
          <p:nvSpPr>
            <p:cNvPr id="8" name="TextBox 8"/>
            <p:cNvSpPr txBox="1"/>
            <p:nvPr/>
          </p:nvSpPr>
          <p:spPr>
            <a:xfrm>
              <a:off x="0" y="-38100"/>
              <a:ext cx="1378861" cy="573794"/>
            </a:xfrm>
            <a:prstGeom prst="rect">
              <a:avLst/>
            </a:prstGeom>
          </p:spPr>
          <p:txBody>
            <a:bodyPr lIns="42129" tIns="42129" rIns="42129" bIns="42129" rtlCol="0" anchor="ctr"/>
            <a:lstStyle/>
            <a:p>
              <a:pPr marL="0" lvl="0" indent="0" algn="ctr">
                <a:lnSpc>
                  <a:spcPts val="2659"/>
                </a:lnSpc>
              </a:pPr>
              <a:endParaRPr/>
            </a:p>
          </p:txBody>
        </p:sp>
      </p:grpSp>
      <p:grpSp>
        <p:nvGrpSpPr>
          <p:cNvPr id="9" name="Group 9"/>
          <p:cNvGrpSpPr/>
          <p:nvPr/>
        </p:nvGrpSpPr>
        <p:grpSpPr>
          <a:xfrm>
            <a:off x="6438900" y="5143500"/>
            <a:ext cx="5410200" cy="2101888"/>
            <a:chOff x="0" y="0"/>
            <a:chExt cx="1378861" cy="535694"/>
          </a:xfrm>
        </p:grpSpPr>
        <p:sp>
          <p:nvSpPr>
            <p:cNvPr id="10" name="Freeform 10"/>
            <p:cNvSpPr/>
            <p:nvPr/>
          </p:nvSpPr>
          <p:spPr>
            <a:xfrm>
              <a:off x="0" y="0"/>
              <a:ext cx="1378861" cy="535694"/>
            </a:xfrm>
            <a:custGeom>
              <a:avLst/>
              <a:gdLst/>
              <a:ahLst/>
              <a:cxnLst/>
              <a:rect l="l" t="t" r="r" b="b"/>
              <a:pathLst>
                <a:path w="1378861" h="535694">
                  <a:moveTo>
                    <a:pt x="0" y="0"/>
                  </a:moveTo>
                  <a:lnTo>
                    <a:pt x="1378861" y="0"/>
                  </a:lnTo>
                  <a:lnTo>
                    <a:pt x="1378861" y="535694"/>
                  </a:lnTo>
                  <a:lnTo>
                    <a:pt x="0" y="535694"/>
                  </a:lnTo>
                  <a:close/>
                </a:path>
              </a:pathLst>
            </a:custGeom>
            <a:solidFill>
              <a:srgbClr val="546791"/>
            </a:solidFill>
          </p:spPr>
        </p:sp>
        <p:sp>
          <p:nvSpPr>
            <p:cNvPr id="11" name="TextBox 11"/>
            <p:cNvSpPr txBox="1"/>
            <p:nvPr/>
          </p:nvSpPr>
          <p:spPr>
            <a:xfrm>
              <a:off x="0" y="-38100"/>
              <a:ext cx="1378861" cy="573794"/>
            </a:xfrm>
            <a:prstGeom prst="rect">
              <a:avLst/>
            </a:prstGeom>
          </p:spPr>
          <p:txBody>
            <a:bodyPr lIns="42129" tIns="42129" rIns="42129" bIns="42129" rtlCol="0" anchor="ctr"/>
            <a:lstStyle/>
            <a:p>
              <a:pPr marL="0" lvl="0" indent="0" algn="ctr">
                <a:lnSpc>
                  <a:spcPts val="2659"/>
                </a:lnSpc>
              </a:pPr>
              <a:endParaRPr/>
            </a:p>
          </p:txBody>
        </p:sp>
      </p:grpSp>
      <p:grpSp>
        <p:nvGrpSpPr>
          <p:cNvPr id="12" name="Group 12"/>
          <p:cNvGrpSpPr/>
          <p:nvPr/>
        </p:nvGrpSpPr>
        <p:grpSpPr>
          <a:xfrm>
            <a:off x="11849100" y="5143500"/>
            <a:ext cx="5410200" cy="2101888"/>
            <a:chOff x="0" y="0"/>
            <a:chExt cx="1378861" cy="535694"/>
          </a:xfrm>
        </p:grpSpPr>
        <p:sp>
          <p:nvSpPr>
            <p:cNvPr id="13" name="Freeform 13"/>
            <p:cNvSpPr/>
            <p:nvPr/>
          </p:nvSpPr>
          <p:spPr>
            <a:xfrm>
              <a:off x="0" y="0"/>
              <a:ext cx="1378861" cy="535694"/>
            </a:xfrm>
            <a:custGeom>
              <a:avLst/>
              <a:gdLst/>
              <a:ahLst/>
              <a:cxnLst/>
              <a:rect l="l" t="t" r="r" b="b"/>
              <a:pathLst>
                <a:path w="1378861" h="535694">
                  <a:moveTo>
                    <a:pt x="0" y="0"/>
                  </a:moveTo>
                  <a:lnTo>
                    <a:pt x="1378861" y="0"/>
                  </a:lnTo>
                  <a:lnTo>
                    <a:pt x="1378861" y="535694"/>
                  </a:lnTo>
                  <a:lnTo>
                    <a:pt x="0" y="535694"/>
                  </a:lnTo>
                  <a:close/>
                </a:path>
              </a:pathLst>
            </a:custGeom>
            <a:solidFill>
              <a:srgbClr val="334368"/>
            </a:solidFill>
          </p:spPr>
        </p:sp>
        <p:sp>
          <p:nvSpPr>
            <p:cNvPr id="14" name="TextBox 14"/>
            <p:cNvSpPr txBox="1"/>
            <p:nvPr/>
          </p:nvSpPr>
          <p:spPr>
            <a:xfrm>
              <a:off x="0" y="-38100"/>
              <a:ext cx="1378861" cy="573794"/>
            </a:xfrm>
            <a:prstGeom prst="rect">
              <a:avLst/>
            </a:prstGeom>
          </p:spPr>
          <p:txBody>
            <a:bodyPr lIns="42129" tIns="42129" rIns="42129" bIns="42129" rtlCol="0" anchor="ctr"/>
            <a:lstStyle/>
            <a:p>
              <a:pPr marL="0" lvl="0" indent="0" algn="ctr">
                <a:lnSpc>
                  <a:spcPts val="2659"/>
                </a:lnSpc>
              </a:pPr>
              <a:endParaRPr/>
            </a:p>
          </p:txBody>
        </p:sp>
      </p:grpSp>
      <p:grpSp>
        <p:nvGrpSpPr>
          <p:cNvPr id="15" name="Group 15"/>
          <p:cNvGrpSpPr/>
          <p:nvPr/>
        </p:nvGrpSpPr>
        <p:grpSpPr>
          <a:xfrm>
            <a:off x="2028062" y="5470504"/>
            <a:ext cx="3411476" cy="1425307"/>
            <a:chOff x="0" y="0"/>
            <a:chExt cx="4548635" cy="1900410"/>
          </a:xfrm>
        </p:grpSpPr>
        <p:sp>
          <p:nvSpPr>
            <p:cNvPr id="16" name="TextBox 16"/>
            <p:cNvSpPr txBox="1"/>
            <p:nvPr/>
          </p:nvSpPr>
          <p:spPr>
            <a:xfrm>
              <a:off x="0" y="95250"/>
              <a:ext cx="1766549" cy="986614"/>
            </a:xfrm>
            <a:prstGeom prst="rect">
              <a:avLst/>
            </a:prstGeom>
          </p:spPr>
          <p:txBody>
            <a:bodyPr lIns="0" tIns="0" rIns="0" bIns="0" rtlCol="0" anchor="t">
              <a:spAutoFit/>
            </a:bodyPr>
            <a:lstStyle/>
            <a:p>
              <a:pPr marL="0" lvl="0" indent="0" algn="ctr">
                <a:lnSpc>
                  <a:spcPts val="5373"/>
                </a:lnSpc>
              </a:pPr>
              <a:r>
                <a:rPr lang="en-US" sz="5373" b="1">
                  <a:solidFill>
                    <a:srgbClr val="FFFFFF"/>
                  </a:solidFill>
                  <a:latin typeface="Montserrat Ultra-Bold"/>
                  <a:ea typeface="Montserrat Ultra-Bold"/>
                  <a:cs typeface="Montserrat Ultra-Bold"/>
                  <a:sym typeface="Montserrat Ultra-Bold"/>
                </a:rPr>
                <a:t>1</a:t>
              </a:r>
            </a:p>
          </p:txBody>
        </p:sp>
        <p:sp>
          <p:nvSpPr>
            <p:cNvPr id="17" name="TextBox 17"/>
            <p:cNvSpPr txBox="1"/>
            <p:nvPr/>
          </p:nvSpPr>
          <p:spPr>
            <a:xfrm>
              <a:off x="1766549" y="66741"/>
              <a:ext cx="2782085" cy="1833669"/>
            </a:xfrm>
            <a:prstGeom prst="rect">
              <a:avLst/>
            </a:prstGeom>
          </p:spPr>
          <p:txBody>
            <a:bodyPr lIns="0" tIns="0" rIns="0" bIns="0" rtlCol="0" anchor="t">
              <a:spAutoFit/>
            </a:bodyPr>
            <a:lstStyle/>
            <a:p>
              <a:pPr marL="0" lvl="0" indent="0" algn="l">
                <a:lnSpc>
                  <a:spcPts val="2379"/>
                </a:lnSpc>
              </a:pPr>
              <a:r>
                <a:rPr lang="en-US" sz="1699">
                  <a:solidFill>
                    <a:srgbClr val="FFFFFF"/>
                  </a:solidFill>
                  <a:latin typeface="Montserrat"/>
                  <a:ea typeface="Montserrat"/>
                  <a:cs typeface="Montserrat"/>
                  <a:sym typeface="Montserrat"/>
                </a:rPr>
                <a:t>Normal chatbots cannot safely access live databases.</a:t>
              </a:r>
            </a:p>
            <a:p>
              <a:pPr marL="0" lvl="0" indent="0" algn="l">
                <a:lnSpc>
                  <a:spcPts val="1679"/>
                </a:lnSpc>
              </a:pPr>
              <a:endParaRPr lang="en-US" sz="1699">
                <a:solidFill>
                  <a:srgbClr val="FFFFFF"/>
                </a:solidFill>
                <a:latin typeface="Montserrat"/>
                <a:ea typeface="Montserrat"/>
                <a:cs typeface="Montserrat"/>
                <a:sym typeface="Montserrat"/>
              </a:endParaRPr>
            </a:p>
          </p:txBody>
        </p:sp>
      </p:grpSp>
      <p:sp>
        <p:nvSpPr>
          <p:cNvPr id="18" name="TextBox 18"/>
          <p:cNvSpPr txBox="1"/>
          <p:nvPr/>
        </p:nvSpPr>
        <p:spPr>
          <a:xfrm>
            <a:off x="7438262" y="5565754"/>
            <a:ext cx="1324912" cy="716148"/>
          </a:xfrm>
          <a:prstGeom prst="rect">
            <a:avLst/>
          </a:prstGeom>
        </p:spPr>
        <p:txBody>
          <a:bodyPr lIns="0" tIns="0" rIns="0" bIns="0" rtlCol="0" anchor="t">
            <a:spAutoFit/>
          </a:bodyPr>
          <a:lstStyle/>
          <a:p>
            <a:pPr marL="0" lvl="0" indent="0" algn="ctr">
              <a:lnSpc>
                <a:spcPts val="5373"/>
              </a:lnSpc>
            </a:pPr>
            <a:r>
              <a:rPr lang="en-US" sz="5373" b="1">
                <a:solidFill>
                  <a:srgbClr val="FFFFFF"/>
                </a:solidFill>
                <a:latin typeface="Montserrat Ultra-Bold"/>
                <a:ea typeface="Montserrat Ultra-Bold"/>
                <a:cs typeface="Montserrat Ultra-Bold"/>
                <a:sym typeface="Montserrat Ultra-Bold"/>
              </a:rPr>
              <a:t>2</a:t>
            </a:r>
          </a:p>
        </p:txBody>
      </p:sp>
      <p:sp>
        <p:nvSpPr>
          <p:cNvPr id="19" name="TextBox 19"/>
          <p:cNvSpPr txBox="1"/>
          <p:nvPr/>
        </p:nvSpPr>
        <p:spPr>
          <a:xfrm>
            <a:off x="8763174" y="5503891"/>
            <a:ext cx="2086564" cy="1710056"/>
          </a:xfrm>
          <a:prstGeom prst="rect">
            <a:avLst/>
          </a:prstGeom>
        </p:spPr>
        <p:txBody>
          <a:bodyPr lIns="0" tIns="0" rIns="0" bIns="0" rtlCol="0" anchor="t">
            <a:spAutoFit/>
          </a:bodyPr>
          <a:lstStyle/>
          <a:p>
            <a:pPr marL="0" lvl="0" indent="0" algn="l">
              <a:lnSpc>
                <a:spcPts val="2659"/>
              </a:lnSpc>
            </a:pPr>
            <a:r>
              <a:rPr lang="en-US" sz="1899">
                <a:solidFill>
                  <a:srgbClr val="FFFFFF"/>
                </a:solidFill>
                <a:latin typeface="Montserrat"/>
                <a:ea typeface="Montserrat"/>
                <a:cs typeface="Montserrat"/>
                <a:sym typeface="Montserrat"/>
              </a:rPr>
              <a:t>AI apps need live enterprise data, not static training data.</a:t>
            </a:r>
          </a:p>
          <a:p>
            <a:pPr marL="0" lvl="0" indent="0" algn="l">
              <a:lnSpc>
                <a:spcPts val="3079"/>
              </a:lnSpc>
            </a:pPr>
            <a:endParaRPr lang="en-US" sz="1899">
              <a:solidFill>
                <a:srgbClr val="FFFFFF"/>
              </a:solidFill>
              <a:latin typeface="Montserrat"/>
              <a:ea typeface="Montserrat"/>
              <a:cs typeface="Montserrat"/>
              <a:sym typeface="Montserrat"/>
            </a:endParaRPr>
          </a:p>
        </p:txBody>
      </p:sp>
      <p:sp>
        <p:nvSpPr>
          <p:cNvPr id="20" name="TextBox 20"/>
          <p:cNvSpPr txBox="1"/>
          <p:nvPr/>
        </p:nvSpPr>
        <p:spPr>
          <a:xfrm>
            <a:off x="12848462" y="5565754"/>
            <a:ext cx="1324912" cy="716148"/>
          </a:xfrm>
          <a:prstGeom prst="rect">
            <a:avLst/>
          </a:prstGeom>
        </p:spPr>
        <p:txBody>
          <a:bodyPr lIns="0" tIns="0" rIns="0" bIns="0" rtlCol="0" anchor="t">
            <a:spAutoFit/>
          </a:bodyPr>
          <a:lstStyle/>
          <a:p>
            <a:pPr marL="0" lvl="0" indent="0" algn="ctr">
              <a:lnSpc>
                <a:spcPts val="5373"/>
              </a:lnSpc>
            </a:pPr>
            <a:r>
              <a:rPr lang="en-US" sz="5373" b="1">
                <a:solidFill>
                  <a:srgbClr val="FFFFFF"/>
                </a:solidFill>
                <a:latin typeface="Montserrat Ultra-Bold"/>
                <a:ea typeface="Montserrat Ultra-Bold"/>
                <a:cs typeface="Montserrat Ultra-Bold"/>
                <a:sym typeface="Montserrat Ultra-Bold"/>
              </a:rPr>
              <a:t>3</a:t>
            </a:r>
          </a:p>
        </p:txBody>
      </p:sp>
      <p:sp>
        <p:nvSpPr>
          <p:cNvPr id="21" name="TextBox 21"/>
          <p:cNvSpPr txBox="1"/>
          <p:nvPr/>
        </p:nvSpPr>
        <p:spPr>
          <a:xfrm>
            <a:off x="14173374" y="5513416"/>
            <a:ext cx="2649721" cy="1680845"/>
          </a:xfrm>
          <a:prstGeom prst="rect">
            <a:avLst/>
          </a:prstGeom>
        </p:spPr>
        <p:txBody>
          <a:bodyPr lIns="0" tIns="0" rIns="0" bIns="0" rtlCol="0" anchor="t">
            <a:spAutoFit/>
          </a:bodyPr>
          <a:lstStyle/>
          <a:p>
            <a:pPr marL="0" lvl="0" indent="0" algn="l">
              <a:lnSpc>
                <a:spcPts val="2239"/>
              </a:lnSpc>
            </a:pPr>
            <a:r>
              <a:rPr lang="en-US" sz="1599">
                <a:solidFill>
                  <a:srgbClr val="FFFFFF"/>
                </a:solidFill>
                <a:latin typeface="Montserrat"/>
                <a:ea typeface="Montserrat"/>
                <a:cs typeface="Montserrat"/>
                <a:sym typeface="Montserrat"/>
              </a:rPr>
              <a:t>AI-native data applications are built around user intent, natural language, and tool execution.</a:t>
            </a:r>
          </a:p>
          <a:p>
            <a:pPr marL="0" lvl="0" indent="0" algn="l">
              <a:lnSpc>
                <a:spcPts val="2519"/>
              </a:lnSpc>
            </a:pPr>
            <a:endParaRPr lang="en-US" sz="1599">
              <a:solidFill>
                <a:srgbClr val="FFFFFF"/>
              </a:solidFill>
              <a:latin typeface="Montserrat"/>
              <a:ea typeface="Montserrat"/>
              <a:cs typeface="Montserrat"/>
              <a:sym typeface="Montserrat"/>
            </a:endParaRPr>
          </a:p>
        </p:txBody>
      </p:sp>
      <p:sp>
        <p:nvSpPr>
          <p:cNvPr id="22" name="TextBox 22"/>
          <p:cNvSpPr txBox="1"/>
          <p:nvPr/>
        </p:nvSpPr>
        <p:spPr>
          <a:xfrm>
            <a:off x="15764299" y="703761"/>
            <a:ext cx="1473411" cy="426493"/>
          </a:xfrm>
          <a:prstGeom prst="rect">
            <a:avLst/>
          </a:prstGeom>
        </p:spPr>
        <p:txBody>
          <a:bodyPr lIns="0" tIns="0" rIns="0" bIns="0" rtlCol="0" anchor="t">
            <a:spAutoFit/>
          </a:bodyPr>
          <a:lstStyle/>
          <a:p>
            <a:pPr marL="0" lvl="0" indent="0" algn="ctr">
              <a:lnSpc>
                <a:spcPts val="3291"/>
              </a:lnSpc>
            </a:pPr>
            <a:r>
              <a:rPr lang="en-US" sz="3291" b="1">
                <a:solidFill>
                  <a:srgbClr val="8093BB"/>
                </a:solidFill>
                <a:latin typeface="Montserrat Bold"/>
                <a:ea typeface="Montserrat Bold"/>
                <a:cs typeface="Montserrat Bold"/>
                <a:sym typeface="Montserrat Bold"/>
              </a:rPr>
              <a:t>03</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59" b="-9259"/>
            </a:stretch>
          </a:blipFill>
        </p:spPr>
      </p:sp>
      <p:sp>
        <p:nvSpPr>
          <p:cNvPr id="3" name="TextBox 3"/>
          <p:cNvSpPr txBox="1"/>
          <p:nvPr/>
        </p:nvSpPr>
        <p:spPr>
          <a:xfrm>
            <a:off x="4773314" y="1123950"/>
            <a:ext cx="8741372" cy="1123452"/>
          </a:xfrm>
          <a:prstGeom prst="rect">
            <a:avLst/>
          </a:prstGeom>
        </p:spPr>
        <p:txBody>
          <a:bodyPr lIns="0" tIns="0" rIns="0" bIns="0" rtlCol="0" anchor="t">
            <a:spAutoFit/>
          </a:bodyPr>
          <a:lstStyle/>
          <a:p>
            <a:pPr marL="0" lvl="0" indent="0" algn="ctr">
              <a:lnSpc>
                <a:spcPts val="4382"/>
              </a:lnSpc>
            </a:pPr>
            <a:r>
              <a:rPr lang="en-US" sz="4382" b="1">
                <a:solidFill>
                  <a:srgbClr val="324370"/>
                </a:solidFill>
                <a:latin typeface="Montserrat Ultra-Bold"/>
                <a:ea typeface="Montserrat Ultra-Bold"/>
                <a:cs typeface="Montserrat Ultra-Bold"/>
                <a:sym typeface="Montserrat Ultra-Bold"/>
              </a:rPr>
              <a:t>TRADITIONAL VS AI-NATIVE DATA APPS</a:t>
            </a:r>
          </a:p>
        </p:txBody>
      </p:sp>
      <p:sp>
        <p:nvSpPr>
          <p:cNvPr id="4" name="TextBox 4"/>
          <p:cNvSpPr txBox="1"/>
          <p:nvPr/>
        </p:nvSpPr>
        <p:spPr>
          <a:xfrm>
            <a:off x="1314820" y="2799048"/>
            <a:ext cx="904367" cy="482380"/>
          </a:xfrm>
          <a:prstGeom prst="rect">
            <a:avLst/>
          </a:prstGeom>
        </p:spPr>
        <p:txBody>
          <a:bodyPr lIns="0" tIns="0" rIns="0" bIns="0" rtlCol="0" anchor="t">
            <a:spAutoFit/>
          </a:bodyPr>
          <a:lstStyle/>
          <a:p>
            <a:pPr marL="0" lvl="0" indent="0" algn="ctr">
              <a:lnSpc>
                <a:spcPts val="3681"/>
              </a:lnSpc>
            </a:pPr>
            <a:r>
              <a:rPr lang="en-US" sz="3681" b="1">
                <a:solidFill>
                  <a:srgbClr val="324370"/>
                </a:solidFill>
                <a:latin typeface="Montserrat Ultra-Bold"/>
                <a:ea typeface="Montserrat Ultra-Bold"/>
                <a:cs typeface="Montserrat Ultra-Bold"/>
                <a:sym typeface="Montserrat Ultra-Bold"/>
              </a:rPr>
              <a:t>1.</a:t>
            </a:r>
          </a:p>
        </p:txBody>
      </p:sp>
      <p:sp>
        <p:nvSpPr>
          <p:cNvPr id="5" name="TextBox 5"/>
          <p:cNvSpPr txBox="1"/>
          <p:nvPr/>
        </p:nvSpPr>
        <p:spPr>
          <a:xfrm>
            <a:off x="2431965" y="2697430"/>
            <a:ext cx="6351413" cy="800100"/>
          </a:xfrm>
          <a:prstGeom prst="rect">
            <a:avLst/>
          </a:prstGeom>
        </p:spPr>
        <p:txBody>
          <a:bodyPr lIns="0" tIns="0" rIns="0" bIns="0" rtlCol="0" anchor="t">
            <a:spAutoFit/>
          </a:bodyPr>
          <a:lstStyle/>
          <a:p>
            <a:pPr marL="0" lvl="0" indent="0" algn="just">
              <a:lnSpc>
                <a:spcPts val="2100"/>
              </a:lnSpc>
            </a:pPr>
            <a:r>
              <a:rPr lang="en-US" sz="1500" b="1">
                <a:solidFill>
                  <a:srgbClr val="324370"/>
                </a:solidFill>
                <a:latin typeface="Montserrat Bold"/>
                <a:ea typeface="Montserrat Bold"/>
                <a:cs typeface="Montserrat Bold"/>
                <a:sym typeface="Montserrat Bold"/>
              </a:rPr>
              <a:t>Traditional applications need fixed screens, reports, dashboards, or APIs before users can access that data.</a:t>
            </a:r>
          </a:p>
          <a:p>
            <a:pPr marL="0" lvl="0" indent="0" algn="just">
              <a:lnSpc>
                <a:spcPts val="2100"/>
              </a:lnSpc>
            </a:pPr>
            <a:endParaRPr lang="en-US" sz="1500" b="1">
              <a:solidFill>
                <a:srgbClr val="324370"/>
              </a:solidFill>
              <a:latin typeface="Montserrat Bold"/>
              <a:ea typeface="Montserrat Bold"/>
              <a:cs typeface="Montserrat Bold"/>
              <a:sym typeface="Montserrat Bold"/>
            </a:endParaRPr>
          </a:p>
        </p:txBody>
      </p:sp>
      <p:sp>
        <p:nvSpPr>
          <p:cNvPr id="6" name="TextBox 6"/>
          <p:cNvSpPr txBox="1"/>
          <p:nvPr/>
        </p:nvSpPr>
        <p:spPr>
          <a:xfrm>
            <a:off x="9552247" y="2799048"/>
            <a:ext cx="904367" cy="482380"/>
          </a:xfrm>
          <a:prstGeom prst="rect">
            <a:avLst/>
          </a:prstGeom>
        </p:spPr>
        <p:txBody>
          <a:bodyPr lIns="0" tIns="0" rIns="0" bIns="0" rtlCol="0" anchor="t">
            <a:spAutoFit/>
          </a:bodyPr>
          <a:lstStyle/>
          <a:p>
            <a:pPr marL="0" lvl="0" indent="0" algn="ctr">
              <a:lnSpc>
                <a:spcPts val="3681"/>
              </a:lnSpc>
            </a:pPr>
            <a:r>
              <a:rPr lang="en-US" sz="3681" b="1">
                <a:solidFill>
                  <a:srgbClr val="324370"/>
                </a:solidFill>
                <a:latin typeface="Montserrat Ultra-Bold"/>
                <a:ea typeface="Montserrat Ultra-Bold"/>
                <a:cs typeface="Montserrat Ultra-Bold"/>
                <a:sym typeface="Montserrat Ultra-Bold"/>
              </a:rPr>
              <a:t>2.</a:t>
            </a:r>
          </a:p>
        </p:txBody>
      </p:sp>
      <p:sp>
        <p:nvSpPr>
          <p:cNvPr id="7" name="TextBox 7"/>
          <p:cNvSpPr txBox="1"/>
          <p:nvPr/>
        </p:nvSpPr>
        <p:spPr>
          <a:xfrm>
            <a:off x="10669392" y="2697430"/>
            <a:ext cx="6351413" cy="800100"/>
          </a:xfrm>
          <a:prstGeom prst="rect">
            <a:avLst/>
          </a:prstGeom>
        </p:spPr>
        <p:txBody>
          <a:bodyPr lIns="0" tIns="0" rIns="0" bIns="0" rtlCol="0" anchor="t">
            <a:spAutoFit/>
          </a:bodyPr>
          <a:lstStyle/>
          <a:p>
            <a:pPr marL="0" lvl="0" indent="0" algn="just">
              <a:lnSpc>
                <a:spcPts val="2100"/>
              </a:lnSpc>
            </a:pPr>
            <a:r>
              <a:rPr lang="en-US" sz="1500" b="1">
                <a:solidFill>
                  <a:srgbClr val="324370"/>
                </a:solidFill>
                <a:latin typeface="Montserrat Bold"/>
                <a:ea typeface="Montserrat Bold"/>
                <a:cs typeface="Montserrat Bold"/>
                <a:sym typeface="Montserrat Bold"/>
              </a:rPr>
              <a:t>Every new business requirement usually needs a new API, report, stored procedure, or UI change.</a:t>
            </a:r>
          </a:p>
          <a:p>
            <a:pPr marL="0" lvl="0" indent="0" algn="just">
              <a:lnSpc>
                <a:spcPts val="2100"/>
              </a:lnSpc>
            </a:pPr>
            <a:endParaRPr lang="en-US" sz="1500" b="1">
              <a:solidFill>
                <a:srgbClr val="324370"/>
              </a:solidFill>
              <a:latin typeface="Montserrat Bold"/>
              <a:ea typeface="Montserrat Bold"/>
              <a:cs typeface="Montserrat Bold"/>
              <a:sym typeface="Montserrat Bold"/>
            </a:endParaRPr>
          </a:p>
        </p:txBody>
      </p:sp>
      <p:sp>
        <p:nvSpPr>
          <p:cNvPr id="8" name="TextBox 8"/>
          <p:cNvSpPr txBox="1"/>
          <p:nvPr/>
        </p:nvSpPr>
        <p:spPr>
          <a:xfrm>
            <a:off x="1314820" y="5134864"/>
            <a:ext cx="904367" cy="482380"/>
          </a:xfrm>
          <a:prstGeom prst="rect">
            <a:avLst/>
          </a:prstGeom>
        </p:spPr>
        <p:txBody>
          <a:bodyPr lIns="0" tIns="0" rIns="0" bIns="0" rtlCol="0" anchor="t">
            <a:spAutoFit/>
          </a:bodyPr>
          <a:lstStyle/>
          <a:p>
            <a:pPr marL="0" lvl="0" indent="0" algn="ctr">
              <a:lnSpc>
                <a:spcPts val="3681"/>
              </a:lnSpc>
            </a:pPr>
            <a:r>
              <a:rPr lang="en-US" sz="3681" b="1">
                <a:solidFill>
                  <a:srgbClr val="324370"/>
                </a:solidFill>
                <a:latin typeface="Montserrat Ultra-Bold"/>
                <a:ea typeface="Montserrat Ultra-Bold"/>
                <a:cs typeface="Montserrat Ultra-Bold"/>
                <a:sym typeface="Montserrat Ultra-Bold"/>
              </a:rPr>
              <a:t>3.</a:t>
            </a:r>
          </a:p>
        </p:txBody>
      </p:sp>
      <p:sp>
        <p:nvSpPr>
          <p:cNvPr id="9" name="TextBox 9"/>
          <p:cNvSpPr txBox="1"/>
          <p:nvPr/>
        </p:nvSpPr>
        <p:spPr>
          <a:xfrm>
            <a:off x="2431965" y="5033247"/>
            <a:ext cx="6351413" cy="800100"/>
          </a:xfrm>
          <a:prstGeom prst="rect">
            <a:avLst/>
          </a:prstGeom>
        </p:spPr>
        <p:txBody>
          <a:bodyPr lIns="0" tIns="0" rIns="0" bIns="0" rtlCol="0" anchor="t">
            <a:spAutoFit/>
          </a:bodyPr>
          <a:lstStyle/>
          <a:p>
            <a:pPr marL="0" lvl="0" indent="0" algn="just">
              <a:lnSpc>
                <a:spcPts val="2100"/>
              </a:lnSpc>
            </a:pPr>
            <a:r>
              <a:rPr lang="en-US" sz="1500" b="1">
                <a:solidFill>
                  <a:srgbClr val="324370"/>
                </a:solidFill>
                <a:latin typeface="Montserrat Bold"/>
                <a:ea typeface="Montserrat Bold"/>
                <a:cs typeface="Montserrat Bold"/>
                <a:sym typeface="Montserrat Bold"/>
              </a:rPr>
              <a:t>The user asks what they want to know or do, and the AI application selects the correct backend tool.</a:t>
            </a:r>
          </a:p>
          <a:p>
            <a:pPr marL="0" lvl="0" indent="0" algn="just">
              <a:lnSpc>
                <a:spcPts val="2100"/>
              </a:lnSpc>
            </a:pPr>
            <a:endParaRPr lang="en-US" sz="1500" b="1">
              <a:solidFill>
                <a:srgbClr val="324370"/>
              </a:solidFill>
              <a:latin typeface="Montserrat Bold"/>
              <a:ea typeface="Montserrat Bold"/>
              <a:cs typeface="Montserrat Bold"/>
              <a:sym typeface="Montserrat Bold"/>
            </a:endParaRPr>
          </a:p>
        </p:txBody>
      </p:sp>
      <p:sp>
        <p:nvSpPr>
          <p:cNvPr id="10" name="TextBox 10"/>
          <p:cNvSpPr txBox="1"/>
          <p:nvPr/>
        </p:nvSpPr>
        <p:spPr>
          <a:xfrm>
            <a:off x="9552247" y="5134864"/>
            <a:ext cx="904367" cy="482380"/>
          </a:xfrm>
          <a:prstGeom prst="rect">
            <a:avLst/>
          </a:prstGeom>
        </p:spPr>
        <p:txBody>
          <a:bodyPr lIns="0" tIns="0" rIns="0" bIns="0" rtlCol="0" anchor="t">
            <a:spAutoFit/>
          </a:bodyPr>
          <a:lstStyle/>
          <a:p>
            <a:pPr marL="0" lvl="0" indent="0" algn="ctr">
              <a:lnSpc>
                <a:spcPts val="3681"/>
              </a:lnSpc>
            </a:pPr>
            <a:r>
              <a:rPr lang="en-US" sz="3681" b="1">
                <a:solidFill>
                  <a:srgbClr val="324370"/>
                </a:solidFill>
                <a:latin typeface="Montserrat Ultra-Bold"/>
                <a:ea typeface="Montserrat Ultra-Bold"/>
                <a:cs typeface="Montserrat Ultra-Bold"/>
                <a:sym typeface="Montserrat Ultra-Bold"/>
              </a:rPr>
              <a:t>4.</a:t>
            </a:r>
          </a:p>
        </p:txBody>
      </p:sp>
      <p:sp>
        <p:nvSpPr>
          <p:cNvPr id="11" name="TextBox 11"/>
          <p:cNvSpPr txBox="1"/>
          <p:nvPr/>
        </p:nvSpPr>
        <p:spPr>
          <a:xfrm>
            <a:off x="10669392" y="5033247"/>
            <a:ext cx="6351413" cy="800100"/>
          </a:xfrm>
          <a:prstGeom prst="rect">
            <a:avLst/>
          </a:prstGeom>
        </p:spPr>
        <p:txBody>
          <a:bodyPr lIns="0" tIns="0" rIns="0" bIns="0" rtlCol="0" anchor="t">
            <a:spAutoFit/>
          </a:bodyPr>
          <a:lstStyle/>
          <a:p>
            <a:pPr marL="0" lvl="0" indent="0" algn="just">
              <a:lnSpc>
                <a:spcPts val="2100"/>
              </a:lnSpc>
            </a:pPr>
            <a:r>
              <a:rPr lang="en-US" sz="1500" b="1">
                <a:solidFill>
                  <a:srgbClr val="324370"/>
                </a:solidFill>
                <a:latin typeface="Montserrat Bold"/>
                <a:ea typeface="Montserrat Bold"/>
                <a:cs typeface="Montserrat Bold"/>
                <a:sym typeface="Montserrat Bold"/>
              </a:rPr>
              <a:t>SQL MCP allows the AI application to interact with a database through controlled tools instead of direct database access.</a:t>
            </a:r>
          </a:p>
          <a:p>
            <a:pPr marL="0" lvl="0" indent="0" algn="just">
              <a:lnSpc>
                <a:spcPts val="2100"/>
              </a:lnSpc>
            </a:pPr>
            <a:endParaRPr lang="en-US" sz="1500" b="1">
              <a:solidFill>
                <a:srgbClr val="324370"/>
              </a:solidFill>
              <a:latin typeface="Montserrat Bold"/>
              <a:ea typeface="Montserrat Bold"/>
              <a:cs typeface="Montserrat Bold"/>
              <a:sym typeface="Montserrat Bold"/>
            </a:endParaRPr>
          </a:p>
        </p:txBody>
      </p:sp>
      <p:sp>
        <p:nvSpPr>
          <p:cNvPr id="12" name="TextBox 12"/>
          <p:cNvSpPr txBox="1"/>
          <p:nvPr/>
        </p:nvSpPr>
        <p:spPr>
          <a:xfrm>
            <a:off x="1314820" y="7470680"/>
            <a:ext cx="904367" cy="482380"/>
          </a:xfrm>
          <a:prstGeom prst="rect">
            <a:avLst/>
          </a:prstGeom>
        </p:spPr>
        <p:txBody>
          <a:bodyPr lIns="0" tIns="0" rIns="0" bIns="0" rtlCol="0" anchor="t">
            <a:spAutoFit/>
          </a:bodyPr>
          <a:lstStyle/>
          <a:p>
            <a:pPr marL="0" lvl="0" indent="0" algn="ctr">
              <a:lnSpc>
                <a:spcPts val="3681"/>
              </a:lnSpc>
            </a:pPr>
            <a:r>
              <a:rPr lang="en-US" sz="3681" b="1">
                <a:solidFill>
                  <a:srgbClr val="324370"/>
                </a:solidFill>
                <a:latin typeface="Montserrat Ultra-Bold"/>
                <a:ea typeface="Montserrat Ultra-Bold"/>
                <a:cs typeface="Montserrat Ultra-Bold"/>
                <a:sym typeface="Montserrat Ultra-Bold"/>
              </a:rPr>
              <a:t>5.</a:t>
            </a:r>
          </a:p>
        </p:txBody>
      </p:sp>
      <p:sp>
        <p:nvSpPr>
          <p:cNvPr id="13" name="TextBox 13"/>
          <p:cNvSpPr txBox="1"/>
          <p:nvPr/>
        </p:nvSpPr>
        <p:spPr>
          <a:xfrm>
            <a:off x="2431965" y="7369063"/>
            <a:ext cx="6351413" cy="800100"/>
          </a:xfrm>
          <a:prstGeom prst="rect">
            <a:avLst/>
          </a:prstGeom>
        </p:spPr>
        <p:txBody>
          <a:bodyPr lIns="0" tIns="0" rIns="0" bIns="0" rtlCol="0" anchor="t">
            <a:spAutoFit/>
          </a:bodyPr>
          <a:lstStyle/>
          <a:p>
            <a:pPr marL="0" lvl="0" indent="0" algn="just">
              <a:lnSpc>
                <a:spcPts val="2100"/>
              </a:lnSpc>
            </a:pPr>
            <a:r>
              <a:rPr lang="en-US" sz="1500" b="1">
                <a:solidFill>
                  <a:srgbClr val="324370"/>
                </a:solidFill>
                <a:latin typeface="Montserrat Bold"/>
                <a:ea typeface="Montserrat Bold"/>
                <a:cs typeface="Montserrat Bold"/>
                <a:sym typeface="Montserrat Bold"/>
              </a:rPr>
              <a:t>The .NET MCP server becomes the secure execution layer between Claude Desktop and SQL Server.</a:t>
            </a:r>
          </a:p>
          <a:p>
            <a:pPr marL="0" lvl="0" indent="0" algn="just">
              <a:lnSpc>
                <a:spcPts val="2100"/>
              </a:lnSpc>
            </a:pPr>
            <a:endParaRPr lang="en-US" sz="1500" b="1">
              <a:solidFill>
                <a:srgbClr val="324370"/>
              </a:solidFill>
              <a:latin typeface="Montserrat Bold"/>
              <a:ea typeface="Montserrat Bold"/>
              <a:cs typeface="Montserrat Bold"/>
              <a:sym typeface="Montserrat Bold"/>
            </a:endParaRPr>
          </a:p>
        </p:txBody>
      </p:sp>
      <p:sp>
        <p:nvSpPr>
          <p:cNvPr id="14" name="TextBox 14"/>
          <p:cNvSpPr txBox="1"/>
          <p:nvPr/>
        </p:nvSpPr>
        <p:spPr>
          <a:xfrm>
            <a:off x="9552247" y="7470680"/>
            <a:ext cx="904367" cy="482380"/>
          </a:xfrm>
          <a:prstGeom prst="rect">
            <a:avLst/>
          </a:prstGeom>
        </p:spPr>
        <p:txBody>
          <a:bodyPr lIns="0" tIns="0" rIns="0" bIns="0" rtlCol="0" anchor="t">
            <a:spAutoFit/>
          </a:bodyPr>
          <a:lstStyle/>
          <a:p>
            <a:pPr marL="0" lvl="0" indent="0" algn="ctr">
              <a:lnSpc>
                <a:spcPts val="3681"/>
              </a:lnSpc>
            </a:pPr>
            <a:r>
              <a:rPr lang="en-US" sz="3681" b="1">
                <a:solidFill>
                  <a:srgbClr val="324370"/>
                </a:solidFill>
                <a:latin typeface="Montserrat Ultra-Bold"/>
                <a:ea typeface="Montserrat Ultra-Bold"/>
                <a:cs typeface="Montserrat Ultra-Bold"/>
                <a:sym typeface="Montserrat Ultra-Bold"/>
              </a:rPr>
              <a:t>6.</a:t>
            </a:r>
          </a:p>
        </p:txBody>
      </p:sp>
      <p:sp>
        <p:nvSpPr>
          <p:cNvPr id="15" name="TextBox 15"/>
          <p:cNvSpPr txBox="1"/>
          <p:nvPr/>
        </p:nvSpPr>
        <p:spPr>
          <a:xfrm>
            <a:off x="10669392" y="7369063"/>
            <a:ext cx="6351413" cy="800100"/>
          </a:xfrm>
          <a:prstGeom prst="rect">
            <a:avLst/>
          </a:prstGeom>
        </p:spPr>
        <p:txBody>
          <a:bodyPr lIns="0" tIns="0" rIns="0" bIns="0" rtlCol="0" anchor="t">
            <a:spAutoFit/>
          </a:bodyPr>
          <a:lstStyle/>
          <a:p>
            <a:pPr marL="0" lvl="0" indent="0" algn="just">
              <a:lnSpc>
                <a:spcPts val="2100"/>
              </a:lnSpc>
            </a:pPr>
            <a:r>
              <a:rPr lang="en-US" sz="1500" b="1">
                <a:solidFill>
                  <a:srgbClr val="324370"/>
                </a:solidFill>
                <a:latin typeface="Montserrat Bold"/>
                <a:ea typeface="Montserrat Bold"/>
                <a:cs typeface="Montserrat Bold"/>
                <a:sym typeface="Montserrat Bold"/>
              </a:rPr>
              <a:t>The engineering focus shifts from only building screens to building safe, reusable, authorized data tools.</a:t>
            </a:r>
          </a:p>
          <a:p>
            <a:pPr marL="0" lvl="0" indent="0" algn="just">
              <a:lnSpc>
                <a:spcPts val="2100"/>
              </a:lnSpc>
            </a:pPr>
            <a:endParaRPr lang="en-US" sz="1500" b="1">
              <a:solidFill>
                <a:srgbClr val="324370"/>
              </a:solidFill>
              <a:latin typeface="Montserrat Bold"/>
              <a:ea typeface="Montserrat Bold"/>
              <a:cs typeface="Montserrat Bold"/>
              <a:sym typeface="Montserrat Bold"/>
            </a:endParaRPr>
          </a:p>
        </p:txBody>
      </p:sp>
      <p:sp>
        <p:nvSpPr>
          <p:cNvPr id="16" name="TextBox 16"/>
          <p:cNvSpPr txBox="1"/>
          <p:nvPr/>
        </p:nvSpPr>
        <p:spPr>
          <a:xfrm>
            <a:off x="15764299" y="694236"/>
            <a:ext cx="1473411" cy="423394"/>
          </a:xfrm>
          <a:prstGeom prst="rect">
            <a:avLst/>
          </a:prstGeom>
        </p:spPr>
        <p:txBody>
          <a:bodyPr lIns="0" tIns="0" rIns="0" bIns="0" rtlCol="0" anchor="t">
            <a:spAutoFit/>
          </a:bodyPr>
          <a:lstStyle/>
          <a:p>
            <a:pPr marL="0" lvl="0" indent="0" algn="ctr">
              <a:lnSpc>
                <a:spcPts val="3169"/>
              </a:lnSpc>
            </a:pPr>
            <a:r>
              <a:rPr lang="en-US" sz="3169" b="1">
                <a:solidFill>
                  <a:srgbClr val="8093BB"/>
                </a:solidFill>
                <a:latin typeface="Montserrat Bold"/>
                <a:ea typeface="Montserrat Bold"/>
                <a:cs typeface="Montserrat Bold"/>
                <a:sym typeface="Montserrat Bold"/>
              </a:rPr>
              <a:t>04</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666" b="-666"/>
            </a:stretch>
          </a:blipFill>
        </p:spPr>
      </p:sp>
      <p:sp>
        <p:nvSpPr>
          <p:cNvPr id="3" name="Freeform 3"/>
          <p:cNvSpPr/>
          <p:nvPr/>
        </p:nvSpPr>
        <p:spPr>
          <a:xfrm>
            <a:off x="1028700" y="1028700"/>
            <a:ext cx="6043342" cy="5169781"/>
          </a:xfrm>
          <a:custGeom>
            <a:avLst/>
            <a:gdLst/>
            <a:ahLst/>
            <a:cxnLst/>
            <a:rect l="l" t="t" r="r" b="b"/>
            <a:pathLst>
              <a:path w="6043342" h="5169781">
                <a:moveTo>
                  <a:pt x="0" y="0"/>
                </a:moveTo>
                <a:lnTo>
                  <a:pt x="6043342" y="0"/>
                </a:lnTo>
                <a:lnTo>
                  <a:pt x="6043342" y="5169781"/>
                </a:lnTo>
                <a:lnTo>
                  <a:pt x="0" y="5169781"/>
                </a:lnTo>
                <a:lnTo>
                  <a:pt x="0" y="0"/>
                </a:lnTo>
                <a:close/>
              </a:path>
            </a:pathLst>
          </a:custGeom>
          <a:blipFill>
            <a:blip r:embed="rId3"/>
            <a:stretch>
              <a:fillRect l="-810" r="-810" b="-59186"/>
            </a:stretch>
          </a:blipFill>
        </p:spPr>
      </p:sp>
      <p:sp>
        <p:nvSpPr>
          <p:cNvPr id="4" name="TextBox 4"/>
          <p:cNvSpPr txBox="1"/>
          <p:nvPr/>
        </p:nvSpPr>
        <p:spPr>
          <a:xfrm>
            <a:off x="8037078" y="5314101"/>
            <a:ext cx="9172951" cy="895990"/>
          </a:xfrm>
          <a:prstGeom prst="rect">
            <a:avLst/>
          </a:prstGeom>
        </p:spPr>
        <p:txBody>
          <a:bodyPr lIns="0" tIns="0" rIns="0" bIns="0" rtlCol="0" anchor="t">
            <a:spAutoFit/>
          </a:bodyPr>
          <a:lstStyle/>
          <a:p>
            <a:pPr marL="0" lvl="0" indent="0" algn="just">
              <a:lnSpc>
                <a:spcPts val="3639"/>
              </a:lnSpc>
            </a:pPr>
            <a:r>
              <a:rPr lang="en-US" sz="2599" dirty="0">
                <a:solidFill>
                  <a:srgbClr val="324370"/>
                </a:solidFill>
                <a:latin typeface="Montserrat"/>
                <a:ea typeface="Montserrat"/>
                <a:cs typeface="Montserrat"/>
                <a:sym typeface="Montserrat"/>
              </a:rPr>
              <a:t>Standard protocol for connecting AI apps to tools, data sources, and workflows.</a:t>
            </a:r>
          </a:p>
        </p:txBody>
      </p:sp>
      <p:sp>
        <p:nvSpPr>
          <p:cNvPr id="5" name="TextBox 5"/>
          <p:cNvSpPr txBox="1"/>
          <p:nvPr/>
        </p:nvSpPr>
        <p:spPr>
          <a:xfrm>
            <a:off x="8061659" y="2087341"/>
            <a:ext cx="9197641" cy="626144"/>
          </a:xfrm>
          <a:prstGeom prst="rect">
            <a:avLst/>
          </a:prstGeom>
        </p:spPr>
        <p:txBody>
          <a:bodyPr lIns="0" tIns="0" rIns="0" bIns="0" rtlCol="0" anchor="t">
            <a:spAutoFit/>
          </a:bodyPr>
          <a:lstStyle/>
          <a:p>
            <a:pPr marL="0" lvl="0" indent="0" algn="l">
              <a:lnSpc>
                <a:spcPts val="4776"/>
              </a:lnSpc>
            </a:pPr>
            <a:r>
              <a:rPr lang="en-US" sz="4776" b="1">
                <a:solidFill>
                  <a:srgbClr val="324370"/>
                </a:solidFill>
                <a:latin typeface="Montserrat Ultra-Bold"/>
                <a:ea typeface="Montserrat Ultra-Bold"/>
                <a:cs typeface="Montserrat Ultra-Bold"/>
                <a:sym typeface="Montserrat Ultra-Bold"/>
              </a:rPr>
              <a:t>SQL &amp; MCP FUNDAMENTALS</a:t>
            </a:r>
          </a:p>
        </p:txBody>
      </p:sp>
      <p:grpSp>
        <p:nvGrpSpPr>
          <p:cNvPr id="6" name="Group 6"/>
          <p:cNvGrpSpPr/>
          <p:nvPr/>
        </p:nvGrpSpPr>
        <p:grpSpPr>
          <a:xfrm>
            <a:off x="8061659" y="3411268"/>
            <a:ext cx="9172951" cy="1732232"/>
            <a:chOff x="0" y="0"/>
            <a:chExt cx="2275912" cy="305547"/>
          </a:xfrm>
        </p:grpSpPr>
        <p:sp>
          <p:nvSpPr>
            <p:cNvPr id="7" name="Freeform 7"/>
            <p:cNvSpPr/>
            <p:nvPr/>
          </p:nvSpPr>
          <p:spPr>
            <a:xfrm>
              <a:off x="0" y="0"/>
              <a:ext cx="2275912" cy="305547"/>
            </a:xfrm>
            <a:custGeom>
              <a:avLst/>
              <a:gdLst/>
              <a:ahLst/>
              <a:cxnLst/>
              <a:rect l="l" t="t" r="r" b="b"/>
              <a:pathLst>
                <a:path w="2275912" h="305547">
                  <a:moveTo>
                    <a:pt x="0" y="0"/>
                  </a:moveTo>
                  <a:lnTo>
                    <a:pt x="2275912" y="0"/>
                  </a:lnTo>
                  <a:lnTo>
                    <a:pt x="2275912" y="305547"/>
                  </a:lnTo>
                  <a:lnTo>
                    <a:pt x="0" y="305547"/>
                  </a:lnTo>
                  <a:close/>
                </a:path>
              </a:pathLst>
            </a:custGeom>
            <a:solidFill>
              <a:srgbClr val="324370"/>
            </a:solidFill>
          </p:spPr>
        </p:sp>
        <p:sp>
          <p:nvSpPr>
            <p:cNvPr id="8" name="TextBox 8"/>
            <p:cNvSpPr txBox="1"/>
            <p:nvPr/>
          </p:nvSpPr>
          <p:spPr>
            <a:xfrm>
              <a:off x="0" y="-38100"/>
              <a:ext cx="2275912" cy="343647"/>
            </a:xfrm>
            <a:prstGeom prst="rect">
              <a:avLst/>
            </a:prstGeom>
          </p:spPr>
          <p:txBody>
            <a:bodyPr lIns="42129" tIns="42129" rIns="42129" bIns="42129" rtlCol="0" anchor="ctr"/>
            <a:lstStyle/>
            <a:p>
              <a:pPr marL="0" lvl="0" indent="0" algn="ctr">
                <a:lnSpc>
                  <a:spcPts val="2659"/>
                </a:lnSpc>
              </a:pPr>
              <a:endParaRPr/>
            </a:p>
          </p:txBody>
        </p:sp>
      </p:grpSp>
      <p:sp>
        <p:nvSpPr>
          <p:cNvPr id="9" name="TextBox 9"/>
          <p:cNvSpPr txBox="1"/>
          <p:nvPr/>
        </p:nvSpPr>
        <p:spPr>
          <a:xfrm>
            <a:off x="8061659" y="3653663"/>
            <a:ext cx="9197641" cy="765015"/>
          </a:xfrm>
          <a:prstGeom prst="rect">
            <a:avLst/>
          </a:prstGeom>
        </p:spPr>
        <p:txBody>
          <a:bodyPr lIns="0" tIns="0" rIns="0" bIns="0" rtlCol="0" anchor="t">
            <a:spAutoFit/>
          </a:bodyPr>
          <a:lstStyle/>
          <a:p>
            <a:pPr marL="0" lvl="0" indent="0" algn="ctr">
              <a:lnSpc>
                <a:spcPts val="5743"/>
              </a:lnSpc>
            </a:pPr>
            <a:r>
              <a:rPr lang="en-US" sz="5743" b="1">
                <a:solidFill>
                  <a:srgbClr val="FFFFFF"/>
                </a:solidFill>
                <a:latin typeface="Montserrat Ultra-Bold"/>
                <a:ea typeface="Montserrat Ultra-Bold"/>
                <a:cs typeface="Montserrat Ultra-Bold"/>
                <a:sym typeface="Montserrat Ultra-Bold"/>
              </a:rPr>
              <a:t>PART 2: ARCHITECTURE</a:t>
            </a:r>
          </a:p>
        </p:txBody>
      </p:sp>
      <p:grpSp>
        <p:nvGrpSpPr>
          <p:cNvPr id="10" name="Group 10"/>
          <p:cNvGrpSpPr/>
          <p:nvPr/>
        </p:nvGrpSpPr>
        <p:grpSpPr>
          <a:xfrm>
            <a:off x="11284513" y="6664461"/>
            <a:ext cx="2748902" cy="2593839"/>
            <a:chOff x="0" y="0"/>
            <a:chExt cx="682033" cy="643561"/>
          </a:xfrm>
        </p:grpSpPr>
        <p:sp>
          <p:nvSpPr>
            <p:cNvPr id="11" name="Freeform 11"/>
            <p:cNvSpPr/>
            <p:nvPr/>
          </p:nvSpPr>
          <p:spPr>
            <a:xfrm>
              <a:off x="0" y="0"/>
              <a:ext cx="682033" cy="643561"/>
            </a:xfrm>
            <a:custGeom>
              <a:avLst/>
              <a:gdLst/>
              <a:ahLst/>
              <a:cxnLst/>
              <a:rect l="l" t="t" r="r" b="b"/>
              <a:pathLst>
                <a:path w="682033" h="643561">
                  <a:moveTo>
                    <a:pt x="0" y="0"/>
                  </a:moveTo>
                  <a:lnTo>
                    <a:pt x="682033" y="0"/>
                  </a:lnTo>
                  <a:lnTo>
                    <a:pt x="682033" y="643561"/>
                  </a:lnTo>
                  <a:lnTo>
                    <a:pt x="0" y="643561"/>
                  </a:lnTo>
                  <a:close/>
                </a:path>
              </a:pathLst>
            </a:custGeom>
            <a:solidFill>
              <a:srgbClr val="546791"/>
            </a:solidFill>
          </p:spPr>
        </p:sp>
        <p:sp>
          <p:nvSpPr>
            <p:cNvPr id="12" name="TextBox 12"/>
            <p:cNvSpPr txBox="1"/>
            <p:nvPr/>
          </p:nvSpPr>
          <p:spPr>
            <a:xfrm>
              <a:off x="0" y="-38100"/>
              <a:ext cx="682033" cy="681661"/>
            </a:xfrm>
            <a:prstGeom prst="rect">
              <a:avLst/>
            </a:prstGeom>
          </p:spPr>
          <p:txBody>
            <a:bodyPr lIns="42129" tIns="42129" rIns="42129" bIns="42129" rtlCol="0" anchor="ctr"/>
            <a:lstStyle/>
            <a:p>
              <a:pPr marL="0" lvl="0" indent="0" algn="ctr">
                <a:lnSpc>
                  <a:spcPts val="2659"/>
                </a:lnSpc>
              </a:pPr>
              <a:endParaRPr/>
            </a:p>
          </p:txBody>
        </p:sp>
      </p:grpSp>
      <p:sp>
        <p:nvSpPr>
          <p:cNvPr id="13" name="TextBox 13"/>
          <p:cNvSpPr txBox="1"/>
          <p:nvPr/>
        </p:nvSpPr>
        <p:spPr>
          <a:xfrm>
            <a:off x="12197235" y="7022744"/>
            <a:ext cx="923458" cy="580204"/>
          </a:xfrm>
          <a:prstGeom prst="rect">
            <a:avLst/>
          </a:prstGeom>
        </p:spPr>
        <p:txBody>
          <a:bodyPr lIns="0" tIns="0" rIns="0" bIns="0" rtlCol="0" anchor="t">
            <a:spAutoFit/>
          </a:bodyPr>
          <a:lstStyle/>
          <a:p>
            <a:pPr marL="0" lvl="0" indent="0" algn="ctr">
              <a:lnSpc>
                <a:spcPts val="4334"/>
              </a:lnSpc>
            </a:pPr>
            <a:r>
              <a:rPr lang="en-US" sz="4334" b="1">
                <a:solidFill>
                  <a:srgbClr val="FFFFFF"/>
                </a:solidFill>
                <a:latin typeface="Montserrat Ultra-Bold"/>
                <a:ea typeface="Montserrat Ultra-Bold"/>
                <a:cs typeface="Montserrat Ultra-Bold"/>
                <a:sym typeface="Montserrat Ultra-Bold"/>
              </a:rPr>
              <a:t>3</a:t>
            </a:r>
          </a:p>
        </p:txBody>
      </p:sp>
      <p:sp>
        <p:nvSpPr>
          <p:cNvPr id="14" name="TextBox 14"/>
          <p:cNvSpPr txBox="1"/>
          <p:nvPr/>
        </p:nvSpPr>
        <p:spPr>
          <a:xfrm>
            <a:off x="11615682" y="7642736"/>
            <a:ext cx="2086564" cy="1533525"/>
          </a:xfrm>
          <a:prstGeom prst="rect">
            <a:avLst/>
          </a:prstGeom>
        </p:spPr>
        <p:txBody>
          <a:bodyPr lIns="0" tIns="0" rIns="0" bIns="0" rtlCol="0" anchor="t">
            <a:spAutoFit/>
          </a:bodyPr>
          <a:lstStyle/>
          <a:p>
            <a:pPr marL="0" lvl="0" indent="0" algn="ctr">
              <a:lnSpc>
                <a:spcPts val="2099"/>
              </a:lnSpc>
            </a:pPr>
            <a:r>
              <a:rPr lang="en-US" sz="1499">
                <a:solidFill>
                  <a:srgbClr val="FFFFFF"/>
                </a:solidFill>
                <a:latin typeface="Montserrat"/>
                <a:ea typeface="Montserrat"/>
                <a:cs typeface="Montserrat"/>
                <a:sym typeface="Montserrat"/>
              </a:rPr>
              <a:t>.NET MCP Server exposes controlled ops: read, update, delete, search, and explain schema, no raw SQL.</a:t>
            </a:r>
          </a:p>
        </p:txBody>
      </p:sp>
      <p:grpSp>
        <p:nvGrpSpPr>
          <p:cNvPr id="15" name="Group 15"/>
          <p:cNvGrpSpPr/>
          <p:nvPr/>
        </p:nvGrpSpPr>
        <p:grpSpPr>
          <a:xfrm>
            <a:off x="14510398" y="6664461"/>
            <a:ext cx="2748902" cy="2593839"/>
            <a:chOff x="0" y="0"/>
            <a:chExt cx="682033" cy="643561"/>
          </a:xfrm>
        </p:grpSpPr>
        <p:sp>
          <p:nvSpPr>
            <p:cNvPr id="16" name="Freeform 16"/>
            <p:cNvSpPr/>
            <p:nvPr/>
          </p:nvSpPr>
          <p:spPr>
            <a:xfrm>
              <a:off x="0" y="0"/>
              <a:ext cx="682033" cy="643561"/>
            </a:xfrm>
            <a:custGeom>
              <a:avLst/>
              <a:gdLst/>
              <a:ahLst/>
              <a:cxnLst/>
              <a:rect l="l" t="t" r="r" b="b"/>
              <a:pathLst>
                <a:path w="682033" h="643561">
                  <a:moveTo>
                    <a:pt x="0" y="0"/>
                  </a:moveTo>
                  <a:lnTo>
                    <a:pt x="682033" y="0"/>
                  </a:lnTo>
                  <a:lnTo>
                    <a:pt x="682033" y="643561"/>
                  </a:lnTo>
                  <a:lnTo>
                    <a:pt x="0" y="643561"/>
                  </a:lnTo>
                  <a:close/>
                </a:path>
              </a:pathLst>
            </a:custGeom>
            <a:solidFill>
              <a:srgbClr val="334368"/>
            </a:solidFill>
          </p:spPr>
        </p:sp>
        <p:sp>
          <p:nvSpPr>
            <p:cNvPr id="17" name="TextBox 17"/>
            <p:cNvSpPr txBox="1"/>
            <p:nvPr/>
          </p:nvSpPr>
          <p:spPr>
            <a:xfrm>
              <a:off x="0" y="-38100"/>
              <a:ext cx="682033" cy="681661"/>
            </a:xfrm>
            <a:prstGeom prst="rect">
              <a:avLst/>
            </a:prstGeom>
          </p:spPr>
          <p:txBody>
            <a:bodyPr lIns="42129" tIns="42129" rIns="42129" bIns="42129" rtlCol="0" anchor="ctr"/>
            <a:lstStyle/>
            <a:p>
              <a:pPr marL="0" lvl="0" indent="0" algn="ctr">
                <a:lnSpc>
                  <a:spcPts val="2659"/>
                </a:lnSpc>
              </a:pPr>
              <a:endParaRPr/>
            </a:p>
          </p:txBody>
        </p:sp>
      </p:grpSp>
      <p:sp>
        <p:nvSpPr>
          <p:cNvPr id="18" name="TextBox 18"/>
          <p:cNvSpPr txBox="1"/>
          <p:nvPr/>
        </p:nvSpPr>
        <p:spPr>
          <a:xfrm>
            <a:off x="15423120" y="7022744"/>
            <a:ext cx="923458" cy="580204"/>
          </a:xfrm>
          <a:prstGeom prst="rect">
            <a:avLst/>
          </a:prstGeom>
        </p:spPr>
        <p:txBody>
          <a:bodyPr lIns="0" tIns="0" rIns="0" bIns="0" rtlCol="0" anchor="t">
            <a:spAutoFit/>
          </a:bodyPr>
          <a:lstStyle/>
          <a:p>
            <a:pPr marL="0" lvl="0" indent="0" algn="ctr">
              <a:lnSpc>
                <a:spcPts val="4334"/>
              </a:lnSpc>
            </a:pPr>
            <a:r>
              <a:rPr lang="en-US" sz="4334" b="1">
                <a:solidFill>
                  <a:srgbClr val="FFFFFF"/>
                </a:solidFill>
                <a:latin typeface="Montserrat Ultra-Bold"/>
                <a:ea typeface="Montserrat Ultra-Bold"/>
                <a:cs typeface="Montserrat Ultra-Bold"/>
                <a:sym typeface="Montserrat Ultra-Bold"/>
              </a:rPr>
              <a:t>4</a:t>
            </a:r>
          </a:p>
        </p:txBody>
      </p:sp>
      <p:sp>
        <p:nvSpPr>
          <p:cNvPr id="19" name="TextBox 19"/>
          <p:cNvSpPr txBox="1"/>
          <p:nvPr/>
        </p:nvSpPr>
        <p:spPr>
          <a:xfrm>
            <a:off x="14841567" y="7642736"/>
            <a:ext cx="2086564" cy="1478915"/>
          </a:xfrm>
          <a:prstGeom prst="rect">
            <a:avLst/>
          </a:prstGeom>
        </p:spPr>
        <p:txBody>
          <a:bodyPr lIns="0" tIns="0" rIns="0" bIns="0" rtlCol="0" anchor="t">
            <a:spAutoFit/>
          </a:bodyPr>
          <a:lstStyle/>
          <a:p>
            <a:pPr marL="0" lvl="0" indent="0" algn="ctr">
              <a:lnSpc>
                <a:spcPts val="1959"/>
              </a:lnSpc>
            </a:pPr>
            <a:r>
              <a:rPr lang="en-US" sz="1399">
                <a:solidFill>
                  <a:srgbClr val="FFFFFF"/>
                </a:solidFill>
                <a:latin typeface="Montserrat"/>
                <a:ea typeface="Montserrat"/>
                <a:cs typeface="Montserrat"/>
                <a:sym typeface="Montserrat"/>
              </a:rPr>
              <a:t>SQL Server receives only validated, parameterized queries built by the MCP server after auth and audit checks.</a:t>
            </a:r>
          </a:p>
        </p:txBody>
      </p:sp>
      <p:grpSp>
        <p:nvGrpSpPr>
          <p:cNvPr id="20" name="Group 20"/>
          <p:cNvGrpSpPr/>
          <p:nvPr/>
        </p:nvGrpSpPr>
        <p:grpSpPr>
          <a:xfrm>
            <a:off x="4658533" y="6664461"/>
            <a:ext cx="2748902" cy="2593839"/>
            <a:chOff x="0" y="0"/>
            <a:chExt cx="682033" cy="643561"/>
          </a:xfrm>
        </p:grpSpPr>
        <p:sp>
          <p:nvSpPr>
            <p:cNvPr id="21" name="Freeform 21"/>
            <p:cNvSpPr/>
            <p:nvPr/>
          </p:nvSpPr>
          <p:spPr>
            <a:xfrm>
              <a:off x="0" y="0"/>
              <a:ext cx="682033" cy="643561"/>
            </a:xfrm>
            <a:custGeom>
              <a:avLst/>
              <a:gdLst/>
              <a:ahLst/>
              <a:cxnLst/>
              <a:rect l="l" t="t" r="r" b="b"/>
              <a:pathLst>
                <a:path w="682033" h="643561">
                  <a:moveTo>
                    <a:pt x="0" y="0"/>
                  </a:moveTo>
                  <a:lnTo>
                    <a:pt x="682033" y="0"/>
                  </a:lnTo>
                  <a:lnTo>
                    <a:pt x="682033" y="643561"/>
                  </a:lnTo>
                  <a:lnTo>
                    <a:pt x="0" y="643561"/>
                  </a:lnTo>
                  <a:close/>
                </a:path>
              </a:pathLst>
            </a:custGeom>
            <a:solidFill>
              <a:srgbClr val="8093BB"/>
            </a:solidFill>
          </p:spPr>
        </p:sp>
        <p:sp>
          <p:nvSpPr>
            <p:cNvPr id="22" name="TextBox 22"/>
            <p:cNvSpPr txBox="1"/>
            <p:nvPr/>
          </p:nvSpPr>
          <p:spPr>
            <a:xfrm>
              <a:off x="0" y="-38100"/>
              <a:ext cx="682033" cy="681661"/>
            </a:xfrm>
            <a:prstGeom prst="rect">
              <a:avLst/>
            </a:prstGeom>
          </p:spPr>
          <p:txBody>
            <a:bodyPr lIns="42129" tIns="42129" rIns="42129" bIns="42129" rtlCol="0" anchor="ctr"/>
            <a:lstStyle/>
            <a:p>
              <a:pPr marL="0" lvl="0" indent="0" algn="ctr">
                <a:lnSpc>
                  <a:spcPts val="2659"/>
                </a:lnSpc>
              </a:pPr>
              <a:endParaRPr/>
            </a:p>
          </p:txBody>
        </p:sp>
      </p:grpSp>
      <p:sp>
        <p:nvSpPr>
          <p:cNvPr id="23" name="TextBox 23"/>
          <p:cNvSpPr txBox="1"/>
          <p:nvPr/>
        </p:nvSpPr>
        <p:spPr>
          <a:xfrm>
            <a:off x="5571256" y="7022744"/>
            <a:ext cx="923458" cy="580204"/>
          </a:xfrm>
          <a:prstGeom prst="rect">
            <a:avLst/>
          </a:prstGeom>
        </p:spPr>
        <p:txBody>
          <a:bodyPr lIns="0" tIns="0" rIns="0" bIns="0" rtlCol="0" anchor="t">
            <a:spAutoFit/>
          </a:bodyPr>
          <a:lstStyle/>
          <a:p>
            <a:pPr marL="0" lvl="0" indent="0" algn="ctr">
              <a:lnSpc>
                <a:spcPts val="4334"/>
              </a:lnSpc>
            </a:pPr>
            <a:r>
              <a:rPr lang="en-US" sz="4334" b="1">
                <a:solidFill>
                  <a:srgbClr val="FFFFFF"/>
                </a:solidFill>
                <a:latin typeface="Montserrat Ultra-Bold"/>
                <a:ea typeface="Montserrat Ultra-Bold"/>
                <a:cs typeface="Montserrat Ultra-Bold"/>
                <a:sym typeface="Montserrat Ultra-Bold"/>
              </a:rPr>
              <a:t>1</a:t>
            </a:r>
          </a:p>
        </p:txBody>
      </p:sp>
      <p:sp>
        <p:nvSpPr>
          <p:cNvPr id="24" name="TextBox 24"/>
          <p:cNvSpPr txBox="1"/>
          <p:nvPr/>
        </p:nvSpPr>
        <p:spPr>
          <a:xfrm>
            <a:off x="4989702" y="7642736"/>
            <a:ext cx="2086564" cy="504825"/>
          </a:xfrm>
          <a:prstGeom prst="rect">
            <a:avLst/>
          </a:prstGeom>
        </p:spPr>
        <p:txBody>
          <a:bodyPr lIns="0" tIns="0" rIns="0" bIns="0" rtlCol="0" anchor="t">
            <a:spAutoFit/>
          </a:bodyPr>
          <a:lstStyle/>
          <a:p>
            <a:pPr marL="0" lvl="0" indent="0" algn="ctr">
              <a:lnSpc>
                <a:spcPts val="2099"/>
              </a:lnSpc>
            </a:pPr>
            <a:r>
              <a:rPr lang="en-US" sz="1499">
                <a:solidFill>
                  <a:srgbClr val="FFFFFF"/>
                </a:solidFill>
                <a:latin typeface="Montserrat"/>
                <a:ea typeface="Montserrat"/>
                <a:cs typeface="Montserrat"/>
                <a:sym typeface="Montserrat"/>
              </a:rPr>
              <a:t>Claude Desktop acts as the MCP Host.</a:t>
            </a:r>
          </a:p>
        </p:txBody>
      </p:sp>
      <p:sp>
        <p:nvSpPr>
          <p:cNvPr id="25" name="TextBox 25"/>
          <p:cNvSpPr txBox="1"/>
          <p:nvPr/>
        </p:nvSpPr>
        <p:spPr>
          <a:xfrm>
            <a:off x="15764299" y="741861"/>
            <a:ext cx="1473411" cy="696695"/>
          </a:xfrm>
          <a:prstGeom prst="rect">
            <a:avLst/>
          </a:prstGeom>
        </p:spPr>
        <p:txBody>
          <a:bodyPr lIns="0" tIns="0" rIns="0" bIns="0" rtlCol="0" anchor="t">
            <a:spAutoFit/>
          </a:bodyPr>
          <a:lstStyle/>
          <a:p>
            <a:pPr marL="0" lvl="0" indent="0" algn="ctr">
              <a:lnSpc>
                <a:spcPts val="5303"/>
              </a:lnSpc>
            </a:pPr>
            <a:r>
              <a:rPr lang="en-US" sz="5303" b="1">
                <a:solidFill>
                  <a:srgbClr val="8093BB"/>
                </a:solidFill>
                <a:latin typeface="Montserrat Bold"/>
                <a:ea typeface="Montserrat Bold"/>
                <a:cs typeface="Montserrat Bold"/>
                <a:sym typeface="Montserrat Bold"/>
              </a:rPr>
              <a:t>05</a:t>
            </a:r>
          </a:p>
        </p:txBody>
      </p:sp>
      <p:grpSp>
        <p:nvGrpSpPr>
          <p:cNvPr id="26" name="Group 26"/>
          <p:cNvGrpSpPr/>
          <p:nvPr/>
        </p:nvGrpSpPr>
        <p:grpSpPr>
          <a:xfrm>
            <a:off x="7969411" y="6664461"/>
            <a:ext cx="2748902" cy="2593839"/>
            <a:chOff x="0" y="0"/>
            <a:chExt cx="682033" cy="643561"/>
          </a:xfrm>
        </p:grpSpPr>
        <p:sp>
          <p:nvSpPr>
            <p:cNvPr id="27" name="Freeform 27"/>
            <p:cNvSpPr/>
            <p:nvPr/>
          </p:nvSpPr>
          <p:spPr>
            <a:xfrm>
              <a:off x="0" y="0"/>
              <a:ext cx="682033" cy="643561"/>
            </a:xfrm>
            <a:custGeom>
              <a:avLst/>
              <a:gdLst/>
              <a:ahLst/>
              <a:cxnLst/>
              <a:rect l="l" t="t" r="r" b="b"/>
              <a:pathLst>
                <a:path w="682033" h="643561">
                  <a:moveTo>
                    <a:pt x="0" y="0"/>
                  </a:moveTo>
                  <a:lnTo>
                    <a:pt x="682033" y="0"/>
                  </a:lnTo>
                  <a:lnTo>
                    <a:pt x="682033" y="643561"/>
                  </a:lnTo>
                  <a:lnTo>
                    <a:pt x="0" y="643561"/>
                  </a:lnTo>
                  <a:close/>
                </a:path>
              </a:pathLst>
            </a:custGeom>
            <a:solidFill>
              <a:srgbClr val="8093BB"/>
            </a:solidFill>
          </p:spPr>
        </p:sp>
        <p:sp>
          <p:nvSpPr>
            <p:cNvPr id="28" name="TextBox 28"/>
            <p:cNvSpPr txBox="1"/>
            <p:nvPr/>
          </p:nvSpPr>
          <p:spPr>
            <a:xfrm>
              <a:off x="0" y="-38100"/>
              <a:ext cx="682033" cy="681661"/>
            </a:xfrm>
            <a:prstGeom prst="rect">
              <a:avLst/>
            </a:prstGeom>
          </p:spPr>
          <p:txBody>
            <a:bodyPr lIns="42129" tIns="42129" rIns="42129" bIns="42129" rtlCol="0" anchor="ctr"/>
            <a:lstStyle/>
            <a:p>
              <a:pPr marL="0" lvl="0" indent="0" algn="ctr">
                <a:lnSpc>
                  <a:spcPts val="2659"/>
                </a:lnSpc>
              </a:pPr>
              <a:endParaRPr/>
            </a:p>
          </p:txBody>
        </p:sp>
      </p:grpSp>
      <p:sp>
        <p:nvSpPr>
          <p:cNvPr id="29" name="TextBox 29"/>
          <p:cNvSpPr txBox="1"/>
          <p:nvPr/>
        </p:nvSpPr>
        <p:spPr>
          <a:xfrm>
            <a:off x="8683605" y="7022744"/>
            <a:ext cx="923458" cy="580204"/>
          </a:xfrm>
          <a:prstGeom prst="rect">
            <a:avLst/>
          </a:prstGeom>
        </p:spPr>
        <p:txBody>
          <a:bodyPr lIns="0" tIns="0" rIns="0" bIns="0" rtlCol="0" anchor="t">
            <a:spAutoFit/>
          </a:bodyPr>
          <a:lstStyle/>
          <a:p>
            <a:pPr marL="0" lvl="0" indent="0" algn="ctr">
              <a:lnSpc>
                <a:spcPts val="4334"/>
              </a:lnSpc>
            </a:pPr>
            <a:r>
              <a:rPr lang="en-US" sz="4334" b="1">
                <a:solidFill>
                  <a:srgbClr val="FFFFFF"/>
                </a:solidFill>
                <a:latin typeface="Montserrat Ultra-Bold"/>
                <a:ea typeface="Montserrat Ultra-Bold"/>
                <a:cs typeface="Montserrat Ultra-Bold"/>
                <a:sym typeface="Montserrat Ultra-Bold"/>
              </a:rPr>
              <a:t>2</a:t>
            </a:r>
          </a:p>
        </p:txBody>
      </p:sp>
      <p:sp>
        <p:nvSpPr>
          <p:cNvPr id="30" name="TextBox 30"/>
          <p:cNvSpPr txBox="1"/>
          <p:nvPr/>
        </p:nvSpPr>
        <p:spPr>
          <a:xfrm>
            <a:off x="8061659" y="7755349"/>
            <a:ext cx="2417733" cy="735965"/>
          </a:xfrm>
          <a:prstGeom prst="rect">
            <a:avLst/>
          </a:prstGeom>
        </p:spPr>
        <p:txBody>
          <a:bodyPr lIns="0" tIns="0" rIns="0" bIns="0" rtlCol="0" anchor="t">
            <a:spAutoFit/>
          </a:bodyPr>
          <a:lstStyle/>
          <a:p>
            <a:pPr marL="0" lvl="0" indent="0" algn="ctr">
              <a:lnSpc>
                <a:spcPts val="1959"/>
              </a:lnSpc>
            </a:pPr>
            <a:r>
              <a:rPr lang="en-US" sz="1399">
                <a:solidFill>
                  <a:srgbClr val="FFFFFF"/>
                </a:solidFill>
                <a:latin typeface="Montserrat"/>
                <a:ea typeface="Montserrat"/>
                <a:cs typeface="Montserrat"/>
                <a:sym typeface="Montserrat"/>
              </a:rPr>
              <a:t>Host initiating requests through the MCP Client to the .NET MCP Server.</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59" b="-9259"/>
            </a:stretch>
          </a:blipFill>
        </p:spPr>
      </p:sp>
      <p:sp>
        <p:nvSpPr>
          <p:cNvPr id="3" name="Freeform 3"/>
          <p:cNvSpPr/>
          <p:nvPr/>
        </p:nvSpPr>
        <p:spPr>
          <a:xfrm>
            <a:off x="1028700" y="1028700"/>
            <a:ext cx="6043342" cy="8229600"/>
          </a:xfrm>
          <a:custGeom>
            <a:avLst/>
            <a:gdLst/>
            <a:ahLst/>
            <a:cxnLst/>
            <a:rect l="l" t="t" r="r" b="b"/>
            <a:pathLst>
              <a:path w="6043342" h="8229600">
                <a:moveTo>
                  <a:pt x="0" y="0"/>
                </a:moveTo>
                <a:lnTo>
                  <a:pt x="6043342" y="0"/>
                </a:lnTo>
                <a:lnTo>
                  <a:pt x="6043342" y="8229600"/>
                </a:lnTo>
                <a:lnTo>
                  <a:pt x="0" y="8229600"/>
                </a:lnTo>
                <a:lnTo>
                  <a:pt x="0" y="0"/>
                </a:lnTo>
                <a:close/>
              </a:path>
            </a:pathLst>
          </a:custGeom>
          <a:blipFill>
            <a:blip r:embed="rId3"/>
            <a:stretch>
              <a:fillRect l="-810" r="-810"/>
            </a:stretch>
          </a:blipFill>
        </p:spPr>
      </p:sp>
      <p:sp>
        <p:nvSpPr>
          <p:cNvPr id="4" name="TextBox 4"/>
          <p:cNvSpPr txBox="1"/>
          <p:nvPr/>
        </p:nvSpPr>
        <p:spPr>
          <a:xfrm>
            <a:off x="8061659" y="4766149"/>
            <a:ext cx="9172951" cy="1416516"/>
          </a:xfrm>
          <a:prstGeom prst="rect">
            <a:avLst/>
          </a:prstGeom>
        </p:spPr>
        <p:txBody>
          <a:bodyPr lIns="0" tIns="0" rIns="0" bIns="0" rtlCol="0" anchor="t">
            <a:spAutoFit/>
          </a:bodyPr>
          <a:lstStyle/>
          <a:p>
            <a:pPr marL="0" lvl="0" indent="0" algn="just">
              <a:lnSpc>
                <a:spcPts val="3824"/>
              </a:lnSpc>
            </a:pPr>
            <a:r>
              <a:rPr lang="en-US" sz="2731">
                <a:solidFill>
                  <a:srgbClr val="324370"/>
                </a:solidFill>
                <a:latin typeface="Montserrat"/>
                <a:ea typeface="Montserrat"/>
                <a:cs typeface="Montserrat"/>
                <a:sym typeface="Montserrat"/>
              </a:rPr>
              <a:t>MCP core elements enable AI apps to connect, communicate, and operate safely with databases and external systems via a standard interface.</a:t>
            </a:r>
          </a:p>
        </p:txBody>
      </p:sp>
      <p:sp>
        <p:nvSpPr>
          <p:cNvPr id="5" name="TextBox 5"/>
          <p:cNvSpPr txBox="1"/>
          <p:nvPr/>
        </p:nvSpPr>
        <p:spPr>
          <a:xfrm>
            <a:off x="8061659" y="2154016"/>
            <a:ext cx="9197641" cy="1119508"/>
          </a:xfrm>
          <a:prstGeom prst="rect">
            <a:avLst/>
          </a:prstGeom>
        </p:spPr>
        <p:txBody>
          <a:bodyPr lIns="0" tIns="0" rIns="0" bIns="0" rtlCol="0" anchor="t">
            <a:spAutoFit/>
          </a:bodyPr>
          <a:lstStyle/>
          <a:p>
            <a:pPr marL="0" lvl="0" indent="0" algn="l">
              <a:lnSpc>
                <a:spcPts val="8450"/>
              </a:lnSpc>
            </a:pPr>
            <a:r>
              <a:rPr lang="en-US" sz="8450" b="1">
                <a:solidFill>
                  <a:srgbClr val="324370"/>
                </a:solidFill>
                <a:latin typeface="Montserrat Ultra-Bold"/>
                <a:ea typeface="Montserrat Ultra-Bold"/>
                <a:cs typeface="Montserrat Ultra-Bold"/>
                <a:sym typeface="Montserrat Ultra-Bold"/>
              </a:rPr>
              <a:t>MCP BUILDING</a:t>
            </a:r>
          </a:p>
        </p:txBody>
      </p:sp>
      <p:grpSp>
        <p:nvGrpSpPr>
          <p:cNvPr id="6" name="Group 6"/>
          <p:cNvGrpSpPr/>
          <p:nvPr/>
        </p:nvGrpSpPr>
        <p:grpSpPr>
          <a:xfrm>
            <a:off x="8061659" y="3411268"/>
            <a:ext cx="9197641" cy="1231494"/>
            <a:chOff x="0" y="0"/>
            <a:chExt cx="2282038" cy="305547"/>
          </a:xfrm>
        </p:grpSpPr>
        <p:sp>
          <p:nvSpPr>
            <p:cNvPr id="7" name="Freeform 7"/>
            <p:cNvSpPr/>
            <p:nvPr/>
          </p:nvSpPr>
          <p:spPr>
            <a:xfrm>
              <a:off x="0" y="0"/>
              <a:ext cx="2282038" cy="305547"/>
            </a:xfrm>
            <a:custGeom>
              <a:avLst/>
              <a:gdLst/>
              <a:ahLst/>
              <a:cxnLst/>
              <a:rect l="l" t="t" r="r" b="b"/>
              <a:pathLst>
                <a:path w="2282038" h="305547">
                  <a:moveTo>
                    <a:pt x="0" y="0"/>
                  </a:moveTo>
                  <a:lnTo>
                    <a:pt x="2282038" y="0"/>
                  </a:lnTo>
                  <a:lnTo>
                    <a:pt x="2282038" y="305547"/>
                  </a:lnTo>
                  <a:lnTo>
                    <a:pt x="0" y="305547"/>
                  </a:lnTo>
                  <a:close/>
                </a:path>
              </a:pathLst>
            </a:custGeom>
            <a:solidFill>
              <a:srgbClr val="324370"/>
            </a:solidFill>
          </p:spPr>
        </p:sp>
        <p:sp>
          <p:nvSpPr>
            <p:cNvPr id="8" name="TextBox 8"/>
            <p:cNvSpPr txBox="1"/>
            <p:nvPr/>
          </p:nvSpPr>
          <p:spPr>
            <a:xfrm>
              <a:off x="0" y="-38100"/>
              <a:ext cx="2282038" cy="343647"/>
            </a:xfrm>
            <a:prstGeom prst="rect">
              <a:avLst/>
            </a:prstGeom>
          </p:spPr>
          <p:txBody>
            <a:bodyPr lIns="42129" tIns="42129" rIns="42129" bIns="42129" rtlCol="0" anchor="ctr"/>
            <a:lstStyle/>
            <a:p>
              <a:pPr marL="0" lvl="0" indent="0" algn="ctr">
                <a:lnSpc>
                  <a:spcPts val="2659"/>
                </a:lnSpc>
              </a:pPr>
              <a:endParaRPr/>
            </a:p>
          </p:txBody>
        </p:sp>
      </p:grpSp>
      <p:sp>
        <p:nvSpPr>
          <p:cNvPr id="9" name="TextBox 9"/>
          <p:cNvSpPr txBox="1"/>
          <p:nvPr/>
        </p:nvSpPr>
        <p:spPr>
          <a:xfrm>
            <a:off x="8061659" y="3663188"/>
            <a:ext cx="9172951" cy="845951"/>
          </a:xfrm>
          <a:prstGeom prst="rect">
            <a:avLst/>
          </a:prstGeom>
        </p:spPr>
        <p:txBody>
          <a:bodyPr lIns="0" tIns="0" rIns="0" bIns="0" rtlCol="0" anchor="t">
            <a:spAutoFit/>
          </a:bodyPr>
          <a:lstStyle/>
          <a:p>
            <a:pPr marL="0" lvl="0" indent="0" algn="ctr">
              <a:lnSpc>
                <a:spcPts val="6305"/>
              </a:lnSpc>
            </a:pPr>
            <a:r>
              <a:rPr lang="en-US" sz="6305" b="1">
                <a:solidFill>
                  <a:srgbClr val="FFFFFF"/>
                </a:solidFill>
                <a:latin typeface="Montserrat Ultra-Bold"/>
                <a:ea typeface="Montserrat Ultra-Bold"/>
                <a:cs typeface="Montserrat Ultra-Bold"/>
                <a:sym typeface="Montserrat Ultra-Bold"/>
              </a:rPr>
              <a:t>BLOCKS</a:t>
            </a:r>
          </a:p>
        </p:txBody>
      </p:sp>
      <p:grpSp>
        <p:nvGrpSpPr>
          <p:cNvPr id="10" name="Group 10"/>
          <p:cNvGrpSpPr/>
          <p:nvPr/>
        </p:nvGrpSpPr>
        <p:grpSpPr>
          <a:xfrm>
            <a:off x="11284513" y="6664461"/>
            <a:ext cx="2748902" cy="2593839"/>
            <a:chOff x="0" y="0"/>
            <a:chExt cx="682033" cy="643561"/>
          </a:xfrm>
        </p:grpSpPr>
        <p:sp>
          <p:nvSpPr>
            <p:cNvPr id="11" name="Freeform 11"/>
            <p:cNvSpPr/>
            <p:nvPr/>
          </p:nvSpPr>
          <p:spPr>
            <a:xfrm>
              <a:off x="0" y="0"/>
              <a:ext cx="682033" cy="643561"/>
            </a:xfrm>
            <a:custGeom>
              <a:avLst/>
              <a:gdLst/>
              <a:ahLst/>
              <a:cxnLst/>
              <a:rect l="l" t="t" r="r" b="b"/>
              <a:pathLst>
                <a:path w="682033" h="643561">
                  <a:moveTo>
                    <a:pt x="0" y="0"/>
                  </a:moveTo>
                  <a:lnTo>
                    <a:pt x="682033" y="0"/>
                  </a:lnTo>
                  <a:lnTo>
                    <a:pt x="682033" y="643561"/>
                  </a:lnTo>
                  <a:lnTo>
                    <a:pt x="0" y="643561"/>
                  </a:lnTo>
                  <a:close/>
                </a:path>
              </a:pathLst>
            </a:custGeom>
            <a:solidFill>
              <a:srgbClr val="546791"/>
            </a:solidFill>
          </p:spPr>
        </p:sp>
        <p:sp>
          <p:nvSpPr>
            <p:cNvPr id="12" name="TextBox 12"/>
            <p:cNvSpPr txBox="1"/>
            <p:nvPr/>
          </p:nvSpPr>
          <p:spPr>
            <a:xfrm>
              <a:off x="0" y="-38100"/>
              <a:ext cx="682033" cy="681661"/>
            </a:xfrm>
            <a:prstGeom prst="rect">
              <a:avLst/>
            </a:prstGeom>
          </p:spPr>
          <p:txBody>
            <a:bodyPr lIns="42129" tIns="42129" rIns="42129" bIns="42129" rtlCol="0" anchor="ctr"/>
            <a:lstStyle/>
            <a:p>
              <a:pPr marL="0" lvl="0" indent="0" algn="ctr">
                <a:lnSpc>
                  <a:spcPts val="2659"/>
                </a:lnSpc>
              </a:pPr>
              <a:endParaRPr/>
            </a:p>
          </p:txBody>
        </p:sp>
      </p:grpSp>
      <p:sp>
        <p:nvSpPr>
          <p:cNvPr id="13" name="TextBox 13"/>
          <p:cNvSpPr txBox="1"/>
          <p:nvPr/>
        </p:nvSpPr>
        <p:spPr>
          <a:xfrm>
            <a:off x="12197235" y="7041794"/>
            <a:ext cx="923458" cy="629423"/>
          </a:xfrm>
          <a:prstGeom prst="rect">
            <a:avLst/>
          </a:prstGeom>
        </p:spPr>
        <p:txBody>
          <a:bodyPr lIns="0" tIns="0" rIns="0" bIns="0" rtlCol="0" anchor="t">
            <a:spAutoFit/>
          </a:bodyPr>
          <a:lstStyle/>
          <a:p>
            <a:pPr marL="0" lvl="0" indent="0" algn="ctr">
              <a:lnSpc>
                <a:spcPts val="4758"/>
              </a:lnSpc>
            </a:pPr>
            <a:r>
              <a:rPr lang="en-US" sz="4758" b="1">
                <a:solidFill>
                  <a:srgbClr val="FFFFFF"/>
                </a:solidFill>
                <a:latin typeface="Montserrat Ultra-Bold"/>
                <a:ea typeface="Montserrat Ultra-Bold"/>
                <a:cs typeface="Montserrat Ultra-Bold"/>
                <a:sym typeface="Montserrat Ultra-Bold"/>
              </a:rPr>
              <a:t>📦</a:t>
            </a:r>
          </a:p>
        </p:txBody>
      </p:sp>
      <p:sp>
        <p:nvSpPr>
          <p:cNvPr id="14" name="TextBox 14"/>
          <p:cNvSpPr txBox="1"/>
          <p:nvPr/>
        </p:nvSpPr>
        <p:spPr>
          <a:xfrm>
            <a:off x="11615682" y="7652261"/>
            <a:ext cx="2086564" cy="1101200"/>
          </a:xfrm>
          <a:prstGeom prst="rect">
            <a:avLst/>
          </a:prstGeom>
        </p:spPr>
        <p:txBody>
          <a:bodyPr lIns="0" tIns="0" rIns="0" bIns="0" rtlCol="0" anchor="t">
            <a:spAutoFit/>
          </a:bodyPr>
          <a:lstStyle/>
          <a:p>
            <a:pPr marL="0" lvl="0" indent="0" algn="ctr">
              <a:lnSpc>
                <a:spcPts val="1765"/>
              </a:lnSpc>
            </a:pPr>
            <a:r>
              <a:rPr lang="en-US" sz="1260">
                <a:solidFill>
                  <a:srgbClr val="FFFFFF"/>
                </a:solidFill>
                <a:latin typeface="Montserrat"/>
                <a:ea typeface="Montserrat"/>
                <a:cs typeface="Montserrat"/>
                <a:sym typeface="Montserrat"/>
              </a:rPr>
              <a:t>Resources: Metadata, schema info, allowed entities, and documentation exposed to the AI</a:t>
            </a:r>
          </a:p>
        </p:txBody>
      </p:sp>
      <p:grpSp>
        <p:nvGrpSpPr>
          <p:cNvPr id="15" name="Group 15"/>
          <p:cNvGrpSpPr/>
          <p:nvPr/>
        </p:nvGrpSpPr>
        <p:grpSpPr>
          <a:xfrm>
            <a:off x="14510398" y="6664461"/>
            <a:ext cx="2748902" cy="2593839"/>
            <a:chOff x="0" y="0"/>
            <a:chExt cx="682033" cy="643561"/>
          </a:xfrm>
        </p:grpSpPr>
        <p:sp>
          <p:nvSpPr>
            <p:cNvPr id="16" name="Freeform 16"/>
            <p:cNvSpPr/>
            <p:nvPr/>
          </p:nvSpPr>
          <p:spPr>
            <a:xfrm>
              <a:off x="0" y="0"/>
              <a:ext cx="682033" cy="643561"/>
            </a:xfrm>
            <a:custGeom>
              <a:avLst/>
              <a:gdLst/>
              <a:ahLst/>
              <a:cxnLst/>
              <a:rect l="l" t="t" r="r" b="b"/>
              <a:pathLst>
                <a:path w="682033" h="643561">
                  <a:moveTo>
                    <a:pt x="0" y="0"/>
                  </a:moveTo>
                  <a:lnTo>
                    <a:pt x="682033" y="0"/>
                  </a:lnTo>
                  <a:lnTo>
                    <a:pt x="682033" y="643561"/>
                  </a:lnTo>
                  <a:lnTo>
                    <a:pt x="0" y="643561"/>
                  </a:lnTo>
                  <a:close/>
                </a:path>
              </a:pathLst>
            </a:custGeom>
            <a:solidFill>
              <a:srgbClr val="334368"/>
            </a:solidFill>
          </p:spPr>
        </p:sp>
        <p:sp>
          <p:nvSpPr>
            <p:cNvPr id="17" name="TextBox 17"/>
            <p:cNvSpPr txBox="1"/>
            <p:nvPr/>
          </p:nvSpPr>
          <p:spPr>
            <a:xfrm>
              <a:off x="0" y="-38100"/>
              <a:ext cx="682033" cy="681661"/>
            </a:xfrm>
            <a:prstGeom prst="rect">
              <a:avLst/>
            </a:prstGeom>
          </p:spPr>
          <p:txBody>
            <a:bodyPr lIns="42129" tIns="42129" rIns="42129" bIns="42129" rtlCol="0" anchor="ctr"/>
            <a:lstStyle/>
            <a:p>
              <a:pPr marL="0" lvl="0" indent="0" algn="ctr">
                <a:lnSpc>
                  <a:spcPts val="2659"/>
                </a:lnSpc>
              </a:pPr>
              <a:endParaRPr/>
            </a:p>
          </p:txBody>
        </p:sp>
      </p:grpSp>
      <p:sp>
        <p:nvSpPr>
          <p:cNvPr id="18" name="TextBox 18"/>
          <p:cNvSpPr txBox="1"/>
          <p:nvPr/>
        </p:nvSpPr>
        <p:spPr>
          <a:xfrm>
            <a:off x="15423120" y="7041794"/>
            <a:ext cx="923458" cy="629423"/>
          </a:xfrm>
          <a:prstGeom prst="rect">
            <a:avLst/>
          </a:prstGeom>
        </p:spPr>
        <p:txBody>
          <a:bodyPr lIns="0" tIns="0" rIns="0" bIns="0" rtlCol="0" anchor="t">
            <a:spAutoFit/>
          </a:bodyPr>
          <a:lstStyle/>
          <a:p>
            <a:pPr marL="0" lvl="0" indent="0" algn="ctr">
              <a:lnSpc>
                <a:spcPts val="4758"/>
              </a:lnSpc>
            </a:pPr>
            <a:r>
              <a:rPr lang="en-US" sz="4758" b="1">
                <a:solidFill>
                  <a:srgbClr val="FFFFFF"/>
                </a:solidFill>
                <a:latin typeface="Montserrat Ultra-Bold"/>
                <a:ea typeface="Montserrat Ultra-Bold"/>
                <a:cs typeface="Montserrat Ultra-Bold"/>
                <a:sym typeface="Montserrat Ultra-Bold"/>
              </a:rPr>
              <a:t>⚡</a:t>
            </a:r>
          </a:p>
        </p:txBody>
      </p:sp>
      <p:sp>
        <p:nvSpPr>
          <p:cNvPr id="19" name="TextBox 19"/>
          <p:cNvSpPr txBox="1"/>
          <p:nvPr/>
        </p:nvSpPr>
        <p:spPr>
          <a:xfrm>
            <a:off x="14841567" y="7652261"/>
            <a:ext cx="2086564" cy="878365"/>
          </a:xfrm>
          <a:prstGeom prst="rect">
            <a:avLst/>
          </a:prstGeom>
        </p:spPr>
        <p:txBody>
          <a:bodyPr lIns="0" tIns="0" rIns="0" bIns="0" rtlCol="0" anchor="t">
            <a:spAutoFit/>
          </a:bodyPr>
          <a:lstStyle/>
          <a:p>
            <a:pPr marL="0" lvl="0" indent="0" algn="ctr">
              <a:lnSpc>
                <a:spcPts val="1765"/>
              </a:lnSpc>
            </a:pPr>
            <a:r>
              <a:rPr lang="en-US" sz="1260">
                <a:solidFill>
                  <a:srgbClr val="FFFFFF"/>
                </a:solidFill>
                <a:latin typeface="Montserrat"/>
                <a:ea typeface="Montserrat"/>
                <a:cs typeface="Montserrat"/>
                <a:sym typeface="Montserrat"/>
              </a:rPr>
              <a:t>Prompts &amp; Transport: Reusable instruction templates + STDIO/HTTP via JSON-RPC messages</a:t>
            </a:r>
          </a:p>
        </p:txBody>
      </p:sp>
      <p:grpSp>
        <p:nvGrpSpPr>
          <p:cNvPr id="20" name="Group 20"/>
          <p:cNvGrpSpPr/>
          <p:nvPr/>
        </p:nvGrpSpPr>
        <p:grpSpPr>
          <a:xfrm>
            <a:off x="8061659" y="6664461"/>
            <a:ext cx="2748902" cy="2593839"/>
            <a:chOff x="0" y="0"/>
            <a:chExt cx="682033" cy="643561"/>
          </a:xfrm>
        </p:grpSpPr>
        <p:sp>
          <p:nvSpPr>
            <p:cNvPr id="21" name="Freeform 21"/>
            <p:cNvSpPr/>
            <p:nvPr/>
          </p:nvSpPr>
          <p:spPr>
            <a:xfrm>
              <a:off x="0" y="0"/>
              <a:ext cx="682033" cy="643561"/>
            </a:xfrm>
            <a:custGeom>
              <a:avLst/>
              <a:gdLst/>
              <a:ahLst/>
              <a:cxnLst/>
              <a:rect l="l" t="t" r="r" b="b"/>
              <a:pathLst>
                <a:path w="682033" h="643561">
                  <a:moveTo>
                    <a:pt x="0" y="0"/>
                  </a:moveTo>
                  <a:lnTo>
                    <a:pt x="682033" y="0"/>
                  </a:lnTo>
                  <a:lnTo>
                    <a:pt x="682033" y="643561"/>
                  </a:lnTo>
                  <a:lnTo>
                    <a:pt x="0" y="643561"/>
                  </a:lnTo>
                  <a:close/>
                </a:path>
              </a:pathLst>
            </a:custGeom>
            <a:solidFill>
              <a:srgbClr val="8093BB"/>
            </a:solidFill>
          </p:spPr>
        </p:sp>
        <p:sp>
          <p:nvSpPr>
            <p:cNvPr id="22" name="TextBox 22"/>
            <p:cNvSpPr txBox="1"/>
            <p:nvPr/>
          </p:nvSpPr>
          <p:spPr>
            <a:xfrm>
              <a:off x="0" y="-38100"/>
              <a:ext cx="682033" cy="681661"/>
            </a:xfrm>
            <a:prstGeom prst="rect">
              <a:avLst/>
            </a:prstGeom>
          </p:spPr>
          <p:txBody>
            <a:bodyPr lIns="42129" tIns="42129" rIns="42129" bIns="42129" rtlCol="0" anchor="ctr"/>
            <a:lstStyle/>
            <a:p>
              <a:pPr marL="0" lvl="0" indent="0" algn="ctr">
                <a:lnSpc>
                  <a:spcPts val="2659"/>
                </a:lnSpc>
              </a:pPr>
              <a:endParaRPr/>
            </a:p>
          </p:txBody>
        </p:sp>
      </p:grpSp>
      <p:sp>
        <p:nvSpPr>
          <p:cNvPr id="23" name="TextBox 23"/>
          <p:cNvSpPr txBox="1"/>
          <p:nvPr/>
        </p:nvSpPr>
        <p:spPr>
          <a:xfrm>
            <a:off x="8974381" y="7041794"/>
            <a:ext cx="923458" cy="629423"/>
          </a:xfrm>
          <a:prstGeom prst="rect">
            <a:avLst/>
          </a:prstGeom>
        </p:spPr>
        <p:txBody>
          <a:bodyPr lIns="0" tIns="0" rIns="0" bIns="0" rtlCol="0" anchor="t">
            <a:spAutoFit/>
          </a:bodyPr>
          <a:lstStyle/>
          <a:p>
            <a:pPr marL="0" lvl="0" indent="0" algn="ctr">
              <a:lnSpc>
                <a:spcPts val="4758"/>
              </a:lnSpc>
            </a:pPr>
            <a:r>
              <a:rPr lang="en-US" sz="4758" b="1">
                <a:solidFill>
                  <a:srgbClr val="FFFFFF"/>
                </a:solidFill>
                <a:latin typeface="Montserrat Ultra-Bold"/>
                <a:ea typeface="Montserrat Ultra-Bold"/>
                <a:cs typeface="Montserrat Ultra-Bold"/>
                <a:sym typeface="Montserrat Ultra-Bold"/>
              </a:rPr>
              <a:t>🛠</a:t>
            </a:r>
          </a:p>
        </p:txBody>
      </p:sp>
      <p:sp>
        <p:nvSpPr>
          <p:cNvPr id="24" name="TextBox 24"/>
          <p:cNvSpPr txBox="1"/>
          <p:nvPr/>
        </p:nvSpPr>
        <p:spPr>
          <a:xfrm>
            <a:off x="8392828" y="7652261"/>
            <a:ext cx="2086564" cy="1101200"/>
          </a:xfrm>
          <a:prstGeom prst="rect">
            <a:avLst/>
          </a:prstGeom>
        </p:spPr>
        <p:txBody>
          <a:bodyPr lIns="0" tIns="0" rIns="0" bIns="0" rtlCol="0" anchor="t">
            <a:spAutoFit/>
          </a:bodyPr>
          <a:lstStyle/>
          <a:p>
            <a:pPr marL="0" lvl="0" indent="0" algn="ctr">
              <a:lnSpc>
                <a:spcPts val="1765"/>
              </a:lnSpc>
            </a:pPr>
            <a:r>
              <a:rPr lang="en-US" sz="1260">
                <a:solidFill>
                  <a:srgbClr val="FFFFFF"/>
                </a:solidFill>
                <a:latin typeface="Montserrat"/>
                <a:ea typeface="Montserrat"/>
                <a:cs typeface="Montserrat"/>
                <a:sym typeface="Montserrat"/>
              </a:rPr>
              <a:t>Tools: Actions AI can invoke eg. read_record, update_record, delete_record, search_customer</a:t>
            </a:r>
          </a:p>
        </p:txBody>
      </p:sp>
      <p:sp>
        <p:nvSpPr>
          <p:cNvPr id="25" name="TextBox 25"/>
          <p:cNvSpPr txBox="1"/>
          <p:nvPr/>
        </p:nvSpPr>
        <p:spPr>
          <a:xfrm>
            <a:off x="15764299" y="741861"/>
            <a:ext cx="1473411" cy="776539"/>
          </a:xfrm>
          <a:prstGeom prst="rect">
            <a:avLst/>
          </a:prstGeom>
        </p:spPr>
        <p:txBody>
          <a:bodyPr lIns="0" tIns="0" rIns="0" bIns="0" rtlCol="0" anchor="t">
            <a:spAutoFit/>
          </a:bodyPr>
          <a:lstStyle/>
          <a:p>
            <a:pPr marL="0" lvl="0" indent="0" algn="ctr">
              <a:lnSpc>
                <a:spcPts val="5822"/>
              </a:lnSpc>
            </a:pPr>
            <a:r>
              <a:rPr lang="en-US" sz="5822" b="1">
                <a:solidFill>
                  <a:srgbClr val="8093BB"/>
                </a:solidFill>
                <a:latin typeface="Montserrat Bold"/>
                <a:ea typeface="Montserrat Bold"/>
                <a:cs typeface="Montserrat Bold"/>
                <a:sym typeface="Montserrat Bold"/>
              </a:rPr>
              <a:t>06</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666" b="-666"/>
            </a:stretch>
          </a:blipFill>
        </p:spPr>
      </p:sp>
      <p:sp>
        <p:nvSpPr>
          <p:cNvPr id="3" name="TextBox 3"/>
          <p:cNvSpPr txBox="1"/>
          <p:nvPr/>
        </p:nvSpPr>
        <p:spPr>
          <a:xfrm>
            <a:off x="4773314" y="1123950"/>
            <a:ext cx="8741372" cy="1123452"/>
          </a:xfrm>
          <a:prstGeom prst="rect">
            <a:avLst/>
          </a:prstGeom>
        </p:spPr>
        <p:txBody>
          <a:bodyPr lIns="0" tIns="0" rIns="0" bIns="0" rtlCol="0" anchor="t">
            <a:spAutoFit/>
          </a:bodyPr>
          <a:lstStyle/>
          <a:p>
            <a:pPr marL="0" lvl="0" indent="0" algn="ctr">
              <a:lnSpc>
                <a:spcPts val="4382"/>
              </a:lnSpc>
            </a:pPr>
            <a:r>
              <a:rPr lang="en-US" sz="4382" b="1">
                <a:solidFill>
                  <a:srgbClr val="324370"/>
                </a:solidFill>
                <a:latin typeface="Montserrat Ultra-Bold"/>
                <a:ea typeface="Montserrat Ultra-Bold"/>
                <a:cs typeface="Montserrat Ultra-Bold"/>
                <a:sym typeface="Montserrat Ultra-Bold"/>
              </a:rPr>
              <a:t>MCP ECOSYSTEM &amp; SUPPORTED INTEGRATIONS</a:t>
            </a:r>
          </a:p>
        </p:txBody>
      </p:sp>
      <p:sp>
        <p:nvSpPr>
          <p:cNvPr id="4" name="TextBox 4"/>
          <p:cNvSpPr txBox="1"/>
          <p:nvPr/>
        </p:nvSpPr>
        <p:spPr>
          <a:xfrm>
            <a:off x="1028700" y="2675223"/>
            <a:ext cx="16230600" cy="1663632"/>
          </a:xfrm>
          <a:prstGeom prst="rect">
            <a:avLst/>
          </a:prstGeom>
        </p:spPr>
        <p:txBody>
          <a:bodyPr lIns="0" tIns="0" rIns="0" bIns="0" rtlCol="0" anchor="t">
            <a:spAutoFit/>
          </a:bodyPr>
          <a:lstStyle/>
          <a:p>
            <a:pPr marL="0" lvl="0" indent="0" algn="just">
              <a:lnSpc>
                <a:spcPts val="3328"/>
              </a:lnSpc>
            </a:pPr>
            <a:r>
              <a:rPr lang="en-US" sz="2377">
                <a:solidFill>
                  <a:srgbClr val="324370"/>
                </a:solidFill>
                <a:latin typeface="Montserrat"/>
                <a:ea typeface="Montserrat"/>
                <a:cs typeface="Montserrat"/>
                <a:sym typeface="Montserrat"/>
              </a:rPr>
              <a:t>MCP connects AI applications to a wide range of external systems through a standardized protocol interface. Rather than converting natural language directly to SQL, the LLM selects the appropriate MCP tools, enabling safe, governed access across databases, APIs, file systems, and business applications without exposing raw query execution.</a:t>
            </a:r>
          </a:p>
        </p:txBody>
      </p:sp>
      <p:sp>
        <p:nvSpPr>
          <p:cNvPr id="5" name="Freeform 5"/>
          <p:cNvSpPr/>
          <p:nvPr/>
        </p:nvSpPr>
        <p:spPr>
          <a:xfrm>
            <a:off x="1028700" y="6853144"/>
            <a:ext cx="16230600" cy="2405156"/>
          </a:xfrm>
          <a:custGeom>
            <a:avLst/>
            <a:gdLst/>
            <a:ahLst/>
            <a:cxnLst/>
            <a:rect l="l" t="t" r="r" b="b"/>
            <a:pathLst>
              <a:path w="16230600" h="2405156">
                <a:moveTo>
                  <a:pt x="0" y="0"/>
                </a:moveTo>
                <a:lnTo>
                  <a:pt x="16230600" y="0"/>
                </a:lnTo>
                <a:lnTo>
                  <a:pt x="16230600" y="2405156"/>
                </a:lnTo>
                <a:lnTo>
                  <a:pt x="0" y="2405156"/>
                </a:lnTo>
                <a:lnTo>
                  <a:pt x="0" y="0"/>
                </a:lnTo>
                <a:close/>
              </a:path>
            </a:pathLst>
          </a:custGeom>
          <a:blipFill>
            <a:blip r:embed="rId3"/>
            <a:stretch>
              <a:fillRect t="-142325" b="-142325"/>
            </a:stretch>
          </a:blipFill>
        </p:spPr>
      </p:sp>
      <p:grpSp>
        <p:nvGrpSpPr>
          <p:cNvPr id="6" name="Group 6"/>
          <p:cNvGrpSpPr/>
          <p:nvPr/>
        </p:nvGrpSpPr>
        <p:grpSpPr>
          <a:xfrm>
            <a:off x="1028700" y="5143500"/>
            <a:ext cx="5410200" cy="2101888"/>
            <a:chOff x="0" y="0"/>
            <a:chExt cx="1378861" cy="535694"/>
          </a:xfrm>
        </p:grpSpPr>
        <p:sp>
          <p:nvSpPr>
            <p:cNvPr id="7" name="Freeform 7"/>
            <p:cNvSpPr/>
            <p:nvPr/>
          </p:nvSpPr>
          <p:spPr>
            <a:xfrm>
              <a:off x="0" y="0"/>
              <a:ext cx="1378861" cy="535694"/>
            </a:xfrm>
            <a:custGeom>
              <a:avLst/>
              <a:gdLst/>
              <a:ahLst/>
              <a:cxnLst/>
              <a:rect l="l" t="t" r="r" b="b"/>
              <a:pathLst>
                <a:path w="1378861" h="535694">
                  <a:moveTo>
                    <a:pt x="0" y="0"/>
                  </a:moveTo>
                  <a:lnTo>
                    <a:pt x="1378861" y="0"/>
                  </a:lnTo>
                  <a:lnTo>
                    <a:pt x="1378861" y="535694"/>
                  </a:lnTo>
                  <a:lnTo>
                    <a:pt x="0" y="535694"/>
                  </a:lnTo>
                  <a:close/>
                </a:path>
              </a:pathLst>
            </a:custGeom>
            <a:solidFill>
              <a:srgbClr val="8093BB"/>
            </a:solidFill>
          </p:spPr>
        </p:sp>
        <p:sp>
          <p:nvSpPr>
            <p:cNvPr id="8" name="TextBox 8"/>
            <p:cNvSpPr txBox="1"/>
            <p:nvPr/>
          </p:nvSpPr>
          <p:spPr>
            <a:xfrm>
              <a:off x="0" y="-38100"/>
              <a:ext cx="1378861" cy="573794"/>
            </a:xfrm>
            <a:prstGeom prst="rect">
              <a:avLst/>
            </a:prstGeom>
          </p:spPr>
          <p:txBody>
            <a:bodyPr lIns="42129" tIns="42129" rIns="42129" bIns="42129" rtlCol="0" anchor="ctr"/>
            <a:lstStyle/>
            <a:p>
              <a:pPr marL="0" lvl="0" indent="0" algn="ctr">
                <a:lnSpc>
                  <a:spcPts val="2659"/>
                </a:lnSpc>
              </a:pPr>
              <a:endParaRPr/>
            </a:p>
          </p:txBody>
        </p:sp>
      </p:grpSp>
      <p:grpSp>
        <p:nvGrpSpPr>
          <p:cNvPr id="9" name="Group 9"/>
          <p:cNvGrpSpPr/>
          <p:nvPr/>
        </p:nvGrpSpPr>
        <p:grpSpPr>
          <a:xfrm>
            <a:off x="6438900" y="5143500"/>
            <a:ext cx="5410200" cy="2101888"/>
            <a:chOff x="0" y="0"/>
            <a:chExt cx="1378861" cy="535694"/>
          </a:xfrm>
        </p:grpSpPr>
        <p:sp>
          <p:nvSpPr>
            <p:cNvPr id="10" name="Freeform 10"/>
            <p:cNvSpPr/>
            <p:nvPr/>
          </p:nvSpPr>
          <p:spPr>
            <a:xfrm>
              <a:off x="0" y="0"/>
              <a:ext cx="1378861" cy="535694"/>
            </a:xfrm>
            <a:custGeom>
              <a:avLst/>
              <a:gdLst/>
              <a:ahLst/>
              <a:cxnLst/>
              <a:rect l="l" t="t" r="r" b="b"/>
              <a:pathLst>
                <a:path w="1378861" h="535694">
                  <a:moveTo>
                    <a:pt x="0" y="0"/>
                  </a:moveTo>
                  <a:lnTo>
                    <a:pt x="1378861" y="0"/>
                  </a:lnTo>
                  <a:lnTo>
                    <a:pt x="1378861" y="535694"/>
                  </a:lnTo>
                  <a:lnTo>
                    <a:pt x="0" y="535694"/>
                  </a:lnTo>
                  <a:close/>
                </a:path>
              </a:pathLst>
            </a:custGeom>
            <a:solidFill>
              <a:srgbClr val="546791"/>
            </a:solidFill>
          </p:spPr>
        </p:sp>
        <p:sp>
          <p:nvSpPr>
            <p:cNvPr id="11" name="TextBox 11"/>
            <p:cNvSpPr txBox="1"/>
            <p:nvPr/>
          </p:nvSpPr>
          <p:spPr>
            <a:xfrm>
              <a:off x="0" y="-38100"/>
              <a:ext cx="1378861" cy="573794"/>
            </a:xfrm>
            <a:prstGeom prst="rect">
              <a:avLst/>
            </a:prstGeom>
          </p:spPr>
          <p:txBody>
            <a:bodyPr lIns="42129" tIns="42129" rIns="42129" bIns="42129" rtlCol="0" anchor="ctr"/>
            <a:lstStyle/>
            <a:p>
              <a:pPr marL="0" lvl="0" indent="0" algn="ctr">
                <a:lnSpc>
                  <a:spcPts val="2659"/>
                </a:lnSpc>
              </a:pPr>
              <a:endParaRPr/>
            </a:p>
          </p:txBody>
        </p:sp>
      </p:grpSp>
      <p:grpSp>
        <p:nvGrpSpPr>
          <p:cNvPr id="12" name="Group 12"/>
          <p:cNvGrpSpPr/>
          <p:nvPr/>
        </p:nvGrpSpPr>
        <p:grpSpPr>
          <a:xfrm>
            <a:off x="11849100" y="5143500"/>
            <a:ext cx="5410200" cy="2101888"/>
            <a:chOff x="0" y="0"/>
            <a:chExt cx="1378861" cy="535694"/>
          </a:xfrm>
        </p:grpSpPr>
        <p:sp>
          <p:nvSpPr>
            <p:cNvPr id="13" name="Freeform 13"/>
            <p:cNvSpPr/>
            <p:nvPr/>
          </p:nvSpPr>
          <p:spPr>
            <a:xfrm>
              <a:off x="0" y="0"/>
              <a:ext cx="1378861" cy="535694"/>
            </a:xfrm>
            <a:custGeom>
              <a:avLst/>
              <a:gdLst/>
              <a:ahLst/>
              <a:cxnLst/>
              <a:rect l="l" t="t" r="r" b="b"/>
              <a:pathLst>
                <a:path w="1378861" h="535694">
                  <a:moveTo>
                    <a:pt x="0" y="0"/>
                  </a:moveTo>
                  <a:lnTo>
                    <a:pt x="1378861" y="0"/>
                  </a:lnTo>
                  <a:lnTo>
                    <a:pt x="1378861" y="535694"/>
                  </a:lnTo>
                  <a:lnTo>
                    <a:pt x="0" y="535694"/>
                  </a:lnTo>
                  <a:close/>
                </a:path>
              </a:pathLst>
            </a:custGeom>
            <a:solidFill>
              <a:srgbClr val="334368"/>
            </a:solidFill>
          </p:spPr>
        </p:sp>
        <p:sp>
          <p:nvSpPr>
            <p:cNvPr id="14" name="TextBox 14"/>
            <p:cNvSpPr txBox="1"/>
            <p:nvPr/>
          </p:nvSpPr>
          <p:spPr>
            <a:xfrm>
              <a:off x="0" y="-38100"/>
              <a:ext cx="1378861" cy="573794"/>
            </a:xfrm>
            <a:prstGeom prst="rect">
              <a:avLst/>
            </a:prstGeom>
          </p:spPr>
          <p:txBody>
            <a:bodyPr lIns="42129" tIns="42129" rIns="42129" bIns="42129" rtlCol="0" anchor="ctr"/>
            <a:lstStyle/>
            <a:p>
              <a:pPr marL="0" lvl="0" indent="0" algn="ctr">
                <a:lnSpc>
                  <a:spcPts val="2659"/>
                </a:lnSpc>
              </a:pPr>
              <a:endParaRPr/>
            </a:p>
          </p:txBody>
        </p:sp>
      </p:grpSp>
      <p:sp>
        <p:nvSpPr>
          <p:cNvPr id="15" name="TextBox 15"/>
          <p:cNvSpPr txBox="1"/>
          <p:nvPr/>
        </p:nvSpPr>
        <p:spPr>
          <a:xfrm>
            <a:off x="2028062" y="5575279"/>
            <a:ext cx="1324912" cy="672844"/>
          </a:xfrm>
          <a:prstGeom prst="rect">
            <a:avLst/>
          </a:prstGeom>
        </p:spPr>
        <p:txBody>
          <a:bodyPr lIns="0" tIns="0" rIns="0" bIns="0" rtlCol="0" anchor="t">
            <a:spAutoFit/>
          </a:bodyPr>
          <a:lstStyle/>
          <a:p>
            <a:pPr marL="0" lvl="0" indent="0" algn="ctr">
              <a:lnSpc>
                <a:spcPts val="5173"/>
              </a:lnSpc>
            </a:pPr>
            <a:r>
              <a:rPr lang="en-US" sz="5173" b="1">
                <a:solidFill>
                  <a:srgbClr val="FFFFFF"/>
                </a:solidFill>
                <a:latin typeface="Montserrat Ultra-Bold"/>
                <a:ea typeface="Montserrat Ultra-Bold"/>
                <a:cs typeface="Montserrat Ultra-Bold"/>
                <a:sym typeface="Montserrat Ultra-Bold"/>
              </a:rPr>
              <a:t>1</a:t>
            </a:r>
          </a:p>
        </p:txBody>
      </p:sp>
      <p:sp>
        <p:nvSpPr>
          <p:cNvPr id="16" name="TextBox 16"/>
          <p:cNvSpPr txBox="1"/>
          <p:nvPr/>
        </p:nvSpPr>
        <p:spPr>
          <a:xfrm>
            <a:off x="3352974" y="5513416"/>
            <a:ext cx="2640807" cy="1276350"/>
          </a:xfrm>
          <a:prstGeom prst="rect">
            <a:avLst/>
          </a:prstGeom>
        </p:spPr>
        <p:txBody>
          <a:bodyPr lIns="0" tIns="0" rIns="0" bIns="0" rtlCol="0" anchor="t">
            <a:spAutoFit/>
          </a:bodyPr>
          <a:lstStyle/>
          <a:p>
            <a:pPr marL="0" lvl="0" indent="0" algn="l">
              <a:lnSpc>
                <a:spcPts val="2099"/>
              </a:lnSpc>
            </a:pPr>
            <a:r>
              <a:rPr lang="en-US" sz="1499">
                <a:solidFill>
                  <a:srgbClr val="FFFFFF"/>
                </a:solidFill>
                <a:latin typeface="Montserrat"/>
                <a:ea typeface="Montserrat"/>
                <a:cs typeface="Montserrat"/>
                <a:sym typeface="Montserrat"/>
              </a:rPr>
              <a:t>Data &amp; Storage: SQL Server, file systems, cloud storage, structured &amp; unstructured data sources via controlled MCP tools.</a:t>
            </a:r>
          </a:p>
        </p:txBody>
      </p:sp>
      <p:sp>
        <p:nvSpPr>
          <p:cNvPr id="17" name="TextBox 17"/>
          <p:cNvSpPr txBox="1"/>
          <p:nvPr/>
        </p:nvSpPr>
        <p:spPr>
          <a:xfrm>
            <a:off x="7438262" y="5575279"/>
            <a:ext cx="1324912" cy="672844"/>
          </a:xfrm>
          <a:prstGeom prst="rect">
            <a:avLst/>
          </a:prstGeom>
        </p:spPr>
        <p:txBody>
          <a:bodyPr lIns="0" tIns="0" rIns="0" bIns="0" rtlCol="0" anchor="t">
            <a:spAutoFit/>
          </a:bodyPr>
          <a:lstStyle/>
          <a:p>
            <a:pPr marL="0" lvl="0" indent="0" algn="ctr">
              <a:lnSpc>
                <a:spcPts val="5173"/>
              </a:lnSpc>
            </a:pPr>
            <a:r>
              <a:rPr lang="en-US" sz="5173" b="1">
                <a:solidFill>
                  <a:srgbClr val="FFFFFF"/>
                </a:solidFill>
                <a:latin typeface="Montserrat Ultra-Bold"/>
                <a:ea typeface="Montserrat Ultra-Bold"/>
                <a:cs typeface="Montserrat Ultra-Bold"/>
                <a:sym typeface="Montserrat Ultra-Bold"/>
              </a:rPr>
              <a:t>2</a:t>
            </a:r>
          </a:p>
        </p:txBody>
      </p:sp>
      <p:sp>
        <p:nvSpPr>
          <p:cNvPr id="18" name="TextBox 18"/>
          <p:cNvSpPr txBox="1"/>
          <p:nvPr/>
        </p:nvSpPr>
        <p:spPr>
          <a:xfrm>
            <a:off x="8763174" y="5513416"/>
            <a:ext cx="2845002" cy="1276350"/>
          </a:xfrm>
          <a:prstGeom prst="rect">
            <a:avLst/>
          </a:prstGeom>
        </p:spPr>
        <p:txBody>
          <a:bodyPr lIns="0" tIns="0" rIns="0" bIns="0" rtlCol="0" anchor="t">
            <a:spAutoFit/>
          </a:bodyPr>
          <a:lstStyle/>
          <a:p>
            <a:pPr marL="0" lvl="0" indent="0" algn="l">
              <a:lnSpc>
                <a:spcPts val="2099"/>
              </a:lnSpc>
            </a:pPr>
            <a:r>
              <a:rPr lang="en-US" sz="1499">
                <a:solidFill>
                  <a:srgbClr val="FFFFFF"/>
                </a:solidFill>
                <a:latin typeface="Montserrat"/>
                <a:ea typeface="Montserrat"/>
                <a:cs typeface="Montserrat"/>
                <a:sym typeface="Montserrat"/>
              </a:rPr>
              <a:t>APIs &amp; Business Apps: REST APIs, SaaS platforms, ERP &amp; CRM systems, developer tools — all integrated through standard MCP interface.</a:t>
            </a:r>
          </a:p>
        </p:txBody>
      </p:sp>
      <p:sp>
        <p:nvSpPr>
          <p:cNvPr id="19" name="TextBox 19"/>
          <p:cNvSpPr txBox="1"/>
          <p:nvPr/>
        </p:nvSpPr>
        <p:spPr>
          <a:xfrm>
            <a:off x="12848462" y="5575279"/>
            <a:ext cx="1324912" cy="672844"/>
          </a:xfrm>
          <a:prstGeom prst="rect">
            <a:avLst/>
          </a:prstGeom>
        </p:spPr>
        <p:txBody>
          <a:bodyPr lIns="0" tIns="0" rIns="0" bIns="0" rtlCol="0" anchor="t">
            <a:spAutoFit/>
          </a:bodyPr>
          <a:lstStyle/>
          <a:p>
            <a:pPr marL="0" lvl="0" indent="0" algn="ctr">
              <a:lnSpc>
                <a:spcPts val="5173"/>
              </a:lnSpc>
            </a:pPr>
            <a:r>
              <a:rPr lang="en-US" sz="5173" b="1">
                <a:solidFill>
                  <a:srgbClr val="FFFFFF"/>
                </a:solidFill>
                <a:latin typeface="Montserrat Ultra-Bold"/>
                <a:ea typeface="Montserrat Ultra-Bold"/>
                <a:cs typeface="Montserrat Ultra-Bold"/>
                <a:sym typeface="Montserrat Ultra-Bold"/>
              </a:rPr>
              <a:t>3</a:t>
            </a:r>
          </a:p>
        </p:txBody>
      </p:sp>
      <p:sp>
        <p:nvSpPr>
          <p:cNvPr id="20" name="TextBox 20"/>
          <p:cNvSpPr txBox="1"/>
          <p:nvPr/>
        </p:nvSpPr>
        <p:spPr>
          <a:xfrm>
            <a:off x="14173374" y="5513416"/>
            <a:ext cx="2786661" cy="1276350"/>
          </a:xfrm>
          <a:prstGeom prst="rect">
            <a:avLst/>
          </a:prstGeom>
        </p:spPr>
        <p:txBody>
          <a:bodyPr lIns="0" tIns="0" rIns="0" bIns="0" rtlCol="0" anchor="t">
            <a:spAutoFit/>
          </a:bodyPr>
          <a:lstStyle/>
          <a:p>
            <a:pPr marL="0" lvl="0" indent="0" algn="l">
              <a:lnSpc>
                <a:spcPts val="2099"/>
              </a:lnSpc>
            </a:pPr>
            <a:r>
              <a:rPr lang="en-US" sz="1499">
                <a:solidFill>
                  <a:srgbClr val="FFFFFF"/>
                </a:solidFill>
                <a:latin typeface="Montserrat"/>
                <a:ea typeface="Montserrat"/>
                <a:cs typeface="Montserrat"/>
                <a:sym typeface="Montserrat"/>
              </a:rPr>
              <a:t>Key Note: MCP does NOT convert natural language to SQL directly. The LLM selects backend tools dynamically based on intent and context.</a:t>
            </a:r>
          </a:p>
        </p:txBody>
      </p:sp>
      <p:sp>
        <p:nvSpPr>
          <p:cNvPr id="21" name="TextBox 21"/>
          <p:cNvSpPr txBox="1"/>
          <p:nvPr/>
        </p:nvSpPr>
        <p:spPr>
          <a:xfrm>
            <a:off x="15764299" y="694236"/>
            <a:ext cx="1473411" cy="423394"/>
          </a:xfrm>
          <a:prstGeom prst="rect">
            <a:avLst/>
          </a:prstGeom>
        </p:spPr>
        <p:txBody>
          <a:bodyPr lIns="0" tIns="0" rIns="0" bIns="0" rtlCol="0" anchor="t">
            <a:spAutoFit/>
          </a:bodyPr>
          <a:lstStyle/>
          <a:p>
            <a:pPr marL="0" lvl="0" indent="0" algn="ctr">
              <a:lnSpc>
                <a:spcPts val="3169"/>
              </a:lnSpc>
            </a:pPr>
            <a:r>
              <a:rPr lang="en-US" sz="3169" b="1">
                <a:solidFill>
                  <a:srgbClr val="8093BB"/>
                </a:solidFill>
                <a:latin typeface="Montserrat Bold"/>
                <a:ea typeface="Montserrat Bold"/>
                <a:cs typeface="Montserrat Bold"/>
                <a:sym typeface="Montserrat Bold"/>
              </a:rPr>
              <a:t>07</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59" b="-9259"/>
            </a:stretch>
          </a:blipFill>
        </p:spPr>
      </p:sp>
      <p:sp>
        <p:nvSpPr>
          <p:cNvPr id="3" name="Freeform 3"/>
          <p:cNvSpPr/>
          <p:nvPr/>
        </p:nvSpPr>
        <p:spPr>
          <a:xfrm>
            <a:off x="1028700" y="1028700"/>
            <a:ext cx="6043342" cy="8229600"/>
          </a:xfrm>
          <a:custGeom>
            <a:avLst/>
            <a:gdLst/>
            <a:ahLst/>
            <a:cxnLst/>
            <a:rect l="l" t="t" r="r" b="b"/>
            <a:pathLst>
              <a:path w="6043342" h="8229600">
                <a:moveTo>
                  <a:pt x="0" y="0"/>
                </a:moveTo>
                <a:lnTo>
                  <a:pt x="6043342" y="0"/>
                </a:lnTo>
                <a:lnTo>
                  <a:pt x="6043342" y="8229600"/>
                </a:lnTo>
                <a:lnTo>
                  <a:pt x="0" y="8229600"/>
                </a:lnTo>
                <a:lnTo>
                  <a:pt x="0" y="0"/>
                </a:lnTo>
                <a:close/>
              </a:path>
            </a:pathLst>
          </a:custGeom>
          <a:blipFill>
            <a:blip r:embed="rId3"/>
            <a:stretch>
              <a:fillRect l="-810" r="-810"/>
            </a:stretch>
          </a:blipFill>
        </p:spPr>
      </p:sp>
      <p:sp>
        <p:nvSpPr>
          <p:cNvPr id="4" name="TextBox 4"/>
          <p:cNvSpPr txBox="1"/>
          <p:nvPr/>
        </p:nvSpPr>
        <p:spPr>
          <a:xfrm>
            <a:off x="8061659" y="4775674"/>
            <a:ext cx="9172951" cy="895990"/>
          </a:xfrm>
          <a:prstGeom prst="rect">
            <a:avLst/>
          </a:prstGeom>
        </p:spPr>
        <p:txBody>
          <a:bodyPr lIns="0" tIns="0" rIns="0" bIns="0" rtlCol="0" anchor="t">
            <a:spAutoFit/>
          </a:bodyPr>
          <a:lstStyle/>
          <a:p>
            <a:pPr marL="0" lvl="0" indent="0" algn="just">
              <a:lnSpc>
                <a:spcPts val="3639"/>
              </a:lnSpc>
            </a:pPr>
            <a:r>
              <a:rPr lang="en-US" sz="2599">
                <a:solidFill>
                  <a:srgbClr val="324370"/>
                </a:solidFill>
                <a:latin typeface="Montserrat"/>
                <a:ea typeface="Montserrat"/>
                <a:cs typeface="Montserrat"/>
                <a:sym typeface="Montserrat"/>
              </a:rPr>
              <a:t>Designed as a governed database access layer, not as unrestricted natural-language-to-SQL execution.</a:t>
            </a:r>
          </a:p>
        </p:txBody>
      </p:sp>
      <p:sp>
        <p:nvSpPr>
          <p:cNvPr id="5" name="TextBox 5"/>
          <p:cNvSpPr txBox="1"/>
          <p:nvPr/>
        </p:nvSpPr>
        <p:spPr>
          <a:xfrm>
            <a:off x="8061659" y="2125441"/>
            <a:ext cx="9197641" cy="931131"/>
          </a:xfrm>
          <a:prstGeom prst="rect">
            <a:avLst/>
          </a:prstGeom>
        </p:spPr>
        <p:txBody>
          <a:bodyPr lIns="0" tIns="0" rIns="0" bIns="0" rtlCol="0" anchor="t">
            <a:spAutoFit/>
          </a:bodyPr>
          <a:lstStyle/>
          <a:p>
            <a:pPr marL="0" lvl="0" indent="0" algn="l">
              <a:lnSpc>
                <a:spcPts val="7033"/>
              </a:lnSpc>
            </a:pPr>
            <a:r>
              <a:rPr lang="en-US" sz="7033" b="1">
                <a:solidFill>
                  <a:srgbClr val="324370"/>
                </a:solidFill>
                <a:latin typeface="Montserrat Ultra-Bold"/>
                <a:ea typeface="Montserrat Ultra-Bold"/>
                <a:cs typeface="Montserrat Ultra-Bold"/>
                <a:sym typeface="Montserrat Ultra-Bold"/>
              </a:rPr>
              <a:t>SQL MCP CONCEPT</a:t>
            </a:r>
          </a:p>
        </p:txBody>
      </p:sp>
      <p:grpSp>
        <p:nvGrpSpPr>
          <p:cNvPr id="6" name="Group 6"/>
          <p:cNvGrpSpPr/>
          <p:nvPr/>
        </p:nvGrpSpPr>
        <p:grpSpPr>
          <a:xfrm>
            <a:off x="8061659" y="3411268"/>
            <a:ext cx="9172951" cy="1231494"/>
            <a:chOff x="0" y="0"/>
            <a:chExt cx="2275912" cy="305547"/>
          </a:xfrm>
        </p:grpSpPr>
        <p:sp>
          <p:nvSpPr>
            <p:cNvPr id="7" name="Freeform 7"/>
            <p:cNvSpPr/>
            <p:nvPr/>
          </p:nvSpPr>
          <p:spPr>
            <a:xfrm>
              <a:off x="0" y="0"/>
              <a:ext cx="2275912" cy="305547"/>
            </a:xfrm>
            <a:custGeom>
              <a:avLst/>
              <a:gdLst/>
              <a:ahLst/>
              <a:cxnLst/>
              <a:rect l="l" t="t" r="r" b="b"/>
              <a:pathLst>
                <a:path w="2275912" h="305547">
                  <a:moveTo>
                    <a:pt x="0" y="0"/>
                  </a:moveTo>
                  <a:lnTo>
                    <a:pt x="2275912" y="0"/>
                  </a:lnTo>
                  <a:lnTo>
                    <a:pt x="2275912" y="305547"/>
                  </a:lnTo>
                  <a:lnTo>
                    <a:pt x="0" y="305547"/>
                  </a:lnTo>
                  <a:close/>
                </a:path>
              </a:pathLst>
            </a:custGeom>
            <a:solidFill>
              <a:srgbClr val="324370"/>
            </a:solidFill>
          </p:spPr>
        </p:sp>
        <p:sp>
          <p:nvSpPr>
            <p:cNvPr id="8" name="TextBox 8"/>
            <p:cNvSpPr txBox="1"/>
            <p:nvPr/>
          </p:nvSpPr>
          <p:spPr>
            <a:xfrm>
              <a:off x="0" y="-38100"/>
              <a:ext cx="2275912" cy="343647"/>
            </a:xfrm>
            <a:prstGeom prst="rect">
              <a:avLst/>
            </a:prstGeom>
          </p:spPr>
          <p:txBody>
            <a:bodyPr lIns="42129" tIns="42129" rIns="42129" bIns="42129" rtlCol="0" anchor="ctr"/>
            <a:lstStyle/>
            <a:p>
              <a:pPr marL="0" lvl="0" indent="0" algn="ctr">
                <a:lnSpc>
                  <a:spcPts val="2659"/>
                </a:lnSpc>
              </a:pPr>
              <a:endParaRPr/>
            </a:p>
          </p:txBody>
        </p:sp>
      </p:grpSp>
      <p:sp>
        <p:nvSpPr>
          <p:cNvPr id="9" name="TextBox 9"/>
          <p:cNvSpPr txBox="1"/>
          <p:nvPr/>
        </p:nvSpPr>
        <p:spPr>
          <a:xfrm>
            <a:off x="8061659" y="3653663"/>
            <a:ext cx="9197641" cy="638429"/>
          </a:xfrm>
          <a:prstGeom prst="rect">
            <a:avLst/>
          </a:prstGeom>
        </p:spPr>
        <p:txBody>
          <a:bodyPr lIns="0" tIns="0" rIns="0" bIns="0" rtlCol="0" anchor="t">
            <a:spAutoFit/>
          </a:bodyPr>
          <a:lstStyle/>
          <a:p>
            <a:pPr marL="0" lvl="0" indent="0" algn="ctr">
              <a:lnSpc>
                <a:spcPts val="4885"/>
              </a:lnSpc>
            </a:pPr>
            <a:r>
              <a:rPr lang="en-US" sz="4885" b="1">
                <a:solidFill>
                  <a:srgbClr val="FFFFFF"/>
                </a:solidFill>
                <a:latin typeface="Montserrat Ultra-Bold"/>
                <a:ea typeface="Montserrat Ultra-Bold"/>
                <a:cs typeface="Montserrat Ultra-Bold"/>
                <a:sym typeface="Montserrat Ultra-Bold"/>
              </a:rPr>
              <a:t>SAFE &amp; GOVERNED ACCESS</a:t>
            </a:r>
          </a:p>
        </p:txBody>
      </p:sp>
      <p:grpSp>
        <p:nvGrpSpPr>
          <p:cNvPr id="10" name="Group 10"/>
          <p:cNvGrpSpPr/>
          <p:nvPr/>
        </p:nvGrpSpPr>
        <p:grpSpPr>
          <a:xfrm>
            <a:off x="11284513" y="6664461"/>
            <a:ext cx="2748902" cy="2593839"/>
            <a:chOff x="0" y="0"/>
            <a:chExt cx="682033" cy="643561"/>
          </a:xfrm>
        </p:grpSpPr>
        <p:sp>
          <p:nvSpPr>
            <p:cNvPr id="11" name="Freeform 11"/>
            <p:cNvSpPr/>
            <p:nvPr/>
          </p:nvSpPr>
          <p:spPr>
            <a:xfrm>
              <a:off x="0" y="0"/>
              <a:ext cx="682033" cy="643561"/>
            </a:xfrm>
            <a:custGeom>
              <a:avLst/>
              <a:gdLst/>
              <a:ahLst/>
              <a:cxnLst/>
              <a:rect l="l" t="t" r="r" b="b"/>
              <a:pathLst>
                <a:path w="682033" h="643561">
                  <a:moveTo>
                    <a:pt x="0" y="0"/>
                  </a:moveTo>
                  <a:lnTo>
                    <a:pt x="682033" y="0"/>
                  </a:lnTo>
                  <a:lnTo>
                    <a:pt x="682033" y="643561"/>
                  </a:lnTo>
                  <a:lnTo>
                    <a:pt x="0" y="643561"/>
                  </a:lnTo>
                  <a:close/>
                </a:path>
              </a:pathLst>
            </a:custGeom>
            <a:solidFill>
              <a:srgbClr val="546791"/>
            </a:solidFill>
          </p:spPr>
        </p:sp>
        <p:sp>
          <p:nvSpPr>
            <p:cNvPr id="12" name="TextBox 12"/>
            <p:cNvSpPr txBox="1"/>
            <p:nvPr/>
          </p:nvSpPr>
          <p:spPr>
            <a:xfrm>
              <a:off x="0" y="-38100"/>
              <a:ext cx="682033" cy="681661"/>
            </a:xfrm>
            <a:prstGeom prst="rect">
              <a:avLst/>
            </a:prstGeom>
          </p:spPr>
          <p:txBody>
            <a:bodyPr lIns="42129" tIns="42129" rIns="42129" bIns="42129" rtlCol="0" anchor="ctr"/>
            <a:lstStyle/>
            <a:p>
              <a:pPr marL="0" lvl="0" indent="0" algn="ctr">
                <a:lnSpc>
                  <a:spcPts val="2659"/>
                </a:lnSpc>
              </a:pPr>
              <a:endParaRPr/>
            </a:p>
          </p:txBody>
        </p:sp>
      </p:grpSp>
      <p:sp>
        <p:nvSpPr>
          <p:cNvPr id="13" name="TextBox 13"/>
          <p:cNvSpPr txBox="1"/>
          <p:nvPr/>
        </p:nvSpPr>
        <p:spPr>
          <a:xfrm>
            <a:off x="12197235" y="7022744"/>
            <a:ext cx="923458" cy="484674"/>
          </a:xfrm>
          <a:prstGeom prst="rect">
            <a:avLst/>
          </a:prstGeom>
        </p:spPr>
        <p:txBody>
          <a:bodyPr lIns="0" tIns="0" rIns="0" bIns="0" rtlCol="0" anchor="t">
            <a:spAutoFit/>
          </a:bodyPr>
          <a:lstStyle/>
          <a:p>
            <a:pPr marL="0" lvl="0" indent="0" algn="ctr">
              <a:lnSpc>
                <a:spcPts val="3686"/>
              </a:lnSpc>
            </a:pPr>
            <a:r>
              <a:rPr lang="en-US" sz="3686" b="1">
                <a:solidFill>
                  <a:srgbClr val="FFFFFF"/>
                </a:solidFill>
                <a:latin typeface="Montserrat Ultra-Bold"/>
                <a:ea typeface="Montserrat Ultra-Bold"/>
                <a:cs typeface="Montserrat Ultra-Bold"/>
                <a:sym typeface="Montserrat Ultra-Bold"/>
              </a:rPr>
              <a:t>2</a:t>
            </a:r>
          </a:p>
        </p:txBody>
      </p:sp>
      <p:sp>
        <p:nvSpPr>
          <p:cNvPr id="14" name="TextBox 14"/>
          <p:cNvSpPr txBox="1"/>
          <p:nvPr/>
        </p:nvSpPr>
        <p:spPr>
          <a:xfrm>
            <a:off x="11615682" y="7642736"/>
            <a:ext cx="2086564" cy="1367155"/>
          </a:xfrm>
          <a:prstGeom prst="rect">
            <a:avLst/>
          </a:prstGeom>
        </p:spPr>
        <p:txBody>
          <a:bodyPr lIns="0" tIns="0" rIns="0" bIns="0" rtlCol="0" anchor="t">
            <a:spAutoFit/>
          </a:bodyPr>
          <a:lstStyle/>
          <a:p>
            <a:pPr marL="0" lvl="0" indent="0" algn="ctr">
              <a:lnSpc>
                <a:spcPts val="1819"/>
              </a:lnSpc>
            </a:pPr>
            <a:r>
              <a:rPr lang="en-US" sz="1299">
                <a:solidFill>
                  <a:srgbClr val="FFFFFF"/>
                </a:solidFill>
                <a:latin typeface="Montserrat"/>
                <a:ea typeface="Montserrat"/>
                <a:cs typeface="Montserrat"/>
                <a:sym typeface="Montserrat"/>
              </a:rPr>
              <a:t>MCP Tool Selection → .NET Server Validation: Server enforces authorization, business rules, allowed tables, and query constraints.</a:t>
            </a:r>
          </a:p>
        </p:txBody>
      </p:sp>
      <p:grpSp>
        <p:nvGrpSpPr>
          <p:cNvPr id="15" name="Group 15"/>
          <p:cNvGrpSpPr/>
          <p:nvPr/>
        </p:nvGrpSpPr>
        <p:grpSpPr>
          <a:xfrm>
            <a:off x="14510398" y="6664461"/>
            <a:ext cx="2748902" cy="2593839"/>
            <a:chOff x="0" y="0"/>
            <a:chExt cx="682033" cy="643561"/>
          </a:xfrm>
        </p:grpSpPr>
        <p:sp>
          <p:nvSpPr>
            <p:cNvPr id="16" name="Freeform 16"/>
            <p:cNvSpPr/>
            <p:nvPr/>
          </p:nvSpPr>
          <p:spPr>
            <a:xfrm>
              <a:off x="0" y="0"/>
              <a:ext cx="682033" cy="643561"/>
            </a:xfrm>
            <a:custGeom>
              <a:avLst/>
              <a:gdLst/>
              <a:ahLst/>
              <a:cxnLst/>
              <a:rect l="l" t="t" r="r" b="b"/>
              <a:pathLst>
                <a:path w="682033" h="643561">
                  <a:moveTo>
                    <a:pt x="0" y="0"/>
                  </a:moveTo>
                  <a:lnTo>
                    <a:pt x="682033" y="0"/>
                  </a:lnTo>
                  <a:lnTo>
                    <a:pt x="682033" y="643561"/>
                  </a:lnTo>
                  <a:lnTo>
                    <a:pt x="0" y="643561"/>
                  </a:lnTo>
                  <a:close/>
                </a:path>
              </a:pathLst>
            </a:custGeom>
            <a:solidFill>
              <a:srgbClr val="334368"/>
            </a:solidFill>
          </p:spPr>
        </p:sp>
        <p:sp>
          <p:nvSpPr>
            <p:cNvPr id="17" name="TextBox 17"/>
            <p:cNvSpPr txBox="1"/>
            <p:nvPr/>
          </p:nvSpPr>
          <p:spPr>
            <a:xfrm>
              <a:off x="0" y="-38100"/>
              <a:ext cx="682033" cy="681661"/>
            </a:xfrm>
            <a:prstGeom prst="rect">
              <a:avLst/>
            </a:prstGeom>
          </p:spPr>
          <p:txBody>
            <a:bodyPr lIns="42129" tIns="42129" rIns="42129" bIns="42129" rtlCol="0" anchor="ctr"/>
            <a:lstStyle/>
            <a:p>
              <a:pPr marL="0" lvl="0" indent="0" algn="ctr">
                <a:lnSpc>
                  <a:spcPts val="2659"/>
                </a:lnSpc>
              </a:pPr>
              <a:endParaRPr/>
            </a:p>
          </p:txBody>
        </p:sp>
      </p:grpSp>
      <p:sp>
        <p:nvSpPr>
          <p:cNvPr id="18" name="TextBox 18"/>
          <p:cNvSpPr txBox="1"/>
          <p:nvPr/>
        </p:nvSpPr>
        <p:spPr>
          <a:xfrm>
            <a:off x="15423120" y="7022744"/>
            <a:ext cx="923458" cy="484674"/>
          </a:xfrm>
          <a:prstGeom prst="rect">
            <a:avLst/>
          </a:prstGeom>
        </p:spPr>
        <p:txBody>
          <a:bodyPr lIns="0" tIns="0" rIns="0" bIns="0" rtlCol="0" anchor="t">
            <a:spAutoFit/>
          </a:bodyPr>
          <a:lstStyle/>
          <a:p>
            <a:pPr marL="0" lvl="0" indent="0" algn="ctr">
              <a:lnSpc>
                <a:spcPts val="3686"/>
              </a:lnSpc>
            </a:pPr>
            <a:r>
              <a:rPr lang="en-US" sz="3686" b="1">
                <a:solidFill>
                  <a:srgbClr val="FFFFFF"/>
                </a:solidFill>
                <a:latin typeface="Montserrat Ultra-Bold"/>
                <a:ea typeface="Montserrat Ultra-Bold"/>
                <a:cs typeface="Montserrat Ultra-Bold"/>
                <a:sym typeface="Montserrat Ultra-Bold"/>
              </a:rPr>
              <a:t>3</a:t>
            </a:r>
          </a:p>
        </p:txBody>
      </p:sp>
      <p:sp>
        <p:nvSpPr>
          <p:cNvPr id="19" name="TextBox 19"/>
          <p:cNvSpPr txBox="1"/>
          <p:nvPr/>
        </p:nvSpPr>
        <p:spPr>
          <a:xfrm>
            <a:off x="14841567" y="7642736"/>
            <a:ext cx="2086564" cy="1367155"/>
          </a:xfrm>
          <a:prstGeom prst="rect">
            <a:avLst/>
          </a:prstGeom>
        </p:spPr>
        <p:txBody>
          <a:bodyPr lIns="0" tIns="0" rIns="0" bIns="0" rtlCol="0" anchor="t">
            <a:spAutoFit/>
          </a:bodyPr>
          <a:lstStyle/>
          <a:p>
            <a:pPr marL="0" lvl="0" indent="0" algn="ctr">
              <a:lnSpc>
                <a:spcPts val="1819"/>
              </a:lnSpc>
            </a:pPr>
            <a:r>
              <a:rPr lang="en-US" sz="1299">
                <a:solidFill>
                  <a:srgbClr val="FFFFFF"/>
                </a:solidFill>
                <a:latin typeface="Montserrat"/>
                <a:ea typeface="Montserrat"/>
                <a:cs typeface="Montserrat"/>
                <a:sym typeface="Montserrat"/>
              </a:rPr>
              <a:t>Query Builder → SQL Server → Result: Parameterized query is built, executed safely, and result is returned to Claude for response.</a:t>
            </a:r>
          </a:p>
        </p:txBody>
      </p:sp>
      <p:grpSp>
        <p:nvGrpSpPr>
          <p:cNvPr id="20" name="Group 20"/>
          <p:cNvGrpSpPr/>
          <p:nvPr/>
        </p:nvGrpSpPr>
        <p:grpSpPr>
          <a:xfrm>
            <a:off x="8061659" y="6664461"/>
            <a:ext cx="2748902" cy="2593839"/>
            <a:chOff x="0" y="0"/>
            <a:chExt cx="682033" cy="643561"/>
          </a:xfrm>
        </p:grpSpPr>
        <p:sp>
          <p:nvSpPr>
            <p:cNvPr id="21" name="Freeform 21"/>
            <p:cNvSpPr/>
            <p:nvPr/>
          </p:nvSpPr>
          <p:spPr>
            <a:xfrm>
              <a:off x="0" y="0"/>
              <a:ext cx="682033" cy="643561"/>
            </a:xfrm>
            <a:custGeom>
              <a:avLst/>
              <a:gdLst/>
              <a:ahLst/>
              <a:cxnLst/>
              <a:rect l="l" t="t" r="r" b="b"/>
              <a:pathLst>
                <a:path w="682033" h="643561">
                  <a:moveTo>
                    <a:pt x="0" y="0"/>
                  </a:moveTo>
                  <a:lnTo>
                    <a:pt x="682033" y="0"/>
                  </a:lnTo>
                  <a:lnTo>
                    <a:pt x="682033" y="643561"/>
                  </a:lnTo>
                  <a:lnTo>
                    <a:pt x="0" y="643561"/>
                  </a:lnTo>
                  <a:close/>
                </a:path>
              </a:pathLst>
            </a:custGeom>
            <a:solidFill>
              <a:srgbClr val="8093BB"/>
            </a:solidFill>
          </p:spPr>
        </p:sp>
        <p:sp>
          <p:nvSpPr>
            <p:cNvPr id="22" name="TextBox 22"/>
            <p:cNvSpPr txBox="1"/>
            <p:nvPr/>
          </p:nvSpPr>
          <p:spPr>
            <a:xfrm>
              <a:off x="0" y="-38100"/>
              <a:ext cx="682033" cy="681661"/>
            </a:xfrm>
            <a:prstGeom prst="rect">
              <a:avLst/>
            </a:prstGeom>
          </p:spPr>
          <p:txBody>
            <a:bodyPr lIns="42129" tIns="42129" rIns="42129" bIns="42129" rtlCol="0" anchor="ctr"/>
            <a:lstStyle/>
            <a:p>
              <a:pPr marL="0" lvl="0" indent="0" algn="ctr">
                <a:lnSpc>
                  <a:spcPts val="2659"/>
                </a:lnSpc>
              </a:pPr>
              <a:endParaRPr/>
            </a:p>
          </p:txBody>
        </p:sp>
      </p:grpSp>
      <p:sp>
        <p:nvSpPr>
          <p:cNvPr id="23" name="TextBox 23"/>
          <p:cNvSpPr txBox="1"/>
          <p:nvPr/>
        </p:nvSpPr>
        <p:spPr>
          <a:xfrm>
            <a:off x="8974381" y="7022744"/>
            <a:ext cx="923458" cy="484674"/>
          </a:xfrm>
          <a:prstGeom prst="rect">
            <a:avLst/>
          </a:prstGeom>
        </p:spPr>
        <p:txBody>
          <a:bodyPr lIns="0" tIns="0" rIns="0" bIns="0" rtlCol="0" anchor="t">
            <a:spAutoFit/>
          </a:bodyPr>
          <a:lstStyle/>
          <a:p>
            <a:pPr marL="0" lvl="0" indent="0" algn="ctr">
              <a:lnSpc>
                <a:spcPts val="3686"/>
              </a:lnSpc>
            </a:pPr>
            <a:r>
              <a:rPr lang="en-US" sz="3686" b="1">
                <a:solidFill>
                  <a:srgbClr val="FFFFFF"/>
                </a:solidFill>
                <a:latin typeface="Montserrat Ultra-Bold"/>
                <a:ea typeface="Montserrat Ultra-Bold"/>
                <a:cs typeface="Montserrat Ultra-Bold"/>
                <a:sym typeface="Montserrat Ultra-Bold"/>
              </a:rPr>
              <a:t>1</a:t>
            </a:r>
          </a:p>
        </p:txBody>
      </p:sp>
      <p:sp>
        <p:nvSpPr>
          <p:cNvPr id="24" name="TextBox 24"/>
          <p:cNvSpPr txBox="1"/>
          <p:nvPr/>
        </p:nvSpPr>
        <p:spPr>
          <a:xfrm>
            <a:off x="8392828" y="7642736"/>
            <a:ext cx="2086564" cy="1367155"/>
          </a:xfrm>
          <a:prstGeom prst="rect">
            <a:avLst/>
          </a:prstGeom>
        </p:spPr>
        <p:txBody>
          <a:bodyPr lIns="0" tIns="0" rIns="0" bIns="0" rtlCol="0" anchor="t">
            <a:spAutoFit/>
          </a:bodyPr>
          <a:lstStyle/>
          <a:p>
            <a:pPr marL="0" lvl="0" indent="0" algn="ctr">
              <a:lnSpc>
                <a:spcPts val="1819"/>
              </a:lnSpc>
            </a:pPr>
            <a:r>
              <a:rPr lang="en-US" sz="1299">
                <a:solidFill>
                  <a:srgbClr val="FFFFFF"/>
                </a:solidFill>
                <a:latin typeface="Montserrat"/>
                <a:ea typeface="Montserrat"/>
                <a:cs typeface="Montserrat"/>
                <a:sym typeface="Montserrat"/>
              </a:rPr>
              <a:t>User Request → Claude Intent: Natural language input is understood by the LLM; intent is mapped to an appropriate MCP tool.</a:t>
            </a:r>
          </a:p>
        </p:txBody>
      </p:sp>
      <p:sp>
        <p:nvSpPr>
          <p:cNvPr id="25" name="TextBox 25"/>
          <p:cNvSpPr txBox="1"/>
          <p:nvPr/>
        </p:nvSpPr>
        <p:spPr>
          <a:xfrm>
            <a:off x="15764299" y="722811"/>
            <a:ext cx="1473411" cy="600354"/>
          </a:xfrm>
          <a:prstGeom prst="rect">
            <a:avLst/>
          </a:prstGeom>
        </p:spPr>
        <p:txBody>
          <a:bodyPr lIns="0" tIns="0" rIns="0" bIns="0" rtlCol="0" anchor="t">
            <a:spAutoFit/>
          </a:bodyPr>
          <a:lstStyle/>
          <a:p>
            <a:pPr marL="0" lvl="0" indent="0" algn="ctr">
              <a:lnSpc>
                <a:spcPts val="4510"/>
              </a:lnSpc>
            </a:pPr>
            <a:r>
              <a:rPr lang="en-US" sz="4510" b="1">
                <a:solidFill>
                  <a:srgbClr val="8093BB"/>
                </a:solidFill>
                <a:latin typeface="Montserrat Bold"/>
                <a:ea typeface="Montserrat Bold"/>
                <a:cs typeface="Montserrat Bold"/>
                <a:sym typeface="Montserrat Bold"/>
              </a:rPr>
              <a:t>08</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59" b="-9259"/>
            </a:stretch>
          </a:blipFill>
        </p:spPr>
      </p:sp>
      <p:sp>
        <p:nvSpPr>
          <p:cNvPr id="3" name="Freeform 3"/>
          <p:cNvSpPr/>
          <p:nvPr/>
        </p:nvSpPr>
        <p:spPr>
          <a:xfrm>
            <a:off x="1995125" y="1481964"/>
            <a:ext cx="15242585" cy="8424647"/>
          </a:xfrm>
          <a:custGeom>
            <a:avLst/>
            <a:gdLst/>
            <a:ahLst/>
            <a:cxnLst/>
            <a:rect l="l" t="t" r="r" b="b"/>
            <a:pathLst>
              <a:path w="15242585" h="8424647">
                <a:moveTo>
                  <a:pt x="0" y="0"/>
                </a:moveTo>
                <a:lnTo>
                  <a:pt x="15242585" y="0"/>
                </a:lnTo>
                <a:lnTo>
                  <a:pt x="15242585" y="8424646"/>
                </a:lnTo>
                <a:lnTo>
                  <a:pt x="0" y="8424646"/>
                </a:lnTo>
                <a:lnTo>
                  <a:pt x="0" y="0"/>
                </a:lnTo>
                <a:close/>
              </a:path>
            </a:pathLst>
          </a:custGeom>
          <a:blipFill>
            <a:blip r:embed="rId3"/>
            <a:stretch>
              <a:fillRect/>
            </a:stretch>
          </a:blipFill>
        </p:spPr>
      </p:sp>
      <p:sp>
        <p:nvSpPr>
          <p:cNvPr id="4" name="TextBox 4"/>
          <p:cNvSpPr txBox="1"/>
          <p:nvPr/>
        </p:nvSpPr>
        <p:spPr>
          <a:xfrm>
            <a:off x="15764299" y="723900"/>
            <a:ext cx="1476375" cy="609600"/>
          </a:xfrm>
          <a:prstGeom prst="rect">
            <a:avLst/>
          </a:prstGeom>
        </p:spPr>
        <p:txBody>
          <a:bodyPr lIns="0" tIns="0" rIns="0" bIns="0" rtlCol="0" anchor="t">
            <a:spAutoFit/>
          </a:bodyPr>
          <a:lstStyle/>
          <a:p>
            <a:pPr marL="0" lvl="0" indent="0" algn="ctr">
              <a:lnSpc>
                <a:spcPts val="4509"/>
              </a:lnSpc>
              <a:spcBef>
                <a:spcPct val="0"/>
              </a:spcBef>
            </a:pPr>
            <a:r>
              <a:rPr lang="en-US" sz="4509" b="1" u="none" strike="noStrike">
                <a:solidFill>
                  <a:srgbClr val="8093BB"/>
                </a:solidFill>
                <a:latin typeface="Montserrat Bold"/>
                <a:ea typeface="Montserrat Bold"/>
                <a:cs typeface="Montserrat Bold"/>
                <a:sym typeface="Montserrat Bold"/>
              </a:rPr>
              <a:t>09</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59" b="-9259"/>
            </a:stretch>
          </a:blipFill>
        </p:spPr>
      </p:sp>
      <p:sp>
        <p:nvSpPr>
          <p:cNvPr id="3" name="Freeform 3"/>
          <p:cNvSpPr/>
          <p:nvPr/>
        </p:nvSpPr>
        <p:spPr>
          <a:xfrm>
            <a:off x="1028700" y="1028700"/>
            <a:ext cx="6043342" cy="8229600"/>
          </a:xfrm>
          <a:custGeom>
            <a:avLst/>
            <a:gdLst/>
            <a:ahLst/>
            <a:cxnLst/>
            <a:rect l="l" t="t" r="r" b="b"/>
            <a:pathLst>
              <a:path w="6043342" h="8229600">
                <a:moveTo>
                  <a:pt x="0" y="0"/>
                </a:moveTo>
                <a:lnTo>
                  <a:pt x="6043342" y="0"/>
                </a:lnTo>
                <a:lnTo>
                  <a:pt x="6043342" y="8229600"/>
                </a:lnTo>
                <a:lnTo>
                  <a:pt x="0" y="8229600"/>
                </a:lnTo>
                <a:lnTo>
                  <a:pt x="0" y="0"/>
                </a:lnTo>
                <a:close/>
              </a:path>
            </a:pathLst>
          </a:custGeom>
          <a:blipFill>
            <a:blip r:embed="rId3"/>
            <a:stretch>
              <a:fillRect l="-810" r="-810"/>
            </a:stretch>
          </a:blipFill>
        </p:spPr>
      </p:sp>
      <p:sp>
        <p:nvSpPr>
          <p:cNvPr id="4" name="TextBox 4"/>
          <p:cNvSpPr txBox="1"/>
          <p:nvPr/>
        </p:nvSpPr>
        <p:spPr>
          <a:xfrm>
            <a:off x="8061659" y="4775674"/>
            <a:ext cx="9172951" cy="1810390"/>
          </a:xfrm>
          <a:prstGeom prst="rect">
            <a:avLst/>
          </a:prstGeom>
        </p:spPr>
        <p:txBody>
          <a:bodyPr lIns="0" tIns="0" rIns="0" bIns="0" rtlCol="0" anchor="t">
            <a:spAutoFit/>
          </a:bodyPr>
          <a:lstStyle/>
          <a:p>
            <a:pPr marL="0" lvl="0" indent="0" algn="just">
              <a:lnSpc>
                <a:spcPts val="3639"/>
              </a:lnSpc>
            </a:pPr>
            <a:r>
              <a:rPr lang="en-US" sz="2599">
                <a:solidFill>
                  <a:srgbClr val="324370"/>
                </a:solidFill>
                <a:latin typeface="Montserrat"/>
                <a:ea typeface="Montserrat"/>
                <a:cs typeface="Montserrat"/>
                <a:sym typeface="Montserrat"/>
              </a:rPr>
              <a:t>Claude Desktop → MCP Client → .NET MCP Server → SQL Server. The .NET MCP Server acts as a secure, governed boundary handling all critical responsibilities between AI and data.</a:t>
            </a:r>
          </a:p>
        </p:txBody>
      </p:sp>
      <p:sp>
        <p:nvSpPr>
          <p:cNvPr id="5" name="TextBox 5"/>
          <p:cNvSpPr txBox="1"/>
          <p:nvPr/>
        </p:nvSpPr>
        <p:spPr>
          <a:xfrm>
            <a:off x="8061659" y="2087341"/>
            <a:ext cx="9197641" cy="626144"/>
          </a:xfrm>
          <a:prstGeom prst="rect">
            <a:avLst/>
          </a:prstGeom>
        </p:spPr>
        <p:txBody>
          <a:bodyPr lIns="0" tIns="0" rIns="0" bIns="0" rtlCol="0" anchor="t">
            <a:spAutoFit/>
          </a:bodyPr>
          <a:lstStyle/>
          <a:p>
            <a:pPr marL="0" lvl="0" indent="0" algn="l">
              <a:lnSpc>
                <a:spcPts val="4776"/>
              </a:lnSpc>
            </a:pPr>
            <a:r>
              <a:rPr lang="en-US" sz="4776" b="1">
                <a:solidFill>
                  <a:srgbClr val="324370"/>
                </a:solidFill>
                <a:latin typeface="Montserrat Ultra-Bold"/>
                <a:ea typeface="Montserrat Ultra-Bold"/>
                <a:cs typeface="Montserrat Ultra-Bold"/>
                <a:sym typeface="Montserrat Ultra-Bold"/>
              </a:rPr>
              <a:t>REFERENCE ARCHITECTURE</a:t>
            </a:r>
          </a:p>
        </p:txBody>
      </p:sp>
      <p:grpSp>
        <p:nvGrpSpPr>
          <p:cNvPr id="6" name="Group 6"/>
          <p:cNvGrpSpPr/>
          <p:nvPr/>
        </p:nvGrpSpPr>
        <p:grpSpPr>
          <a:xfrm>
            <a:off x="8061659" y="3411268"/>
            <a:ext cx="9172951" cy="1231494"/>
            <a:chOff x="0" y="0"/>
            <a:chExt cx="2275912" cy="305547"/>
          </a:xfrm>
        </p:grpSpPr>
        <p:sp>
          <p:nvSpPr>
            <p:cNvPr id="7" name="Freeform 7"/>
            <p:cNvSpPr/>
            <p:nvPr/>
          </p:nvSpPr>
          <p:spPr>
            <a:xfrm>
              <a:off x="0" y="0"/>
              <a:ext cx="2275912" cy="305547"/>
            </a:xfrm>
            <a:custGeom>
              <a:avLst/>
              <a:gdLst/>
              <a:ahLst/>
              <a:cxnLst/>
              <a:rect l="l" t="t" r="r" b="b"/>
              <a:pathLst>
                <a:path w="2275912" h="305547">
                  <a:moveTo>
                    <a:pt x="0" y="0"/>
                  </a:moveTo>
                  <a:lnTo>
                    <a:pt x="2275912" y="0"/>
                  </a:lnTo>
                  <a:lnTo>
                    <a:pt x="2275912" y="305547"/>
                  </a:lnTo>
                  <a:lnTo>
                    <a:pt x="0" y="305547"/>
                  </a:lnTo>
                  <a:close/>
                </a:path>
              </a:pathLst>
            </a:custGeom>
            <a:solidFill>
              <a:srgbClr val="324370"/>
            </a:solidFill>
          </p:spPr>
        </p:sp>
        <p:sp>
          <p:nvSpPr>
            <p:cNvPr id="8" name="TextBox 8"/>
            <p:cNvSpPr txBox="1"/>
            <p:nvPr/>
          </p:nvSpPr>
          <p:spPr>
            <a:xfrm>
              <a:off x="0" y="-38100"/>
              <a:ext cx="2275912" cy="343647"/>
            </a:xfrm>
            <a:prstGeom prst="rect">
              <a:avLst/>
            </a:prstGeom>
          </p:spPr>
          <p:txBody>
            <a:bodyPr lIns="42129" tIns="42129" rIns="42129" bIns="42129" rtlCol="0" anchor="ctr"/>
            <a:lstStyle/>
            <a:p>
              <a:pPr marL="0" lvl="0" indent="0" algn="ctr">
                <a:lnSpc>
                  <a:spcPts val="2659"/>
                </a:lnSpc>
              </a:pPr>
              <a:endParaRPr/>
            </a:p>
          </p:txBody>
        </p:sp>
      </p:grpSp>
      <p:sp>
        <p:nvSpPr>
          <p:cNvPr id="9" name="TextBox 9"/>
          <p:cNvSpPr txBox="1"/>
          <p:nvPr/>
        </p:nvSpPr>
        <p:spPr>
          <a:xfrm>
            <a:off x="8061659" y="3663188"/>
            <a:ext cx="9197641" cy="824384"/>
          </a:xfrm>
          <a:prstGeom prst="rect">
            <a:avLst/>
          </a:prstGeom>
        </p:spPr>
        <p:txBody>
          <a:bodyPr lIns="0" tIns="0" rIns="0" bIns="0" rtlCol="0" anchor="t">
            <a:spAutoFit/>
          </a:bodyPr>
          <a:lstStyle/>
          <a:p>
            <a:pPr marL="0" lvl="0" indent="0" algn="ctr">
              <a:lnSpc>
                <a:spcPts val="6206"/>
              </a:lnSpc>
            </a:pPr>
            <a:r>
              <a:rPr lang="en-US" sz="6206" b="1">
                <a:solidFill>
                  <a:srgbClr val="FFFFFF"/>
                </a:solidFill>
                <a:latin typeface="Montserrat Ultra-Bold"/>
                <a:ea typeface="Montserrat Ultra-Bold"/>
                <a:cs typeface="Montserrat Ultra-Bold"/>
                <a:sym typeface="Montserrat Ultra-Bold"/>
              </a:rPr>
              <a:t>SQL MCP ECOSYSTEM</a:t>
            </a:r>
          </a:p>
        </p:txBody>
      </p:sp>
      <p:grpSp>
        <p:nvGrpSpPr>
          <p:cNvPr id="10" name="Group 10"/>
          <p:cNvGrpSpPr/>
          <p:nvPr/>
        </p:nvGrpSpPr>
        <p:grpSpPr>
          <a:xfrm>
            <a:off x="11284513" y="6664461"/>
            <a:ext cx="2748902" cy="2593839"/>
            <a:chOff x="0" y="0"/>
            <a:chExt cx="682033" cy="643561"/>
          </a:xfrm>
        </p:grpSpPr>
        <p:sp>
          <p:nvSpPr>
            <p:cNvPr id="11" name="Freeform 11"/>
            <p:cNvSpPr/>
            <p:nvPr/>
          </p:nvSpPr>
          <p:spPr>
            <a:xfrm>
              <a:off x="0" y="0"/>
              <a:ext cx="682033" cy="643561"/>
            </a:xfrm>
            <a:custGeom>
              <a:avLst/>
              <a:gdLst/>
              <a:ahLst/>
              <a:cxnLst/>
              <a:rect l="l" t="t" r="r" b="b"/>
              <a:pathLst>
                <a:path w="682033" h="643561">
                  <a:moveTo>
                    <a:pt x="0" y="0"/>
                  </a:moveTo>
                  <a:lnTo>
                    <a:pt x="682033" y="0"/>
                  </a:lnTo>
                  <a:lnTo>
                    <a:pt x="682033" y="643561"/>
                  </a:lnTo>
                  <a:lnTo>
                    <a:pt x="0" y="643561"/>
                  </a:lnTo>
                  <a:close/>
                </a:path>
              </a:pathLst>
            </a:custGeom>
            <a:solidFill>
              <a:srgbClr val="546791"/>
            </a:solidFill>
          </p:spPr>
        </p:sp>
        <p:sp>
          <p:nvSpPr>
            <p:cNvPr id="12" name="TextBox 12"/>
            <p:cNvSpPr txBox="1"/>
            <p:nvPr/>
          </p:nvSpPr>
          <p:spPr>
            <a:xfrm>
              <a:off x="0" y="-38100"/>
              <a:ext cx="682033" cy="681661"/>
            </a:xfrm>
            <a:prstGeom prst="rect">
              <a:avLst/>
            </a:prstGeom>
          </p:spPr>
          <p:txBody>
            <a:bodyPr lIns="42129" tIns="42129" rIns="42129" bIns="42129" rtlCol="0" anchor="ctr"/>
            <a:lstStyle/>
            <a:p>
              <a:pPr marL="0" lvl="0" indent="0" algn="ctr">
                <a:lnSpc>
                  <a:spcPts val="2659"/>
                </a:lnSpc>
              </a:pPr>
              <a:endParaRPr/>
            </a:p>
          </p:txBody>
        </p:sp>
      </p:grpSp>
      <p:sp>
        <p:nvSpPr>
          <p:cNvPr id="13" name="TextBox 13"/>
          <p:cNvSpPr txBox="1"/>
          <p:nvPr/>
        </p:nvSpPr>
        <p:spPr>
          <a:xfrm>
            <a:off x="12197235" y="7041794"/>
            <a:ext cx="923458" cy="613147"/>
          </a:xfrm>
          <a:prstGeom prst="rect">
            <a:avLst/>
          </a:prstGeom>
        </p:spPr>
        <p:txBody>
          <a:bodyPr lIns="0" tIns="0" rIns="0" bIns="0" rtlCol="0" anchor="t">
            <a:spAutoFit/>
          </a:bodyPr>
          <a:lstStyle/>
          <a:p>
            <a:pPr marL="0" lvl="0" indent="0" algn="ctr">
              <a:lnSpc>
                <a:spcPts val="4683"/>
              </a:lnSpc>
            </a:pPr>
            <a:r>
              <a:rPr lang="en-US" sz="4683" b="1">
                <a:solidFill>
                  <a:srgbClr val="FFFFFF"/>
                </a:solidFill>
                <a:latin typeface="Montserrat Ultra-Bold"/>
                <a:ea typeface="Montserrat Ultra-Bold"/>
                <a:cs typeface="Montserrat Ultra-Bold"/>
                <a:sym typeface="Montserrat Ultra-Bold"/>
              </a:rPr>
              <a:t>2</a:t>
            </a:r>
          </a:p>
        </p:txBody>
      </p:sp>
      <p:sp>
        <p:nvSpPr>
          <p:cNvPr id="14" name="TextBox 14"/>
          <p:cNvSpPr txBox="1"/>
          <p:nvPr/>
        </p:nvSpPr>
        <p:spPr>
          <a:xfrm>
            <a:off x="11615682" y="7642736"/>
            <a:ext cx="2086564" cy="1367155"/>
          </a:xfrm>
          <a:prstGeom prst="rect">
            <a:avLst/>
          </a:prstGeom>
        </p:spPr>
        <p:txBody>
          <a:bodyPr lIns="0" tIns="0" rIns="0" bIns="0" rtlCol="0" anchor="t">
            <a:spAutoFit/>
          </a:bodyPr>
          <a:lstStyle/>
          <a:p>
            <a:pPr marL="0" lvl="0" indent="0" algn="ctr">
              <a:lnSpc>
                <a:spcPts val="1819"/>
              </a:lnSpc>
            </a:pPr>
            <a:r>
              <a:rPr lang="en-US" sz="1299">
                <a:solidFill>
                  <a:srgbClr val="FFFFFF"/>
                </a:solidFill>
                <a:latin typeface="Montserrat"/>
                <a:ea typeface="Montserrat"/>
                <a:cs typeface="Montserrat"/>
                <a:sym typeface="Montserrat"/>
              </a:rPr>
              <a:t>Query &amp; Execution: Safe query building with parameterized queries, execution against SQL Server, and result formatting.</a:t>
            </a:r>
          </a:p>
        </p:txBody>
      </p:sp>
      <p:grpSp>
        <p:nvGrpSpPr>
          <p:cNvPr id="15" name="Group 15"/>
          <p:cNvGrpSpPr/>
          <p:nvPr/>
        </p:nvGrpSpPr>
        <p:grpSpPr>
          <a:xfrm>
            <a:off x="14510398" y="6664461"/>
            <a:ext cx="2748902" cy="2593839"/>
            <a:chOff x="0" y="0"/>
            <a:chExt cx="682033" cy="643561"/>
          </a:xfrm>
        </p:grpSpPr>
        <p:sp>
          <p:nvSpPr>
            <p:cNvPr id="16" name="Freeform 16"/>
            <p:cNvSpPr/>
            <p:nvPr/>
          </p:nvSpPr>
          <p:spPr>
            <a:xfrm>
              <a:off x="0" y="0"/>
              <a:ext cx="682033" cy="643561"/>
            </a:xfrm>
            <a:custGeom>
              <a:avLst/>
              <a:gdLst/>
              <a:ahLst/>
              <a:cxnLst/>
              <a:rect l="l" t="t" r="r" b="b"/>
              <a:pathLst>
                <a:path w="682033" h="643561">
                  <a:moveTo>
                    <a:pt x="0" y="0"/>
                  </a:moveTo>
                  <a:lnTo>
                    <a:pt x="682033" y="0"/>
                  </a:lnTo>
                  <a:lnTo>
                    <a:pt x="682033" y="643561"/>
                  </a:lnTo>
                  <a:lnTo>
                    <a:pt x="0" y="643561"/>
                  </a:lnTo>
                  <a:close/>
                </a:path>
              </a:pathLst>
            </a:custGeom>
            <a:solidFill>
              <a:srgbClr val="334368"/>
            </a:solidFill>
          </p:spPr>
        </p:sp>
        <p:sp>
          <p:nvSpPr>
            <p:cNvPr id="17" name="TextBox 17"/>
            <p:cNvSpPr txBox="1"/>
            <p:nvPr/>
          </p:nvSpPr>
          <p:spPr>
            <a:xfrm>
              <a:off x="0" y="-38100"/>
              <a:ext cx="682033" cy="681661"/>
            </a:xfrm>
            <a:prstGeom prst="rect">
              <a:avLst/>
            </a:prstGeom>
          </p:spPr>
          <p:txBody>
            <a:bodyPr lIns="42129" tIns="42129" rIns="42129" bIns="42129" rtlCol="0" anchor="ctr"/>
            <a:lstStyle/>
            <a:p>
              <a:pPr marL="0" lvl="0" indent="0" algn="ctr">
                <a:lnSpc>
                  <a:spcPts val="2659"/>
                </a:lnSpc>
              </a:pPr>
              <a:endParaRPr/>
            </a:p>
          </p:txBody>
        </p:sp>
      </p:grpSp>
      <p:sp>
        <p:nvSpPr>
          <p:cNvPr id="18" name="TextBox 18"/>
          <p:cNvSpPr txBox="1"/>
          <p:nvPr/>
        </p:nvSpPr>
        <p:spPr>
          <a:xfrm>
            <a:off x="15423120" y="7041794"/>
            <a:ext cx="923458" cy="613147"/>
          </a:xfrm>
          <a:prstGeom prst="rect">
            <a:avLst/>
          </a:prstGeom>
        </p:spPr>
        <p:txBody>
          <a:bodyPr lIns="0" tIns="0" rIns="0" bIns="0" rtlCol="0" anchor="t">
            <a:spAutoFit/>
          </a:bodyPr>
          <a:lstStyle/>
          <a:p>
            <a:pPr marL="0" lvl="0" indent="0" algn="ctr">
              <a:lnSpc>
                <a:spcPts val="4683"/>
              </a:lnSpc>
            </a:pPr>
            <a:r>
              <a:rPr lang="en-US" sz="4683" b="1">
                <a:solidFill>
                  <a:srgbClr val="FFFFFF"/>
                </a:solidFill>
                <a:latin typeface="Montserrat Ultra-Bold"/>
                <a:ea typeface="Montserrat Ultra-Bold"/>
                <a:cs typeface="Montserrat Ultra-Bold"/>
                <a:sym typeface="Montserrat Ultra-Bold"/>
              </a:rPr>
              <a:t>3</a:t>
            </a:r>
          </a:p>
        </p:txBody>
      </p:sp>
      <p:sp>
        <p:nvSpPr>
          <p:cNvPr id="19" name="TextBox 19"/>
          <p:cNvSpPr txBox="1"/>
          <p:nvPr/>
        </p:nvSpPr>
        <p:spPr>
          <a:xfrm>
            <a:off x="14841567" y="7642736"/>
            <a:ext cx="2086564" cy="1367155"/>
          </a:xfrm>
          <a:prstGeom prst="rect">
            <a:avLst/>
          </a:prstGeom>
        </p:spPr>
        <p:txBody>
          <a:bodyPr lIns="0" tIns="0" rIns="0" bIns="0" rtlCol="0" anchor="t">
            <a:spAutoFit/>
          </a:bodyPr>
          <a:lstStyle/>
          <a:p>
            <a:pPr marL="0" lvl="0" indent="0" algn="ctr">
              <a:lnSpc>
                <a:spcPts val="1819"/>
              </a:lnSpc>
            </a:pPr>
            <a:r>
              <a:rPr lang="en-US" sz="1299">
                <a:solidFill>
                  <a:srgbClr val="FFFFFF"/>
                </a:solidFill>
                <a:latin typeface="Montserrat"/>
                <a:ea typeface="Montserrat"/>
                <a:cs typeface="Montserrat"/>
                <a:sym typeface="Montserrat"/>
              </a:rPr>
              <a:t>Logging &amp; Response: Audit logging, monitoring, execution tracing, and structured response formatting back to Claude.</a:t>
            </a:r>
          </a:p>
        </p:txBody>
      </p:sp>
      <p:grpSp>
        <p:nvGrpSpPr>
          <p:cNvPr id="20" name="Group 20"/>
          <p:cNvGrpSpPr/>
          <p:nvPr/>
        </p:nvGrpSpPr>
        <p:grpSpPr>
          <a:xfrm>
            <a:off x="8061659" y="6664461"/>
            <a:ext cx="2748902" cy="2593839"/>
            <a:chOff x="0" y="0"/>
            <a:chExt cx="682033" cy="643561"/>
          </a:xfrm>
        </p:grpSpPr>
        <p:sp>
          <p:nvSpPr>
            <p:cNvPr id="21" name="Freeform 21"/>
            <p:cNvSpPr/>
            <p:nvPr/>
          </p:nvSpPr>
          <p:spPr>
            <a:xfrm>
              <a:off x="0" y="0"/>
              <a:ext cx="682033" cy="643561"/>
            </a:xfrm>
            <a:custGeom>
              <a:avLst/>
              <a:gdLst/>
              <a:ahLst/>
              <a:cxnLst/>
              <a:rect l="l" t="t" r="r" b="b"/>
              <a:pathLst>
                <a:path w="682033" h="643561">
                  <a:moveTo>
                    <a:pt x="0" y="0"/>
                  </a:moveTo>
                  <a:lnTo>
                    <a:pt x="682033" y="0"/>
                  </a:lnTo>
                  <a:lnTo>
                    <a:pt x="682033" y="643561"/>
                  </a:lnTo>
                  <a:lnTo>
                    <a:pt x="0" y="643561"/>
                  </a:lnTo>
                  <a:close/>
                </a:path>
              </a:pathLst>
            </a:custGeom>
            <a:solidFill>
              <a:srgbClr val="8093BB"/>
            </a:solidFill>
          </p:spPr>
        </p:sp>
        <p:sp>
          <p:nvSpPr>
            <p:cNvPr id="22" name="TextBox 22"/>
            <p:cNvSpPr txBox="1"/>
            <p:nvPr/>
          </p:nvSpPr>
          <p:spPr>
            <a:xfrm>
              <a:off x="0" y="-38100"/>
              <a:ext cx="682033" cy="681661"/>
            </a:xfrm>
            <a:prstGeom prst="rect">
              <a:avLst/>
            </a:prstGeom>
          </p:spPr>
          <p:txBody>
            <a:bodyPr lIns="42129" tIns="42129" rIns="42129" bIns="42129" rtlCol="0" anchor="ctr"/>
            <a:lstStyle/>
            <a:p>
              <a:pPr marL="0" lvl="0" indent="0" algn="ctr">
                <a:lnSpc>
                  <a:spcPts val="2659"/>
                </a:lnSpc>
              </a:pPr>
              <a:endParaRPr/>
            </a:p>
          </p:txBody>
        </p:sp>
      </p:grpSp>
      <p:sp>
        <p:nvSpPr>
          <p:cNvPr id="23" name="TextBox 23"/>
          <p:cNvSpPr txBox="1"/>
          <p:nvPr/>
        </p:nvSpPr>
        <p:spPr>
          <a:xfrm>
            <a:off x="8974381" y="7041794"/>
            <a:ext cx="923458" cy="613147"/>
          </a:xfrm>
          <a:prstGeom prst="rect">
            <a:avLst/>
          </a:prstGeom>
        </p:spPr>
        <p:txBody>
          <a:bodyPr lIns="0" tIns="0" rIns="0" bIns="0" rtlCol="0" anchor="t">
            <a:spAutoFit/>
          </a:bodyPr>
          <a:lstStyle/>
          <a:p>
            <a:pPr marL="0" lvl="0" indent="0" algn="ctr">
              <a:lnSpc>
                <a:spcPts val="4683"/>
              </a:lnSpc>
            </a:pPr>
            <a:r>
              <a:rPr lang="en-US" sz="4683" b="1">
                <a:solidFill>
                  <a:srgbClr val="FFFFFF"/>
                </a:solidFill>
                <a:latin typeface="Montserrat Ultra-Bold"/>
                <a:ea typeface="Montserrat Ultra-Bold"/>
                <a:cs typeface="Montserrat Ultra-Bold"/>
                <a:sym typeface="Montserrat Ultra-Bold"/>
              </a:rPr>
              <a:t>1</a:t>
            </a:r>
          </a:p>
        </p:txBody>
      </p:sp>
      <p:sp>
        <p:nvSpPr>
          <p:cNvPr id="24" name="TextBox 24"/>
          <p:cNvSpPr txBox="1"/>
          <p:nvPr/>
        </p:nvSpPr>
        <p:spPr>
          <a:xfrm>
            <a:off x="8392828" y="7642736"/>
            <a:ext cx="2086564" cy="1367155"/>
          </a:xfrm>
          <a:prstGeom prst="rect">
            <a:avLst/>
          </a:prstGeom>
        </p:spPr>
        <p:txBody>
          <a:bodyPr lIns="0" tIns="0" rIns="0" bIns="0" rtlCol="0" anchor="t">
            <a:spAutoFit/>
          </a:bodyPr>
          <a:lstStyle/>
          <a:p>
            <a:pPr marL="0" lvl="0" indent="0" algn="ctr">
              <a:lnSpc>
                <a:spcPts val="1819"/>
              </a:lnSpc>
            </a:pPr>
            <a:r>
              <a:rPr lang="en-US" sz="1299">
                <a:solidFill>
                  <a:srgbClr val="FFFFFF"/>
                </a:solidFill>
                <a:latin typeface="Montserrat"/>
                <a:ea typeface="Montserrat"/>
                <a:cs typeface="Montserrat"/>
                <a:sym typeface="Montserrat"/>
              </a:rPr>
              <a:t>Auth &amp; Validation: Authentication, authorization, input validation, and business rules enforcement at the MCP server layer.</a:t>
            </a:r>
          </a:p>
        </p:txBody>
      </p:sp>
      <p:sp>
        <p:nvSpPr>
          <p:cNvPr id="25" name="TextBox 25"/>
          <p:cNvSpPr txBox="1"/>
          <p:nvPr/>
        </p:nvSpPr>
        <p:spPr>
          <a:xfrm>
            <a:off x="15764299" y="742950"/>
            <a:ext cx="1476375" cy="771525"/>
          </a:xfrm>
          <a:prstGeom prst="rect">
            <a:avLst/>
          </a:prstGeom>
        </p:spPr>
        <p:txBody>
          <a:bodyPr lIns="0" tIns="0" rIns="0" bIns="0" rtlCol="0" anchor="t">
            <a:spAutoFit/>
          </a:bodyPr>
          <a:lstStyle/>
          <a:p>
            <a:pPr marL="0" lvl="0" indent="0" algn="ctr">
              <a:lnSpc>
                <a:spcPts val="5730"/>
              </a:lnSpc>
              <a:spcBef>
                <a:spcPct val="0"/>
              </a:spcBef>
            </a:pPr>
            <a:r>
              <a:rPr lang="en-US" sz="5730" b="1" u="none" strike="noStrike">
                <a:solidFill>
                  <a:srgbClr val="8093BB"/>
                </a:solidFill>
                <a:latin typeface="Montserrat Bold"/>
                <a:ea typeface="Montserrat Bold"/>
                <a:cs typeface="Montserrat Bold"/>
                <a:sym typeface="Montserrat Bold"/>
              </a:rPr>
              <a:t>10</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59" b="-9259"/>
            </a:stretch>
          </a:blipFill>
        </p:spPr>
      </p:sp>
      <p:sp>
        <p:nvSpPr>
          <p:cNvPr id="3" name="TextBox 3"/>
          <p:cNvSpPr txBox="1"/>
          <p:nvPr/>
        </p:nvSpPr>
        <p:spPr>
          <a:xfrm>
            <a:off x="4773314" y="1123950"/>
            <a:ext cx="8741372" cy="1123452"/>
          </a:xfrm>
          <a:prstGeom prst="rect">
            <a:avLst/>
          </a:prstGeom>
        </p:spPr>
        <p:txBody>
          <a:bodyPr lIns="0" tIns="0" rIns="0" bIns="0" rtlCol="0" anchor="t">
            <a:spAutoFit/>
          </a:bodyPr>
          <a:lstStyle/>
          <a:p>
            <a:pPr marL="0" lvl="0" indent="0" algn="ctr">
              <a:lnSpc>
                <a:spcPts val="4382"/>
              </a:lnSpc>
            </a:pPr>
            <a:r>
              <a:rPr lang="en-US" sz="4382" b="1">
                <a:solidFill>
                  <a:srgbClr val="324370"/>
                </a:solidFill>
                <a:latin typeface="Montserrat Ultra-Bold"/>
                <a:ea typeface="Montserrat Ultra-Bold"/>
                <a:cs typeface="Montserrat Ultra-Bold"/>
                <a:sym typeface="Montserrat Ultra-Bold"/>
              </a:rPr>
              <a:t>WHY .NET ENGINEERS SHOULD CARE</a:t>
            </a:r>
          </a:p>
        </p:txBody>
      </p:sp>
      <p:sp>
        <p:nvSpPr>
          <p:cNvPr id="4" name="TextBox 4"/>
          <p:cNvSpPr txBox="1"/>
          <p:nvPr/>
        </p:nvSpPr>
        <p:spPr>
          <a:xfrm>
            <a:off x="1314820" y="2799048"/>
            <a:ext cx="904367" cy="482380"/>
          </a:xfrm>
          <a:prstGeom prst="rect">
            <a:avLst/>
          </a:prstGeom>
        </p:spPr>
        <p:txBody>
          <a:bodyPr lIns="0" tIns="0" rIns="0" bIns="0" rtlCol="0" anchor="t">
            <a:spAutoFit/>
          </a:bodyPr>
          <a:lstStyle/>
          <a:p>
            <a:pPr marL="0" lvl="0" indent="0" algn="ctr">
              <a:lnSpc>
                <a:spcPts val="3681"/>
              </a:lnSpc>
            </a:pPr>
            <a:r>
              <a:rPr lang="en-US" sz="3681" b="1">
                <a:solidFill>
                  <a:srgbClr val="324370"/>
                </a:solidFill>
                <a:latin typeface="Montserrat Ultra-Bold"/>
                <a:ea typeface="Montserrat Ultra-Bold"/>
                <a:cs typeface="Montserrat Ultra-Bold"/>
                <a:sym typeface="Montserrat Ultra-Bold"/>
              </a:rPr>
              <a:t>1.</a:t>
            </a:r>
          </a:p>
        </p:txBody>
      </p:sp>
      <p:sp>
        <p:nvSpPr>
          <p:cNvPr id="5" name="TextBox 5"/>
          <p:cNvSpPr txBox="1"/>
          <p:nvPr/>
        </p:nvSpPr>
        <p:spPr>
          <a:xfrm>
            <a:off x="2431965" y="2697430"/>
            <a:ext cx="6351413" cy="800100"/>
          </a:xfrm>
          <a:prstGeom prst="rect">
            <a:avLst/>
          </a:prstGeom>
        </p:spPr>
        <p:txBody>
          <a:bodyPr lIns="0" tIns="0" rIns="0" bIns="0" rtlCol="0" anchor="t">
            <a:spAutoFit/>
          </a:bodyPr>
          <a:lstStyle/>
          <a:p>
            <a:pPr marL="0" lvl="0" indent="0" algn="just">
              <a:lnSpc>
                <a:spcPts val="2100"/>
              </a:lnSpc>
            </a:pPr>
            <a:r>
              <a:rPr lang="en-US" sz="1500" b="1">
                <a:solidFill>
                  <a:srgbClr val="324370"/>
                </a:solidFill>
                <a:latin typeface="Montserrat Bold"/>
                <a:ea typeface="Montserrat Bold"/>
                <a:cs typeface="Montserrat Bold"/>
                <a:sym typeface="Montserrat Bold"/>
              </a:rPr>
              <a:t>MCP server acts as a backend integration boundary, replacing traditional web UI endpoints and serving as the new entry point for AI-driven data access.</a:t>
            </a:r>
          </a:p>
        </p:txBody>
      </p:sp>
      <p:sp>
        <p:nvSpPr>
          <p:cNvPr id="6" name="TextBox 6"/>
          <p:cNvSpPr txBox="1"/>
          <p:nvPr/>
        </p:nvSpPr>
        <p:spPr>
          <a:xfrm>
            <a:off x="9552247" y="2799048"/>
            <a:ext cx="904367" cy="482380"/>
          </a:xfrm>
          <a:prstGeom prst="rect">
            <a:avLst/>
          </a:prstGeom>
        </p:spPr>
        <p:txBody>
          <a:bodyPr lIns="0" tIns="0" rIns="0" bIns="0" rtlCol="0" anchor="t">
            <a:spAutoFit/>
          </a:bodyPr>
          <a:lstStyle/>
          <a:p>
            <a:pPr marL="0" lvl="0" indent="0" algn="ctr">
              <a:lnSpc>
                <a:spcPts val="3681"/>
              </a:lnSpc>
            </a:pPr>
            <a:r>
              <a:rPr lang="en-US" sz="3681" b="1">
                <a:solidFill>
                  <a:srgbClr val="324370"/>
                </a:solidFill>
                <a:latin typeface="Montserrat Ultra-Bold"/>
                <a:ea typeface="Montserrat Ultra-Bold"/>
                <a:cs typeface="Montserrat Ultra-Bold"/>
                <a:sym typeface="Montserrat Ultra-Bold"/>
              </a:rPr>
              <a:t>2.</a:t>
            </a:r>
          </a:p>
        </p:txBody>
      </p:sp>
      <p:sp>
        <p:nvSpPr>
          <p:cNvPr id="7" name="TextBox 7"/>
          <p:cNvSpPr txBox="1"/>
          <p:nvPr/>
        </p:nvSpPr>
        <p:spPr>
          <a:xfrm>
            <a:off x="10669392" y="2697430"/>
            <a:ext cx="6351413" cy="800100"/>
          </a:xfrm>
          <a:prstGeom prst="rect">
            <a:avLst/>
          </a:prstGeom>
        </p:spPr>
        <p:txBody>
          <a:bodyPr lIns="0" tIns="0" rIns="0" bIns="0" rtlCol="0" anchor="t">
            <a:spAutoFit/>
          </a:bodyPr>
          <a:lstStyle/>
          <a:p>
            <a:pPr marL="0" lvl="0" indent="0" algn="just">
              <a:lnSpc>
                <a:spcPts val="2100"/>
              </a:lnSpc>
            </a:pPr>
            <a:r>
              <a:rPr lang="en-US" sz="1500" b="1">
                <a:solidFill>
                  <a:srgbClr val="324370"/>
                </a:solidFill>
                <a:latin typeface="Montserrat Bold"/>
                <a:ea typeface="Montserrat Bold"/>
                <a:cs typeface="Montserrat Bold"/>
                <a:sym typeface="Montserrat Bold"/>
              </a:rPr>
              <a:t>Control exactly which tools are exposed to the AI model define allowed database operations and restrict access to only what is necessary.</a:t>
            </a:r>
          </a:p>
        </p:txBody>
      </p:sp>
      <p:sp>
        <p:nvSpPr>
          <p:cNvPr id="8" name="TextBox 8"/>
          <p:cNvSpPr txBox="1"/>
          <p:nvPr/>
        </p:nvSpPr>
        <p:spPr>
          <a:xfrm>
            <a:off x="1314820" y="5134864"/>
            <a:ext cx="904367" cy="482380"/>
          </a:xfrm>
          <a:prstGeom prst="rect">
            <a:avLst/>
          </a:prstGeom>
        </p:spPr>
        <p:txBody>
          <a:bodyPr lIns="0" tIns="0" rIns="0" bIns="0" rtlCol="0" anchor="t">
            <a:spAutoFit/>
          </a:bodyPr>
          <a:lstStyle/>
          <a:p>
            <a:pPr marL="0" lvl="0" indent="0" algn="ctr">
              <a:lnSpc>
                <a:spcPts val="3681"/>
              </a:lnSpc>
            </a:pPr>
            <a:r>
              <a:rPr lang="en-US" sz="3681" b="1">
                <a:solidFill>
                  <a:srgbClr val="324370"/>
                </a:solidFill>
                <a:latin typeface="Montserrat Ultra-Bold"/>
                <a:ea typeface="Montserrat Ultra-Bold"/>
                <a:cs typeface="Montserrat Ultra-Bold"/>
                <a:sym typeface="Montserrat Ultra-Bold"/>
              </a:rPr>
              <a:t>3.</a:t>
            </a:r>
          </a:p>
        </p:txBody>
      </p:sp>
      <p:sp>
        <p:nvSpPr>
          <p:cNvPr id="9" name="TextBox 9"/>
          <p:cNvSpPr txBox="1"/>
          <p:nvPr/>
        </p:nvSpPr>
        <p:spPr>
          <a:xfrm>
            <a:off x="2431965" y="5033247"/>
            <a:ext cx="6351413" cy="800100"/>
          </a:xfrm>
          <a:prstGeom prst="rect">
            <a:avLst/>
          </a:prstGeom>
        </p:spPr>
        <p:txBody>
          <a:bodyPr lIns="0" tIns="0" rIns="0" bIns="0" rtlCol="0" anchor="t">
            <a:spAutoFit/>
          </a:bodyPr>
          <a:lstStyle/>
          <a:p>
            <a:pPr marL="0" lvl="0" indent="0" algn="just">
              <a:lnSpc>
                <a:spcPts val="2100"/>
              </a:lnSpc>
            </a:pPr>
            <a:r>
              <a:rPr lang="en-US" sz="1500" b="1">
                <a:solidFill>
                  <a:srgbClr val="324370"/>
                </a:solidFill>
                <a:latin typeface="Montserrat Bold"/>
                <a:ea typeface="Montserrat Bold"/>
                <a:cs typeface="Montserrat Bold"/>
                <a:sym typeface="Montserrat Bold"/>
              </a:rPr>
              <a:t>Manage user permissions at the MCP server layer enforce role-based access, claims, and policies without changing existing database schemas.</a:t>
            </a:r>
          </a:p>
        </p:txBody>
      </p:sp>
      <p:sp>
        <p:nvSpPr>
          <p:cNvPr id="10" name="TextBox 10"/>
          <p:cNvSpPr txBox="1"/>
          <p:nvPr/>
        </p:nvSpPr>
        <p:spPr>
          <a:xfrm>
            <a:off x="9552247" y="5134864"/>
            <a:ext cx="904367" cy="482380"/>
          </a:xfrm>
          <a:prstGeom prst="rect">
            <a:avLst/>
          </a:prstGeom>
        </p:spPr>
        <p:txBody>
          <a:bodyPr lIns="0" tIns="0" rIns="0" bIns="0" rtlCol="0" anchor="t">
            <a:spAutoFit/>
          </a:bodyPr>
          <a:lstStyle/>
          <a:p>
            <a:pPr marL="0" lvl="0" indent="0" algn="ctr">
              <a:lnSpc>
                <a:spcPts val="3681"/>
              </a:lnSpc>
            </a:pPr>
            <a:r>
              <a:rPr lang="en-US" sz="3681" b="1">
                <a:solidFill>
                  <a:srgbClr val="324370"/>
                </a:solidFill>
                <a:latin typeface="Montserrat Ultra-Bold"/>
                <a:ea typeface="Montserrat Ultra-Bold"/>
                <a:cs typeface="Montserrat Ultra-Bold"/>
                <a:sym typeface="Montserrat Ultra-Bold"/>
              </a:rPr>
              <a:t>4.</a:t>
            </a:r>
          </a:p>
        </p:txBody>
      </p:sp>
      <p:sp>
        <p:nvSpPr>
          <p:cNvPr id="11" name="TextBox 11"/>
          <p:cNvSpPr txBox="1"/>
          <p:nvPr/>
        </p:nvSpPr>
        <p:spPr>
          <a:xfrm>
            <a:off x="10669392" y="5033247"/>
            <a:ext cx="6351413" cy="800100"/>
          </a:xfrm>
          <a:prstGeom prst="rect">
            <a:avLst/>
          </a:prstGeom>
        </p:spPr>
        <p:txBody>
          <a:bodyPr lIns="0" tIns="0" rIns="0" bIns="0" rtlCol="0" anchor="t">
            <a:spAutoFit/>
          </a:bodyPr>
          <a:lstStyle/>
          <a:p>
            <a:pPr marL="0" lvl="0" indent="0" algn="just">
              <a:lnSpc>
                <a:spcPts val="2100"/>
              </a:lnSpc>
            </a:pPr>
            <a:r>
              <a:rPr lang="en-US" sz="1500" b="1">
                <a:solidFill>
                  <a:srgbClr val="324370"/>
                </a:solidFill>
                <a:latin typeface="Montserrat Bold"/>
                <a:ea typeface="Montserrat Bold"/>
                <a:cs typeface="Montserrat Bold"/>
                <a:sym typeface="Montserrat Bold"/>
              </a:rPr>
              <a:t>Own the query building logic entirely in .NET no raw SQL from the model, full control over parameterization, filtering, and safe query construction.</a:t>
            </a:r>
          </a:p>
        </p:txBody>
      </p:sp>
      <p:sp>
        <p:nvSpPr>
          <p:cNvPr id="12" name="TextBox 12"/>
          <p:cNvSpPr txBox="1"/>
          <p:nvPr/>
        </p:nvSpPr>
        <p:spPr>
          <a:xfrm>
            <a:off x="1314820" y="7470680"/>
            <a:ext cx="904367" cy="482380"/>
          </a:xfrm>
          <a:prstGeom prst="rect">
            <a:avLst/>
          </a:prstGeom>
        </p:spPr>
        <p:txBody>
          <a:bodyPr lIns="0" tIns="0" rIns="0" bIns="0" rtlCol="0" anchor="t">
            <a:spAutoFit/>
          </a:bodyPr>
          <a:lstStyle/>
          <a:p>
            <a:pPr marL="0" lvl="0" indent="0" algn="ctr">
              <a:lnSpc>
                <a:spcPts val="3681"/>
              </a:lnSpc>
            </a:pPr>
            <a:r>
              <a:rPr lang="en-US" sz="3681" b="1">
                <a:solidFill>
                  <a:srgbClr val="324370"/>
                </a:solidFill>
                <a:latin typeface="Montserrat Ultra-Bold"/>
                <a:ea typeface="Montserrat Ultra-Bold"/>
                <a:cs typeface="Montserrat Ultra-Bold"/>
                <a:sym typeface="Montserrat Ultra-Bold"/>
              </a:rPr>
              <a:t>5.</a:t>
            </a:r>
          </a:p>
        </p:txBody>
      </p:sp>
      <p:sp>
        <p:nvSpPr>
          <p:cNvPr id="13" name="TextBox 13"/>
          <p:cNvSpPr txBox="1"/>
          <p:nvPr/>
        </p:nvSpPr>
        <p:spPr>
          <a:xfrm>
            <a:off x="2431965" y="7369063"/>
            <a:ext cx="6351413" cy="800100"/>
          </a:xfrm>
          <a:prstGeom prst="rect">
            <a:avLst/>
          </a:prstGeom>
        </p:spPr>
        <p:txBody>
          <a:bodyPr lIns="0" tIns="0" rIns="0" bIns="0" rtlCol="0" anchor="t">
            <a:spAutoFit/>
          </a:bodyPr>
          <a:lstStyle/>
          <a:p>
            <a:pPr marL="0" lvl="0" indent="0" algn="just">
              <a:lnSpc>
                <a:spcPts val="2100"/>
              </a:lnSpc>
            </a:pPr>
            <a:r>
              <a:rPr lang="en-US" sz="1500" b="1">
                <a:solidFill>
                  <a:srgbClr val="324370"/>
                </a:solidFill>
                <a:latin typeface="Montserrat Bold"/>
                <a:ea typeface="Montserrat Bold"/>
                <a:cs typeface="Montserrat Bold"/>
                <a:sym typeface="Montserrat Bold"/>
              </a:rPr>
              <a:t>Apply result filtering before data reaches the AI model enforce field-level and row-level restrictions to prevent sensitive data leakage.</a:t>
            </a:r>
          </a:p>
        </p:txBody>
      </p:sp>
      <p:sp>
        <p:nvSpPr>
          <p:cNvPr id="14" name="TextBox 14"/>
          <p:cNvSpPr txBox="1"/>
          <p:nvPr/>
        </p:nvSpPr>
        <p:spPr>
          <a:xfrm>
            <a:off x="9552247" y="7470680"/>
            <a:ext cx="904367" cy="482380"/>
          </a:xfrm>
          <a:prstGeom prst="rect">
            <a:avLst/>
          </a:prstGeom>
        </p:spPr>
        <p:txBody>
          <a:bodyPr lIns="0" tIns="0" rIns="0" bIns="0" rtlCol="0" anchor="t">
            <a:spAutoFit/>
          </a:bodyPr>
          <a:lstStyle/>
          <a:p>
            <a:pPr marL="0" lvl="0" indent="0" algn="ctr">
              <a:lnSpc>
                <a:spcPts val="3681"/>
              </a:lnSpc>
            </a:pPr>
            <a:r>
              <a:rPr lang="en-US" sz="3681" b="1">
                <a:solidFill>
                  <a:srgbClr val="324370"/>
                </a:solidFill>
                <a:latin typeface="Montserrat Ultra-Bold"/>
                <a:ea typeface="Montserrat Ultra-Bold"/>
                <a:cs typeface="Montserrat Ultra-Bold"/>
                <a:sym typeface="Montserrat Ultra-Bold"/>
              </a:rPr>
              <a:t>6.</a:t>
            </a:r>
          </a:p>
        </p:txBody>
      </p:sp>
      <p:sp>
        <p:nvSpPr>
          <p:cNvPr id="15" name="TextBox 15"/>
          <p:cNvSpPr txBox="1"/>
          <p:nvPr/>
        </p:nvSpPr>
        <p:spPr>
          <a:xfrm>
            <a:off x="10669392" y="7369063"/>
            <a:ext cx="6351413" cy="800100"/>
          </a:xfrm>
          <a:prstGeom prst="rect">
            <a:avLst/>
          </a:prstGeom>
        </p:spPr>
        <p:txBody>
          <a:bodyPr lIns="0" tIns="0" rIns="0" bIns="0" rtlCol="0" anchor="t">
            <a:spAutoFit/>
          </a:bodyPr>
          <a:lstStyle/>
          <a:p>
            <a:pPr marL="0" lvl="0" indent="0" algn="just">
              <a:lnSpc>
                <a:spcPts val="2100"/>
              </a:lnSpc>
            </a:pPr>
            <a:r>
              <a:rPr lang="en-US" sz="1500" b="1">
                <a:solidFill>
                  <a:srgbClr val="324370"/>
                </a:solidFill>
                <a:latin typeface="Montserrat Bold"/>
                <a:ea typeface="Montserrat Bold"/>
                <a:cs typeface="Montserrat Bold"/>
                <a:sym typeface="Montserrat Bold"/>
              </a:rPr>
              <a:t>Built-in auditing capabilities: log every tool call, input argument, generated query, and result enabling compliance, monitoring, and forensic analysis.</a:t>
            </a:r>
          </a:p>
        </p:txBody>
      </p:sp>
      <p:sp>
        <p:nvSpPr>
          <p:cNvPr id="16" name="TextBox 16"/>
          <p:cNvSpPr txBox="1"/>
          <p:nvPr/>
        </p:nvSpPr>
        <p:spPr>
          <a:xfrm>
            <a:off x="15764299" y="695325"/>
            <a:ext cx="1476375" cy="428625"/>
          </a:xfrm>
          <a:prstGeom prst="rect">
            <a:avLst/>
          </a:prstGeom>
        </p:spPr>
        <p:txBody>
          <a:bodyPr lIns="0" tIns="0" rIns="0" bIns="0" rtlCol="0" anchor="t">
            <a:spAutoFit/>
          </a:bodyPr>
          <a:lstStyle/>
          <a:p>
            <a:pPr marL="0" lvl="0" indent="0" algn="ctr">
              <a:lnSpc>
                <a:spcPts val="3170"/>
              </a:lnSpc>
              <a:spcBef>
                <a:spcPct val="0"/>
              </a:spcBef>
            </a:pPr>
            <a:r>
              <a:rPr lang="en-US" sz="3170" b="1" u="none" strike="noStrike">
                <a:solidFill>
                  <a:srgbClr val="8093BB"/>
                </a:solidFill>
                <a:latin typeface="Montserrat Bold"/>
                <a:ea typeface="Montserrat Bold"/>
                <a:cs typeface="Montserrat Bold"/>
                <a:sym typeface="Montserrat Bold"/>
              </a:rPr>
              <a:t>11</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59" b="-9259"/>
            </a:stretch>
          </a:blipFill>
        </p:spPr>
      </p:sp>
      <p:sp>
        <p:nvSpPr>
          <p:cNvPr id="3" name="Freeform 3"/>
          <p:cNvSpPr/>
          <p:nvPr/>
        </p:nvSpPr>
        <p:spPr>
          <a:xfrm>
            <a:off x="1028700" y="1028700"/>
            <a:ext cx="6043342" cy="8229600"/>
          </a:xfrm>
          <a:custGeom>
            <a:avLst/>
            <a:gdLst/>
            <a:ahLst/>
            <a:cxnLst/>
            <a:rect l="l" t="t" r="r" b="b"/>
            <a:pathLst>
              <a:path w="6043342" h="8229600">
                <a:moveTo>
                  <a:pt x="0" y="0"/>
                </a:moveTo>
                <a:lnTo>
                  <a:pt x="6043342" y="0"/>
                </a:lnTo>
                <a:lnTo>
                  <a:pt x="6043342" y="8229600"/>
                </a:lnTo>
                <a:lnTo>
                  <a:pt x="0" y="8229600"/>
                </a:lnTo>
                <a:lnTo>
                  <a:pt x="0" y="0"/>
                </a:lnTo>
                <a:close/>
              </a:path>
            </a:pathLst>
          </a:custGeom>
          <a:blipFill>
            <a:blip r:embed="rId3"/>
            <a:stretch>
              <a:fillRect l="-810" r="-810"/>
            </a:stretch>
          </a:blipFill>
        </p:spPr>
      </p:sp>
      <p:sp>
        <p:nvSpPr>
          <p:cNvPr id="4" name="TextBox 4"/>
          <p:cNvSpPr txBox="1"/>
          <p:nvPr/>
        </p:nvSpPr>
        <p:spPr>
          <a:xfrm>
            <a:off x="8061659" y="4871362"/>
            <a:ext cx="9172951" cy="2267590"/>
          </a:xfrm>
          <a:prstGeom prst="rect">
            <a:avLst/>
          </a:prstGeom>
        </p:spPr>
        <p:txBody>
          <a:bodyPr lIns="0" tIns="0" rIns="0" bIns="0" rtlCol="0" anchor="t">
            <a:spAutoFit/>
          </a:bodyPr>
          <a:lstStyle/>
          <a:p>
            <a:pPr marL="0" lvl="0" indent="0" algn="just">
              <a:lnSpc>
                <a:spcPts val="3639"/>
              </a:lnSpc>
            </a:pPr>
            <a:r>
              <a:rPr lang="en-US" sz="2599">
                <a:solidFill>
                  <a:srgbClr val="324370"/>
                </a:solidFill>
                <a:latin typeface="Montserrat"/>
                <a:ea typeface="Montserrat"/>
                <a:cs typeface="Montserrat"/>
                <a:sym typeface="Montserrat"/>
              </a:rPr>
              <a:t>Example: "Show customer records in table format"  Claude receives prompt, model decides DB data is needed, MCP client calls .NET MCP server tool, server queries SQL Server and returns data, Claude renders final answer as Markdown/table.</a:t>
            </a:r>
          </a:p>
        </p:txBody>
      </p:sp>
      <p:sp>
        <p:nvSpPr>
          <p:cNvPr id="5" name="TextBox 5"/>
          <p:cNvSpPr txBox="1"/>
          <p:nvPr/>
        </p:nvSpPr>
        <p:spPr>
          <a:xfrm>
            <a:off x="8061659" y="2154016"/>
            <a:ext cx="9197641" cy="1119508"/>
          </a:xfrm>
          <a:prstGeom prst="rect">
            <a:avLst/>
          </a:prstGeom>
        </p:spPr>
        <p:txBody>
          <a:bodyPr lIns="0" tIns="0" rIns="0" bIns="0" rtlCol="0" anchor="t">
            <a:spAutoFit/>
          </a:bodyPr>
          <a:lstStyle/>
          <a:p>
            <a:pPr marL="0" lvl="0" indent="0" algn="l">
              <a:lnSpc>
                <a:spcPts val="8450"/>
              </a:lnSpc>
            </a:pPr>
            <a:r>
              <a:rPr lang="en-US" sz="8450" b="1">
                <a:solidFill>
                  <a:srgbClr val="324370"/>
                </a:solidFill>
                <a:latin typeface="Montserrat Ultra-Bold"/>
                <a:ea typeface="Montserrat Ultra-Bold"/>
                <a:cs typeface="Montserrat Ultra-Bold"/>
                <a:sym typeface="Montserrat Ultra-Bold"/>
              </a:rPr>
              <a:t>MCP SERVER</a:t>
            </a:r>
          </a:p>
        </p:txBody>
      </p:sp>
      <p:grpSp>
        <p:nvGrpSpPr>
          <p:cNvPr id="6" name="Group 6"/>
          <p:cNvGrpSpPr/>
          <p:nvPr/>
        </p:nvGrpSpPr>
        <p:grpSpPr>
          <a:xfrm>
            <a:off x="8061659" y="3411268"/>
            <a:ext cx="9172951" cy="1231494"/>
            <a:chOff x="0" y="0"/>
            <a:chExt cx="2275912" cy="305547"/>
          </a:xfrm>
        </p:grpSpPr>
        <p:sp>
          <p:nvSpPr>
            <p:cNvPr id="7" name="Freeform 7"/>
            <p:cNvSpPr/>
            <p:nvPr/>
          </p:nvSpPr>
          <p:spPr>
            <a:xfrm>
              <a:off x="0" y="0"/>
              <a:ext cx="2275912" cy="305547"/>
            </a:xfrm>
            <a:custGeom>
              <a:avLst/>
              <a:gdLst/>
              <a:ahLst/>
              <a:cxnLst/>
              <a:rect l="l" t="t" r="r" b="b"/>
              <a:pathLst>
                <a:path w="2275912" h="305547">
                  <a:moveTo>
                    <a:pt x="0" y="0"/>
                  </a:moveTo>
                  <a:lnTo>
                    <a:pt x="2275912" y="0"/>
                  </a:lnTo>
                  <a:lnTo>
                    <a:pt x="2275912" y="305547"/>
                  </a:lnTo>
                  <a:lnTo>
                    <a:pt x="0" y="305547"/>
                  </a:lnTo>
                  <a:close/>
                </a:path>
              </a:pathLst>
            </a:custGeom>
            <a:solidFill>
              <a:srgbClr val="324370"/>
            </a:solidFill>
          </p:spPr>
        </p:sp>
        <p:sp>
          <p:nvSpPr>
            <p:cNvPr id="8" name="TextBox 8"/>
            <p:cNvSpPr txBox="1"/>
            <p:nvPr/>
          </p:nvSpPr>
          <p:spPr>
            <a:xfrm>
              <a:off x="0" y="-38100"/>
              <a:ext cx="2275912" cy="343647"/>
            </a:xfrm>
            <a:prstGeom prst="rect">
              <a:avLst/>
            </a:prstGeom>
          </p:spPr>
          <p:txBody>
            <a:bodyPr lIns="42129" tIns="42129" rIns="42129" bIns="42129" rtlCol="0" anchor="ctr"/>
            <a:lstStyle/>
            <a:p>
              <a:pPr marL="0" lvl="0" indent="0" algn="ctr">
                <a:lnSpc>
                  <a:spcPts val="2659"/>
                </a:lnSpc>
              </a:pPr>
              <a:endParaRPr/>
            </a:p>
          </p:txBody>
        </p:sp>
      </p:grpSp>
      <p:sp>
        <p:nvSpPr>
          <p:cNvPr id="9" name="TextBox 9"/>
          <p:cNvSpPr txBox="1"/>
          <p:nvPr/>
        </p:nvSpPr>
        <p:spPr>
          <a:xfrm>
            <a:off x="8061659" y="3663188"/>
            <a:ext cx="9197641" cy="845951"/>
          </a:xfrm>
          <a:prstGeom prst="rect">
            <a:avLst/>
          </a:prstGeom>
        </p:spPr>
        <p:txBody>
          <a:bodyPr lIns="0" tIns="0" rIns="0" bIns="0" rtlCol="0" anchor="t">
            <a:spAutoFit/>
          </a:bodyPr>
          <a:lstStyle/>
          <a:p>
            <a:pPr marL="0" lvl="0" indent="0" algn="ctr">
              <a:lnSpc>
                <a:spcPts val="6305"/>
              </a:lnSpc>
            </a:pPr>
            <a:r>
              <a:rPr lang="en-US" sz="6305" b="1">
                <a:solidFill>
                  <a:srgbClr val="FFFFFF"/>
                </a:solidFill>
                <a:latin typeface="Montserrat Ultra-Bold"/>
                <a:ea typeface="Montserrat Ultra-Bold"/>
                <a:cs typeface="Montserrat Ultra-Bold"/>
                <a:sym typeface="Montserrat Ultra-Bold"/>
              </a:rPr>
              <a:t>RESPONSIBILITIES</a:t>
            </a:r>
          </a:p>
        </p:txBody>
      </p:sp>
      <p:grpSp>
        <p:nvGrpSpPr>
          <p:cNvPr id="10" name="Group 10"/>
          <p:cNvGrpSpPr/>
          <p:nvPr/>
        </p:nvGrpSpPr>
        <p:grpSpPr>
          <a:xfrm>
            <a:off x="11284513" y="7415177"/>
            <a:ext cx="2748902" cy="2593839"/>
            <a:chOff x="0" y="0"/>
            <a:chExt cx="682033" cy="643561"/>
          </a:xfrm>
        </p:grpSpPr>
        <p:sp>
          <p:nvSpPr>
            <p:cNvPr id="11" name="Freeform 11"/>
            <p:cNvSpPr/>
            <p:nvPr/>
          </p:nvSpPr>
          <p:spPr>
            <a:xfrm>
              <a:off x="0" y="0"/>
              <a:ext cx="682033" cy="643561"/>
            </a:xfrm>
            <a:custGeom>
              <a:avLst/>
              <a:gdLst/>
              <a:ahLst/>
              <a:cxnLst/>
              <a:rect l="l" t="t" r="r" b="b"/>
              <a:pathLst>
                <a:path w="682033" h="643561">
                  <a:moveTo>
                    <a:pt x="0" y="0"/>
                  </a:moveTo>
                  <a:lnTo>
                    <a:pt x="682033" y="0"/>
                  </a:lnTo>
                  <a:lnTo>
                    <a:pt x="682033" y="643561"/>
                  </a:lnTo>
                  <a:lnTo>
                    <a:pt x="0" y="643561"/>
                  </a:lnTo>
                  <a:close/>
                </a:path>
              </a:pathLst>
            </a:custGeom>
            <a:solidFill>
              <a:srgbClr val="546791"/>
            </a:solidFill>
          </p:spPr>
        </p:sp>
        <p:sp>
          <p:nvSpPr>
            <p:cNvPr id="12" name="TextBox 12"/>
            <p:cNvSpPr txBox="1"/>
            <p:nvPr/>
          </p:nvSpPr>
          <p:spPr>
            <a:xfrm>
              <a:off x="0" y="-38100"/>
              <a:ext cx="682033" cy="681661"/>
            </a:xfrm>
            <a:prstGeom prst="rect">
              <a:avLst/>
            </a:prstGeom>
          </p:spPr>
          <p:txBody>
            <a:bodyPr lIns="42129" tIns="42129" rIns="42129" bIns="42129" rtlCol="0" anchor="ctr"/>
            <a:lstStyle/>
            <a:p>
              <a:pPr marL="0" lvl="0" indent="0" algn="ctr">
                <a:lnSpc>
                  <a:spcPts val="2659"/>
                </a:lnSpc>
              </a:pPr>
              <a:endParaRPr/>
            </a:p>
          </p:txBody>
        </p:sp>
      </p:grpSp>
      <p:sp>
        <p:nvSpPr>
          <p:cNvPr id="13" name="TextBox 13"/>
          <p:cNvSpPr txBox="1"/>
          <p:nvPr/>
        </p:nvSpPr>
        <p:spPr>
          <a:xfrm>
            <a:off x="12197235" y="7792511"/>
            <a:ext cx="923458" cy="629423"/>
          </a:xfrm>
          <a:prstGeom prst="rect">
            <a:avLst/>
          </a:prstGeom>
        </p:spPr>
        <p:txBody>
          <a:bodyPr lIns="0" tIns="0" rIns="0" bIns="0" rtlCol="0" anchor="t">
            <a:spAutoFit/>
          </a:bodyPr>
          <a:lstStyle/>
          <a:p>
            <a:pPr marL="0" lvl="0" indent="0" algn="ctr">
              <a:lnSpc>
                <a:spcPts val="4758"/>
              </a:lnSpc>
            </a:pPr>
            <a:r>
              <a:rPr lang="en-US" sz="4758" b="1">
                <a:solidFill>
                  <a:srgbClr val="FFFFFF"/>
                </a:solidFill>
                <a:latin typeface="Montserrat Ultra-Bold"/>
                <a:ea typeface="Montserrat Ultra-Bold"/>
                <a:cs typeface="Montserrat Ultra-Bold"/>
                <a:sym typeface="Montserrat Ultra-Bold"/>
              </a:rPr>
              <a:t>2</a:t>
            </a:r>
          </a:p>
        </p:txBody>
      </p:sp>
      <p:sp>
        <p:nvSpPr>
          <p:cNvPr id="14" name="TextBox 14"/>
          <p:cNvSpPr txBox="1"/>
          <p:nvPr/>
        </p:nvSpPr>
        <p:spPr>
          <a:xfrm>
            <a:off x="11615682" y="8393453"/>
            <a:ext cx="2086564" cy="1478915"/>
          </a:xfrm>
          <a:prstGeom prst="rect">
            <a:avLst/>
          </a:prstGeom>
        </p:spPr>
        <p:txBody>
          <a:bodyPr lIns="0" tIns="0" rIns="0" bIns="0" rtlCol="0" anchor="t">
            <a:spAutoFit/>
          </a:bodyPr>
          <a:lstStyle/>
          <a:p>
            <a:pPr marL="0" lvl="0" indent="0" algn="ctr">
              <a:lnSpc>
                <a:spcPts val="1959"/>
              </a:lnSpc>
            </a:pPr>
            <a:r>
              <a:rPr lang="en-US" sz="1399">
                <a:solidFill>
                  <a:srgbClr val="FFFFFF"/>
                </a:solidFill>
                <a:latin typeface="Montserrat"/>
                <a:ea typeface="Montserrat"/>
                <a:cs typeface="Montserrat"/>
                <a:sym typeface="Montserrat"/>
              </a:rPr>
              <a:t>Authorize action &amp; execute DB operation; apply row/field-level rules, build parameterized query, run against SQL Server.</a:t>
            </a:r>
          </a:p>
        </p:txBody>
      </p:sp>
      <p:grpSp>
        <p:nvGrpSpPr>
          <p:cNvPr id="15" name="Group 15"/>
          <p:cNvGrpSpPr/>
          <p:nvPr/>
        </p:nvGrpSpPr>
        <p:grpSpPr>
          <a:xfrm>
            <a:off x="14510398" y="7415177"/>
            <a:ext cx="2748902" cy="2593839"/>
            <a:chOff x="0" y="0"/>
            <a:chExt cx="682033" cy="643561"/>
          </a:xfrm>
        </p:grpSpPr>
        <p:sp>
          <p:nvSpPr>
            <p:cNvPr id="16" name="Freeform 16"/>
            <p:cNvSpPr/>
            <p:nvPr/>
          </p:nvSpPr>
          <p:spPr>
            <a:xfrm>
              <a:off x="0" y="0"/>
              <a:ext cx="682033" cy="643561"/>
            </a:xfrm>
            <a:custGeom>
              <a:avLst/>
              <a:gdLst/>
              <a:ahLst/>
              <a:cxnLst/>
              <a:rect l="l" t="t" r="r" b="b"/>
              <a:pathLst>
                <a:path w="682033" h="643561">
                  <a:moveTo>
                    <a:pt x="0" y="0"/>
                  </a:moveTo>
                  <a:lnTo>
                    <a:pt x="682033" y="0"/>
                  </a:lnTo>
                  <a:lnTo>
                    <a:pt x="682033" y="643561"/>
                  </a:lnTo>
                  <a:lnTo>
                    <a:pt x="0" y="643561"/>
                  </a:lnTo>
                  <a:close/>
                </a:path>
              </a:pathLst>
            </a:custGeom>
            <a:solidFill>
              <a:srgbClr val="334368"/>
            </a:solidFill>
          </p:spPr>
        </p:sp>
        <p:sp>
          <p:nvSpPr>
            <p:cNvPr id="17" name="TextBox 17"/>
            <p:cNvSpPr txBox="1"/>
            <p:nvPr/>
          </p:nvSpPr>
          <p:spPr>
            <a:xfrm>
              <a:off x="0" y="-38100"/>
              <a:ext cx="682033" cy="681661"/>
            </a:xfrm>
            <a:prstGeom prst="rect">
              <a:avLst/>
            </a:prstGeom>
          </p:spPr>
          <p:txBody>
            <a:bodyPr lIns="42129" tIns="42129" rIns="42129" bIns="42129" rtlCol="0" anchor="ctr"/>
            <a:lstStyle/>
            <a:p>
              <a:pPr marL="0" lvl="0" indent="0" algn="ctr">
                <a:lnSpc>
                  <a:spcPts val="2659"/>
                </a:lnSpc>
              </a:pPr>
              <a:endParaRPr/>
            </a:p>
          </p:txBody>
        </p:sp>
      </p:grpSp>
      <p:sp>
        <p:nvSpPr>
          <p:cNvPr id="18" name="TextBox 18"/>
          <p:cNvSpPr txBox="1"/>
          <p:nvPr/>
        </p:nvSpPr>
        <p:spPr>
          <a:xfrm>
            <a:off x="15423120" y="7792511"/>
            <a:ext cx="923458" cy="629423"/>
          </a:xfrm>
          <a:prstGeom prst="rect">
            <a:avLst/>
          </a:prstGeom>
        </p:spPr>
        <p:txBody>
          <a:bodyPr lIns="0" tIns="0" rIns="0" bIns="0" rtlCol="0" anchor="t">
            <a:spAutoFit/>
          </a:bodyPr>
          <a:lstStyle/>
          <a:p>
            <a:pPr marL="0" lvl="0" indent="0" algn="ctr">
              <a:lnSpc>
                <a:spcPts val="4758"/>
              </a:lnSpc>
            </a:pPr>
            <a:r>
              <a:rPr lang="en-US" sz="4758" b="1">
                <a:solidFill>
                  <a:srgbClr val="FFFFFF"/>
                </a:solidFill>
                <a:latin typeface="Montserrat Ultra-Bold"/>
                <a:ea typeface="Montserrat Ultra-Bold"/>
                <a:cs typeface="Montserrat Ultra-Bold"/>
                <a:sym typeface="Montserrat Ultra-Bold"/>
              </a:rPr>
              <a:t>3</a:t>
            </a:r>
          </a:p>
        </p:txBody>
      </p:sp>
      <p:sp>
        <p:nvSpPr>
          <p:cNvPr id="19" name="TextBox 19"/>
          <p:cNvSpPr txBox="1"/>
          <p:nvPr/>
        </p:nvSpPr>
        <p:spPr>
          <a:xfrm>
            <a:off x="14841567" y="8393453"/>
            <a:ext cx="2086564" cy="1478915"/>
          </a:xfrm>
          <a:prstGeom prst="rect">
            <a:avLst/>
          </a:prstGeom>
        </p:spPr>
        <p:txBody>
          <a:bodyPr lIns="0" tIns="0" rIns="0" bIns="0" rtlCol="0" anchor="t">
            <a:spAutoFit/>
          </a:bodyPr>
          <a:lstStyle/>
          <a:p>
            <a:pPr marL="0" lvl="0" indent="0" algn="ctr">
              <a:lnSpc>
                <a:spcPts val="1959"/>
              </a:lnSpc>
            </a:pPr>
            <a:r>
              <a:rPr lang="en-US" sz="1399">
                <a:solidFill>
                  <a:srgbClr val="FFFFFF"/>
                </a:solidFill>
                <a:latin typeface="Montserrat"/>
                <a:ea typeface="Montserrat"/>
                <a:cs typeface="Montserrat"/>
                <a:sym typeface="Montserrat"/>
              </a:rPr>
              <a:t>Return result &amp; log audit trail; format response for Claude, log tool call, arguments, SQL, rows affected.</a:t>
            </a:r>
          </a:p>
        </p:txBody>
      </p:sp>
      <p:grpSp>
        <p:nvGrpSpPr>
          <p:cNvPr id="20" name="Group 20"/>
          <p:cNvGrpSpPr/>
          <p:nvPr/>
        </p:nvGrpSpPr>
        <p:grpSpPr>
          <a:xfrm>
            <a:off x="8061659" y="7415177"/>
            <a:ext cx="2748902" cy="2593839"/>
            <a:chOff x="0" y="0"/>
            <a:chExt cx="682033" cy="643561"/>
          </a:xfrm>
        </p:grpSpPr>
        <p:sp>
          <p:nvSpPr>
            <p:cNvPr id="21" name="Freeform 21"/>
            <p:cNvSpPr/>
            <p:nvPr/>
          </p:nvSpPr>
          <p:spPr>
            <a:xfrm>
              <a:off x="0" y="0"/>
              <a:ext cx="682033" cy="643561"/>
            </a:xfrm>
            <a:custGeom>
              <a:avLst/>
              <a:gdLst/>
              <a:ahLst/>
              <a:cxnLst/>
              <a:rect l="l" t="t" r="r" b="b"/>
              <a:pathLst>
                <a:path w="682033" h="643561">
                  <a:moveTo>
                    <a:pt x="0" y="0"/>
                  </a:moveTo>
                  <a:lnTo>
                    <a:pt x="682033" y="0"/>
                  </a:lnTo>
                  <a:lnTo>
                    <a:pt x="682033" y="643561"/>
                  </a:lnTo>
                  <a:lnTo>
                    <a:pt x="0" y="643561"/>
                  </a:lnTo>
                  <a:close/>
                </a:path>
              </a:pathLst>
            </a:custGeom>
            <a:solidFill>
              <a:srgbClr val="8093BB"/>
            </a:solidFill>
          </p:spPr>
        </p:sp>
        <p:sp>
          <p:nvSpPr>
            <p:cNvPr id="22" name="TextBox 22"/>
            <p:cNvSpPr txBox="1"/>
            <p:nvPr/>
          </p:nvSpPr>
          <p:spPr>
            <a:xfrm>
              <a:off x="0" y="-38100"/>
              <a:ext cx="682033" cy="681661"/>
            </a:xfrm>
            <a:prstGeom prst="rect">
              <a:avLst/>
            </a:prstGeom>
          </p:spPr>
          <p:txBody>
            <a:bodyPr lIns="42129" tIns="42129" rIns="42129" bIns="42129" rtlCol="0" anchor="ctr"/>
            <a:lstStyle/>
            <a:p>
              <a:pPr marL="0" lvl="0" indent="0" algn="ctr">
                <a:lnSpc>
                  <a:spcPts val="2659"/>
                </a:lnSpc>
              </a:pPr>
              <a:endParaRPr/>
            </a:p>
          </p:txBody>
        </p:sp>
      </p:grpSp>
      <p:sp>
        <p:nvSpPr>
          <p:cNvPr id="23" name="TextBox 23"/>
          <p:cNvSpPr txBox="1"/>
          <p:nvPr/>
        </p:nvSpPr>
        <p:spPr>
          <a:xfrm>
            <a:off x="8974381" y="7792511"/>
            <a:ext cx="923458" cy="629423"/>
          </a:xfrm>
          <a:prstGeom prst="rect">
            <a:avLst/>
          </a:prstGeom>
        </p:spPr>
        <p:txBody>
          <a:bodyPr lIns="0" tIns="0" rIns="0" bIns="0" rtlCol="0" anchor="t">
            <a:spAutoFit/>
          </a:bodyPr>
          <a:lstStyle/>
          <a:p>
            <a:pPr marL="0" lvl="0" indent="0" algn="ctr">
              <a:lnSpc>
                <a:spcPts val="4758"/>
              </a:lnSpc>
            </a:pPr>
            <a:r>
              <a:rPr lang="en-US" sz="4758" b="1">
                <a:solidFill>
                  <a:srgbClr val="FFFFFF"/>
                </a:solidFill>
                <a:latin typeface="Montserrat Ultra-Bold"/>
                <a:ea typeface="Montserrat Ultra-Bold"/>
                <a:cs typeface="Montserrat Ultra-Bold"/>
                <a:sym typeface="Montserrat Ultra-Bold"/>
              </a:rPr>
              <a:t>1</a:t>
            </a:r>
          </a:p>
        </p:txBody>
      </p:sp>
      <p:sp>
        <p:nvSpPr>
          <p:cNvPr id="24" name="TextBox 24"/>
          <p:cNvSpPr txBox="1"/>
          <p:nvPr/>
        </p:nvSpPr>
        <p:spPr>
          <a:xfrm>
            <a:off x="8392828" y="8393453"/>
            <a:ext cx="2086564" cy="1478915"/>
          </a:xfrm>
          <a:prstGeom prst="rect">
            <a:avLst/>
          </a:prstGeom>
        </p:spPr>
        <p:txBody>
          <a:bodyPr lIns="0" tIns="0" rIns="0" bIns="0" rtlCol="0" anchor="t">
            <a:spAutoFit/>
          </a:bodyPr>
          <a:lstStyle/>
          <a:p>
            <a:pPr marL="0" lvl="0" indent="0" algn="ctr">
              <a:lnSpc>
                <a:spcPts val="1959"/>
              </a:lnSpc>
            </a:pPr>
            <a:r>
              <a:rPr lang="en-US" sz="1399">
                <a:solidFill>
                  <a:srgbClr val="FFFFFF"/>
                </a:solidFill>
                <a:latin typeface="Montserrat"/>
                <a:ea typeface="Montserrat"/>
                <a:cs typeface="Montserrat"/>
                <a:sym typeface="Montserrat"/>
              </a:rPr>
              <a:t>Expose tools &amp; validate input; authenticate caller, check permissions, verify arguments against allowed schema.</a:t>
            </a:r>
          </a:p>
        </p:txBody>
      </p:sp>
      <p:sp>
        <p:nvSpPr>
          <p:cNvPr id="25" name="TextBox 25"/>
          <p:cNvSpPr txBox="1"/>
          <p:nvPr/>
        </p:nvSpPr>
        <p:spPr>
          <a:xfrm>
            <a:off x="15764299" y="742950"/>
            <a:ext cx="1476375" cy="781050"/>
          </a:xfrm>
          <a:prstGeom prst="rect">
            <a:avLst/>
          </a:prstGeom>
        </p:spPr>
        <p:txBody>
          <a:bodyPr lIns="0" tIns="0" rIns="0" bIns="0" rtlCol="0" anchor="t">
            <a:spAutoFit/>
          </a:bodyPr>
          <a:lstStyle/>
          <a:p>
            <a:pPr marL="0" lvl="0" indent="0" algn="ctr">
              <a:lnSpc>
                <a:spcPts val="5820"/>
              </a:lnSpc>
              <a:spcBef>
                <a:spcPct val="0"/>
              </a:spcBef>
            </a:pPr>
            <a:r>
              <a:rPr lang="en-US" sz="5820" b="1" u="none" strike="noStrike">
                <a:solidFill>
                  <a:srgbClr val="8093BB"/>
                </a:solidFill>
                <a:latin typeface="Montserrat Bold"/>
                <a:ea typeface="Montserrat Bold"/>
                <a:cs typeface="Montserrat Bold"/>
                <a:sym typeface="Montserrat Bold"/>
              </a:rPr>
              <a:t>12</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666" b="-666"/>
            </a:stretch>
          </a:blipFill>
        </p:spPr>
      </p:sp>
      <p:sp>
        <p:nvSpPr>
          <p:cNvPr id="3" name="Freeform 3"/>
          <p:cNvSpPr/>
          <p:nvPr/>
        </p:nvSpPr>
        <p:spPr>
          <a:xfrm>
            <a:off x="1028700" y="1028700"/>
            <a:ext cx="6043342" cy="8229600"/>
          </a:xfrm>
          <a:custGeom>
            <a:avLst/>
            <a:gdLst/>
            <a:ahLst/>
            <a:cxnLst/>
            <a:rect l="l" t="t" r="r" b="b"/>
            <a:pathLst>
              <a:path w="6043342" h="8229600">
                <a:moveTo>
                  <a:pt x="0" y="0"/>
                </a:moveTo>
                <a:lnTo>
                  <a:pt x="6043342" y="0"/>
                </a:lnTo>
                <a:lnTo>
                  <a:pt x="6043342" y="8229600"/>
                </a:lnTo>
                <a:lnTo>
                  <a:pt x="0" y="8229600"/>
                </a:lnTo>
                <a:lnTo>
                  <a:pt x="0" y="0"/>
                </a:lnTo>
                <a:close/>
              </a:path>
            </a:pathLst>
          </a:custGeom>
          <a:blipFill>
            <a:blip r:embed="rId3"/>
            <a:stretch>
              <a:fillRect l="-810" r="-810"/>
            </a:stretch>
          </a:blipFill>
        </p:spPr>
      </p:sp>
      <p:sp>
        <p:nvSpPr>
          <p:cNvPr id="4" name="TextBox 4"/>
          <p:cNvSpPr txBox="1"/>
          <p:nvPr/>
        </p:nvSpPr>
        <p:spPr>
          <a:xfrm>
            <a:off x="8061659" y="4775674"/>
            <a:ext cx="9172951" cy="1810390"/>
          </a:xfrm>
          <a:prstGeom prst="rect">
            <a:avLst/>
          </a:prstGeom>
        </p:spPr>
        <p:txBody>
          <a:bodyPr lIns="0" tIns="0" rIns="0" bIns="0" rtlCol="0" anchor="t">
            <a:spAutoFit/>
          </a:bodyPr>
          <a:lstStyle/>
          <a:p>
            <a:pPr marL="0" lvl="0" indent="0" algn="just">
              <a:lnSpc>
                <a:spcPts val="3639"/>
              </a:lnSpc>
            </a:pPr>
            <a:r>
              <a:rPr lang="en-US" sz="2599">
                <a:solidFill>
                  <a:srgbClr val="324370"/>
                </a:solidFill>
                <a:latin typeface="Montserrat"/>
                <a:ea typeface="Montserrat"/>
                <a:cs typeface="Montserrat"/>
                <a:sym typeface="Montserrat"/>
              </a:rPr>
              <a:t>The MCP server exposes prompts and tools with descriptions and schemas. The host or model selects tools based on input schema and context. no automatic prompt to tool router.</a:t>
            </a:r>
          </a:p>
        </p:txBody>
      </p:sp>
      <p:sp>
        <p:nvSpPr>
          <p:cNvPr id="5" name="TextBox 5"/>
          <p:cNvSpPr txBox="1"/>
          <p:nvPr/>
        </p:nvSpPr>
        <p:spPr>
          <a:xfrm>
            <a:off x="8061659" y="2154016"/>
            <a:ext cx="9197641" cy="1119508"/>
          </a:xfrm>
          <a:prstGeom prst="rect">
            <a:avLst/>
          </a:prstGeom>
        </p:spPr>
        <p:txBody>
          <a:bodyPr lIns="0" tIns="0" rIns="0" bIns="0" rtlCol="0" anchor="t">
            <a:spAutoFit/>
          </a:bodyPr>
          <a:lstStyle/>
          <a:p>
            <a:pPr marL="0" lvl="0" indent="0" algn="l">
              <a:lnSpc>
                <a:spcPts val="8450"/>
              </a:lnSpc>
            </a:pPr>
            <a:r>
              <a:rPr lang="en-US" sz="8450" b="1">
                <a:solidFill>
                  <a:srgbClr val="324370"/>
                </a:solidFill>
                <a:latin typeface="Montserrat Ultra-Bold"/>
                <a:ea typeface="Montserrat Ultra-Bold"/>
                <a:cs typeface="Montserrat Ultra-Bold"/>
                <a:sym typeface="Montserrat Ultra-Bold"/>
              </a:rPr>
              <a:t>TOOL DESIGN</a:t>
            </a:r>
          </a:p>
        </p:txBody>
      </p:sp>
      <p:grpSp>
        <p:nvGrpSpPr>
          <p:cNvPr id="6" name="Group 6"/>
          <p:cNvGrpSpPr/>
          <p:nvPr/>
        </p:nvGrpSpPr>
        <p:grpSpPr>
          <a:xfrm>
            <a:off x="8061659" y="3411268"/>
            <a:ext cx="9197641" cy="1231494"/>
            <a:chOff x="0" y="0"/>
            <a:chExt cx="2282038" cy="305547"/>
          </a:xfrm>
        </p:grpSpPr>
        <p:sp>
          <p:nvSpPr>
            <p:cNvPr id="7" name="Freeform 7"/>
            <p:cNvSpPr/>
            <p:nvPr/>
          </p:nvSpPr>
          <p:spPr>
            <a:xfrm>
              <a:off x="0" y="0"/>
              <a:ext cx="2282038" cy="305547"/>
            </a:xfrm>
            <a:custGeom>
              <a:avLst/>
              <a:gdLst/>
              <a:ahLst/>
              <a:cxnLst/>
              <a:rect l="l" t="t" r="r" b="b"/>
              <a:pathLst>
                <a:path w="2282038" h="305547">
                  <a:moveTo>
                    <a:pt x="0" y="0"/>
                  </a:moveTo>
                  <a:lnTo>
                    <a:pt x="2282038" y="0"/>
                  </a:lnTo>
                  <a:lnTo>
                    <a:pt x="2282038" y="305547"/>
                  </a:lnTo>
                  <a:lnTo>
                    <a:pt x="0" y="305547"/>
                  </a:lnTo>
                  <a:close/>
                </a:path>
              </a:pathLst>
            </a:custGeom>
            <a:solidFill>
              <a:srgbClr val="324370"/>
            </a:solidFill>
          </p:spPr>
        </p:sp>
        <p:sp>
          <p:nvSpPr>
            <p:cNvPr id="8" name="TextBox 8"/>
            <p:cNvSpPr txBox="1"/>
            <p:nvPr/>
          </p:nvSpPr>
          <p:spPr>
            <a:xfrm>
              <a:off x="0" y="-38100"/>
              <a:ext cx="2282038" cy="343647"/>
            </a:xfrm>
            <a:prstGeom prst="rect">
              <a:avLst/>
            </a:prstGeom>
          </p:spPr>
          <p:txBody>
            <a:bodyPr lIns="42129" tIns="42129" rIns="42129" bIns="42129" rtlCol="0" anchor="ctr"/>
            <a:lstStyle/>
            <a:p>
              <a:pPr marL="0" lvl="0" indent="0" algn="ctr">
                <a:lnSpc>
                  <a:spcPts val="2659"/>
                </a:lnSpc>
              </a:pPr>
              <a:endParaRPr/>
            </a:p>
          </p:txBody>
        </p:sp>
      </p:grpSp>
      <p:sp>
        <p:nvSpPr>
          <p:cNvPr id="9" name="TextBox 9"/>
          <p:cNvSpPr txBox="1"/>
          <p:nvPr/>
        </p:nvSpPr>
        <p:spPr>
          <a:xfrm>
            <a:off x="8061659" y="3663188"/>
            <a:ext cx="9172951" cy="845951"/>
          </a:xfrm>
          <a:prstGeom prst="rect">
            <a:avLst/>
          </a:prstGeom>
        </p:spPr>
        <p:txBody>
          <a:bodyPr lIns="0" tIns="0" rIns="0" bIns="0" rtlCol="0" anchor="t">
            <a:spAutoFit/>
          </a:bodyPr>
          <a:lstStyle/>
          <a:p>
            <a:pPr marL="0" lvl="0" indent="0" algn="ctr">
              <a:lnSpc>
                <a:spcPts val="6305"/>
              </a:lnSpc>
            </a:pPr>
            <a:r>
              <a:rPr lang="en-US" sz="6305" b="1">
                <a:solidFill>
                  <a:srgbClr val="FFFFFF"/>
                </a:solidFill>
                <a:latin typeface="Montserrat Ultra-Bold"/>
                <a:ea typeface="Montserrat Ultra-Bold"/>
                <a:cs typeface="Montserrat Ultra-Bold"/>
                <a:sym typeface="Montserrat Ultra-Bold"/>
              </a:rPr>
              <a:t>FOR SQL MCP</a:t>
            </a:r>
          </a:p>
        </p:txBody>
      </p:sp>
      <p:grpSp>
        <p:nvGrpSpPr>
          <p:cNvPr id="10" name="Group 10"/>
          <p:cNvGrpSpPr/>
          <p:nvPr/>
        </p:nvGrpSpPr>
        <p:grpSpPr>
          <a:xfrm>
            <a:off x="11284513" y="6664461"/>
            <a:ext cx="2748902" cy="2593839"/>
            <a:chOff x="0" y="0"/>
            <a:chExt cx="682033" cy="643561"/>
          </a:xfrm>
        </p:grpSpPr>
        <p:sp>
          <p:nvSpPr>
            <p:cNvPr id="11" name="Freeform 11"/>
            <p:cNvSpPr/>
            <p:nvPr/>
          </p:nvSpPr>
          <p:spPr>
            <a:xfrm>
              <a:off x="0" y="0"/>
              <a:ext cx="682033" cy="643561"/>
            </a:xfrm>
            <a:custGeom>
              <a:avLst/>
              <a:gdLst/>
              <a:ahLst/>
              <a:cxnLst/>
              <a:rect l="l" t="t" r="r" b="b"/>
              <a:pathLst>
                <a:path w="682033" h="643561">
                  <a:moveTo>
                    <a:pt x="0" y="0"/>
                  </a:moveTo>
                  <a:lnTo>
                    <a:pt x="682033" y="0"/>
                  </a:lnTo>
                  <a:lnTo>
                    <a:pt x="682033" y="643561"/>
                  </a:lnTo>
                  <a:lnTo>
                    <a:pt x="0" y="643561"/>
                  </a:lnTo>
                  <a:close/>
                </a:path>
              </a:pathLst>
            </a:custGeom>
            <a:solidFill>
              <a:srgbClr val="546791"/>
            </a:solidFill>
          </p:spPr>
        </p:sp>
        <p:sp>
          <p:nvSpPr>
            <p:cNvPr id="12" name="TextBox 12"/>
            <p:cNvSpPr txBox="1"/>
            <p:nvPr/>
          </p:nvSpPr>
          <p:spPr>
            <a:xfrm>
              <a:off x="0" y="-38100"/>
              <a:ext cx="682033" cy="681661"/>
            </a:xfrm>
            <a:prstGeom prst="rect">
              <a:avLst/>
            </a:prstGeom>
          </p:spPr>
          <p:txBody>
            <a:bodyPr lIns="42129" tIns="42129" rIns="42129" bIns="42129" rtlCol="0" anchor="ctr"/>
            <a:lstStyle/>
            <a:p>
              <a:pPr marL="0" lvl="0" indent="0" algn="ctr">
                <a:lnSpc>
                  <a:spcPts val="2659"/>
                </a:lnSpc>
              </a:pPr>
              <a:endParaRPr/>
            </a:p>
          </p:txBody>
        </p:sp>
      </p:grpSp>
      <p:sp>
        <p:nvSpPr>
          <p:cNvPr id="13" name="TextBox 13"/>
          <p:cNvSpPr txBox="1"/>
          <p:nvPr/>
        </p:nvSpPr>
        <p:spPr>
          <a:xfrm>
            <a:off x="12197235" y="7041794"/>
            <a:ext cx="923458" cy="629423"/>
          </a:xfrm>
          <a:prstGeom prst="rect">
            <a:avLst/>
          </a:prstGeom>
        </p:spPr>
        <p:txBody>
          <a:bodyPr lIns="0" tIns="0" rIns="0" bIns="0" rtlCol="0" anchor="t">
            <a:spAutoFit/>
          </a:bodyPr>
          <a:lstStyle/>
          <a:p>
            <a:pPr marL="0" lvl="0" indent="0" algn="ctr">
              <a:lnSpc>
                <a:spcPts val="4758"/>
              </a:lnSpc>
            </a:pPr>
            <a:r>
              <a:rPr lang="en-US" sz="4758" b="1">
                <a:solidFill>
                  <a:srgbClr val="FFFFFF"/>
                </a:solidFill>
                <a:latin typeface="Montserrat Ultra-Bold"/>
                <a:ea typeface="Montserrat Ultra-Bold"/>
                <a:cs typeface="Montserrat Ultra-Bold"/>
                <a:sym typeface="Montserrat Ultra-Bold"/>
              </a:rPr>
              <a:t>2</a:t>
            </a:r>
          </a:p>
        </p:txBody>
      </p:sp>
      <p:sp>
        <p:nvSpPr>
          <p:cNvPr id="14" name="TextBox 14"/>
          <p:cNvSpPr txBox="1"/>
          <p:nvPr/>
        </p:nvSpPr>
        <p:spPr>
          <a:xfrm>
            <a:off x="11615682" y="7642736"/>
            <a:ext cx="2086564" cy="983615"/>
          </a:xfrm>
          <a:prstGeom prst="rect">
            <a:avLst/>
          </a:prstGeom>
        </p:spPr>
        <p:txBody>
          <a:bodyPr lIns="0" tIns="0" rIns="0" bIns="0" rtlCol="0" anchor="t">
            <a:spAutoFit/>
          </a:bodyPr>
          <a:lstStyle/>
          <a:p>
            <a:pPr marL="0" lvl="0" indent="0" algn="ctr">
              <a:lnSpc>
                <a:spcPts val="1959"/>
              </a:lnSpc>
            </a:pPr>
            <a:r>
              <a:rPr lang="en-US" sz="1399">
                <a:solidFill>
                  <a:srgbClr val="FFFFFF"/>
                </a:solidFill>
                <a:latin typeface="Montserrat"/>
                <a:ea typeface="Montserrat"/>
                <a:cs typeface="Montserrat"/>
                <a:sym typeface="Montserrat"/>
              </a:rPr>
              <a:t>Host or model selects tools based on input schema, context, and user intent at runtime.</a:t>
            </a:r>
          </a:p>
        </p:txBody>
      </p:sp>
      <p:grpSp>
        <p:nvGrpSpPr>
          <p:cNvPr id="15" name="Group 15"/>
          <p:cNvGrpSpPr/>
          <p:nvPr/>
        </p:nvGrpSpPr>
        <p:grpSpPr>
          <a:xfrm>
            <a:off x="14510398" y="6664461"/>
            <a:ext cx="2748902" cy="2593839"/>
            <a:chOff x="0" y="0"/>
            <a:chExt cx="682033" cy="643561"/>
          </a:xfrm>
        </p:grpSpPr>
        <p:sp>
          <p:nvSpPr>
            <p:cNvPr id="16" name="Freeform 16"/>
            <p:cNvSpPr/>
            <p:nvPr/>
          </p:nvSpPr>
          <p:spPr>
            <a:xfrm>
              <a:off x="0" y="0"/>
              <a:ext cx="682033" cy="643561"/>
            </a:xfrm>
            <a:custGeom>
              <a:avLst/>
              <a:gdLst/>
              <a:ahLst/>
              <a:cxnLst/>
              <a:rect l="l" t="t" r="r" b="b"/>
              <a:pathLst>
                <a:path w="682033" h="643561">
                  <a:moveTo>
                    <a:pt x="0" y="0"/>
                  </a:moveTo>
                  <a:lnTo>
                    <a:pt x="682033" y="0"/>
                  </a:lnTo>
                  <a:lnTo>
                    <a:pt x="682033" y="643561"/>
                  </a:lnTo>
                  <a:lnTo>
                    <a:pt x="0" y="643561"/>
                  </a:lnTo>
                  <a:close/>
                </a:path>
              </a:pathLst>
            </a:custGeom>
            <a:solidFill>
              <a:srgbClr val="334368"/>
            </a:solidFill>
          </p:spPr>
        </p:sp>
        <p:sp>
          <p:nvSpPr>
            <p:cNvPr id="17" name="TextBox 17"/>
            <p:cNvSpPr txBox="1"/>
            <p:nvPr/>
          </p:nvSpPr>
          <p:spPr>
            <a:xfrm>
              <a:off x="0" y="-38100"/>
              <a:ext cx="682033" cy="681661"/>
            </a:xfrm>
            <a:prstGeom prst="rect">
              <a:avLst/>
            </a:prstGeom>
          </p:spPr>
          <p:txBody>
            <a:bodyPr lIns="42129" tIns="42129" rIns="42129" bIns="42129" rtlCol="0" anchor="ctr"/>
            <a:lstStyle/>
            <a:p>
              <a:pPr marL="0" lvl="0" indent="0" algn="ctr">
                <a:lnSpc>
                  <a:spcPts val="2659"/>
                </a:lnSpc>
              </a:pPr>
              <a:endParaRPr/>
            </a:p>
          </p:txBody>
        </p:sp>
      </p:grpSp>
      <p:sp>
        <p:nvSpPr>
          <p:cNvPr id="18" name="TextBox 18"/>
          <p:cNvSpPr txBox="1"/>
          <p:nvPr/>
        </p:nvSpPr>
        <p:spPr>
          <a:xfrm>
            <a:off x="15423120" y="7041794"/>
            <a:ext cx="923458" cy="629423"/>
          </a:xfrm>
          <a:prstGeom prst="rect">
            <a:avLst/>
          </a:prstGeom>
        </p:spPr>
        <p:txBody>
          <a:bodyPr lIns="0" tIns="0" rIns="0" bIns="0" rtlCol="0" anchor="t">
            <a:spAutoFit/>
          </a:bodyPr>
          <a:lstStyle/>
          <a:p>
            <a:pPr marL="0" lvl="0" indent="0" algn="ctr">
              <a:lnSpc>
                <a:spcPts val="4758"/>
              </a:lnSpc>
            </a:pPr>
            <a:r>
              <a:rPr lang="en-US" sz="4758" b="1">
                <a:solidFill>
                  <a:srgbClr val="FFFFFF"/>
                </a:solidFill>
                <a:latin typeface="Montserrat Ultra-Bold"/>
                <a:ea typeface="Montserrat Ultra-Bold"/>
                <a:cs typeface="Montserrat Ultra-Bold"/>
                <a:sym typeface="Montserrat Ultra-Bold"/>
              </a:rPr>
              <a:t>3</a:t>
            </a:r>
          </a:p>
        </p:txBody>
      </p:sp>
      <p:sp>
        <p:nvSpPr>
          <p:cNvPr id="19" name="TextBox 19"/>
          <p:cNvSpPr txBox="1"/>
          <p:nvPr/>
        </p:nvSpPr>
        <p:spPr>
          <a:xfrm>
            <a:off x="14841567" y="7642736"/>
            <a:ext cx="2086564" cy="1231265"/>
          </a:xfrm>
          <a:prstGeom prst="rect">
            <a:avLst/>
          </a:prstGeom>
        </p:spPr>
        <p:txBody>
          <a:bodyPr lIns="0" tIns="0" rIns="0" bIns="0" rtlCol="0" anchor="t">
            <a:spAutoFit/>
          </a:bodyPr>
          <a:lstStyle/>
          <a:p>
            <a:pPr marL="0" lvl="0" indent="0" algn="ctr">
              <a:lnSpc>
                <a:spcPts val="1959"/>
              </a:lnSpc>
            </a:pPr>
            <a:r>
              <a:rPr lang="en-US" sz="1399">
                <a:solidFill>
                  <a:srgbClr val="FFFFFF"/>
                </a:solidFill>
                <a:latin typeface="Montserrat"/>
                <a:ea typeface="Montserrat"/>
                <a:cs typeface="Montserrat"/>
                <a:sym typeface="Montserrat"/>
              </a:rPr>
              <a:t>Server enforces allowed operations — no automatic prompt-to-tool routing permitted.</a:t>
            </a:r>
          </a:p>
        </p:txBody>
      </p:sp>
      <p:grpSp>
        <p:nvGrpSpPr>
          <p:cNvPr id="20" name="Group 20"/>
          <p:cNvGrpSpPr/>
          <p:nvPr/>
        </p:nvGrpSpPr>
        <p:grpSpPr>
          <a:xfrm>
            <a:off x="8061659" y="6664461"/>
            <a:ext cx="2748902" cy="2593839"/>
            <a:chOff x="0" y="0"/>
            <a:chExt cx="682033" cy="643561"/>
          </a:xfrm>
        </p:grpSpPr>
        <p:sp>
          <p:nvSpPr>
            <p:cNvPr id="21" name="Freeform 21"/>
            <p:cNvSpPr/>
            <p:nvPr/>
          </p:nvSpPr>
          <p:spPr>
            <a:xfrm>
              <a:off x="0" y="0"/>
              <a:ext cx="682033" cy="643561"/>
            </a:xfrm>
            <a:custGeom>
              <a:avLst/>
              <a:gdLst/>
              <a:ahLst/>
              <a:cxnLst/>
              <a:rect l="l" t="t" r="r" b="b"/>
              <a:pathLst>
                <a:path w="682033" h="643561">
                  <a:moveTo>
                    <a:pt x="0" y="0"/>
                  </a:moveTo>
                  <a:lnTo>
                    <a:pt x="682033" y="0"/>
                  </a:lnTo>
                  <a:lnTo>
                    <a:pt x="682033" y="643561"/>
                  </a:lnTo>
                  <a:lnTo>
                    <a:pt x="0" y="643561"/>
                  </a:lnTo>
                  <a:close/>
                </a:path>
              </a:pathLst>
            </a:custGeom>
            <a:solidFill>
              <a:srgbClr val="8093BB"/>
            </a:solidFill>
          </p:spPr>
        </p:sp>
        <p:sp>
          <p:nvSpPr>
            <p:cNvPr id="22" name="TextBox 22"/>
            <p:cNvSpPr txBox="1"/>
            <p:nvPr/>
          </p:nvSpPr>
          <p:spPr>
            <a:xfrm>
              <a:off x="0" y="-38100"/>
              <a:ext cx="682033" cy="681661"/>
            </a:xfrm>
            <a:prstGeom prst="rect">
              <a:avLst/>
            </a:prstGeom>
          </p:spPr>
          <p:txBody>
            <a:bodyPr lIns="42129" tIns="42129" rIns="42129" bIns="42129" rtlCol="0" anchor="ctr"/>
            <a:lstStyle/>
            <a:p>
              <a:pPr marL="0" lvl="0" indent="0" algn="ctr">
                <a:lnSpc>
                  <a:spcPts val="2659"/>
                </a:lnSpc>
              </a:pPr>
              <a:endParaRPr/>
            </a:p>
          </p:txBody>
        </p:sp>
      </p:grpSp>
      <p:sp>
        <p:nvSpPr>
          <p:cNvPr id="23" name="TextBox 23"/>
          <p:cNvSpPr txBox="1"/>
          <p:nvPr/>
        </p:nvSpPr>
        <p:spPr>
          <a:xfrm>
            <a:off x="8974381" y="7041794"/>
            <a:ext cx="923458" cy="629423"/>
          </a:xfrm>
          <a:prstGeom prst="rect">
            <a:avLst/>
          </a:prstGeom>
        </p:spPr>
        <p:txBody>
          <a:bodyPr lIns="0" tIns="0" rIns="0" bIns="0" rtlCol="0" anchor="t">
            <a:spAutoFit/>
          </a:bodyPr>
          <a:lstStyle/>
          <a:p>
            <a:pPr marL="0" lvl="0" indent="0" algn="ctr">
              <a:lnSpc>
                <a:spcPts val="4758"/>
              </a:lnSpc>
            </a:pPr>
            <a:r>
              <a:rPr lang="en-US" sz="4758" b="1">
                <a:solidFill>
                  <a:srgbClr val="FFFFFF"/>
                </a:solidFill>
                <a:latin typeface="Montserrat Ultra-Bold"/>
                <a:ea typeface="Montserrat Ultra-Bold"/>
                <a:cs typeface="Montserrat Ultra-Bold"/>
                <a:sym typeface="Montserrat Ultra-Bold"/>
              </a:rPr>
              <a:t>1</a:t>
            </a:r>
          </a:p>
        </p:txBody>
      </p:sp>
      <p:sp>
        <p:nvSpPr>
          <p:cNvPr id="24" name="TextBox 24"/>
          <p:cNvSpPr txBox="1"/>
          <p:nvPr/>
        </p:nvSpPr>
        <p:spPr>
          <a:xfrm>
            <a:off x="8392828" y="7642736"/>
            <a:ext cx="2086564" cy="1231265"/>
          </a:xfrm>
          <a:prstGeom prst="rect">
            <a:avLst/>
          </a:prstGeom>
        </p:spPr>
        <p:txBody>
          <a:bodyPr lIns="0" tIns="0" rIns="0" bIns="0" rtlCol="0" anchor="t">
            <a:spAutoFit/>
          </a:bodyPr>
          <a:lstStyle/>
          <a:p>
            <a:pPr marL="0" lvl="0" indent="0" algn="ctr">
              <a:lnSpc>
                <a:spcPts val="1959"/>
              </a:lnSpc>
            </a:pPr>
            <a:r>
              <a:rPr lang="en-US" sz="1399">
                <a:solidFill>
                  <a:srgbClr val="FFFFFF"/>
                </a:solidFill>
                <a:latin typeface="Montserrat"/>
                <a:ea typeface="Montserrat"/>
                <a:cs typeface="Montserrat"/>
                <a:sym typeface="Montserrat"/>
              </a:rPr>
              <a:t>Server exposes tools with clear names, descriptions, and input schemas for AI model discovery.</a:t>
            </a:r>
          </a:p>
        </p:txBody>
      </p:sp>
      <p:sp>
        <p:nvSpPr>
          <p:cNvPr id="25" name="TextBox 25"/>
          <p:cNvSpPr txBox="1"/>
          <p:nvPr/>
        </p:nvSpPr>
        <p:spPr>
          <a:xfrm>
            <a:off x="15764299" y="742950"/>
            <a:ext cx="1476375" cy="781050"/>
          </a:xfrm>
          <a:prstGeom prst="rect">
            <a:avLst/>
          </a:prstGeom>
        </p:spPr>
        <p:txBody>
          <a:bodyPr lIns="0" tIns="0" rIns="0" bIns="0" rtlCol="0" anchor="t">
            <a:spAutoFit/>
          </a:bodyPr>
          <a:lstStyle/>
          <a:p>
            <a:pPr marL="0" lvl="0" indent="0" algn="ctr">
              <a:lnSpc>
                <a:spcPts val="5820"/>
              </a:lnSpc>
              <a:spcBef>
                <a:spcPct val="0"/>
              </a:spcBef>
            </a:pPr>
            <a:r>
              <a:rPr lang="en-US" sz="5820" b="1" u="none" strike="noStrike">
                <a:solidFill>
                  <a:srgbClr val="8093BB"/>
                </a:solidFill>
                <a:latin typeface="Montserrat Bold"/>
                <a:ea typeface="Montserrat Bold"/>
                <a:cs typeface="Montserrat Bold"/>
                <a:sym typeface="Montserrat Bold"/>
              </a:rPr>
              <a:t>13</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666" b="-666"/>
            </a:stretch>
          </a:blipFill>
        </p:spPr>
      </p:sp>
      <p:sp>
        <p:nvSpPr>
          <p:cNvPr id="3" name="Freeform 3"/>
          <p:cNvSpPr/>
          <p:nvPr/>
        </p:nvSpPr>
        <p:spPr>
          <a:xfrm>
            <a:off x="1028283" y="863626"/>
            <a:ext cx="16231017" cy="8873449"/>
          </a:xfrm>
          <a:custGeom>
            <a:avLst/>
            <a:gdLst/>
            <a:ahLst/>
            <a:cxnLst/>
            <a:rect l="l" t="t" r="r" b="b"/>
            <a:pathLst>
              <a:path w="16231017" h="8873449">
                <a:moveTo>
                  <a:pt x="0" y="0"/>
                </a:moveTo>
                <a:lnTo>
                  <a:pt x="16231017" y="0"/>
                </a:lnTo>
                <a:lnTo>
                  <a:pt x="16231017" y="8873449"/>
                </a:lnTo>
                <a:lnTo>
                  <a:pt x="0" y="8873449"/>
                </a:lnTo>
                <a:lnTo>
                  <a:pt x="0" y="0"/>
                </a:lnTo>
                <a:close/>
              </a:path>
            </a:pathLst>
          </a:custGeom>
          <a:blipFill>
            <a:blip r:embed="rId3"/>
            <a:stretch>
              <a:fillRect/>
            </a:stretch>
          </a:blipFill>
        </p:spPr>
      </p:sp>
      <p:sp>
        <p:nvSpPr>
          <p:cNvPr id="4" name="TextBox 4"/>
          <p:cNvSpPr txBox="1"/>
          <p:nvPr/>
        </p:nvSpPr>
        <p:spPr>
          <a:xfrm>
            <a:off x="15764299" y="703761"/>
            <a:ext cx="1473411" cy="426493"/>
          </a:xfrm>
          <a:prstGeom prst="rect">
            <a:avLst/>
          </a:prstGeom>
        </p:spPr>
        <p:txBody>
          <a:bodyPr lIns="0" tIns="0" rIns="0" bIns="0" rtlCol="0" anchor="t">
            <a:spAutoFit/>
          </a:bodyPr>
          <a:lstStyle/>
          <a:p>
            <a:pPr marL="0" lvl="0" indent="0" algn="ctr">
              <a:lnSpc>
                <a:spcPts val="3291"/>
              </a:lnSpc>
            </a:pPr>
            <a:r>
              <a:rPr lang="en-US" sz="3291" b="1">
                <a:solidFill>
                  <a:srgbClr val="8093BB"/>
                </a:solidFill>
                <a:latin typeface="Montserrat Bold"/>
                <a:ea typeface="Montserrat Bold"/>
                <a:cs typeface="Montserrat Bold"/>
                <a:sym typeface="Montserrat Bold"/>
              </a:rPr>
              <a:t>14</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666" b="-666"/>
            </a:stretch>
          </a:blipFill>
        </p:spPr>
      </p:sp>
      <p:sp>
        <p:nvSpPr>
          <p:cNvPr id="3" name="Freeform 3"/>
          <p:cNvSpPr/>
          <p:nvPr/>
        </p:nvSpPr>
        <p:spPr>
          <a:xfrm>
            <a:off x="371266" y="371266"/>
            <a:ext cx="9987267" cy="3846229"/>
          </a:xfrm>
          <a:custGeom>
            <a:avLst/>
            <a:gdLst/>
            <a:ahLst/>
            <a:cxnLst/>
            <a:rect l="l" t="t" r="r" b="b"/>
            <a:pathLst>
              <a:path w="9987267" h="3846229">
                <a:moveTo>
                  <a:pt x="0" y="0"/>
                </a:moveTo>
                <a:lnTo>
                  <a:pt x="9987268" y="0"/>
                </a:lnTo>
                <a:lnTo>
                  <a:pt x="9987268" y="3846230"/>
                </a:lnTo>
                <a:lnTo>
                  <a:pt x="0" y="3846230"/>
                </a:lnTo>
                <a:lnTo>
                  <a:pt x="0" y="0"/>
                </a:lnTo>
                <a:close/>
              </a:path>
            </a:pathLst>
          </a:custGeom>
          <a:blipFill>
            <a:blip r:embed="rId3"/>
            <a:stretch>
              <a:fillRect/>
            </a:stretch>
          </a:blipFill>
        </p:spPr>
      </p:sp>
      <p:sp>
        <p:nvSpPr>
          <p:cNvPr id="4" name="Freeform 4"/>
          <p:cNvSpPr/>
          <p:nvPr/>
        </p:nvSpPr>
        <p:spPr>
          <a:xfrm>
            <a:off x="13624226" y="4332137"/>
            <a:ext cx="2951719" cy="5380738"/>
          </a:xfrm>
          <a:custGeom>
            <a:avLst/>
            <a:gdLst/>
            <a:ahLst/>
            <a:cxnLst/>
            <a:rect l="l" t="t" r="r" b="b"/>
            <a:pathLst>
              <a:path w="2951719" h="5380738">
                <a:moveTo>
                  <a:pt x="0" y="0"/>
                </a:moveTo>
                <a:lnTo>
                  <a:pt x="2951719" y="0"/>
                </a:lnTo>
                <a:lnTo>
                  <a:pt x="2951719" y="5380737"/>
                </a:lnTo>
                <a:lnTo>
                  <a:pt x="0" y="5380737"/>
                </a:lnTo>
                <a:lnTo>
                  <a:pt x="0" y="0"/>
                </a:lnTo>
                <a:close/>
              </a:path>
            </a:pathLst>
          </a:custGeom>
          <a:blipFill>
            <a:blip r:embed="rId4"/>
            <a:stretch>
              <a:fillRect/>
            </a:stretch>
          </a:blipFill>
        </p:spPr>
      </p:sp>
      <p:sp>
        <p:nvSpPr>
          <p:cNvPr id="5" name="TextBox 5"/>
          <p:cNvSpPr txBox="1"/>
          <p:nvPr/>
        </p:nvSpPr>
        <p:spPr>
          <a:xfrm>
            <a:off x="12633294" y="2297233"/>
            <a:ext cx="3946657" cy="763270"/>
          </a:xfrm>
          <a:prstGeom prst="rect">
            <a:avLst/>
          </a:prstGeom>
        </p:spPr>
        <p:txBody>
          <a:bodyPr lIns="0" tIns="0" rIns="0" bIns="0" rtlCol="0" anchor="t">
            <a:spAutoFit/>
          </a:bodyPr>
          <a:lstStyle/>
          <a:p>
            <a:pPr algn="ctr">
              <a:lnSpc>
                <a:spcPts val="3079"/>
              </a:lnSpc>
              <a:spcBef>
                <a:spcPct val="0"/>
              </a:spcBef>
            </a:pPr>
            <a:r>
              <a:rPr lang="en-US" sz="2199" b="1">
                <a:solidFill>
                  <a:srgbClr val="324370"/>
                </a:solidFill>
                <a:latin typeface="Open Sans Bold"/>
                <a:ea typeface="Open Sans Bold"/>
                <a:cs typeface="Open Sans Bold"/>
                <a:sym typeface="Open Sans Bold"/>
              </a:rPr>
              <a:t>which generates the output </a:t>
            </a:r>
          </a:p>
          <a:p>
            <a:pPr algn="ctr">
              <a:lnSpc>
                <a:spcPts val="3079"/>
              </a:lnSpc>
              <a:spcBef>
                <a:spcPct val="0"/>
              </a:spcBef>
            </a:pPr>
            <a:r>
              <a:rPr lang="en-US" sz="2199" b="1">
                <a:solidFill>
                  <a:srgbClr val="324370"/>
                </a:solidFill>
                <a:latin typeface="Open Sans Bold"/>
                <a:ea typeface="Open Sans Bold"/>
                <a:cs typeface="Open Sans Bold"/>
                <a:sym typeface="Open Sans Bold"/>
              </a:rPr>
              <a:t>something like this:</a:t>
            </a:r>
          </a:p>
        </p:txBody>
      </p:sp>
      <p:sp>
        <p:nvSpPr>
          <p:cNvPr id="6" name="TextBox 6"/>
          <p:cNvSpPr txBox="1"/>
          <p:nvPr/>
        </p:nvSpPr>
        <p:spPr>
          <a:xfrm>
            <a:off x="15764299" y="703761"/>
            <a:ext cx="1473411" cy="426493"/>
          </a:xfrm>
          <a:prstGeom prst="rect">
            <a:avLst/>
          </a:prstGeom>
        </p:spPr>
        <p:txBody>
          <a:bodyPr lIns="0" tIns="0" rIns="0" bIns="0" rtlCol="0" anchor="t">
            <a:spAutoFit/>
          </a:bodyPr>
          <a:lstStyle/>
          <a:p>
            <a:pPr marL="0" lvl="0" indent="0" algn="ctr">
              <a:lnSpc>
                <a:spcPts val="3291"/>
              </a:lnSpc>
            </a:pPr>
            <a:r>
              <a:rPr lang="en-US" sz="3291" b="1">
                <a:solidFill>
                  <a:srgbClr val="8093BB"/>
                </a:solidFill>
                <a:latin typeface="Montserrat Bold"/>
                <a:ea typeface="Montserrat Bold"/>
                <a:cs typeface="Montserrat Bold"/>
                <a:sym typeface="Montserrat Bold"/>
              </a:rPr>
              <a:t>15</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666" b="-666"/>
            </a:stretch>
          </a:blipFill>
        </p:spPr>
      </p:sp>
      <p:sp>
        <p:nvSpPr>
          <p:cNvPr id="3" name="TextBox 3"/>
          <p:cNvSpPr txBox="1"/>
          <p:nvPr/>
        </p:nvSpPr>
        <p:spPr>
          <a:xfrm>
            <a:off x="4773314" y="1123950"/>
            <a:ext cx="8741372" cy="1123452"/>
          </a:xfrm>
          <a:prstGeom prst="rect">
            <a:avLst/>
          </a:prstGeom>
        </p:spPr>
        <p:txBody>
          <a:bodyPr lIns="0" tIns="0" rIns="0" bIns="0" rtlCol="0" anchor="t">
            <a:spAutoFit/>
          </a:bodyPr>
          <a:lstStyle/>
          <a:p>
            <a:pPr marL="0" lvl="0" indent="0" algn="ctr">
              <a:lnSpc>
                <a:spcPts val="4382"/>
              </a:lnSpc>
            </a:pPr>
            <a:r>
              <a:rPr lang="en-US" sz="4382" b="1">
                <a:solidFill>
                  <a:srgbClr val="324370"/>
                </a:solidFill>
                <a:latin typeface="Montserrat Ultra-Bold"/>
                <a:ea typeface="Montserrat Ultra-Bold"/>
                <a:cs typeface="Montserrat Ultra-Bold"/>
                <a:sym typeface="Montserrat Ultra-Bold"/>
              </a:rPr>
              <a:t>HOW NATURAL LANGUAGE BECOMES ACTION</a:t>
            </a:r>
          </a:p>
        </p:txBody>
      </p:sp>
      <p:sp>
        <p:nvSpPr>
          <p:cNvPr id="4" name="TextBox 4"/>
          <p:cNvSpPr txBox="1"/>
          <p:nvPr/>
        </p:nvSpPr>
        <p:spPr>
          <a:xfrm>
            <a:off x="1314820" y="2799048"/>
            <a:ext cx="904367" cy="482380"/>
          </a:xfrm>
          <a:prstGeom prst="rect">
            <a:avLst/>
          </a:prstGeom>
        </p:spPr>
        <p:txBody>
          <a:bodyPr lIns="0" tIns="0" rIns="0" bIns="0" rtlCol="0" anchor="t">
            <a:spAutoFit/>
          </a:bodyPr>
          <a:lstStyle/>
          <a:p>
            <a:pPr marL="0" lvl="0" indent="0" algn="ctr">
              <a:lnSpc>
                <a:spcPts val="3681"/>
              </a:lnSpc>
            </a:pPr>
            <a:r>
              <a:rPr lang="en-US" sz="3681" b="1">
                <a:solidFill>
                  <a:srgbClr val="324370"/>
                </a:solidFill>
                <a:latin typeface="Montserrat Ultra-Bold"/>
                <a:ea typeface="Montserrat Ultra-Bold"/>
                <a:cs typeface="Montserrat Ultra-Bold"/>
                <a:sym typeface="Montserrat Ultra-Bold"/>
              </a:rPr>
              <a:t>1.</a:t>
            </a:r>
          </a:p>
        </p:txBody>
      </p:sp>
      <p:sp>
        <p:nvSpPr>
          <p:cNvPr id="5" name="TextBox 5"/>
          <p:cNvSpPr txBox="1"/>
          <p:nvPr/>
        </p:nvSpPr>
        <p:spPr>
          <a:xfrm>
            <a:off x="2431965" y="2697430"/>
            <a:ext cx="6351413" cy="1066800"/>
          </a:xfrm>
          <a:prstGeom prst="rect">
            <a:avLst/>
          </a:prstGeom>
        </p:spPr>
        <p:txBody>
          <a:bodyPr lIns="0" tIns="0" rIns="0" bIns="0" rtlCol="0" anchor="t">
            <a:spAutoFit/>
          </a:bodyPr>
          <a:lstStyle/>
          <a:p>
            <a:pPr marL="0" lvl="0" indent="0" algn="just">
              <a:lnSpc>
                <a:spcPts val="2100"/>
              </a:lnSpc>
            </a:pPr>
            <a:r>
              <a:rPr lang="en-US" sz="1500" b="1">
                <a:solidFill>
                  <a:srgbClr val="324370"/>
                </a:solidFill>
                <a:latin typeface="Montserrat Bold"/>
                <a:ea typeface="Montserrat Bold"/>
                <a:cs typeface="Montserrat Bold"/>
                <a:sym typeface="Montserrat Bold"/>
              </a:rPr>
              <a:t>User Prompt</a:t>
            </a:r>
          </a:p>
          <a:p>
            <a:pPr marL="0" lvl="0" indent="0" algn="just">
              <a:lnSpc>
                <a:spcPts val="2100"/>
              </a:lnSpc>
            </a:pPr>
            <a:r>
              <a:rPr lang="en-US" sz="1500" b="1">
                <a:solidFill>
                  <a:srgbClr val="324370"/>
                </a:solidFill>
                <a:latin typeface="Montserrat Bold"/>
                <a:ea typeface="Montserrat Bold"/>
                <a:cs typeface="Montserrat Bold"/>
                <a:sym typeface="Montserrat Bold"/>
              </a:rPr>
              <a:t>The user types a natural language request (e.g., "Show me all customers from Kathmandu") into Claude Desktop or an AI-native app interface.</a:t>
            </a:r>
          </a:p>
        </p:txBody>
      </p:sp>
      <p:sp>
        <p:nvSpPr>
          <p:cNvPr id="6" name="TextBox 6"/>
          <p:cNvSpPr txBox="1"/>
          <p:nvPr/>
        </p:nvSpPr>
        <p:spPr>
          <a:xfrm>
            <a:off x="9552247" y="2799048"/>
            <a:ext cx="904367" cy="482380"/>
          </a:xfrm>
          <a:prstGeom prst="rect">
            <a:avLst/>
          </a:prstGeom>
        </p:spPr>
        <p:txBody>
          <a:bodyPr lIns="0" tIns="0" rIns="0" bIns="0" rtlCol="0" anchor="t">
            <a:spAutoFit/>
          </a:bodyPr>
          <a:lstStyle/>
          <a:p>
            <a:pPr marL="0" lvl="0" indent="0" algn="ctr">
              <a:lnSpc>
                <a:spcPts val="3681"/>
              </a:lnSpc>
            </a:pPr>
            <a:r>
              <a:rPr lang="en-US" sz="3681" b="1">
                <a:solidFill>
                  <a:srgbClr val="324370"/>
                </a:solidFill>
                <a:latin typeface="Montserrat Ultra-Bold"/>
                <a:ea typeface="Montserrat Ultra-Bold"/>
                <a:cs typeface="Montserrat Ultra-Bold"/>
                <a:sym typeface="Montserrat Ultra-Bold"/>
              </a:rPr>
              <a:t>2.</a:t>
            </a:r>
          </a:p>
        </p:txBody>
      </p:sp>
      <p:sp>
        <p:nvSpPr>
          <p:cNvPr id="7" name="TextBox 7"/>
          <p:cNvSpPr txBox="1"/>
          <p:nvPr/>
        </p:nvSpPr>
        <p:spPr>
          <a:xfrm>
            <a:off x="10669392" y="2697430"/>
            <a:ext cx="6351413" cy="1066800"/>
          </a:xfrm>
          <a:prstGeom prst="rect">
            <a:avLst/>
          </a:prstGeom>
        </p:spPr>
        <p:txBody>
          <a:bodyPr lIns="0" tIns="0" rIns="0" bIns="0" rtlCol="0" anchor="t">
            <a:spAutoFit/>
          </a:bodyPr>
          <a:lstStyle/>
          <a:p>
            <a:pPr marL="0" lvl="0" indent="0" algn="just">
              <a:lnSpc>
                <a:spcPts val="2100"/>
              </a:lnSpc>
            </a:pPr>
            <a:r>
              <a:rPr lang="en-US" sz="1500" b="1">
                <a:solidFill>
                  <a:srgbClr val="324370"/>
                </a:solidFill>
                <a:latin typeface="Montserrat Bold"/>
                <a:ea typeface="Montserrat Bold"/>
                <a:cs typeface="Montserrat Bold"/>
                <a:sym typeface="Montserrat Bold"/>
              </a:rPr>
              <a:t>LLM Intent Understanding</a:t>
            </a:r>
          </a:p>
          <a:p>
            <a:pPr marL="0" lvl="0" indent="0" algn="just">
              <a:lnSpc>
                <a:spcPts val="2100"/>
              </a:lnSpc>
            </a:pPr>
            <a:r>
              <a:rPr lang="en-US" sz="1500" b="1">
                <a:solidFill>
                  <a:srgbClr val="324370"/>
                </a:solidFill>
                <a:latin typeface="Montserrat Bold"/>
                <a:ea typeface="Montserrat Bold"/>
                <a:cs typeface="Montserrat Bold"/>
                <a:sym typeface="Montserrat Bold"/>
              </a:rPr>
              <a:t>The LLM analyzes the prompt, identifies the user's intent, and determines that a database tool call is required to fulfill the request.</a:t>
            </a:r>
          </a:p>
        </p:txBody>
      </p:sp>
      <p:sp>
        <p:nvSpPr>
          <p:cNvPr id="8" name="TextBox 8"/>
          <p:cNvSpPr txBox="1"/>
          <p:nvPr/>
        </p:nvSpPr>
        <p:spPr>
          <a:xfrm>
            <a:off x="1314820" y="5134864"/>
            <a:ext cx="904367" cy="482380"/>
          </a:xfrm>
          <a:prstGeom prst="rect">
            <a:avLst/>
          </a:prstGeom>
        </p:spPr>
        <p:txBody>
          <a:bodyPr lIns="0" tIns="0" rIns="0" bIns="0" rtlCol="0" anchor="t">
            <a:spAutoFit/>
          </a:bodyPr>
          <a:lstStyle/>
          <a:p>
            <a:pPr marL="0" lvl="0" indent="0" algn="ctr">
              <a:lnSpc>
                <a:spcPts val="3681"/>
              </a:lnSpc>
            </a:pPr>
            <a:r>
              <a:rPr lang="en-US" sz="3681" b="1">
                <a:solidFill>
                  <a:srgbClr val="324370"/>
                </a:solidFill>
                <a:latin typeface="Montserrat Ultra-Bold"/>
                <a:ea typeface="Montserrat Ultra-Bold"/>
                <a:cs typeface="Montserrat Ultra-Bold"/>
                <a:sym typeface="Montserrat Ultra-Bold"/>
              </a:rPr>
              <a:t>3.</a:t>
            </a:r>
          </a:p>
        </p:txBody>
      </p:sp>
      <p:sp>
        <p:nvSpPr>
          <p:cNvPr id="9" name="TextBox 9"/>
          <p:cNvSpPr txBox="1"/>
          <p:nvPr/>
        </p:nvSpPr>
        <p:spPr>
          <a:xfrm>
            <a:off x="2431965" y="5033247"/>
            <a:ext cx="6351413" cy="1066800"/>
          </a:xfrm>
          <a:prstGeom prst="rect">
            <a:avLst/>
          </a:prstGeom>
        </p:spPr>
        <p:txBody>
          <a:bodyPr lIns="0" tIns="0" rIns="0" bIns="0" rtlCol="0" anchor="t">
            <a:spAutoFit/>
          </a:bodyPr>
          <a:lstStyle/>
          <a:p>
            <a:pPr marL="0" lvl="0" indent="0" algn="just">
              <a:lnSpc>
                <a:spcPts val="2100"/>
              </a:lnSpc>
            </a:pPr>
            <a:r>
              <a:rPr lang="en-US" sz="1500" b="1">
                <a:solidFill>
                  <a:srgbClr val="324370"/>
                </a:solidFill>
                <a:latin typeface="Montserrat Bold"/>
                <a:ea typeface="Montserrat Bold"/>
                <a:cs typeface="Montserrat Bold"/>
                <a:sym typeface="Montserrat Bold"/>
              </a:rPr>
              <a:t>Tool Selection</a:t>
            </a:r>
          </a:p>
          <a:p>
            <a:pPr marL="0" lvl="0" indent="0" algn="just">
              <a:lnSpc>
                <a:spcPts val="2100"/>
              </a:lnSpc>
            </a:pPr>
            <a:r>
              <a:rPr lang="en-US" sz="1500" b="1">
                <a:solidFill>
                  <a:srgbClr val="324370"/>
                </a:solidFill>
                <a:latin typeface="Montserrat Bold"/>
                <a:ea typeface="Montserrat Bold"/>
                <a:cs typeface="Montserrat Bold"/>
                <a:sym typeface="Montserrat Bold"/>
              </a:rPr>
              <a:t>Based on tool name, description, input schema, and context, the model selects the most appropriate MCP tool (e.g., search_customer) exposed by the .NET MCP server.</a:t>
            </a:r>
          </a:p>
        </p:txBody>
      </p:sp>
      <p:sp>
        <p:nvSpPr>
          <p:cNvPr id="10" name="TextBox 10"/>
          <p:cNvSpPr txBox="1"/>
          <p:nvPr/>
        </p:nvSpPr>
        <p:spPr>
          <a:xfrm>
            <a:off x="9552247" y="5134864"/>
            <a:ext cx="904367" cy="482380"/>
          </a:xfrm>
          <a:prstGeom prst="rect">
            <a:avLst/>
          </a:prstGeom>
        </p:spPr>
        <p:txBody>
          <a:bodyPr lIns="0" tIns="0" rIns="0" bIns="0" rtlCol="0" anchor="t">
            <a:spAutoFit/>
          </a:bodyPr>
          <a:lstStyle/>
          <a:p>
            <a:pPr marL="0" lvl="0" indent="0" algn="ctr">
              <a:lnSpc>
                <a:spcPts val="3681"/>
              </a:lnSpc>
            </a:pPr>
            <a:r>
              <a:rPr lang="en-US" sz="3681" b="1">
                <a:solidFill>
                  <a:srgbClr val="324370"/>
                </a:solidFill>
                <a:latin typeface="Montserrat Ultra-Bold"/>
                <a:ea typeface="Montserrat Ultra-Bold"/>
                <a:cs typeface="Montserrat Ultra-Bold"/>
                <a:sym typeface="Montserrat Ultra-Bold"/>
              </a:rPr>
              <a:t>4.</a:t>
            </a:r>
          </a:p>
        </p:txBody>
      </p:sp>
      <p:sp>
        <p:nvSpPr>
          <p:cNvPr id="11" name="TextBox 11"/>
          <p:cNvSpPr txBox="1"/>
          <p:nvPr/>
        </p:nvSpPr>
        <p:spPr>
          <a:xfrm>
            <a:off x="10669392" y="5033247"/>
            <a:ext cx="6351413" cy="1066800"/>
          </a:xfrm>
          <a:prstGeom prst="rect">
            <a:avLst/>
          </a:prstGeom>
        </p:spPr>
        <p:txBody>
          <a:bodyPr lIns="0" tIns="0" rIns="0" bIns="0" rtlCol="0" anchor="t">
            <a:spAutoFit/>
          </a:bodyPr>
          <a:lstStyle/>
          <a:p>
            <a:pPr marL="0" lvl="0" indent="0" algn="just">
              <a:lnSpc>
                <a:spcPts val="2100"/>
              </a:lnSpc>
            </a:pPr>
            <a:r>
              <a:rPr lang="en-US" sz="1500" b="1">
                <a:solidFill>
                  <a:srgbClr val="324370"/>
                </a:solidFill>
                <a:latin typeface="Montserrat Bold"/>
                <a:ea typeface="Montserrat Bold"/>
                <a:cs typeface="Montserrat Bold"/>
                <a:sym typeface="Montserrat Bold"/>
              </a:rPr>
              <a:t>JSON Argument Conversion</a:t>
            </a:r>
          </a:p>
          <a:p>
            <a:pPr marL="0" lvl="0" indent="0" algn="just">
              <a:lnSpc>
                <a:spcPts val="2100"/>
              </a:lnSpc>
            </a:pPr>
            <a:r>
              <a:rPr lang="en-US" sz="1500" b="1">
                <a:solidFill>
                  <a:srgbClr val="324370"/>
                </a:solidFill>
                <a:latin typeface="Montserrat Bold"/>
                <a:ea typeface="Montserrat Bold"/>
                <a:cs typeface="Montserrat Bold"/>
                <a:sym typeface="Montserrat Bold"/>
              </a:rPr>
              <a:t>The LLM converts the natural language intent into structured JSON arguments (table, filters, columns, action type) and the MCP client calls the .NET MCP server tool.</a:t>
            </a:r>
          </a:p>
        </p:txBody>
      </p:sp>
      <p:sp>
        <p:nvSpPr>
          <p:cNvPr id="12" name="TextBox 12"/>
          <p:cNvSpPr txBox="1"/>
          <p:nvPr/>
        </p:nvSpPr>
        <p:spPr>
          <a:xfrm>
            <a:off x="1314820" y="7470680"/>
            <a:ext cx="904367" cy="482380"/>
          </a:xfrm>
          <a:prstGeom prst="rect">
            <a:avLst/>
          </a:prstGeom>
        </p:spPr>
        <p:txBody>
          <a:bodyPr lIns="0" tIns="0" rIns="0" bIns="0" rtlCol="0" anchor="t">
            <a:spAutoFit/>
          </a:bodyPr>
          <a:lstStyle/>
          <a:p>
            <a:pPr marL="0" lvl="0" indent="0" algn="ctr">
              <a:lnSpc>
                <a:spcPts val="3681"/>
              </a:lnSpc>
            </a:pPr>
            <a:r>
              <a:rPr lang="en-US" sz="3681" b="1">
                <a:solidFill>
                  <a:srgbClr val="324370"/>
                </a:solidFill>
                <a:latin typeface="Montserrat Ultra-Bold"/>
                <a:ea typeface="Montserrat Ultra-Bold"/>
                <a:cs typeface="Montserrat Ultra-Bold"/>
                <a:sym typeface="Montserrat Ultra-Bold"/>
              </a:rPr>
              <a:t>5.</a:t>
            </a:r>
          </a:p>
        </p:txBody>
      </p:sp>
      <p:sp>
        <p:nvSpPr>
          <p:cNvPr id="13" name="TextBox 13"/>
          <p:cNvSpPr txBox="1"/>
          <p:nvPr/>
        </p:nvSpPr>
        <p:spPr>
          <a:xfrm>
            <a:off x="2431965" y="7369063"/>
            <a:ext cx="6351413" cy="1066800"/>
          </a:xfrm>
          <a:prstGeom prst="rect">
            <a:avLst/>
          </a:prstGeom>
        </p:spPr>
        <p:txBody>
          <a:bodyPr lIns="0" tIns="0" rIns="0" bIns="0" rtlCol="0" anchor="t">
            <a:spAutoFit/>
          </a:bodyPr>
          <a:lstStyle/>
          <a:p>
            <a:pPr marL="0" lvl="0" indent="0" algn="just">
              <a:lnSpc>
                <a:spcPts val="2100"/>
              </a:lnSpc>
            </a:pPr>
            <a:r>
              <a:rPr lang="en-US" sz="1500" b="1">
                <a:solidFill>
                  <a:srgbClr val="324370"/>
                </a:solidFill>
                <a:latin typeface="Montserrat Bold"/>
                <a:ea typeface="Montserrat Bold"/>
                <a:cs typeface="Montserrat Bold"/>
                <a:sym typeface="Montserrat Bold"/>
              </a:rPr>
              <a:t>Server Validation &amp; Authorization</a:t>
            </a:r>
          </a:p>
          <a:p>
            <a:pPr marL="0" lvl="0" indent="0" algn="just">
              <a:lnSpc>
                <a:spcPts val="2100"/>
              </a:lnSpc>
            </a:pPr>
            <a:r>
              <a:rPr lang="en-US" sz="1500" b="1">
                <a:solidFill>
                  <a:srgbClr val="324370"/>
                </a:solidFill>
                <a:latin typeface="Montserrat Bold"/>
                <a:ea typeface="Montserrat Bold"/>
                <a:cs typeface="Montserrat Bold"/>
                <a:sym typeface="Montserrat Bold"/>
              </a:rPr>
              <a:t>The .NET MCP server validates inputs, enforces business rules, checks user permissions and roles, and ensures only allowed operations proceed.</a:t>
            </a:r>
          </a:p>
        </p:txBody>
      </p:sp>
      <p:sp>
        <p:nvSpPr>
          <p:cNvPr id="14" name="TextBox 14"/>
          <p:cNvSpPr txBox="1"/>
          <p:nvPr/>
        </p:nvSpPr>
        <p:spPr>
          <a:xfrm>
            <a:off x="9552247" y="7470680"/>
            <a:ext cx="904367" cy="482380"/>
          </a:xfrm>
          <a:prstGeom prst="rect">
            <a:avLst/>
          </a:prstGeom>
        </p:spPr>
        <p:txBody>
          <a:bodyPr lIns="0" tIns="0" rIns="0" bIns="0" rtlCol="0" anchor="t">
            <a:spAutoFit/>
          </a:bodyPr>
          <a:lstStyle/>
          <a:p>
            <a:pPr marL="0" lvl="0" indent="0" algn="ctr">
              <a:lnSpc>
                <a:spcPts val="3681"/>
              </a:lnSpc>
            </a:pPr>
            <a:r>
              <a:rPr lang="en-US" sz="3681" b="1">
                <a:solidFill>
                  <a:srgbClr val="324370"/>
                </a:solidFill>
                <a:latin typeface="Montserrat Ultra-Bold"/>
                <a:ea typeface="Montserrat Ultra-Bold"/>
                <a:cs typeface="Montserrat Ultra-Bold"/>
                <a:sym typeface="Montserrat Ultra-Bold"/>
              </a:rPr>
              <a:t>6.</a:t>
            </a:r>
          </a:p>
        </p:txBody>
      </p:sp>
      <p:sp>
        <p:nvSpPr>
          <p:cNvPr id="15" name="TextBox 15"/>
          <p:cNvSpPr txBox="1"/>
          <p:nvPr/>
        </p:nvSpPr>
        <p:spPr>
          <a:xfrm>
            <a:off x="10669392" y="7369063"/>
            <a:ext cx="6351413" cy="1066800"/>
          </a:xfrm>
          <a:prstGeom prst="rect">
            <a:avLst/>
          </a:prstGeom>
        </p:spPr>
        <p:txBody>
          <a:bodyPr lIns="0" tIns="0" rIns="0" bIns="0" rtlCol="0" anchor="t">
            <a:spAutoFit/>
          </a:bodyPr>
          <a:lstStyle/>
          <a:p>
            <a:pPr marL="0" lvl="0" indent="0" algn="just">
              <a:lnSpc>
                <a:spcPts val="2100"/>
              </a:lnSpc>
            </a:pPr>
            <a:r>
              <a:rPr lang="en-US" sz="1500" b="1">
                <a:solidFill>
                  <a:srgbClr val="324370"/>
                </a:solidFill>
                <a:latin typeface="Montserrat Bold"/>
                <a:ea typeface="Montserrat Bold"/>
                <a:cs typeface="Montserrat Bold"/>
                <a:sym typeface="Montserrat Bold"/>
              </a:rPr>
              <a:t>Safe SQL Execution &amp; Response</a:t>
            </a:r>
          </a:p>
          <a:p>
            <a:pPr marL="0" lvl="0" indent="0" algn="just">
              <a:lnSpc>
                <a:spcPts val="2100"/>
              </a:lnSpc>
            </a:pPr>
            <a:r>
              <a:rPr lang="en-US" sz="1500" b="1">
                <a:solidFill>
                  <a:srgbClr val="324370"/>
                </a:solidFill>
                <a:latin typeface="Montserrat Bold"/>
                <a:ea typeface="Montserrat Bold"/>
                <a:cs typeface="Montserrat Bold"/>
                <a:sym typeface="Montserrat Bold"/>
              </a:rPr>
              <a:t>A parameterized query is built and executed against SQL Server. Results are returned to Claude, which renders a user-friendly Markdown or table response.</a:t>
            </a:r>
          </a:p>
        </p:txBody>
      </p:sp>
      <p:sp>
        <p:nvSpPr>
          <p:cNvPr id="16" name="TextBox 16"/>
          <p:cNvSpPr txBox="1"/>
          <p:nvPr/>
        </p:nvSpPr>
        <p:spPr>
          <a:xfrm>
            <a:off x="15764299" y="695325"/>
            <a:ext cx="1476375" cy="428625"/>
          </a:xfrm>
          <a:prstGeom prst="rect">
            <a:avLst/>
          </a:prstGeom>
        </p:spPr>
        <p:txBody>
          <a:bodyPr lIns="0" tIns="0" rIns="0" bIns="0" rtlCol="0" anchor="t">
            <a:spAutoFit/>
          </a:bodyPr>
          <a:lstStyle/>
          <a:p>
            <a:pPr marL="0" lvl="0" indent="0" algn="ctr">
              <a:lnSpc>
                <a:spcPts val="3170"/>
              </a:lnSpc>
              <a:spcBef>
                <a:spcPct val="0"/>
              </a:spcBef>
            </a:pPr>
            <a:r>
              <a:rPr lang="en-US" sz="3170" b="1" u="none" strike="noStrike">
                <a:solidFill>
                  <a:srgbClr val="8093BB"/>
                </a:solidFill>
                <a:latin typeface="Montserrat Bold"/>
                <a:ea typeface="Montserrat Bold"/>
                <a:cs typeface="Montserrat Bold"/>
                <a:sym typeface="Montserrat Bold"/>
              </a:rPr>
              <a:t>16</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666" b="-666"/>
            </a:stretch>
          </a:blipFill>
        </p:spPr>
      </p:sp>
      <p:sp>
        <p:nvSpPr>
          <p:cNvPr id="3" name="Freeform 3"/>
          <p:cNvSpPr/>
          <p:nvPr/>
        </p:nvSpPr>
        <p:spPr>
          <a:xfrm>
            <a:off x="3862839" y="239863"/>
            <a:ext cx="11613033" cy="9257280"/>
          </a:xfrm>
          <a:custGeom>
            <a:avLst/>
            <a:gdLst/>
            <a:ahLst/>
            <a:cxnLst/>
            <a:rect l="l" t="t" r="r" b="b"/>
            <a:pathLst>
              <a:path w="11613033" h="9257280">
                <a:moveTo>
                  <a:pt x="0" y="0"/>
                </a:moveTo>
                <a:lnTo>
                  <a:pt x="11613034" y="0"/>
                </a:lnTo>
                <a:lnTo>
                  <a:pt x="11613034" y="9257280"/>
                </a:lnTo>
                <a:lnTo>
                  <a:pt x="0" y="9257280"/>
                </a:lnTo>
                <a:lnTo>
                  <a:pt x="0" y="0"/>
                </a:lnTo>
                <a:close/>
              </a:path>
            </a:pathLst>
          </a:custGeom>
          <a:blipFill>
            <a:blip r:embed="rId3"/>
            <a:stretch>
              <a:fillRect/>
            </a:stretch>
          </a:blipFill>
        </p:spPr>
      </p:sp>
      <p:sp>
        <p:nvSpPr>
          <p:cNvPr id="4" name="TextBox 4"/>
          <p:cNvSpPr txBox="1"/>
          <p:nvPr/>
        </p:nvSpPr>
        <p:spPr>
          <a:xfrm>
            <a:off x="15764299" y="703761"/>
            <a:ext cx="1473411" cy="426493"/>
          </a:xfrm>
          <a:prstGeom prst="rect">
            <a:avLst/>
          </a:prstGeom>
        </p:spPr>
        <p:txBody>
          <a:bodyPr lIns="0" tIns="0" rIns="0" bIns="0" rtlCol="0" anchor="t">
            <a:spAutoFit/>
          </a:bodyPr>
          <a:lstStyle/>
          <a:p>
            <a:pPr marL="0" lvl="0" indent="0" algn="ctr">
              <a:lnSpc>
                <a:spcPts val="3291"/>
              </a:lnSpc>
            </a:pPr>
            <a:r>
              <a:rPr lang="en-US" sz="3291" b="1">
                <a:solidFill>
                  <a:srgbClr val="8093BB"/>
                </a:solidFill>
                <a:latin typeface="Montserrat Bold"/>
                <a:ea typeface="Montserrat Bold"/>
                <a:cs typeface="Montserrat Bold"/>
                <a:sym typeface="Montserrat Bold"/>
              </a:rPr>
              <a:t>17</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666" b="-666"/>
            </a:stretch>
          </a:blipFill>
        </p:spPr>
      </p:sp>
      <p:sp>
        <p:nvSpPr>
          <p:cNvPr id="3" name="Freeform 3"/>
          <p:cNvSpPr/>
          <p:nvPr/>
        </p:nvSpPr>
        <p:spPr>
          <a:xfrm>
            <a:off x="1009511" y="2006507"/>
            <a:ext cx="6062531" cy="7251793"/>
          </a:xfrm>
          <a:custGeom>
            <a:avLst/>
            <a:gdLst/>
            <a:ahLst/>
            <a:cxnLst/>
            <a:rect l="l" t="t" r="r" b="b"/>
            <a:pathLst>
              <a:path w="6062531" h="7251793">
                <a:moveTo>
                  <a:pt x="0" y="0"/>
                </a:moveTo>
                <a:lnTo>
                  <a:pt x="6062531" y="0"/>
                </a:lnTo>
                <a:lnTo>
                  <a:pt x="6062531" y="7251793"/>
                </a:lnTo>
                <a:lnTo>
                  <a:pt x="0" y="7251793"/>
                </a:lnTo>
                <a:lnTo>
                  <a:pt x="0" y="0"/>
                </a:lnTo>
                <a:close/>
              </a:path>
            </a:pathLst>
          </a:custGeom>
          <a:blipFill>
            <a:blip r:embed="rId3"/>
            <a:stretch>
              <a:fillRect l="-491" t="-13483" r="-808"/>
            </a:stretch>
          </a:blipFill>
        </p:spPr>
      </p:sp>
      <p:sp>
        <p:nvSpPr>
          <p:cNvPr id="4" name="TextBox 4"/>
          <p:cNvSpPr txBox="1"/>
          <p:nvPr/>
        </p:nvSpPr>
        <p:spPr>
          <a:xfrm>
            <a:off x="8061659" y="4775674"/>
            <a:ext cx="9172951" cy="2267590"/>
          </a:xfrm>
          <a:prstGeom prst="rect">
            <a:avLst/>
          </a:prstGeom>
        </p:spPr>
        <p:txBody>
          <a:bodyPr lIns="0" tIns="0" rIns="0" bIns="0" rtlCol="0" anchor="t">
            <a:spAutoFit/>
          </a:bodyPr>
          <a:lstStyle/>
          <a:p>
            <a:pPr marL="0" lvl="0" indent="0" algn="just">
              <a:lnSpc>
                <a:spcPts val="3639"/>
              </a:lnSpc>
            </a:pPr>
            <a:r>
              <a:rPr lang="en-US" sz="2599">
                <a:solidFill>
                  <a:srgbClr val="324370"/>
                </a:solidFill>
                <a:latin typeface="Montserrat"/>
                <a:ea typeface="Montserrat"/>
                <a:cs typeface="Montserrat"/>
                <a:sym typeface="Montserrat"/>
              </a:rPr>
              <a:t>No raw SQL from model output. Natural language is converted to structured tool arguments (table, filters, columns, action type). Validation of allowed tables, columns, data types, and permissions is enforced before execution.</a:t>
            </a:r>
          </a:p>
        </p:txBody>
      </p:sp>
      <p:sp>
        <p:nvSpPr>
          <p:cNvPr id="5" name="TextBox 5"/>
          <p:cNvSpPr txBox="1"/>
          <p:nvPr/>
        </p:nvSpPr>
        <p:spPr>
          <a:xfrm>
            <a:off x="8061659" y="2144491"/>
            <a:ext cx="9197641" cy="1094836"/>
          </a:xfrm>
          <a:prstGeom prst="rect">
            <a:avLst/>
          </a:prstGeom>
        </p:spPr>
        <p:txBody>
          <a:bodyPr lIns="0" tIns="0" rIns="0" bIns="0" rtlCol="0" anchor="t">
            <a:spAutoFit/>
          </a:bodyPr>
          <a:lstStyle/>
          <a:p>
            <a:pPr marL="0" lvl="0" indent="0" algn="l">
              <a:lnSpc>
                <a:spcPts val="8228"/>
              </a:lnSpc>
            </a:pPr>
            <a:r>
              <a:rPr lang="en-US" sz="8228" b="1">
                <a:solidFill>
                  <a:srgbClr val="324370"/>
                </a:solidFill>
                <a:latin typeface="Montserrat Ultra-Bold"/>
                <a:ea typeface="Montserrat Ultra-Bold"/>
                <a:cs typeface="Montserrat Ultra-Bold"/>
                <a:sym typeface="Montserrat Ultra-Bold"/>
              </a:rPr>
              <a:t>QUERY BUILDER</a:t>
            </a:r>
          </a:p>
        </p:txBody>
      </p:sp>
      <p:grpSp>
        <p:nvGrpSpPr>
          <p:cNvPr id="6" name="Group 6"/>
          <p:cNvGrpSpPr/>
          <p:nvPr/>
        </p:nvGrpSpPr>
        <p:grpSpPr>
          <a:xfrm>
            <a:off x="8061659" y="3411268"/>
            <a:ext cx="9172951" cy="1231494"/>
            <a:chOff x="0" y="0"/>
            <a:chExt cx="2275912" cy="305547"/>
          </a:xfrm>
        </p:grpSpPr>
        <p:sp>
          <p:nvSpPr>
            <p:cNvPr id="7" name="Freeform 7"/>
            <p:cNvSpPr/>
            <p:nvPr/>
          </p:nvSpPr>
          <p:spPr>
            <a:xfrm>
              <a:off x="0" y="0"/>
              <a:ext cx="2275912" cy="305547"/>
            </a:xfrm>
            <a:custGeom>
              <a:avLst/>
              <a:gdLst/>
              <a:ahLst/>
              <a:cxnLst/>
              <a:rect l="l" t="t" r="r" b="b"/>
              <a:pathLst>
                <a:path w="2275912" h="305547">
                  <a:moveTo>
                    <a:pt x="0" y="0"/>
                  </a:moveTo>
                  <a:lnTo>
                    <a:pt x="2275912" y="0"/>
                  </a:lnTo>
                  <a:lnTo>
                    <a:pt x="2275912" y="305547"/>
                  </a:lnTo>
                  <a:lnTo>
                    <a:pt x="0" y="305547"/>
                  </a:lnTo>
                  <a:close/>
                </a:path>
              </a:pathLst>
            </a:custGeom>
            <a:solidFill>
              <a:srgbClr val="324370"/>
            </a:solidFill>
          </p:spPr>
        </p:sp>
        <p:sp>
          <p:nvSpPr>
            <p:cNvPr id="8" name="TextBox 8"/>
            <p:cNvSpPr txBox="1"/>
            <p:nvPr/>
          </p:nvSpPr>
          <p:spPr>
            <a:xfrm>
              <a:off x="0" y="-38100"/>
              <a:ext cx="2275912" cy="343647"/>
            </a:xfrm>
            <a:prstGeom prst="rect">
              <a:avLst/>
            </a:prstGeom>
          </p:spPr>
          <p:txBody>
            <a:bodyPr lIns="42129" tIns="42129" rIns="42129" bIns="42129" rtlCol="0" anchor="ctr"/>
            <a:lstStyle/>
            <a:p>
              <a:pPr marL="0" lvl="0" indent="0" algn="ctr">
                <a:lnSpc>
                  <a:spcPts val="2659"/>
                </a:lnSpc>
              </a:pPr>
              <a:endParaRPr/>
            </a:p>
          </p:txBody>
        </p:sp>
      </p:grpSp>
      <p:sp>
        <p:nvSpPr>
          <p:cNvPr id="9" name="TextBox 9"/>
          <p:cNvSpPr txBox="1"/>
          <p:nvPr/>
        </p:nvSpPr>
        <p:spPr>
          <a:xfrm>
            <a:off x="8061659" y="3663188"/>
            <a:ext cx="9197641" cy="845951"/>
          </a:xfrm>
          <a:prstGeom prst="rect">
            <a:avLst/>
          </a:prstGeom>
        </p:spPr>
        <p:txBody>
          <a:bodyPr lIns="0" tIns="0" rIns="0" bIns="0" rtlCol="0" anchor="t">
            <a:spAutoFit/>
          </a:bodyPr>
          <a:lstStyle/>
          <a:p>
            <a:pPr marL="0" lvl="0" indent="0" algn="ctr">
              <a:lnSpc>
                <a:spcPts val="6305"/>
              </a:lnSpc>
            </a:pPr>
            <a:r>
              <a:rPr lang="en-US" sz="6305" b="1">
                <a:solidFill>
                  <a:srgbClr val="FFFFFF"/>
                </a:solidFill>
                <a:latin typeface="Montserrat Ultra-Bold"/>
                <a:ea typeface="Montserrat Ultra-Bold"/>
                <a:cs typeface="Montserrat Ultra-Bold"/>
                <a:sym typeface="Montserrat Ultra-Bold"/>
              </a:rPr>
              <a:t>DESIGN</a:t>
            </a:r>
          </a:p>
        </p:txBody>
      </p:sp>
      <p:grpSp>
        <p:nvGrpSpPr>
          <p:cNvPr id="10" name="Group 10"/>
          <p:cNvGrpSpPr/>
          <p:nvPr/>
        </p:nvGrpSpPr>
        <p:grpSpPr>
          <a:xfrm>
            <a:off x="11284513" y="6664461"/>
            <a:ext cx="2748902" cy="2593839"/>
            <a:chOff x="0" y="0"/>
            <a:chExt cx="682033" cy="643561"/>
          </a:xfrm>
        </p:grpSpPr>
        <p:sp>
          <p:nvSpPr>
            <p:cNvPr id="11" name="Freeform 11"/>
            <p:cNvSpPr/>
            <p:nvPr/>
          </p:nvSpPr>
          <p:spPr>
            <a:xfrm>
              <a:off x="0" y="0"/>
              <a:ext cx="682033" cy="643561"/>
            </a:xfrm>
            <a:custGeom>
              <a:avLst/>
              <a:gdLst/>
              <a:ahLst/>
              <a:cxnLst/>
              <a:rect l="l" t="t" r="r" b="b"/>
              <a:pathLst>
                <a:path w="682033" h="643561">
                  <a:moveTo>
                    <a:pt x="0" y="0"/>
                  </a:moveTo>
                  <a:lnTo>
                    <a:pt x="682033" y="0"/>
                  </a:lnTo>
                  <a:lnTo>
                    <a:pt x="682033" y="643561"/>
                  </a:lnTo>
                  <a:lnTo>
                    <a:pt x="0" y="643561"/>
                  </a:lnTo>
                  <a:close/>
                </a:path>
              </a:pathLst>
            </a:custGeom>
            <a:solidFill>
              <a:srgbClr val="546791"/>
            </a:solidFill>
          </p:spPr>
        </p:sp>
        <p:sp>
          <p:nvSpPr>
            <p:cNvPr id="12" name="TextBox 12"/>
            <p:cNvSpPr txBox="1"/>
            <p:nvPr/>
          </p:nvSpPr>
          <p:spPr>
            <a:xfrm>
              <a:off x="0" y="-38100"/>
              <a:ext cx="682033" cy="681661"/>
            </a:xfrm>
            <a:prstGeom prst="rect">
              <a:avLst/>
            </a:prstGeom>
          </p:spPr>
          <p:txBody>
            <a:bodyPr lIns="42129" tIns="42129" rIns="42129" bIns="42129" rtlCol="0" anchor="ctr"/>
            <a:lstStyle/>
            <a:p>
              <a:pPr marL="0" lvl="0" indent="0" algn="ctr">
                <a:lnSpc>
                  <a:spcPts val="2659"/>
                </a:lnSpc>
              </a:pPr>
              <a:endParaRPr/>
            </a:p>
          </p:txBody>
        </p:sp>
      </p:grpSp>
      <p:sp>
        <p:nvSpPr>
          <p:cNvPr id="13" name="TextBox 13"/>
          <p:cNvSpPr txBox="1"/>
          <p:nvPr/>
        </p:nvSpPr>
        <p:spPr>
          <a:xfrm>
            <a:off x="12197235" y="7041794"/>
            <a:ext cx="923458" cy="629423"/>
          </a:xfrm>
          <a:prstGeom prst="rect">
            <a:avLst/>
          </a:prstGeom>
        </p:spPr>
        <p:txBody>
          <a:bodyPr lIns="0" tIns="0" rIns="0" bIns="0" rtlCol="0" anchor="t">
            <a:spAutoFit/>
          </a:bodyPr>
          <a:lstStyle/>
          <a:p>
            <a:pPr marL="0" lvl="0" indent="0" algn="ctr">
              <a:lnSpc>
                <a:spcPts val="4758"/>
              </a:lnSpc>
            </a:pPr>
            <a:r>
              <a:rPr lang="en-US" sz="4758" b="1">
                <a:solidFill>
                  <a:srgbClr val="FFFFFF"/>
                </a:solidFill>
                <a:latin typeface="Montserrat Ultra-Bold"/>
                <a:ea typeface="Montserrat Ultra-Bold"/>
                <a:cs typeface="Montserrat Ultra-Bold"/>
                <a:sym typeface="Montserrat Ultra-Bold"/>
              </a:rPr>
              <a:t>2</a:t>
            </a:r>
          </a:p>
        </p:txBody>
      </p:sp>
      <p:sp>
        <p:nvSpPr>
          <p:cNvPr id="14" name="TextBox 14"/>
          <p:cNvSpPr txBox="1"/>
          <p:nvPr/>
        </p:nvSpPr>
        <p:spPr>
          <a:xfrm>
            <a:off x="11615682" y="7642736"/>
            <a:ext cx="2086564" cy="909955"/>
          </a:xfrm>
          <a:prstGeom prst="rect">
            <a:avLst/>
          </a:prstGeom>
        </p:spPr>
        <p:txBody>
          <a:bodyPr lIns="0" tIns="0" rIns="0" bIns="0" rtlCol="0" anchor="t">
            <a:spAutoFit/>
          </a:bodyPr>
          <a:lstStyle/>
          <a:p>
            <a:pPr marL="0" lvl="0" indent="0" algn="ctr">
              <a:lnSpc>
                <a:spcPts val="1819"/>
              </a:lnSpc>
            </a:pPr>
            <a:r>
              <a:rPr lang="en-US" sz="1299">
                <a:solidFill>
                  <a:srgbClr val="FFFFFF"/>
                </a:solidFill>
                <a:latin typeface="Montserrat"/>
                <a:ea typeface="Montserrat"/>
                <a:cs typeface="Montserrat"/>
                <a:sym typeface="Montserrat"/>
              </a:rPr>
              <a:t>Validate allowed tables, columns, data types, and user permissions before building any query.</a:t>
            </a:r>
          </a:p>
        </p:txBody>
      </p:sp>
      <p:grpSp>
        <p:nvGrpSpPr>
          <p:cNvPr id="15" name="Group 15"/>
          <p:cNvGrpSpPr/>
          <p:nvPr/>
        </p:nvGrpSpPr>
        <p:grpSpPr>
          <a:xfrm>
            <a:off x="14510398" y="6664461"/>
            <a:ext cx="2748902" cy="2593839"/>
            <a:chOff x="0" y="0"/>
            <a:chExt cx="682033" cy="643561"/>
          </a:xfrm>
        </p:grpSpPr>
        <p:sp>
          <p:nvSpPr>
            <p:cNvPr id="16" name="Freeform 16"/>
            <p:cNvSpPr/>
            <p:nvPr/>
          </p:nvSpPr>
          <p:spPr>
            <a:xfrm>
              <a:off x="0" y="0"/>
              <a:ext cx="682033" cy="643561"/>
            </a:xfrm>
            <a:custGeom>
              <a:avLst/>
              <a:gdLst/>
              <a:ahLst/>
              <a:cxnLst/>
              <a:rect l="l" t="t" r="r" b="b"/>
              <a:pathLst>
                <a:path w="682033" h="643561">
                  <a:moveTo>
                    <a:pt x="0" y="0"/>
                  </a:moveTo>
                  <a:lnTo>
                    <a:pt x="682033" y="0"/>
                  </a:lnTo>
                  <a:lnTo>
                    <a:pt x="682033" y="643561"/>
                  </a:lnTo>
                  <a:lnTo>
                    <a:pt x="0" y="643561"/>
                  </a:lnTo>
                  <a:close/>
                </a:path>
              </a:pathLst>
            </a:custGeom>
            <a:solidFill>
              <a:srgbClr val="334368"/>
            </a:solidFill>
          </p:spPr>
        </p:sp>
        <p:sp>
          <p:nvSpPr>
            <p:cNvPr id="17" name="TextBox 17"/>
            <p:cNvSpPr txBox="1"/>
            <p:nvPr/>
          </p:nvSpPr>
          <p:spPr>
            <a:xfrm>
              <a:off x="0" y="-38100"/>
              <a:ext cx="682033" cy="681661"/>
            </a:xfrm>
            <a:prstGeom prst="rect">
              <a:avLst/>
            </a:prstGeom>
          </p:spPr>
          <p:txBody>
            <a:bodyPr lIns="42129" tIns="42129" rIns="42129" bIns="42129" rtlCol="0" anchor="ctr"/>
            <a:lstStyle/>
            <a:p>
              <a:pPr marL="0" lvl="0" indent="0" algn="ctr">
                <a:lnSpc>
                  <a:spcPts val="2659"/>
                </a:lnSpc>
              </a:pPr>
              <a:endParaRPr/>
            </a:p>
          </p:txBody>
        </p:sp>
      </p:grpSp>
      <p:sp>
        <p:nvSpPr>
          <p:cNvPr id="18" name="TextBox 18"/>
          <p:cNvSpPr txBox="1"/>
          <p:nvPr/>
        </p:nvSpPr>
        <p:spPr>
          <a:xfrm>
            <a:off x="15423120" y="7041794"/>
            <a:ext cx="923458" cy="629423"/>
          </a:xfrm>
          <a:prstGeom prst="rect">
            <a:avLst/>
          </a:prstGeom>
        </p:spPr>
        <p:txBody>
          <a:bodyPr lIns="0" tIns="0" rIns="0" bIns="0" rtlCol="0" anchor="t">
            <a:spAutoFit/>
          </a:bodyPr>
          <a:lstStyle/>
          <a:p>
            <a:pPr marL="0" lvl="0" indent="0" algn="ctr">
              <a:lnSpc>
                <a:spcPts val="4758"/>
              </a:lnSpc>
            </a:pPr>
            <a:r>
              <a:rPr lang="en-US" sz="4758" b="1">
                <a:solidFill>
                  <a:srgbClr val="FFFFFF"/>
                </a:solidFill>
                <a:latin typeface="Montserrat Ultra-Bold"/>
                <a:ea typeface="Montserrat Ultra-Bold"/>
                <a:cs typeface="Montserrat Ultra-Bold"/>
                <a:sym typeface="Montserrat Ultra-Bold"/>
              </a:rPr>
              <a:t>3</a:t>
            </a:r>
          </a:p>
        </p:txBody>
      </p:sp>
      <p:sp>
        <p:nvSpPr>
          <p:cNvPr id="19" name="TextBox 19"/>
          <p:cNvSpPr txBox="1"/>
          <p:nvPr/>
        </p:nvSpPr>
        <p:spPr>
          <a:xfrm>
            <a:off x="14841567" y="7642736"/>
            <a:ext cx="2086564" cy="1367155"/>
          </a:xfrm>
          <a:prstGeom prst="rect">
            <a:avLst/>
          </a:prstGeom>
        </p:spPr>
        <p:txBody>
          <a:bodyPr lIns="0" tIns="0" rIns="0" bIns="0" rtlCol="0" anchor="t">
            <a:spAutoFit/>
          </a:bodyPr>
          <a:lstStyle/>
          <a:p>
            <a:pPr marL="0" lvl="0" indent="0" algn="ctr">
              <a:lnSpc>
                <a:spcPts val="1819"/>
              </a:lnSpc>
            </a:pPr>
            <a:r>
              <a:rPr lang="en-US" sz="1299">
                <a:solidFill>
                  <a:srgbClr val="FFFFFF"/>
                </a:solidFill>
                <a:latin typeface="Montserrat"/>
                <a:ea typeface="Montserrat"/>
                <a:cs typeface="Montserrat"/>
                <a:sym typeface="Montserrat"/>
              </a:rPr>
              <a:t>Use parameterized queries or stored procedures. Execute only after full validation, authorization, and audit logging.</a:t>
            </a:r>
          </a:p>
        </p:txBody>
      </p:sp>
      <p:grpSp>
        <p:nvGrpSpPr>
          <p:cNvPr id="20" name="Group 20"/>
          <p:cNvGrpSpPr/>
          <p:nvPr/>
        </p:nvGrpSpPr>
        <p:grpSpPr>
          <a:xfrm>
            <a:off x="8061659" y="6664461"/>
            <a:ext cx="2748902" cy="2593839"/>
            <a:chOff x="0" y="0"/>
            <a:chExt cx="682033" cy="643561"/>
          </a:xfrm>
        </p:grpSpPr>
        <p:sp>
          <p:nvSpPr>
            <p:cNvPr id="21" name="Freeform 21"/>
            <p:cNvSpPr/>
            <p:nvPr/>
          </p:nvSpPr>
          <p:spPr>
            <a:xfrm>
              <a:off x="0" y="0"/>
              <a:ext cx="682033" cy="643561"/>
            </a:xfrm>
            <a:custGeom>
              <a:avLst/>
              <a:gdLst/>
              <a:ahLst/>
              <a:cxnLst/>
              <a:rect l="l" t="t" r="r" b="b"/>
              <a:pathLst>
                <a:path w="682033" h="643561">
                  <a:moveTo>
                    <a:pt x="0" y="0"/>
                  </a:moveTo>
                  <a:lnTo>
                    <a:pt x="682033" y="0"/>
                  </a:lnTo>
                  <a:lnTo>
                    <a:pt x="682033" y="643561"/>
                  </a:lnTo>
                  <a:lnTo>
                    <a:pt x="0" y="643561"/>
                  </a:lnTo>
                  <a:close/>
                </a:path>
              </a:pathLst>
            </a:custGeom>
            <a:solidFill>
              <a:srgbClr val="8093BB"/>
            </a:solidFill>
          </p:spPr>
        </p:sp>
        <p:sp>
          <p:nvSpPr>
            <p:cNvPr id="22" name="TextBox 22"/>
            <p:cNvSpPr txBox="1"/>
            <p:nvPr/>
          </p:nvSpPr>
          <p:spPr>
            <a:xfrm>
              <a:off x="0" y="-38100"/>
              <a:ext cx="682033" cy="681661"/>
            </a:xfrm>
            <a:prstGeom prst="rect">
              <a:avLst/>
            </a:prstGeom>
          </p:spPr>
          <p:txBody>
            <a:bodyPr lIns="42129" tIns="42129" rIns="42129" bIns="42129" rtlCol="0" anchor="ctr"/>
            <a:lstStyle/>
            <a:p>
              <a:pPr marL="0" lvl="0" indent="0" algn="ctr">
                <a:lnSpc>
                  <a:spcPts val="2659"/>
                </a:lnSpc>
              </a:pPr>
              <a:endParaRPr/>
            </a:p>
          </p:txBody>
        </p:sp>
      </p:grpSp>
      <p:sp>
        <p:nvSpPr>
          <p:cNvPr id="23" name="TextBox 23"/>
          <p:cNvSpPr txBox="1"/>
          <p:nvPr/>
        </p:nvSpPr>
        <p:spPr>
          <a:xfrm>
            <a:off x="8974381" y="7041794"/>
            <a:ext cx="923458" cy="629423"/>
          </a:xfrm>
          <a:prstGeom prst="rect">
            <a:avLst/>
          </a:prstGeom>
        </p:spPr>
        <p:txBody>
          <a:bodyPr lIns="0" tIns="0" rIns="0" bIns="0" rtlCol="0" anchor="t">
            <a:spAutoFit/>
          </a:bodyPr>
          <a:lstStyle/>
          <a:p>
            <a:pPr marL="0" lvl="0" indent="0" algn="ctr">
              <a:lnSpc>
                <a:spcPts val="4758"/>
              </a:lnSpc>
            </a:pPr>
            <a:r>
              <a:rPr lang="en-US" sz="4758" b="1">
                <a:solidFill>
                  <a:srgbClr val="FFFFFF"/>
                </a:solidFill>
                <a:latin typeface="Montserrat Ultra-Bold"/>
                <a:ea typeface="Montserrat Ultra-Bold"/>
                <a:cs typeface="Montserrat Ultra-Bold"/>
                <a:sym typeface="Montserrat Ultra-Bold"/>
              </a:rPr>
              <a:t>1</a:t>
            </a:r>
          </a:p>
        </p:txBody>
      </p:sp>
      <p:sp>
        <p:nvSpPr>
          <p:cNvPr id="24" name="TextBox 24"/>
          <p:cNvSpPr txBox="1"/>
          <p:nvPr/>
        </p:nvSpPr>
        <p:spPr>
          <a:xfrm>
            <a:off x="8392828" y="7642736"/>
            <a:ext cx="2086564" cy="1367155"/>
          </a:xfrm>
          <a:prstGeom prst="rect">
            <a:avLst/>
          </a:prstGeom>
        </p:spPr>
        <p:txBody>
          <a:bodyPr lIns="0" tIns="0" rIns="0" bIns="0" rtlCol="0" anchor="t">
            <a:spAutoFit/>
          </a:bodyPr>
          <a:lstStyle/>
          <a:p>
            <a:pPr marL="0" lvl="0" indent="0" algn="ctr">
              <a:lnSpc>
                <a:spcPts val="1819"/>
              </a:lnSpc>
            </a:pPr>
            <a:r>
              <a:rPr lang="en-US" sz="1299">
                <a:solidFill>
                  <a:srgbClr val="FFFFFF"/>
                </a:solidFill>
                <a:latin typeface="Montserrat"/>
                <a:ea typeface="Montserrat"/>
                <a:cs typeface="Montserrat"/>
                <a:sym typeface="Montserrat"/>
              </a:rPr>
              <a:t>Structured args only: table name, filters, columns, and action type never raw SQL strings from model output.</a:t>
            </a:r>
          </a:p>
        </p:txBody>
      </p:sp>
      <p:sp>
        <p:nvSpPr>
          <p:cNvPr id="25" name="TextBox 25"/>
          <p:cNvSpPr txBox="1"/>
          <p:nvPr/>
        </p:nvSpPr>
        <p:spPr>
          <a:xfrm>
            <a:off x="15764299" y="742950"/>
            <a:ext cx="1476375" cy="781050"/>
          </a:xfrm>
          <a:prstGeom prst="rect">
            <a:avLst/>
          </a:prstGeom>
        </p:spPr>
        <p:txBody>
          <a:bodyPr lIns="0" tIns="0" rIns="0" bIns="0" rtlCol="0" anchor="t">
            <a:spAutoFit/>
          </a:bodyPr>
          <a:lstStyle/>
          <a:p>
            <a:pPr marL="0" lvl="0" indent="0" algn="ctr">
              <a:lnSpc>
                <a:spcPts val="5820"/>
              </a:lnSpc>
              <a:spcBef>
                <a:spcPct val="0"/>
              </a:spcBef>
            </a:pPr>
            <a:r>
              <a:rPr lang="en-US" sz="5820" b="1" u="none" strike="noStrike">
                <a:solidFill>
                  <a:srgbClr val="8093BB"/>
                </a:solidFill>
                <a:latin typeface="Montserrat Bold"/>
                <a:ea typeface="Montserrat Bold"/>
                <a:cs typeface="Montserrat Bold"/>
                <a:sym typeface="Montserrat Bold"/>
              </a:rPr>
              <a:t>18</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666" b="-666"/>
            </a:stretch>
          </a:blipFill>
        </p:spPr>
      </p:sp>
      <p:sp>
        <p:nvSpPr>
          <p:cNvPr id="3" name="Freeform 3"/>
          <p:cNvSpPr/>
          <p:nvPr/>
        </p:nvSpPr>
        <p:spPr>
          <a:xfrm>
            <a:off x="3410287" y="446354"/>
            <a:ext cx="11467426" cy="9634155"/>
          </a:xfrm>
          <a:custGeom>
            <a:avLst/>
            <a:gdLst/>
            <a:ahLst/>
            <a:cxnLst/>
            <a:rect l="l" t="t" r="r" b="b"/>
            <a:pathLst>
              <a:path w="11467426" h="9634155">
                <a:moveTo>
                  <a:pt x="0" y="0"/>
                </a:moveTo>
                <a:lnTo>
                  <a:pt x="11467426" y="0"/>
                </a:lnTo>
                <a:lnTo>
                  <a:pt x="11467426" y="9634155"/>
                </a:lnTo>
                <a:lnTo>
                  <a:pt x="0" y="9634155"/>
                </a:lnTo>
                <a:lnTo>
                  <a:pt x="0" y="0"/>
                </a:lnTo>
                <a:close/>
              </a:path>
            </a:pathLst>
          </a:custGeom>
          <a:blipFill>
            <a:blip r:embed="rId3"/>
            <a:stretch>
              <a:fillRect/>
            </a:stretch>
          </a:blipFill>
        </p:spPr>
      </p:sp>
      <p:sp>
        <p:nvSpPr>
          <p:cNvPr id="4" name="TextBox 4"/>
          <p:cNvSpPr txBox="1"/>
          <p:nvPr/>
        </p:nvSpPr>
        <p:spPr>
          <a:xfrm>
            <a:off x="15764299" y="703761"/>
            <a:ext cx="1473411" cy="426493"/>
          </a:xfrm>
          <a:prstGeom prst="rect">
            <a:avLst/>
          </a:prstGeom>
        </p:spPr>
        <p:txBody>
          <a:bodyPr lIns="0" tIns="0" rIns="0" bIns="0" rtlCol="0" anchor="t">
            <a:spAutoFit/>
          </a:bodyPr>
          <a:lstStyle/>
          <a:p>
            <a:pPr marL="0" lvl="0" indent="0" algn="ctr">
              <a:lnSpc>
                <a:spcPts val="3291"/>
              </a:lnSpc>
            </a:pPr>
            <a:r>
              <a:rPr lang="en-US" sz="3291" b="1">
                <a:solidFill>
                  <a:srgbClr val="8093BB"/>
                </a:solidFill>
                <a:latin typeface="Montserrat Bold"/>
                <a:ea typeface="Montserrat Bold"/>
                <a:cs typeface="Montserrat Bold"/>
                <a:sym typeface="Montserrat Bold"/>
              </a:rPr>
              <a:t>19</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666" b="-666"/>
            </a:stretch>
          </a:blipFill>
        </p:spPr>
      </p:sp>
      <p:sp>
        <p:nvSpPr>
          <p:cNvPr id="3" name="TextBox 3"/>
          <p:cNvSpPr txBox="1"/>
          <p:nvPr/>
        </p:nvSpPr>
        <p:spPr>
          <a:xfrm>
            <a:off x="4773314" y="1123950"/>
            <a:ext cx="8741372" cy="592203"/>
          </a:xfrm>
          <a:prstGeom prst="rect">
            <a:avLst/>
          </a:prstGeom>
        </p:spPr>
        <p:txBody>
          <a:bodyPr lIns="0" tIns="0" rIns="0" bIns="0" rtlCol="0" anchor="t">
            <a:spAutoFit/>
          </a:bodyPr>
          <a:lstStyle/>
          <a:p>
            <a:pPr marL="0" lvl="0" indent="0" algn="ctr">
              <a:lnSpc>
                <a:spcPts val="4551"/>
              </a:lnSpc>
            </a:pPr>
            <a:r>
              <a:rPr lang="en-US" sz="4551" b="1">
                <a:solidFill>
                  <a:srgbClr val="324370"/>
                </a:solidFill>
                <a:latin typeface="Montserrat Ultra-Bold"/>
                <a:ea typeface="Montserrat Ultra-Bold"/>
                <a:cs typeface="Montserrat Ultra-Bold"/>
                <a:sym typeface="Montserrat Ultra-Bold"/>
              </a:rPr>
              <a:t>WHY NOT ALLOW RAW SQL</a:t>
            </a:r>
          </a:p>
        </p:txBody>
      </p:sp>
      <p:sp>
        <p:nvSpPr>
          <p:cNvPr id="4" name="TextBox 4"/>
          <p:cNvSpPr txBox="1"/>
          <p:nvPr/>
        </p:nvSpPr>
        <p:spPr>
          <a:xfrm>
            <a:off x="1314820" y="2789523"/>
            <a:ext cx="904367" cy="510752"/>
          </a:xfrm>
          <a:prstGeom prst="rect">
            <a:avLst/>
          </a:prstGeom>
        </p:spPr>
        <p:txBody>
          <a:bodyPr lIns="0" tIns="0" rIns="0" bIns="0" rtlCol="0" anchor="t">
            <a:spAutoFit/>
          </a:bodyPr>
          <a:lstStyle/>
          <a:p>
            <a:pPr marL="0" lvl="0" indent="0" algn="ctr">
              <a:lnSpc>
                <a:spcPts val="3823"/>
              </a:lnSpc>
            </a:pPr>
            <a:r>
              <a:rPr lang="en-US" sz="3823" b="1">
                <a:solidFill>
                  <a:srgbClr val="324370"/>
                </a:solidFill>
                <a:latin typeface="Montserrat Ultra-Bold"/>
                <a:ea typeface="Montserrat Ultra-Bold"/>
                <a:cs typeface="Montserrat Ultra-Bold"/>
                <a:sym typeface="Montserrat Ultra-Bold"/>
              </a:rPr>
              <a:t>1.</a:t>
            </a:r>
          </a:p>
        </p:txBody>
      </p:sp>
      <p:sp>
        <p:nvSpPr>
          <p:cNvPr id="5" name="TextBox 5"/>
          <p:cNvSpPr txBox="1"/>
          <p:nvPr/>
        </p:nvSpPr>
        <p:spPr>
          <a:xfrm>
            <a:off x="2431965" y="2697430"/>
            <a:ext cx="6351413" cy="533400"/>
          </a:xfrm>
          <a:prstGeom prst="rect">
            <a:avLst/>
          </a:prstGeom>
        </p:spPr>
        <p:txBody>
          <a:bodyPr lIns="0" tIns="0" rIns="0" bIns="0" rtlCol="0" anchor="t">
            <a:spAutoFit/>
          </a:bodyPr>
          <a:lstStyle/>
          <a:p>
            <a:pPr marL="0" lvl="0" indent="0" algn="just">
              <a:lnSpc>
                <a:spcPts val="2100"/>
              </a:lnSpc>
            </a:pPr>
            <a:r>
              <a:rPr lang="en-US" sz="1500" b="1">
                <a:solidFill>
                  <a:srgbClr val="324370"/>
                </a:solidFill>
                <a:latin typeface="Montserrat Bold"/>
                <a:ea typeface="Montserrat Bold"/>
                <a:cs typeface="Montserrat Bold"/>
                <a:sym typeface="Montserrat Bold"/>
              </a:rPr>
              <a:t>Prompt injection vulnerabilities: malicious inputs can manipulate queries and expose or corrupt data unexpectedly.</a:t>
            </a:r>
          </a:p>
        </p:txBody>
      </p:sp>
      <p:sp>
        <p:nvSpPr>
          <p:cNvPr id="6" name="TextBox 6"/>
          <p:cNvSpPr txBox="1"/>
          <p:nvPr/>
        </p:nvSpPr>
        <p:spPr>
          <a:xfrm>
            <a:off x="9552247" y="2789523"/>
            <a:ext cx="904367" cy="510752"/>
          </a:xfrm>
          <a:prstGeom prst="rect">
            <a:avLst/>
          </a:prstGeom>
        </p:spPr>
        <p:txBody>
          <a:bodyPr lIns="0" tIns="0" rIns="0" bIns="0" rtlCol="0" anchor="t">
            <a:spAutoFit/>
          </a:bodyPr>
          <a:lstStyle/>
          <a:p>
            <a:pPr marL="0" lvl="0" indent="0" algn="ctr">
              <a:lnSpc>
                <a:spcPts val="3823"/>
              </a:lnSpc>
            </a:pPr>
            <a:r>
              <a:rPr lang="en-US" sz="3823" b="1">
                <a:solidFill>
                  <a:srgbClr val="324370"/>
                </a:solidFill>
                <a:latin typeface="Montserrat Ultra-Bold"/>
                <a:ea typeface="Montserrat Ultra-Bold"/>
                <a:cs typeface="Montserrat Ultra-Bold"/>
                <a:sym typeface="Montserrat Ultra-Bold"/>
              </a:rPr>
              <a:t>2.</a:t>
            </a:r>
          </a:p>
        </p:txBody>
      </p:sp>
      <p:sp>
        <p:nvSpPr>
          <p:cNvPr id="7" name="TextBox 7"/>
          <p:cNvSpPr txBox="1"/>
          <p:nvPr/>
        </p:nvSpPr>
        <p:spPr>
          <a:xfrm>
            <a:off x="10669392" y="2697430"/>
            <a:ext cx="6351413" cy="533400"/>
          </a:xfrm>
          <a:prstGeom prst="rect">
            <a:avLst/>
          </a:prstGeom>
        </p:spPr>
        <p:txBody>
          <a:bodyPr lIns="0" tIns="0" rIns="0" bIns="0" rtlCol="0" anchor="t">
            <a:spAutoFit/>
          </a:bodyPr>
          <a:lstStyle/>
          <a:p>
            <a:pPr marL="0" lvl="0" indent="0" algn="just">
              <a:lnSpc>
                <a:spcPts val="2100"/>
              </a:lnSpc>
            </a:pPr>
            <a:r>
              <a:rPr lang="en-US" sz="1500" b="1">
                <a:solidFill>
                  <a:srgbClr val="324370"/>
                </a:solidFill>
                <a:latin typeface="Montserrat Bold"/>
                <a:ea typeface="Montserrat Bold"/>
                <a:cs typeface="Montserrat Bold"/>
                <a:sym typeface="Montserrat Bold"/>
              </a:rPr>
              <a:t>Destructive queries risk: unrestricted SQL allows DROP, ALTER, TRUNCATE operations that can destroy database structures.</a:t>
            </a:r>
          </a:p>
        </p:txBody>
      </p:sp>
      <p:sp>
        <p:nvSpPr>
          <p:cNvPr id="8" name="TextBox 8"/>
          <p:cNvSpPr txBox="1"/>
          <p:nvPr/>
        </p:nvSpPr>
        <p:spPr>
          <a:xfrm>
            <a:off x="1314820" y="5125339"/>
            <a:ext cx="904367" cy="510752"/>
          </a:xfrm>
          <a:prstGeom prst="rect">
            <a:avLst/>
          </a:prstGeom>
        </p:spPr>
        <p:txBody>
          <a:bodyPr lIns="0" tIns="0" rIns="0" bIns="0" rtlCol="0" anchor="t">
            <a:spAutoFit/>
          </a:bodyPr>
          <a:lstStyle/>
          <a:p>
            <a:pPr marL="0" lvl="0" indent="0" algn="ctr">
              <a:lnSpc>
                <a:spcPts val="3823"/>
              </a:lnSpc>
            </a:pPr>
            <a:r>
              <a:rPr lang="en-US" sz="3823" b="1">
                <a:solidFill>
                  <a:srgbClr val="324370"/>
                </a:solidFill>
                <a:latin typeface="Montserrat Ultra-Bold"/>
                <a:ea typeface="Montserrat Ultra-Bold"/>
                <a:cs typeface="Montserrat Ultra-Bold"/>
                <a:sym typeface="Montserrat Ultra-Bold"/>
              </a:rPr>
              <a:t>3.</a:t>
            </a:r>
          </a:p>
        </p:txBody>
      </p:sp>
      <p:sp>
        <p:nvSpPr>
          <p:cNvPr id="9" name="TextBox 9"/>
          <p:cNvSpPr txBox="1"/>
          <p:nvPr/>
        </p:nvSpPr>
        <p:spPr>
          <a:xfrm>
            <a:off x="2431965" y="5033247"/>
            <a:ext cx="6351413" cy="533400"/>
          </a:xfrm>
          <a:prstGeom prst="rect">
            <a:avLst/>
          </a:prstGeom>
        </p:spPr>
        <p:txBody>
          <a:bodyPr lIns="0" tIns="0" rIns="0" bIns="0" rtlCol="0" anchor="t">
            <a:spAutoFit/>
          </a:bodyPr>
          <a:lstStyle/>
          <a:p>
            <a:pPr marL="0" lvl="0" indent="0" algn="just">
              <a:lnSpc>
                <a:spcPts val="2100"/>
              </a:lnSpc>
            </a:pPr>
            <a:r>
              <a:rPr lang="en-US" sz="1500" b="1">
                <a:solidFill>
                  <a:srgbClr val="324370"/>
                </a:solidFill>
                <a:latin typeface="Montserrat Bold"/>
                <a:ea typeface="Montserrat Bold"/>
                <a:cs typeface="Montserrat Bold"/>
                <a:sym typeface="Montserrat Bold"/>
              </a:rPr>
              <a:t>Data leakage concerns: raw SQL can expose sensitive tables, columns, and records beyond the intended access scope.</a:t>
            </a:r>
          </a:p>
        </p:txBody>
      </p:sp>
      <p:sp>
        <p:nvSpPr>
          <p:cNvPr id="10" name="TextBox 10"/>
          <p:cNvSpPr txBox="1"/>
          <p:nvPr/>
        </p:nvSpPr>
        <p:spPr>
          <a:xfrm>
            <a:off x="9552247" y="5125339"/>
            <a:ext cx="904367" cy="510752"/>
          </a:xfrm>
          <a:prstGeom prst="rect">
            <a:avLst/>
          </a:prstGeom>
        </p:spPr>
        <p:txBody>
          <a:bodyPr lIns="0" tIns="0" rIns="0" bIns="0" rtlCol="0" anchor="t">
            <a:spAutoFit/>
          </a:bodyPr>
          <a:lstStyle/>
          <a:p>
            <a:pPr marL="0" lvl="0" indent="0" algn="ctr">
              <a:lnSpc>
                <a:spcPts val="3823"/>
              </a:lnSpc>
            </a:pPr>
            <a:r>
              <a:rPr lang="en-US" sz="3823" b="1">
                <a:solidFill>
                  <a:srgbClr val="324370"/>
                </a:solidFill>
                <a:latin typeface="Montserrat Ultra-Bold"/>
                <a:ea typeface="Montserrat Ultra-Bold"/>
                <a:cs typeface="Montserrat Ultra-Bold"/>
                <a:sym typeface="Montserrat Ultra-Bold"/>
              </a:rPr>
              <a:t>4.</a:t>
            </a:r>
          </a:p>
        </p:txBody>
      </p:sp>
      <p:sp>
        <p:nvSpPr>
          <p:cNvPr id="11" name="TextBox 11"/>
          <p:cNvSpPr txBox="1"/>
          <p:nvPr/>
        </p:nvSpPr>
        <p:spPr>
          <a:xfrm>
            <a:off x="10669392" y="5033247"/>
            <a:ext cx="6351413" cy="533400"/>
          </a:xfrm>
          <a:prstGeom prst="rect">
            <a:avLst/>
          </a:prstGeom>
        </p:spPr>
        <p:txBody>
          <a:bodyPr lIns="0" tIns="0" rIns="0" bIns="0" rtlCol="0" anchor="t">
            <a:spAutoFit/>
          </a:bodyPr>
          <a:lstStyle/>
          <a:p>
            <a:pPr marL="0" lvl="0" indent="0" algn="just">
              <a:lnSpc>
                <a:spcPts val="2100"/>
              </a:lnSpc>
            </a:pPr>
            <a:r>
              <a:rPr lang="en-US" sz="1500" b="1">
                <a:solidFill>
                  <a:srgbClr val="324370"/>
                </a:solidFill>
                <a:latin typeface="Montserrat Bold"/>
                <a:ea typeface="Montserrat Bold"/>
                <a:cs typeface="Montserrat Bold"/>
                <a:sym typeface="Montserrat Bold"/>
              </a:rPr>
              <a:t>Privilege escalation risks: attackers can craft queries to access data beyond their authorization level.</a:t>
            </a:r>
          </a:p>
        </p:txBody>
      </p:sp>
      <p:sp>
        <p:nvSpPr>
          <p:cNvPr id="12" name="TextBox 12"/>
          <p:cNvSpPr txBox="1"/>
          <p:nvPr/>
        </p:nvSpPr>
        <p:spPr>
          <a:xfrm>
            <a:off x="1314820" y="7461155"/>
            <a:ext cx="904367" cy="510752"/>
          </a:xfrm>
          <a:prstGeom prst="rect">
            <a:avLst/>
          </a:prstGeom>
        </p:spPr>
        <p:txBody>
          <a:bodyPr lIns="0" tIns="0" rIns="0" bIns="0" rtlCol="0" anchor="t">
            <a:spAutoFit/>
          </a:bodyPr>
          <a:lstStyle/>
          <a:p>
            <a:pPr marL="0" lvl="0" indent="0" algn="ctr">
              <a:lnSpc>
                <a:spcPts val="3823"/>
              </a:lnSpc>
            </a:pPr>
            <a:r>
              <a:rPr lang="en-US" sz="3823" b="1">
                <a:solidFill>
                  <a:srgbClr val="324370"/>
                </a:solidFill>
                <a:latin typeface="Montserrat Ultra-Bold"/>
                <a:ea typeface="Montserrat Ultra-Bold"/>
                <a:cs typeface="Montserrat Ultra-Bold"/>
                <a:sym typeface="Montserrat Ultra-Bold"/>
              </a:rPr>
              <a:t>5.</a:t>
            </a:r>
          </a:p>
        </p:txBody>
      </p:sp>
      <p:sp>
        <p:nvSpPr>
          <p:cNvPr id="13" name="TextBox 13"/>
          <p:cNvSpPr txBox="1"/>
          <p:nvPr/>
        </p:nvSpPr>
        <p:spPr>
          <a:xfrm>
            <a:off x="2431965" y="7369063"/>
            <a:ext cx="6351413" cy="533400"/>
          </a:xfrm>
          <a:prstGeom prst="rect">
            <a:avLst/>
          </a:prstGeom>
        </p:spPr>
        <p:txBody>
          <a:bodyPr lIns="0" tIns="0" rIns="0" bIns="0" rtlCol="0" anchor="t">
            <a:spAutoFit/>
          </a:bodyPr>
          <a:lstStyle/>
          <a:p>
            <a:pPr marL="0" lvl="0" indent="0" algn="just">
              <a:lnSpc>
                <a:spcPts val="2100"/>
              </a:lnSpc>
            </a:pPr>
            <a:r>
              <a:rPr lang="en-US" sz="1500" b="1">
                <a:solidFill>
                  <a:srgbClr val="324370"/>
                </a:solidFill>
                <a:latin typeface="Montserrat Bold"/>
                <a:ea typeface="Montserrat Bold"/>
                <a:cs typeface="Montserrat Bold"/>
                <a:sym typeface="Montserrat Bold"/>
              </a:rPr>
              <a:t>Difficulty enforcing fine-grained authorization: row-level, field-level, and role-based controls are hard to apply on raw SQL.</a:t>
            </a:r>
          </a:p>
        </p:txBody>
      </p:sp>
      <p:sp>
        <p:nvSpPr>
          <p:cNvPr id="14" name="TextBox 14"/>
          <p:cNvSpPr txBox="1"/>
          <p:nvPr/>
        </p:nvSpPr>
        <p:spPr>
          <a:xfrm>
            <a:off x="9552247" y="7461155"/>
            <a:ext cx="904367" cy="510752"/>
          </a:xfrm>
          <a:prstGeom prst="rect">
            <a:avLst/>
          </a:prstGeom>
        </p:spPr>
        <p:txBody>
          <a:bodyPr lIns="0" tIns="0" rIns="0" bIns="0" rtlCol="0" anchor="t">
            <a:spAutoFit/>
          </a:bodyPr>
          <a:lstStyle/>
          <a:p>
            <a:pPr marL="0" lvl="0" indent="0" algn="ctr">
              <a:lnSpc>
                <a:spcPts val="3823"/>
              </a:lnSpc>
            </a:pPr>
            <a:r>
              <a:rPr lang="en-US" sz="3823" b="1">
                <a:solidFill>
                  <a:srgbClr val="324370"/>
                </a:solidFill>
                <a:latin typeface="Montserrat Ultra-Bold"/>
                <a:ea typeface="Montserrat Ultra-Bold"/>
                <a:cs typeface="Montserrat Ultra-Bold"/>
                <a:sym typeface="Montserrat Ultra-Bold"/>
              </a:rPr>
              <a:t>6.</a:t>
            </a:r>
          </a:p>
        </p:txBody>
      </p:sp>
      <p:sp>
        <p:nvSpPr>
          <p:cNvPr id="15" name="TextBox 15"/>
          <p:cNvSpPr txBox="1"/>
          <p:nvPr/>
        </p:nvSpPr>
        <p:spPr>
          <a:xfrm>
            <a:off x="10669392" y="7369063"/>
            <a:ext cx="6351413" cy="800100"/>
          </a:xfrm>
          <a:prstGeom prst="rect">
            <a:avLst/>
          </a:prstGeom>
        </p:spPr>
        <p:txBody>
          <a:bodyPr lIns="0" tIns="0" rIns="0" bIns="0" rtlCol="0" anchor="t">
            <a:spAutoFit/>
          </a:bodyPr>
          <a:lstStyle/>
          <a:p>
            <a:pPr marL="0" lvl="0" indent="0" algn="just">
              <a:lnSpc>
                <a:spcPts val="2100"/>
              </a:lnSpc>
            </a:pPr>
            <a:r>
              <a:rPr lang="en-US" sz="1500" b="1">
                <a:solidFill>
                  <a:srgbClr val="324370"/>
                </a:solidFill>
                <a:latin typeface="Montserrat Bold"/>
                <a:ea typeface="Montserrat Bold"/>
                <a:cs typeface="Montserrat Bold"/>
                <a:sym typeface="Montserrat Bold"/>
              </a:rPr>
              <a:t>Safer: expose specific MCP tools (search_customer, update_status, soft_delete_record) with validation and audit logging.</a:t>
            </a:r>
          </a:p>
        </p:txBody>
      </p:sp>
      <p:sp>
        <p:nvSpPr>
          <p:cNvPr id="16" name="TextBox 16"/>
          <p:cNvSpPr txBox="1"/>
          <p:nvPr/>
        </p:nvSpPr>
        <p:spPr>
          <a:xfrm>
            <a:off x="15764299" y="704850"/>
            <a:ext cx="1476375" cy="428625"/>
          </a:xfrm>
          <a:prstGeom prst="rect">
            <a:avLst/>
          </a:prstGeom>
        </p:spPr>
        <p:txBody>
          <a:bodyPr lIns="0" tIns="0" rIns="0" bIns="0" rtlCol="0" anchor="t">
            <a:spAutoFit/>
          </a:bodyPr>
          <a:lstStyle/>
          <a:p>
            <a:pPr marL="0" lvl="0" indent="0" algn="ctr">
              <a:lnSpc>
                <a:spcPts val="3290"/>
              </a:lnSpc>
              <a:spcBef>
                <a:spcPct val="0"/>
              </a:spcBef>
            </a:pPr>
            <a:r>
              <a:rPr lang="en-US" sz="3290" b="1" u="none" strike="noStrike">
                <a:solidFill>
                  <a:srgbClr val="8093BB"/>
                </a:solidFill>
                <a:latin typeface="Montserrat Bold"/>
                <a:ea typeface="Montserrat Bold"/>
                <a:cs typeface="Montserrat Bold"/>
                <a:sym typeface="Montserrat Bold"/>
              </a:rPr>
              <a:t>20</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59" b="-9259"/>
            </a:stretch>
          </a:blipFill>
        </p:spPr>
      </p:sp>
      <p:sp>
        <p:nvSpPr>
          <p:cNvPr id="3" name="TextBox 3"/>
          <p:cNvSpPr txBox="1"/>
          <p:nvPr/>
        </p:nvSpPr>
        <p:spPr>
          <a:xfrm>
            <a:off x="4773314" y="1133475"/>
            <a:ext cx="8741372" cy="690588"/>
          </a:xfrm>
          <a:prstGeom prst="rect">
            <a:avLst/>
          </a:prstGeom>
        </p:spPr>
        <p:txBody>
          <a:bodyPr lIns="0" tIns="0" rIns="0" bIns="0" rtlCol="0" anchor="t">
            <a:spAutoFit/>
          </a:bodyPr>
          <a:lstStyle/>
          <a:p>
            <a:pPr marL="0" lvl="0" indent="0" algn="ctr">
              <a:lnSpc>
                <a:spcPts val="5226"/>
              </a:lnSpc>
            </a:pPr>
            <a:r>
              <a:rPr lang="en-US" sz="5226" b="1">
                <a:solidFill>
                  <a:srgbClr val="324370"/>
                </a:solidFill>
                <a:latin typeface="Montserrat Ultra-Bold"/>
                <a:ea typeface="Montserrat Ultra-Bold"/>
                <a:cs typeface="Montserrat Ultra-Bold"/>
                <a:sym typeface="Montserrat Ultra-Bold"/>
              </a:rPr>
              <a:t>BLOCKING DDL QUERIES</a:t>
            </a:r>
          </a:p>
        </p:txBody>
      </p:sp>
      <p:sp>
        <p:nvSpPr>
          <p:cNvPr id="4" name="TextBox 4"/>
          <p:cNvSpPr txBox="1"/>
          <p:nvPr/>
        </p:nvSpPr>
        <p:spPr>
          <a:xfrm>
            <a:off x="1028700" y="2675223"/>
            <a:ext cx="16230600" cy="1663632"/>
          </a:xfrm>
          <a:prstGeom prst="rect">
            <a:avLst/>
          </a:prstGeom>
        </p:spPr>
        <p:txBody>
          <a:bodyPr lIns="0" tIns="0" rIns="0" bIns="0" rtlCol="0" anchor="t">
            <a:spAutoFit/>
          </a:bodyPr>
          <a:lstStyle/>
          <a:p>
            <a:pPr marL="0" lvl="0" indent="0" algn="just">
              <a:lnSpc>
                <a:spcPts val="3328"/>
              </a:lnSpc>
            </a:pPr>
            <a:r>
              <a:rPr lang="en-US" sz="2377">
                <a:solidFill>
                  <a:srgbClr val="324370"/>
                </a:solidFill>
                <a:latin typeface="Montserrat"/>
                <a:ea typeface="Montserrat"/>
                <a:cs typeface="Montserrat"/>
                <a:sym typeface="Montserrat"/>
              </a:rPr>
              <a:t>Ensuring database structure safety is critical in any production MCP server. DDL (Data Definition Language) operations that modify schema structure must be strictly blocked. Multiple enforcement layers work together to prevent destructive or unauthorized schema changes, while the database user is granted only limited DML permissions.</a:t>
            </a:r>
          </a:p>
        </p:txBody>
      </p:sp>
      <p:sp>
        <p:nvSpPr>
          <p:cNvPr id="5" name="Freeform 5"/>
          <p:cNvSpPr/>
          <p:nvPr/>
        </p:nvSpPr>
        <p:spPr>
          <a:xfrm>
            <a:off x="1028700" y="6853144"/>
            <a:ext cx="16230600" cy="2405156"/>
          </a:xfrm>
          <a:custGeom>
            <a:avLst/>
            <a:gdLst/>
            <a:ahLst/>
            <a:cxnLst/>
            <a:rect l="l" t="t" r="r" b="b"/>
            <a:pathLst>
              <a:path w="16230600" h="2405156">
                <a:moveTo>
                  <a:pt x="0" y="0"/>
                </a:moveTo>
                <a:lnTo>
                  <a:pt x="16230600" y="0"/>
                </a:lnTo>
                <a:lnTo>
                  <a:pt x="16230600" y="2405156"/>
                </a:lnTo>
                <a:lnTo>
                  <a:pt x="0" y="2405156"/>
                </a:lnTo>
                <a:lnTo>
                  <a:pt x="0" y="0"/>
                </a:lnTo>
                <a:close/>
              </a:path>
            </a:pathLst>
          </a:custGeom>
          <a:blipFill>
            <a:blip r:embed="rId3"/>
            <a:stretch>
              <a:fillRect t="-142325" b="-142325"/>
            </a:stretch>
          </a:blipFill>
        </p:spPr>
      </p:sp>
      <p:grpSp>
        <p:nvGrpSpPr>
          <p:cNvPr id="6" name="Group 6"/>
          <p:cNvGrpSpPr/>
          <p:nvPr/>
        </p:nvGrpSpPr>
        <p:grpSpPr>
          <a:xfrm>
            <a:off x="1028700" y="5143500"/>
            <a:ext cx="5410200" cy="2101888"/>
            <a:chOff x="0" y="0"/>
            <a:chExt cx="1378861" cy="535694"/>
          </a:xfrm>
        </p:grpSpPr>
        <p:sp>
          <p:nvSpPr>
            <p:cNvPr id="7" name="Freeform 7"/>
            <p:cNvSpPr/>
            <p:nvPr/>
          </p:nvSpPr>
          <p:spPr>
            <a:xfrm>
              <a:off x="0" y="0"/>
              <a:ext cx="1378861" cy="535694"/>
            </a:xfrm>
            <a:custGeom>
              <a:avLst/>
              <a:gdLst/>
              <a:ahLst/>
              <a:cxnLst/>
              <a:rect l="l" t="t" r="r" b="b"/>
              <a:pathLst>
                <a:path w="1378861" h="535694">
                  <a:moveTo>
                    <a:pt x="0" y="0"/>
                  </a:moveTo>
                  <a:lnTo>
                    <a:pt x="1378861" y="0"/>
                  </a:lnTo>
                  <a:lnTo>
                    <a:pt x="1378861" y="535694"/>
                  </a:lnTo>
                  <a:lnTo>
                    <a:pt x="0" y="535694"/>
                  </a:lnTo>
                  <a:close/>
                </a:path>
              </a:pathLst>
            </a:custGeom>
            <a:solidFill>
              <a:srgbClr val="8093BB"/>
            </a:solidFill>
          </p:spPr>
        </p:sp>
        <p:sp>
          <p:nvSpPr>
            <p:cNvPr id="8" name="TextBox 8"/>
            <p:cNvSpPr txBox="1"/>
            <p:nvPr/>
          </p:nvSpPr>
          <p:spPr>
            <a:xfrm>
              <a:off x="0" y="-38100"/>
              <a:ext cx="1378861" cy="573794"/>
            </a:xfrm>
            <a:prstGeom prst="rect">
              <a:avLst/>
            </a:prstGeom>
          </p:spPr>
          <p:txBody>
            <a:bodyPr lIns="42129" tIns="42129" rIns="42129" bIns="42129" rtlCol="0" anchor="ctr"/>
            <a:lstStyle/>
            <a:p>
              <a:pPr marL="0" lvl="0" indent="0" algn="ctr">
                <a:lnSpc>
                  <a:spcPts val="2659"/>
                </a:lnSpc>
              </a:pPr>
              <a:endParaRPr/>
            </a:p>
          </p:txBody>
        </p:sp>
      </p:grpSp>
      <p:grpSp>
        <p:nvGrpSpPr>
          <p:cNvPr id="9" name="Group 9"/>
          <p:cNvGrpSpPr/>
          <p:nvPr/>
        </p:nvGrpSpPr>
        <p:grpSpPr>
          <a:xfrm>
            <a:off x="6438900" y="5143500"/>
            <a:ext cx="5410200" cy="2101888"/>
            <a:chOff x="0" y="0"/>
            <a:chExt cx="1378861" cy="535694"/>
          </a:xfrm>
        </p:grpSpPr>
        <p:sp>
          <p:nvSpPr>
            <p:cNvPr id="10" name="Freeform 10"/>
            <p:cNvSpPr/>
            <p:nvPr/>
          </p:nvSpPr>
          <p:spPr>
            <a:xfrm>
              <a:off x="0" y="0"/>
              <a:ext cx="1378861" cy="535694"/>
            </a:xfrm>
            <a:custGeom>
              <a:avLst/>
              <a:gdLst/>
              <a:ahLst/>
              <a:cxnLst/>
              <a:rect l="l" t="t" r="r" b="b"/>
              <a:pathLst>
                <a:path w="1378861" h="535694">
                  <a:moveTo>
                    <a:pt x="0" y="0"/>
                  </a:moveTo>
                  <a:lnTo>
                    <a:pt x="1378861" y="0"/>
                  </a:lnTo>
                  <a:lnTo>
                    <a:pt x="1378861" y="535694"/>
                  </a:lnTo>
                  <a:lnTo>
                    <a:pt x="0" y="535694"/>
                  </a:lnTo>
                  <a:close/>
                </a:path>
              </a:pathLst>
            </a:custGeom>
            <a:solidFill>
              <a:srgbClr val="546791"/>
            </a:solidFill>
          </p:spPr>
        </p:sp>
        <p:sp>
          <p:nvSpPr>
            <p:cNvPr id="11" name="TextBox 11"/>
            <p:cNvSpPr txBox="1"/>
            <p:nvPr/>
          </p:nvSpPr>
          <p:spPr>
            <a:xfrm>
              <a:off x="0" y="-38100"/>
              <a:ext cx="1378861" cy="573794"/>
            </a:xfrm>
            <a:prstGeom prst="rect">
              <a:avLst/>
            </a:prstGeom>
          </p:spPr>
          <p:txBody>
            <a:bodyPr lIns="42129" tIns="42129" rIns="42129" bIns="42129" rtlCol="0" anchor="ctr"/>
            <a:lstStyle/>
            <a:p>
              <a:pPr marL="0" lvl="0" indent="0" algn="ctr">
                <a:lnSpc>
                  <a:spcPts val="2659"/>
                </a:lnSpc>
              </a:pPr>
              <a:endParaRPr/>
            </a:p>
          </p:txBody>
        </p:sp>
      </p:grpSp>
      <p:grpSp>
        <p:nvGrpSpPr>
          <p:cNvPr id="12" name="Group 12"/>
          <p:cNvGrpSpPr/>
          <p:nvPr/>
        </p:nvGrpSpPr>
        <p:grpSpPr>
          <a:xfrm>
            <a:off x="11849100" y="5143500"/>
            <a:ext cx="5410200" cy="2101888"/>
            <a:chOff x="0" y="0"/>
            <a:chExt cx="1378861" cy="535694"/>
          </a:xfrm>
        </p:grpSpPr>
        <p:sp>
          <p:nvSpPr>
            <p:cNvPr id="13" name="Freeform 13"/>
            <p:cNvSpPr/>
            <p:nvPr/>
          </p:nvSpPr>
          <p:spPr>
            <a:xfrm>
              <a:off x="0" y="0"/>
              <a:ext cx="1378861" cy="535694"/>
            </a:xfrm>
            <a:custGeom>
              <a:avLst/>
              <a:gdLst/>
              <a:ahLst/>
              <a:cxnLst/>
              <a:rect l="l" t="t" r="r" b="b"/>
              <a:pathLst>
                <a:path w="1378861" h="535694">
                  <a:moveTo>
                    <a:pt x="0" y="0"/>
                  </a:moveTo>
                  <a:lnTo>
                    <a:pt x="1378861" y="0"/>
                  </a:lnTo>
                  <a:lnTo>
                    <a:pt x="1378861" y="535694"/>
                  </a:lnTo>
                  <a:lnTo>
                    <a:pt x="0" y="535694"/>
                  </a:lnTo>
                  <a:close/>
                </a:path>
              </a:pathLst>
            </a:custGeom>
            <a:solidFill>
              <a:srgbClr val="334368"/>
            </a:solidFill>
          </p:spPr>
        </p:sp>
        <p:sp>
          <p:nvSpPr>
            <p:cNvPr id="14" name="TextBox 14"/>
            <p:cNvSpPr txBox="1"/>
            <p:nvPr/>
          </p:nvSpPr>
          <p:spPr>
            <a:xfrm>
              <a:off x="0" y="-38100"/>
              <a:ext cx="1378861" cy="573794"/>
            </a:xfrm>
            <a:prstGeom prst="rect">
              <a:avLst/>
            </a:prstGeom>
          </p:spPr>
          <p:txBody>
            <a:bodyPr lIns="42129" tIns="42129" rIns="42129" bIns="42129" rtlCol="0" anchor="ctr"/>
            <a:lstStyle/>
            <a:p>
              <a:pPr marL="0" lvl="0" indent="0" algn="ctr">
                <a:lnSpc>
                  <a:spcPts val="2659"/>
                </a:lnSpc>
              </a:pPr>
              <a:endParaRPr/>
            </a:p>
          </p:txBody>
        </p:sp>
      </p:grpSp>
      <p:sp>
        <p:nvSpPr>
          <p:cNvPr id="15" name="TextBox 15"/>
          <p:cNvSpPr txBox="1"/>
          <p:nvPr/>
        </p:nvSpPr>
        <p:spPr>
          <a:xfrm>
            <a:off x="2028062" y="5584804"/>
            <a:ext cx="1324912" cy="817854"/>
          </a:xfrm>
          <a:prstGeom prst="rect">
            <a:avLst/>
          </a:prstGeom>
        </p:spPr>
        <p:txBody>
          <a:bodyPr lIns="0" tIns="0" rIns="0" bIns="0" rtlCol="0" anchor="t">
            <a:spAutoFit/>
          </a:bodyPr>
          <a:lstStyle/>
          <a:p>
            <a:pPr marL="0" lvl="0" indent="0" algn="ctr">
              <a:lnSpc>
                <a:spcPts val="6169"/>
              </a:lnSpc>
            </a:pPr>
            <a:r>
              <a:rPr lang="en-US" sz="6169" b="1">
                <a:solidFill>
                  <a:srgbClr val="FFFFFF"/>
                </a:solidFill>
                <a:latin typeface="Montserrat Ultra-Bold"/>
                <a:ea typeface="Montserrat Ultra-Bold"/>
                <a:cs typeface="Montserrat Ultra-Bold"/>
                <a:sym typeface="Montserrat Ultra-Bold"/>
              </a:rPr>
              <a:t>1</a:t>
            </a:r>
          </a:p>
        </p:txBody>
      </p:sp>
      <p:sp>
        <p:nvSpPr>
          <p:cNvPr id="16" name="TextBox 16"/>
          <p:cNvSpPr txBox="1"/>
          <p:nvPr/>
        </p:nvSpPr>
        <p:spPr>
          <a:xfrm>
            <a:off x="3352974" y="5513416"/>
            <a:ext cx="2786661" cy="1231265"/>
          </a:xfrm>
          <a:prstGeom prst="rect">
            <a:avLst/>
          </a:prstGeom>
        </p:spPr>
        <p:txBody>
          <a:bodyPr lIns="0" tIns="0" rIns="0" bIns="0" rtlCol="0" anchor="t">
            <a:spAutoFit/>
          </a:bodyPr>
          <a:lstStyle/>
          <a:p>
            <a:pPr marL="0" lvl="0" indent="0" algn="l">
              <a:lnSpc>
                <a:spcPts val="1959"/>
              </a:lnSpc>
            </a:pPr>
            <a:r>
              <a:rPr lang="en-US" sz="1399">
                <a:solidFill>
                  <a:srgbClr val="FFFFFF"/>
                </a:solidFill>
                <a:latin typeface="Montserrat"/>
                <a:ea typeface="Montserrat"/>
                <a:cs typeface="Montserrat"/>
                <a:sym typeface="Montserrat"/>
              </a:rPr>
              <a:t>Block schema modifications: CREATE, ALTER, DROP, TRUNCATE, RENAME — no generic execute_sql allowed in production MCP servers.</a:t>
            </a:r>
          </a:p>
        </p:txBody>
      </p:sp>
      <p:sp>
        <p:nvSpPr>
          <p:cNvPr id="17" name="TextBox 17"/>
          <p:cNvSpPr txBox="1"/>
          <p:nvPr/>
        </p:nvSpPr>
        <p:spPr>
          <a:xfrm>
            <a:off x="7438262" y="5584804"/>
            <a:ext cx="1324912" cy="817854"/>
          </a:xfrm>
          <a:prstGeom prst="rect">
            <a:avLst/>
          </a:prstGeom>
        </p:spPr>
        <p:txBody>
          <a:bodyPr lIns="0" tIns="0" rIns="0" bIns="0" rtlCol="0" anchor="t">
            <a:spAutoFit/>
          </a:bodyPr>
          <a:lstStyle/>
          <a:p>
            <a:pPr marL="0" lvl="0" indent="0" algn="ctr">
              <a:lnSpc>
                <a:spcPts val="6169"/>
              </a:lnSpc>
            </a:pPr>
            <a:r>
              <a:rPr lang="en-US" sz="6169" b="1">
                <a:solidFill>
                  <a:srgbClr val="FFFFFF"/>
                </a:solidFill>
                <a:latin typeface="Montserrat Ultra-Bold"/>
                <a:ea typeface="Montserrat Ultra-Bold"/>
                <a:cs typeface="Montserrat Ultra-Bold"/>
                <a:sym typeface="Montserrat Ultra-Bold"/>
              </a:rPr>
              <a:t>2</a:t>
            </a:r>
          </a:p>
        </p:txBody>
      </p:sp>
      <p:sp>
        <p:nvSpPr>
          <p:cNvPr id="18" name="TextBox 18"/>
          <p:cNvSpPr txBox="1"/>
          <p:nvPr/>
        </p:nvSpPr>
        <p:spPr>
          <a:xfrm>
            <a:off x="8763174" y="5513416"/>
            <a:ext cx="2611637" cy="1231265"/>
          </a:xfrm>
          <a:prstGeom prst="rect">
            <a:avLst/>
          </a:prstGeom>
        </p:spPr>
        <p:txBody>
          <a:bodyPr lIns="0" tIns="0" rIns="0" bIns="0" rtlCol="0" anchor="t">
            <a:spAutoFit/>
          </a:bodyPr>
          <a:lstStyle/>
          <a:p>
            <a:pPr marL="0" lvl="0" indent="0" algn="l">
              <a:lnSpc>
                <a:spcPts val="1959"/>
              </a:lnSpc>
            </a:pPr>
            <a:r>
              <a:rPr lang="en-US" sz="1399">
                <a:solidFill>
                  <a:srgbClr val="FFFFFF"/>
                </a:solidFill>
                <a:latin typeface="Montserrat"/>
                <a:ea typeface="Montserrat"/>
                <a:cs typeface="Montserrat"/>
                <a:sym typeface="Montserrat"/>
              </a:rPr>
              <a:t>Multiple enforcement layers: MCP server validation, SQL parser allowlist, and SQL Server permissions all work together.</a:t>
            </a:r>
          </a:p>
        </p:txBody>
      </p:sp>
      <p:sp>
        <p:nvSpPr>
          <p:cNvPr id="19" name="TextBox 19"/>
          <p:cNvSpPr txBox="1"/>
          <p:nvPr/>
        </p:nvSpPr>
        <p:spPr>
          <a:xfrm>
            <a:off x="12848462" y="5584804"/>
            <a:ext cx="1324912" cy="817854"/>
          </a:xfrm>
          <a:prstGeom prst="rect">
            <a:avLst/>
          </a:prstGeom>
        </p:spPr>
        <p:txBody>
          <a:bodyPr lIns="0" tIns="0" rIns="0" bIns="0" rtlCol="0" anchor="t">
            <a:spAutoFit/>
          </a:bodyPr>
          <a:lstStyle/>
          <a:p>
            <a:pPr marL="0" lvl="0" indent="0" algn="ctr">
              <a:lnSpc>
                <a:spcPts val="6169"/>
              </a:lnSpc>
            </a:pPr>
            <a:r>
              <a:rPr lang="en-US" sz="6169" b="1">
                <a:solidFill>
                  <a:srgbClr val="FFFFFF"/>
                </a:solidFill>
                <a:latin typeface="Montserrat Ultra-Bold"/>
                <a:ea typeface="Montserrat Ultra-Bold"/>
                <a:cs typeface="Montserrat Ultra-Bold"/>
                <a:sym typeface="Montserrat Ultra-Bold"/>
              </a:rPr>
              <a:t>3</a:t>
            </a:r>
          </a:p>
        </p:txBody>
      </p:sp>
      <p:sp>
        <p:nvSpPr>
          <p:cNvPr id="20" name="TextBox 20"/>
          <p:cNvSpPr txBox="1"/>
          <p:nvPr/>
        </p:nvSpPr>
        <p:spPr>
          <a:xfrm>
            <a:off x="14173374" y="5513416"/>
            <a:ext cx="2728319" cy="1231265"/>
          </a:xfrm>
          <a:prstGeom prst="rect">
            <a:avLst/>
          </a:prstGeom>
        </p:spPr>
        <p:txBody>
          <a:bodyPr lIns="0" tIns="0" rIns="0" bIns="0" rtlCol="0" anchor="t">
            <a:spAutoFit/>
          </a:bodyPr>
          <a:lstStyle/>
          <a:p>
            <a:pPr marL="0" lvl="0" indent="0" algn="l">
              <a:lnSpc>
                <a:spcPts val="1959"/>
              </a:lnSpc>
            </a:pPr>
            <a:r>
              <a:rPr lang="en-US" sz="1399">
                <a:solidFill>
                  <a:srgbClr val="FFFFFF"/>
                </a:solidFill>
                <a:latin typeface="Montserrat"/>
                <a:ea typeface="Montserrat"/>
                <a:cs typeface="Montserrat"/>
                <a:sym typeface="Montserrat"/>
              </a:rPr>
              <a:t>Database user with limited DML permissions only: SELECT, INSERT, UPDATE, and controlled DELETE — no DDL rights granted.</a:t>
            </a:r>
          </a:p>
        </p:txBody>
      </p:sp>
      <p:sp>
        <p:nvSpPr>
          <p:cNvPr id="21" name="TextBox 21"/>
          <p:cNvSpPr txBox="1"/>
          <p:nvPr/>
        </p:nvSpPr>
        <p:spPr>
          <a:xfrm>
            <a:off x="15764299" y="714375"/>
            <a:ext cx="1476375" cy="504825"/>
          </a:xfrm>
          <a:prstGeom prst="rect">
            <a:avLst/>
          </a:prstGeom>
        </p:spPr>
        <p:txBody>
          <a:bodyPr lIns="0" tIns="0" rIns="0" bIns="0" rtlCol="0" anchor="t">
            <a:spAutoFit/>
          </a:bodyPr>
          <a:lstStyle/>
          <a:p>
            <a:pPr marL="0" lvl="0" indent="0" algn="ctr">
              <a:lnSpc>
                <a:spcPts val="3779"/>
              </a:lnSpc>
              <a:spcBef>
                <a:spcPct val="0"/>
              </a:spcBef>
            </a:pPr>
            <a:r>
              <a:rPr lang="en-US" sz="3779" b="1" u="none" strike="noStrike">
                <a:solidFill>
                  <a:srgbClr val="8093BB"/>
                </a:solidFill>
                <a:latin typeface="Montserrat Bold"/>
                <a:ea typeface="Montserrat Bold"/>
                <a:cs typeface="Montserrat Bold"/>
                <a:sym typeface="Montserrat Bold"/>
              </a:rPr>
              <a:t>21</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666" b="-666"/>
            </a:stretch>
          </a:blipFill>
        </p:spPr>
      </p:sp>
      <p:sp>
        <p:nvSpPr>
          <p:cNvPr id="3" name="TextBox 3"/>
          <p:cNvSpPr txBox="1"/>
          <p:nvPr/>
        </p:nvSpPr>
        <p:spPr>
          <a:xfrm>
            <a:off x="4773314" y="1133475"/>
            <a:ext cx="8741372" cy="636633"/>
          </a:xfrm>
          <a:prstGeom prst="rect">
            <a:avLst/>
          </a:prstGeom>
        </p:spPr>
        <p:txBody>
          <a:bodyPr lIns="0" tIns="0" rIns="0" bIns="0" rtlCol="0" anchor="t">
            <a:spAutoFit/>
          </a:bodyPr>
          <a:lstStyle/>
          <a:p>
            <a:pPr marL="0" lvl="0" indent="0" algn="ctr">
              <a:lnSpc>
                <a:spcPts val="4889"/>
              </a:lnSpc>
            </a:pPr>
            <a:r>
              <a:rPr lang="en-US" sz="4889" b="1">
                <a:solidFill>
                  <a:srgbClr val="324370"/>
                </a:solidFill>
                <a:latin typeface="Montserrat Ultra-Bold"/>
                <a:ea typeface="Montserrat Ultra-Bold"/>
                <a:cs typeface="Montserrat Ultra-Bold"/>
                <a:sym typeface="Montserrat Ultra-Bold"/>
              </a:rPr>
              <a:t>AUTHENTICATION LAYERS</a:t>
            </a:r>
          </a:p>
        </p:txBody>
      </p:sp>
      <p:sp>
        <p:nvSpPr>
          <p:cNvPr id="4" name="TextBox 4"/>
          <p:cNvSpPr txBox="1"/>
          <p:nvPr/>
        </p:nvSpPr>
        <p:spPr>
          <a:xfrm>
            <a:off x="1314820" y="2799048"/>
            <a:ext cx="904367" cy="546547"/>
          </a:xfrm>
          <a:prstGeom prst="rect">
            <a:avLst/>
          </a:prstGeom>
        </p:spPr>
        <p:txBody>
          <a:bodyPr lIns="0" tIns="0" rIns="0" bIns="0" rtlCol="0" anchor="t">
            <a:spAutoFit/>
          </a:bodyPr>
          <a:lstStyle/>
          <a:p>
            <a:pPr marL="0" lvl="0" indent="0" algn="ctr">
              <a:lnSpc>
                <a:spcPts val="4106"/>
              </a:lnSpc>
            </a:pPr>
            <a:r>
              <a:rPr lang="en-US" sz="4106" b="1">
                <a:solidFill>
                  <a:srgbClr val="324370"/>
                </a:solidFill>
                <a:latin typeface="Montserrat Ultra-Bold"/>
                <a:ea typeface="Montserrat Ultra-Bold"/>
                <a:cs typeface="Montserrat Ultra-Bold"/>
                <a:sym typeface="Montserrat Ultra-Bold"/>
              </a:rPr>
              <a:t>1.</a:t>
            </a:r>
          </a:p>
        </p:txBody>
      </p:sp>
      <p:sp>
        <p:nvSpPr>
          <p:cNvPr id="5" name="TextBox 5"/>
          <p:cNvSpPr txBox="1"/>
          <p:nvPr/>
        </p:nvSpPr>
        <p:spPr>
          <a:xfrm>
            <a:off x="2431965" y="2697430"/>
            <a:ext cx="6351413" cy="800100"/>
          </a:xfrm>
          <a:prstGeom prst="rect">
            <a:avLst/>
          </a:prstGeom>
        </p:spPr>
        <p:txBody>
          <a:bodyPr lIns="0" tIns="0" rIns="0" bIns="0" rtlCol="0" anchor="t">
            <a:spAutoFit/>
          </a:bodyPr>
          <a:lstStyle/>
          <a:p>
            <a:pPr marL="0" lvl="0" indent="0" algn="just">
              <a:lnSpc>
                <a:spcPts val="2100"/>
              </a:lnSpc>
            </a:pPr>
            <a:r>
              <a:rPr lang="en-US" sz="1500" b="1">
                <a:solidFill>
                  <a:srgbClr val="324370"/>
                </a:solidFill>
                <a:latin typeface="Montserrat Bold"/>
                <a:ea typeface="Montserrat Bold"/>
                <a:cs typeface="Montserrat Bold"/>
                <a:sym typeface="Montserrat Bold"/>
              </a:rPr>
              <a:t>User authentication handled at the AI host or enterprise identity layer — ensuring only verified users can initiate requests to the MCP-powered system.</a:t>
            </a:r>
          </a:p>
        </p:txBody>
      </p:sp>
      <p:sp>
        <p:nvSpPr>
          <p:cNvPr id="6" name="TextBox 6"/>
          <p:cNvSpPr txBox="1"/>
          <p:nvPr/>
        </p:nvSpPr>
        <p:spPr>
          <a:xfrm>
            <a:off x="9552247" y="2799048"/>
            <a:ext cx="904367" cy="546547"/>
          </a:xfrm>
          <a:prstGeom prst="rect">
            <a:avLst/>
          </a:prstGeom>
        </p:spPr>
        <p:txBody>
          <a:bodyPr lIns="0" tIns="0" rIns="0" bIns="0" rtlCol="0" anchor="t">
            <a:spAutoFit/>
          </a:bodyPr>
          <a:lstStyle/>
          <a:p>
            <a:pPr marL="0" lvl="0" indent="0" algn="ctr">
              <a:lnSpc>
                <a:spcPts val="4106"/>
              </a:lnSpc>
            </a:pPr>
            <a:r>
              <a:rPr lang="en-US" sz="4106" b="1">
                <a:solidFill>
                  <a:srgbClr val="324370"/>
                </a:solidFill>
                <a:latin typeface="Montserrat Ultra-Bold"/>
                <a:ea typeface="Montserrat Ultra-Bold"/>
                <a:cs typeface="Montserrat Ultra-Bold"/>
                <a:sym typeface="Montserrat Ultra-Bold"/>
              </a:rPr>
              <a:t>2.</a:t>
            </a:r>
          </a:p>
        </p:txBody>
      </p:sp>
      <p:sp>
        <p:nvSpPr>
          <p:cNvPr id="7" name="TextBox 7"/>
          <p:cNvSpPr txBox="1"/>
          <p:nvPr/>
        </p:nvSpPr>
        <p:spPr>
          <a:xfrm>
            <a:off x="10669392" y="2697430"/>
            <a:ext cx="6351413" cy="800100"/>
          </a:xfrm>
          <a:prstGeom prst="rect">
            <a:avLst/>
          </a:prstGeom>
        </p:spPr>
        <p:txBody>
          <a:bodyPr lIns="0" tIns="0" rIns="0" bIns="0" rtlCol="0" anchor="t">
            <a:spAutoFit/>
          </a:bodyPr>
          <a:lstStyle/>
          <a:p>
            <a:pPr marL="0" lvl="0" indent="0" algn="just">
              <a:lnSpc>
                <a:spcPts val="2100"/>
              </a:lnSpc>
            </a:pPr>
            <a:r>
              <a:rPr lang="en-US" sz="1500" b="1">
                <a:solidFill>
                  <a:srgbClr val="324370"/>
                </a:solidFill>
                <a:latin typeface="Montserrat Bold"/>
                <a:ea typeface="Montserrat Bold"/>
                <a:cs typeface="Montserrat Bold"/>
                <a:sym typeface="Montserrat Bold"/>
              </a:rPr>
              <a:t>MCP server authenticates all incoming callers before processing any tool invocation, preventing unauthorized access to database operations.</a:t>
            </a:r>
          </a:p>
        </p:txBody>
      </p:sp>
      <p:sp>
        <p:nvSpPr>
          <p:cNvPr id="8" name="TextBox 8"/>
          <p:cNvSpPr txBox="1"/>
          <p:nvPr/>
        </p:nvSpPr>
        <p:spPr>
          <a:xfrm>
            <a:off x="1314820" y="5134864"/>
            <a:ext cx="904367" cy="546547"/>
          </a:xfrm>
          <a:prstGeom prst="rect">
            <a:avLst/>
          </a:prstGeom>
        </p:spPr>
        <p:txBody>
          <a:bodyPr lIns="0" tIns="0" rIns="0" bIns="0" rtlCol="0" anchor="t">
            <a:spAutoFit/>
          </a:bodyPr>
          <a:lstStyle/>
          <a:p>
            <a:pPr marL="0" lvl="0" indent="0" algn="ctr">
              <a:lnSpc>
                <a:spcPts val="4106"/>
              </a:lnSpc>
            </a:pPr>
            <a:r>
              <a:rPr lang="en-US" sz="4106" b="1">
                <a:solidFill>
                  <a:srgbClr val="324370"/>
                </a:solidFill>
                <a:latin typeface="Montserrat Ultra-Bold"/>
                <a:ea typeface="Montserrat Ultra-Bold"/>
                <a:cs typeface="Montserrat Ultra-Bold"/>
                <a:sym typeface="Montserrat Ultra-Bold"/>
              </a:rPr>
              <a:t>3.</a:t>
            </a:r>
          </a:p>
        </p:txBody>
      </p:sp>
      <p:sp>
        <p:nvSpPr>
          <p:cNvPr id="9" name="TextBox 9"/>
          <p:cNvSpPr txBox="1"/>
          <p:nvPr/>
        </p:nvSpPr>
        <p:spPr>
          <a:xfrm>
            <a:off x="2431965" y="5033247"/>
            <a:ext cx="6351413" cy="800100"/>
          </a:xfrm>
          <a:prstGeom prst="rect">
            <a:avLst/>
          </a:prstGeom>
        </p:spPr>
        <p:txBody>
          <a:bodyPr lIns="0" tIns="0" rIns="0" bIns="0" rtlCol="0" anchor="t">
            <a:spAutoFit/>
          </a:bodyPr>
          <a:lstStyle/>
          <a:p>
            <a:pPr marL="0" lvl="0" indent="0" algn="just">
              <a:lnSpc>
                <a:spcPts val="2100"/>
              </a:lnSpc>
            </a:pPr>
            <a:r>
              <a:rPr lang="en-US" sz="1500" b="1">
                <a:solidFill>
                  <a:srgbClr val="324370"/>
                </a:solidFill>
                <a:latin typeface="Montserrat Bold"/>
                <a:ea typeface="Montserrat Bold"/>
                <a:cs typeface="Montserrat Bold"/>
                <a:sym typeface="Montserrat Bold"/>
              </a:rPr>
              <a:t>SQL Server authentication is managed by the .NET MCP server for its own DB connection. Prefer Windows Authentication or managed identity over password-based login.</a:t>
            </a:r>
          </a:p>
        </p:txBody>
      </p:sp>
      <p:sp>
        <p:nvSpPr>
          <p:cNvPr id="10" name="TextBox 10"/>
          <p:cNvSpPr txBox="1"/>
          <p:nvPr/>
        </p:nvSpPr>
        <p:spPr>
          <a:xfrm>
            <a:off x="9552247" y="5134864"/>
            <a:ext cx="904367" cy="546547"/>
          </a:xfrm>
          <a:prstGeom prst="rect">
            <a:avLst/>
          </a:prstGeom>
        </p:spPr>
        <p:txBody>
          <a:bodyPr lIns="0" tIns="0" rIns="0" bIns="0" rtlCol="0" anchor="t">
            <a:spAutoFit/>
          </a:bodyPr>
          <a:lstStyle/>
          <a:p>
            <a:pPr marL="0" lvl="0" indent="0" algn="ctr">
              <a:lnSpc>
                <a:spcPts val="4106"/>
              </a:lnSpc>
            </a:pPr>
            <a:r>
              <a:rPr lang="en-US" sz="4106" b="1">
                <a:solidFill>
                  <a:srgbClr val="324370"/>
                </a:solidFill>
                <a:latin typeface="Montserrat Ultra-Bold"/>
                <a:ea typeface="Montserrat Ultra-Bold"/>
                <a:cs typeface="Montserrat Ultra-Bold"/>
                <a:sym typeface="Montserrat Ultra-Bold"/>
              </a:rPr>
              <a:t>4.</a:t>
            </a:r>
          </a:p>
        </p:txBody>
      </p:sp>
      <p:sp>
        <p:nvSpPr>
          <p:cNvPr id="11" name="TextBox 11"/>
          <p:cNvSpPr txBox="1"/>
          <p:nvPr/>
        </p:nvSpPr>
        <p:spPr>
          <a:xfrm>
            <a:off x="10669392" y="5033247"/>
            <a:ext cx="6351413" cy="800100"/>
          </a:xfrm>
          <a:prstGeom prst="rect">
            <a:avLst/>
          </a:prstGeom>
        </p:spPr>
        <p:txBody>
          <a:bodyPr lIns="0" tIns="0" rIns="0" bIns="0" rtlCol="0" anchor="t">
            <a:spAutoFit/>
          </a:bodyPr>
          <a:lstStyle/>
          <a:p>
            <a:pPr marL="0" lvl="0" indent="0" algn="just">
              <a:lnSpc>
                <a:spcPts val="2100"/>
              </a:lnSpc>
            </a:pPr>
            <a:r>
              <a:rPr lang="en-US" sz="1500" b="1">
                <a:solidFill>
                  <a:srgbClr val="324370"/>
                </a:solidFill>
                <a:latin typeface="Montserrat Bold"/>
                <a:ea typeface="Montserrat Bold"/>
                <a:cs typeface="Montserrat Bold"/>
                <a:sym typeface="Montserrat Bold"/>
              </a:rPr>
              <a:t>Never store database passwords in prompts, client config files, or MCP tool definitions. Use secret stores (e.g., Azure Key Vault) for credential management.</a:t>
            </a:r>
          </a:p>
        </p:txBody>
      </p:sp>
      <p:sp>
        <p:nvSpPr>
          <p:cNvPr id="12" name="TextBox 12"/>
          <p:cNvSpPr txBox="1"/>
          <p:nvPr/>
        </p:nvSpPr>
        <p:spPr>
          <a:xfrm>
            <a:off x="1314820" y="7470680"/>
            <a:ext cx="904367" cy="546547"/>
          </a:xfrm>
          <a:prstGeom prst="rect">
            <a:avLst/>
          </a:prstGeom>
        </p:spPr>
        <p:txBody>
          <a:bodyPr lIns="0" tIns="0" rIns="0" bIns="0" rtlCol="0" anchor="t">
            <a:spAutoFit/>
          </a:bodyPr>
          <a:lstStyle/>
          <a:p>
            <a:pPr marL="0" lvl="0" indent="0" algn="ctr">
              <a:lnSpc>
                <a:spcPts val="4106"/>
              </a:lnSpc>
            </a:pPr>
            <a:r>
              <a:rPr lang="en-US" sz="4106" b="1">
                <a:solidFill>
                  <a:srgbClr val="324370"/>
                </a:solidFill>
                <a:latin typeface="Montserrat Ultra-Bold"/>
                <a:ea typeface="Montserrat Ultra-Bold"/>
                <a:cs typeface="Montserrat Ultra-Bold"/>
                <a:sym typeface="Montserrat Ultra-Bold"/>
              </a:rPr>
              <a:t>5.</a:t>
            </a:r>
          </a:p>
        </p:txBody>
      </p:sp>
      <p:sp>
        <p:nvSpPr>
          <p:cNvPr id="13" name="TextBox 13"/>
          <p:cNvSpPr txBox="1"/>
          <p:nvPr/>
        </p:nvSpPr>
        <p:spPr>
          <a:xfrm>
            <a:off x="2431965" y="7369063"/>
            <a:ext cx="6351413" cy="800100"/>
          </a:xfrm>
          <a:prstGeom prst="rect">
            <a:avLst/>
          </a:prstGeom>
        </p:spPr>
        <p:txBody>
          <a:bodyPr lIns="0" tIns="0" rIns="0" bIns="0" rtlCol="0" anchor="t">
            <a:spAutoFit/>
          </a:bodyPr>
          <a:lstStyle/>
          <a:p>
            <a:pPr marL="0" lvl="0" indent="0" algn="just">
              <a:lnSpc>
                <a:spcPts val="2100"/>
              </a:lnSpc>
            </a:pPr>
            <a:r>
              <a:rPr lang="en-US" sz="1500" b="1">
                <a:solidFill>
                  <a:srgbClr val="324370"/>
                </a:solidFill>
                <a:latin typeface="Montserrat Bold"/>
                <a:ea typeface="Montserrat Bold"/>
                <a:cs typeface="Montserrat Bold"/>
                <a:sym typeface="Montserrat Bold"/>
              </a:rPr>
              <a:t>Local STDIO MCP servers: started locally by the host process — no OAuth flow required. Suitable for development and trusted local environments.</a:t>
            </a:r>
          </a:p>
        </p:txBody>
      </p:sp>
      <p:sp>
        <p:nvSpPr>
          <p:cNvPr id="14" name="TextBox 14"/>
          <p:cNvSpPr txBox="1"/>
          <p:nvPr/>
        </p:nvSpPr>
        <p:spPr>
          <a:xfrm>
            <a:off x="9552247" y="7470680"/>
            <a:ext cx="904367" cy="546547"/>
          </a:xfrm>
          <a:prstGeom prst="rect">
            <a:avLst/>
          </a:prstGeom>
        </p:spPr>
        <p:txBody>
          <a:bodyPr lIns="0" tIns="0" rIns="0" bIns="0" rtlCol="0" anchor="t">
            <a:spAutoFit/>
          </a:bodyPr>
          <a:lstStyle/>
          <a:p>
            <a:pPr marL="0" lvl="0" indent="0" algn="ctr">
              <a:lnSpc>
                <a:spcPts val="4106"/>
              </a:lnSpc>
            </a:pPr>
            <a:r>
              <a:rPr lang="en-US" sz="4106" b="1">
                <a:solidFill>
                  <a:srgbClr val="324370"/>
                </a:solidFill>
                <a:latin typeface="Montserrat Ultra-Bold"/>
                <a:ea typeface="Montserrat Ultra-Bold"/>
                <a:cs typeface="Montserrat Ultra-Bold"/>
                <a:sym typeface="Montserrat Ultra-Bold"/>
              </a:rPr>
              <a:t>6.</a:t>
            </a:r>
          </a:p>
        </p:txBody>
      </p:sp>
      <p:sp>
        <p:nvSpPr>
          <p:cNvPr id="15" name="TextBox 15"/>
          <p:cNvSpPr txBox="1"/>
          <p:nvPr/>
        </p:nvSpPr>
        <p:spPr>
          <a:xfrm>
            <a:off x="10669392" y="7369063"/>
            <a:ext cx="6351413" cy="800100"/>
          </a:xfrm>
          <a:prstGeom prst="rect">
            <a:avLst/>
          </a:prstGeom>
        </p:spPr>
        <p:txBody>
          <a:bodyPr lIns="0" tIns="0" rIns="0" bIns="0" rtlCol="0" anchor="t">
            <a:spAutoFit/>
          </a:bodyPr>
          <a:lstStyle/>
          <a:p>
            <a:pPr marL="0" lvl="0" indent="0" algn="just">
              <a:lnSpc>
                <a:spcPts val="2100"/>
              </a:lnSpc>
            </a:pPr>
            <a:r>
              <a:rPr lang="en-US" sz="1500" b="1">
                <a:solidFill>
                  <a:srgbClr val="324370"/>
                </a:solidFill>
                <a:latin typeface="Montserrat Bold"/>
                <a:ea typeface="Montserrat Bold"/>
                <a:cs typeface="Montserrat Bold"/>
                <a:sym typeface="Montserrat Bold"/>
              </a:rPr>
              <a:t>Remote HTTP MCP servers: implement OAuth 2.1 resource server model with access tokens, claims, and roles to enforce secure, auditable caller identity.</a:t>
            </a:r>
          </a:p>
        </p:txBody>
      </p:sp>
      <p:sp>
        <p:nvSpPr>
          <p:cNvPr id="16" name="TextBox 16"/>
          <p:cNvSpPr txBox="1"/>
          <p:nvPr/>
        </p:nvSpPr>
        <p:spPr>
          <a:xfrm>
            <a:off x="16064649" y="1565321"/>
            <a:ext cx="1476375" cy="476250"/>
          </a:xfrm>
          <a:prstGeom prst="rect">
            <a:avLst/>
          </a:prstGeom>
        </p:spPr>
        <p:txBody>
          <a:bodyPr lIns="0" tIns="0" rIns="0" bIns="0" rtlCol="0" anchor="t">
            <a:spAutoFit/>
          </a:bodyPr>
          <a:lstStyle/>
          <a:p>
            <a:pPr marL="0" lvl="0" indent="0" algn="ctr">
              <a:lnSpc>
                <a:spcPts val="3540"/>
              </a:lnSpc>
              <a:spcBef>
                <a:spcPct val="0"/>
              </a:spcBef>
            </a:pPr>
            <a:r>
              <a:rPr lang="en-US" sz="3540" b="1" u="none" strike="noStrike">
                <a:solidFill>
                  <a:srgbClr val="8093BB"/>
                </a:solidFill>
                <a:latin typeface="Montserrat Bold"/>
                <a:ea typeface="Montserrat Bold"/>
                <a:cs typeface="Montserrat Bold"/>
                <a:sym typeface="Montserrat Bold"/>
              </a:rPr>
              <a:t>22</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666" b="-666"/>
            </a:stretch>
          </a:blipFill>
        </p:spPr>
      </p:sp>
      <p:sp>
        <p:nvSpPr>
          <p:cNvPr id="3" name="Freeform 3"/>
          <p:cNvSpPr/>
          <p:nvPr/>
        </p:nvSpPr>
        <p:spPr>
          <a:xfrm>
            <a:off x="1028700" y="1028700"/>
            <a:ext cx="6043342" cy="8229600"/>
          </a:xfrm>
          <a:custGeom>
            <a:avLst/>
            <a:gdLst/>
            <a:ahLst/>
            <a:cxnLst/>
            <a:rect l="l" t="t" r="r" b="b"/>
            <a:pathLst>
              <a:path w="6043342" h="8229600">
                <a:moveTo>
                  <a:pt x="0" y="0"/>
                </a:moveTo>
                <a:lnTo>
                  <a:pt x="6043342" y="0"/>
                </a:lnTo>
                <a:lnTo>
                  <a:pt x="6043342" y="8229600"/>
                </a:lnTo>
                <a:lnTo>
                  <a:pt x="0" y="8229600"/>
                </a:lnTo>
                <a:lnTo>
                  <a:pt x="0" y="0"/>
                </a:lnTo>
                <a:close/>
              </a:path>
            </a:pathLst>
          </a:custGeom>
          <a:blipFill>
            <a:blip r:embed="rId3"/>
            <a:stretch>
              <a:fillRect l="-810" r="-810"/>
            </a:stretch>
          </a:blipFill>
        </p:spPr>
      </p:sp>
      <p:sp>
        <p:nvSpPr>
          <p:cNvPr id="4" name="TextBox 4"/>
          <p:cNvSpPr txBox="1"/>
          <p:nvPr/>
        </p:nvSpPr>
        <p:spPr>
          <a:xfrm>
            <a:off x="8061659" y="4775674"/>
            <a:ext cx="9172951" cy="1810312"/>
          </a:xfrm>
          <a:prstGeom prst="rect">
            <a:avLst/>
          </a:prstGeom>
        </p:spPr>
        <p:txBody>
          <a:bodyPr lIns="0" tIns="0" rIns="0" bIns="0" rtlCol="0" anchor="t">
            <a:spAutoFit/>
          </a:bodyPr>
          <a:lstStyle/>
          <a:p>
            <a:pPr marL="0" lvl="0" indent="0" algn="just">
              <a:lnSpc>
                <a:spcPts val="3644"/>
              </a:lnSpc>
            </a:pPr>
            <a:r>
              <a:rPr lang="en-US" sz="2602">
                <a:solidFill>
                  <a:srgbClr val="324370"/>
                </a:solidFill>
                <a:latin typeface="Montserrat"/>
                <a:ea typeface="Montserrat"/>
                <a:cs typeface="Montserrat"/>
                <a:sym typeface="Montserrat"/>
              </a:rPr>
              <a:t>The MCP authorization spec says a protected MCP server acts as an OAuth 2.1 resource server, while the MCP client acts as an OAuth 2.1 client and uses access tokens to call the server.</a:t>
            </a:r>
          </a:p>
        </p:txBody>
      </p:sp>
      <p:sp>
        <p:nvSpPr>
          <p:cNvPr id="5" name="TextBox 5"/>
          <p:cNvSpPr txBox="1"/>
          <p:nvPr/>
        </p:nvSpPr>
        <p:spPr>
          <a:xfrm>
            <a:off x="7254467" y="2144491"/>
            <a:ext cx="10004833" cy="1070610"/>
          </a:xfrm>
          <a:prstGeom prst="rect">
            <a:avLst/>
          </a:prstGeom>
        </p:spPr>
        <p:txBody>
          <a:bodyPr lIns="0" tIns="0" rIns="0" bIns="0" rtlCol="0" anchor="t">
            <a:spAutoFit/>
          </a:bodyPr>
          <a:lstStyle/>
          <a:p>
            <a:pPr marL="0" lvl="0" indent="0" algn="l">
              <a:lnSpc>
                <a:spcPts val="8024"/>
              </a:lnSpc>
            </a:pPr>
            <a:r>
              <a:rPr lang="en-US" sz="8024" b="1">
                <a:solidFill>
                  <a:srgbClr val="324370"/>
                </a:solidFill>
                <a:latin typeface="Montserrat Ultra-Bold"/>
                <a:ea typeface="Montserrat Ultra-Bold"/>
                <a:cs typeface="Montserrat Ultra-Bold"/>
                <a:sym typeface="Montserrat Ultra-Bold"/>
              </a:rPr>
              <a:t>AUTHENTICATION</a:t>
            </a:r>
          </a:p>
        </p:txBody>
      </p:sp>
      <p:grpSp>
        <p:nvGrpSpPr>
          <p:cNvPr id="6" name="Group 6"/>
          <p:cNvGrpSpPr/>
          <p:nvPr/>
        </p:nvGrpSpPr>
        <p:grpSpPr>
          <a:xfrm>
            <a:off x="8061659" y="3411268"/>
            <a:ext cx="9197641" cy="1231494"/>
            <a:chOff x="0" y="0"/>
            <a:chExt cx="2282038" cy="305547"/>
          </a:xfrm>
        </p:grpSpPr>
        <p:sp>
          <p:nvSpPr>
            <p:cNvPr id="7" name="Freeform 7"/>
            <p:cNvSpPr/>
            <p:nvPr/>
          </p:nvSpPr>
          <p:spPr>
            <a:xfrm>
              <a:off x="0" y="0"/>
              <a:ext cx="2282038" cy="305547"/>
            </a:xfrm>
            <a:custGeom>
              <a:avLst/>
              <a:gdLst/>
              <a:ahLst/>
              <a:cxnLst/>
              <a:rect l="l" t="t" r="r" b="b"/>
              <a:pathLst>
                <a:path w="2282038" h="305547">
                  <a:moveTo>
                    <a:pt x="0" y="0"/>
                  </a:moveTo>
                  <a:lnTo>
                    <a:pt x="2282038" y="0"/>
                  </a:lnTo>
                  <a:lnTo>
                    <a:pt x="2282038" y="305547"/>
                  </a:lnTo>
                  <a:lnTo>
                    <a:pt x="0" y="305547"/>
                  </a:lnTo>
                  <a:close/>
                </a:path>
              </a:pathLst>
            </a:custGeom>
            <a:solidFill>
              <a:srgbClr val="324370"/>
            </a:solidFill>
          </p:spPr>
        </p:sp>
        <p:sp>
          <p:nvSpPr>
            <p:cNvPr id="8" name="TextBox 8"/>
            <p:cNvSpPr txBox="1"/>
            <p:nvPr/>
          </p:nvSpPr>
          <p:spPr>
            <a:xfrm>
              <a:off x="0" y="-38100"/>
              <a:ext cx="2282038" cy="343647"/>
            </a:xfrm>
            <a:prstGeom prst="rect">
              <a:avLst/>
            </a:prstGeom>
          </p:spPr>
          <p:txBody>
            <a:bodyPr lIns="42129" tIns="42129" rIns="42129" bIns="42129" rtlCol="0" anchor="ctr"/>
            <a:lstStyle/>
            <a:p>
              <a:pPr marL="0" lvl="0" indent="0" algn="ctr">
                <a:lnSpc>
                  <a:spcPts val="2659"/>
                </a:lnSpc>
              </a:pPr>
              <a:endParaRPr/>
            </a:p>
          </p:txBody>
        </p:sp>
      </p:grpSp>
      <p:sp>
        <p:nvSpPr>
          <p:cNvPr id="9" name="TextBox 9"/>
          <p:cNvSpPr txBox="1"/>
          <p:nvPr/>
        </p:nvSpPr>
        <p:spPr>
          <a:xfrm>
            <a:off x="8061659" y="3663188"/>
            <a:ext cx="9172951" cy="845951"/>
          </a:xfrm>
          <a:prstGeom prst="rect">
            <a:avLst/>
          </a:prstGeom>
        </p:spPr>
        <p:txBody>
          <a:bodyPr lIns="0" tIns="0" rIns="0" bIns="0" rtlCol="0" anchor="t">
            <a:spAutoFit/>
          </a:bodyPr>
          <a:lstStyle/>
          <a:p>
            <a:pPr marL="0" lvl="0" indent="0" algn="ctr">
              <a:lnSpc>
                <a:spcPts val="6305"/>
              </a:lnSpc>
            </a:pPr>
            <a:r>
              <a:rPr lang="en-US" sz="6305" b="1">
                <a:solidFill>
                  <a:srgbClr val="FFFFFF"/>
                </a:solidFill>
                <a:latin typeface="Montserrat Ultra-Bold"/>
                <a:ea typeface="Montserrat Ultra-Bold"/>
                <a:cs typeface="Montserrat Ultra-Bold"/>
                <a:sym typeface="Montserrat Ultra-Bold"/>
              </a:rPr>
              <a:t>IN MCP SERVER</a:t>
            </a:r>
          </a:p>
        </p:txBody>
      </p:sp>
      <p:grpSp>
        <p:nvGrpSpPr>
          <p:cNvPr id="10" name="Group 10"/>
          <p:cNvGrpSpPr/>
          <p:nvPr/>
        </p:nvGrpSpPr>
        <p:grpSpPr>
          <a:xfrm>
            <a:off x="11284513" y="6664461"/>
            <a:ext cx="2748902" cy="2593839"/>
            <a:chOff x="0" y="0"/>
            <a:chExt cx="682033" cy="643561"/>
          </a:xfrm>
        </p:grpSpPr>
        <p:sp>
          <p:nvSpPr>
            <p:cNvPr id="11" name="Freeform 11"/>
            <p:cNvSpPr/>
            <p:nvPr/>
          </p:nvSpPr>
          <p:spPr>
            <a:xfrm>
              <a:off x="0" y="0"/>
              <a:ext cx="682033" cy="643561"/>
            </a:xfrm>
            <a:custGeom>
              <a:avLst/>
              <a:gdLst/>
              <a:ahLst/>
              <a:cxnLst/>
              <a:rect l="l" t="t" r="r" b="b"/>
              <a:pathLst>
                <a:path w="682033" h="643561">
                  <a:moveTo>
                    <a:pt x="0" y="0"/>
                  </a:moveTo>
                  <a:lnTo>
                    <a:pt x="682033" y="0"/>
                  </a:lnTo>
                  <a:lnTo>
                    <a:pt x="682033" y="643561"/>
                  </a:lnTo>
                  <a:lnTo>
                    <a:pt x="0" y="643561"/>
                  </a:lnTo>
                  <a:close/>
                </a:path>
              </a:pathLst>
            </a:custGeom>
            <a:solidFill>
              <a:srgbClr val="546791"/>
            </a:solidFill>
          </p:spPr>
        </p:sp>
        <p:sp>
          <p:nvSpPr>
            <p:cNvPr id="12" name="TextBox 12"/>
            <p:cNvSpPr txBox="1"/>
            <p:nvPr/>
          </p:nvSpPr>
          <p:spPr>
            <a:xfrm>
              <a:off x="0" y="-38100"/>
              <a:ext cx="682033" cy="681661"/>
            </a:xfrm>
            <a:prstGeom prst="rect">
              <a:avLst/>
            </a:prstGeom>
          </p:spPr>
          <p:txBody>
            <a:bodyPr lIns="42129" tIns="42129" rIns="42129" bIns="42129" rtlCol="0" anchor="ctr"/>
            <a:lstStyle/>
            <a:p>
              <a:pPr marL="0" lvl="0" indent="0" algn="ctr">
                <a:lnSpc>
                  <a:spcPts val="2659"/>
                </a:lnSpc>
              </a:pPr>
              <a:endParaRPr/>
            </a:p>
          </p:txBody>
        </p:sp>
      </p:grpSp>
      <p:sp>
        <p:nvSpPr>
          <p:cNvPr id="13" name="TextBox 13"/>
          <p:cNvSpPr txBox="1"/>
          <p:nvPr/>
        </p:nvSpPr>
        <p:spPr>
          <a:xfrm>
            <a:off x="12197235" y="7041794"/>
            <a:ext cx="923458" cy="629423"/>
          </a:xfrm>
          <a:prstGeom prst="rect">
            <a:avLst/>
          </a:prstGeom>
        </p:spPr>
        <p:txBody>
          <a:bodyPr lIns="0" tIns="0" rIns="0" bIns="0" rtlCol="0" anchor="t">
            <a:spAutoFit/>
          </a:bodyPr>
          <a:lstStyle/>
          <a:p>
            <a:pPr marL="0" lvl="0" indent="0" algn="ctr">
              <a:lnSpc>
                <a:spcPts val="4758"/>
              </a:lnSpc>
            </a:pPr>
            <a:r>
              <a:rPr lang="en-US" sz="4758" b="1">
                <a:solidFill>
                  <a:srgbClr val="FFFFFF"/>
                </a:solidFill>
                <a:latin typeface="Montserrat Ultra-Bold"/>
                <a:ea typeface="Montserrat Ultra-Bold"/>
                <a:cs typeface="Montserrat Ultra-Bold"/>
                <a:sym typeface="Montserrat Ultra-Bold"/>
              </a:rPr>
              <a:t>2</a:t>
            </a:r>
          </a:p>
        </p:txBody>
      </p:sp>
      <p:sp>
        <p:nvSpPr>
          <p:cNvPr id="14" name="TextBox 14"/>
          <p:cNvSpPr txBox="1"/>
          <p:nvPr/>
        </p:nvSpPr>
        <p:spPr>
          <a:xfrm>
            <a:off x="11615682" y="7642736"/>
            <a:ext cx="2086564" cy="1138519"/>
          </a:xfrm>
          <a:prstGeom prst="rect">
            <a:avLst/>
          </a:prstGeom>
        </p:spPr>
        <p:txBody>
          <a:bodyPr lIns="0" tIns="0" rIns="0" bIns="0" rtlCol="0" anchor="t">
            <a:spAutoFit/>
          </a:bodyPr>
          <a:lstStyle/>
          <a:p>
            <a:pPr marL="0" lvl="0" indent="0" algn="ctr">
              <a:lnSpc>
                <a:spcPts val="1822"/>
              </a:lnSpc>
            </a:pPr>
            <a:r>
              <a:rPr lang="en-US" sz="1301">
                <a:solidFill>
                  <a:srgbClr val="FFFFFF"/>
                </a:solidFill>
                <a:latin typeface="Montserrat"/>
                <a:ea typeface="Montserrat"/>
                <a:cs typeface="Montserrat"/>
                <a:sym typeface="Montserrat"/>
              </a:rPr>
              <a:t>MCP client calls remote .NET MCP server with Bearer token. .NET MCP server validates token</a:t>
            </a:r>
          </a:p>
          <a:p>
            <a:pPr marL="0" lvl="0" indent="0" algn="ctr">
              <a:lnSpc>
                <a:spcPts val="1822"/>
              </a:lnSpc>
            </a:pPr>
            <a:endParaRPr lang="en-US" sz="1301">
              <a:solidFill>
                <a:srgbClr val="FFFFFF"/>
              </a:solidFill>
              <a:latin typeface="Montserrat"/>
              <a:ea typeface="Montserrat"/>
              <a:cs typeface="Montserrat"/>
              <a:sym typeface="Montserrat"/>
            </a:endParaRPr>
          </a:p>
        </p:txBody>
      </p:sp>
      <p:grpSp>
        <p:nvGrpSpPr>
          <p:cNvPr id="15" name="Group 15"/>
          <p:cNvGrpSpPr/>
          <p:nvPr/>
        </p:nvGrpSpPr>
        <p:grpSpPr>
          <a:xfrm>
            <a:off x="14510398" y="6664461"/>
            <a:ext cx="2748902" cy="2593839"/>
            <a:chOff x="0" y="0"/>
            <a:chExt cx="682033" cy="643561"/>
          </a:xfrm>
        </p:grpSpPr>
        <p:sp>
          <p:nvSpPr>
            <p:cNvPr id="16" name="Freeform 16"/>
            <p:cNvSpPr/>
            <p:nvPr/>
          </p:nvSpPr>
          <p:spPr>
            <a:xfrm>
              <a:off x="0" y="0"/>
              <a:ext cx="682033" cy="643561"/>
            </a:xfrm>
            <a:custGeom>
              <a:avLst/>
              <a:gdLst/>
              <a:ahLst/>
              <a:cxnLst/>
              <a:rect l="l" t="t" r="r" b="b"/>
              <a:pathLst>
                <a:path w="682033" h="643561">
                  <a:moveTo>
                    <a:pt x="0" y="0"/>
                  </a:moveTo>
                  <a:lnTo>
                    <a:pt x="682033" y="0"/>
                  </a:lnTo>
                  <a:lnTo>
                    <a:pt x="682033" y="643561"/>
                  </a:lnTo>
                  <a:lnTo>
                    <a:pt x="0" y="643561"/>
                  </a:lnTo>
                  <a:close/>
                </a:path>
              </a:pathLst>
            </a:custGeom>
            <a:solidFill>
              <a:srgbClr val="334368"/>
            </a:solidFill>
          </p:spPr>
        </p:sp>
        <p:sp>
          <p:nvSpPr>
            <p:cNvPr id="17" name="TextBox 17"/>
            <p:cNvSpPr txBox="1"/>
            <p:nvPr/>
          </p:nvSpPr>
          <p:spPr>
            <a:xfrm>
              <a:off x="0" y="-38100"/>
              <a:ext cx="682033" cy="681661"/>
            </a:xfrm>
            <a:prstGeom prst="rect">
              <a:avLst/>
            </a:prstGeom>
          </p:spPr>
          <p:txBody>
            <a:bodyPr lIns="42129" tIns="42129" rIns="42129" bIns="42129" rtlCol="0" anchor="ctr"/>
            <a:lstStyle/>
            <a:p>
              <a:pPr marL="0" lvl="0" indent="0" algn="ctr">
                <a:lnSpc>
                  <a:spcPts val="2659"/>
                </a:lnSpc>
              </a:pPr>
              <a:endParaRPr/>
            </a:p>
          </p:txBody>
        </p:sp>
      </p:grpSp>
      <p:sp>
        <p:nvSpPr>
          <p:cNvPr id="18" name="TextBox 18"/>
          <p:cNvSpPr txBox="1"/>
          <p:nvPr/>
        </p:nvSpPr>
        <p:spPr>
          <a:xfrm>
            <a:off x="15423120" y="7041794"/>
            <a:ext cx="923458" cy="629423"/>
          </a:xfrm>
          <a:prstGeom prst="rect">
            <a:avLst/>
          </a:prstGeom>
        </p:spPr>
        <p:txBody>
          <a:bodyPr lIns="0" tIns="0" rIns="0" bIns="0" rtlCol="0" anchor="t">
            <a:spAutoFit/>
          </a:bodyPr>
          <a:lstStyle/>
          <a:p>
            <a:pPr marL="0" lvl="0" indent="0" algn="ctr">
              <a:lnSpc>
                <a:spcPts val="4758"/>
              </a:lnSpc>
            </a:pPr>
            <a:r>
              <a:rPr lang="en-US" sz="4758" b="1">
                <a:solidFill>
                  <a:srgbClr val="FFFFFF"/>
                </a:solidFill>
                <a:latin typeface="Montserrat Ultra-Bold"/>
                <a:ea typeface="Montserrat Ultra-Bold"/>
                <a:cs typeface="Montserrat Ultra-Bold"/>
                <a:sym typeface="Montserrat Ultra-Bold"/>
              </a:rPr>
              <a:t>3</a:t>
            </a:r>
          </a:p>
        </p:txBody>
      </p:sp>
      <p:sp>
        <p:nvSpPr>
          <p:cNvPr id="19" name="TextBox 19"/>
          <p:cNvSpPr txBox="1"/>
          <p:nvPr/>
        </p:nvSpPr>
        <p:spPr>
          <a:xfrm>
            <a:off x="14841567" y="7642736"/>
            <a:ext cx="2086564" cy="681319"/>
          </a:xfrm>
          <a:prstGeom prst="rect">
            <a:avLst/>
          </a:prstGeom>
        </p:spPr>
        <p:txBody>
          <a:bodyPr lIns="0" tIns="0" rIns="0" bIns="0" rtlCol="0" anchor="t">
            <a:spAutoFit/>
          </a:bodyPr>
          <a:lstStyle/>
          <a:p>
            <a:pPr marL="0" lvl="0" indent="0" algn="ctr">
              <a:lnSpc>
                <a:spcPts val="1822"/>
              </a:lnSpc>
            </a:pPr>
            <a:r>
              <a:rPr lang="en-US" sz="1301">
                <a:solidFill>
                  <a:srgbClr val="FFFFFF"/>
                </a:solidFill>
                <a:latin typeface="Montserrat"/>
                <a:ea typeface="Montserrat"/>
                <a:cs typeface="Montserrat"/>
                <a:sym typeface="Montserrat"/>
              </a:rPr>
              <a:t>.NET MCP server checks roles/claims/policies and connects to SQL Server.</a:t>
            </a:r>
          </a:p>
        </p:txBody>
      </p:sp>
      <p:grpSp>
        <p:nvGrpSpPr>
          <p:cNvPr id="20" name="Group 20"/>
          <p:cNvGrpSpPr/>
          <p:nvPr/>
        </p:nvGrpSpPr>
        <p:grpSpPr>
          <a:xfrm>
            <a:off x="8061659" y="6664461"/>
            <a:ext cx="2748902" cy="2593839"/>
            <a:chOff x="0" y="0"/>
            <a:chExt cx="682033" cy="643561"/>
          </a:xfrm>
        </p:grpSpPr>
        <p:sp>
          <p:nvSpPr>
            <p:cNvPr id="21" name="Freeform 21"/>
            <p:cNvSpPr/>
            <p:nvPr/>
          </p:nvSpPr>
          <p:spPr>
            <a:xfrm>
              <a:off x="0" y="0"/>
              <a:ext cx="682033" cy="643561"/>
            </a:xfrm>
            <a:custGeom>
              <a:avLst/>
              <a:gdLst/>
              <a:ahLst/>
              <a:cxnLst/>
              <a:rect l="l" t="t" r="r" b="b"/>
              <a:pathLst>
                <a:path w="682033" h="643561">
                  <a:moveTo>
                    <a:pt x="0" y="0"/>
                  </a:moveTo>
                  <a:lnTo>
                    <a:pt x="682033" y="0"/>
                  </a:lnTo>
                  <a:lnTo>
                    <a:pt x="682033" y="643561"/>
                  </a:lnTo>
                  <a:lnTo>
                    <a:pt x="0" y="643561"/>
                  </a:lnTo>
                  <a:close/>
                </a:path>
              </a:pathLst>
            </a:custGeom>
            <a:solidFill>
              <a:srgbClr val="8093BB"/>
            </a:solidFill>
          </p:spPr>
        </p:sp>
        <p:sp>
          <p:nvSpPr>
            <p:cNvPr id="22" name="TextBox 22"/>
            <p:cNvSpPr txBox="1"/>
            <p:nvPr/>
          </p:nvSpPr>
          <p:spPr>
            <a:xfrm>
              <a:off x="0" y="-38100"/>
              <a:ext cx="682033" cy="681661"/>
            </a:xfrm>
            <a:prstGeom prst="rect">
              <a:avLst/>
            </a:prstGeom>
          </p:spPr>
          <p:txBody>
            <a:bodyPr lIns="42129" tIns="42129" rIns="42129" bIns="42129" rtlCol="0" anchor="ctr"/>
            <a:lstStyle/>
            <a:p>
              <a:pPr marL="0" lvl="0" indent="0" algn="ctr">
                <a:lnSpc>
                  <a:spcPts val="2659"/>
                </a:lnSpc>
              </a:pPr>
              <a:endParaRPr/>
            </a:p>
          </p:txBody>
        </p:sp>
      </p:grpSp>
      <p:sp>
        <p:nvSpPr>
          <p:cNvPr id="23" name="TextBox 23"/>
          <p:cNvSpPr txBox="1"/>
          <p:nvPr/>
        </p:nvSpPr>
        <p:spPr>
          <a:xfrm>
            <a:off x="8974381" y="7041794"/>
            <a:ext cx="923458" cy="629423"/>
          </a:xfrm>
          <a:prstGeom prst="rect">
            <a:avLst/>
          </a:prstGeom>
        </p:spPr>
        <p:txBody>
          <a:bodyPr lIns="0" tIns="0" rIns="0" bIns="0" rtlCol="0" anchor="t">
            <a:spAutoFit/>
          </a:bodyPr>
          <a:lstStyle/>
          <a:p>
            <a:pPr marL="0" lvl="0" indent="0" algn="ctr">
              <a:lnSpc>
                <a:spcPts val="4758"/>
              </a:lnSpc>
            </a:pPr>
            <a:r>
              <a:rPr lang="en-US" sz="4758" b="1">
                <a:solidFill>
                  <a:srgbClr val="FFFFFF"/>
                </a:solidFill>
                <a:latin typeface="Montserrat Ultra-Bold"/>
                <a:ea typeface="Montserrat Ultra-Bold"/>
                <a:cs typeface="Montserrat Ultra-Bold"/>
                <a:sym typeface="Montserrat Ultra-Bold"/>
              </a:rPr>
              <a:t>1</a:t>
            </a:r>
          </a:p>
        </p:txBody>
      </p:sp>
      <p:sp>
        <p:nvSpPr>
          <p:cNvPr id="24" name="TextBox 24"/>
          <p:cNvSpPr txBox="1"/>
          <p:nvPr/>
        </p:nvSpPr>
        <p:spPr>
          <a:xfrm>
            <a:off x="8392828" y="7642736"/>
            <a:ext cx="2086564" cy="1138519"/>
          </a:xfrm>
          <a:prstGeom prst="rect">
            <a:avLst/>
          </a:prstGeom>
        </p:spPr>
        <p:txBody>
          <a:bodyPr lIns="0" tIns="0" rIns="0" bIns="0" rtlCol="0" anchor="t">
            <a:spAutoFit/>
          </a:bodyPr>
          <a:lstStyle/>
          <a:p>
            <a:pPr marL="0" lvl="0" indent="0" algn="ctr">
              <a:lnSpc>
                <a:spcPts val="1822"/>
              </a:lnSpc>
            </a:pPr>
            <a:r>
              <a:rPr lang="en-US" sz="1301">
                <a:solidFill>
                  <a:srgbClr val="FFFFFF"/>
                </a:solidFill>
                <a:latin typeface="Montserrat"/>
                <a:ea typeface="Montserrat"/>
                <a:cs typeface="Montserrat"/>
                <a:sym typeface="Montserrat"/>
              </a:rPr>
              <a:t>User logs in to Claude / enterprise host. MCP client obtains access token through OAuth / identity provider</a:t>
            </a:r>
          </a:p>
        </p:txBody>
      </p:sp>
      <p:sp>
        <p:nvSpPr>
          <p:cNvPr id="25" name="TextBox 25"/>
          <p:cNvSpPr txBox="1"/>
          <p:nvPr/>
        </p:nvSpPr>
        <p:spPr>
          <a:xfrm>
            <a:off x="15764299" y="742950"/>
            <a:ext cx="1476375" cy="781050"/>
          </a:xfrm>
          <a:prstGeom prst="rect">
            <a:avLst/>
          </a:prstGeom>
        </p:spPr>
        <p:txBody>
          <a:bodyPr lIns="0" tIns="0" rIns="0" bIns="0" rtlCol="0" anchor="t">
            <a:spAutoFit/>
          </a:bodyPr>
          <a:lstStyle/>
          <a:p>
            <a:pPr marL="0" lvl="0" indent="0" algn="ctr">
              <a:lnSpc>
                <a:spcPts val="5820"/>
              </a:lnSpc>
              <a:spcBef>
                <a:spcPct val="0"/>
              </a:spcBef>
            </a:pPr>
            <a:r>
              <a:rPr lang="en-US" sz="5820" b="1" u="none" strike="noStrike">
                <a:solidFill>
                  <a:srgbClr val="8093BB"/>
                </a:solidFill>
                <a:latin typeface="Montserrat Bold"/>
                <a:ea typeface="Montserrat Bold"/>
                <a:cs typeface="Montserrat Bold"/>
                <a:sym typeface="Montserrat Bold"/>
              </a:rPr>
              <a:t>23</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59" b="-9259"/>
            </a:stretch>
          </a:blipFill>
        </p:spPr>
      </p:sp>
      <p:sp>
        <p:nvSpPr>
          <p:cNvPr id="3" name="Freeform 3"/>
          <p:cNvSpPr/>
          <p:nvPr/>
        </p:nvSpPr>
        <p:spPr>
          <a:xfrm>
            <a:off x="1028700" y="1028700"/>
            <a:ext cx="6043342" cy="8229600"/>
          </a:xfrm>
          <a:custGeom>
            <a:avLst/>
            <a:gdLst/>
            <a:ahLst/>
            <a:cxnLst/>
            <a:rect l="l" t="t" r="r" b="b"/>
            <a:pathLst>
              <a:path w="6043342" h="8229600">
                <a:moveTo>
                  <a:pt x="0" y="0"/>
                </a:moveTo>
                <a:lnTo>
                  <a:pt x="6043342" y="0"/>
                </a:lnTo>
                <a:lnTo>
                  <a:pt x="6043342" y="8229600"/>
                </a:lnTo>
                <a:lnTo>
                  <a:pt x="0" y="8229600"/>
                </a:lnTo>
                <a:lnTo>
                  <a:pt x="0" y="0"/>
                </a:lnTo>
                <a:close/>
              </a:path>
            </a:pathLst>
          </a:custGeom>
          <a:blipFill>
            <a:blip r:embed="rId3"/>
            <a:stretch>
              <a:fillRect l="-810" r="-810"/>
            </a:stretch>
          </a:blipFill>
        </p:spPr>
      </p:sp>
      <p:sp>
        <p:nvSpPr>
          <p:cNvPr id="4" name="TextBox 4"/>
          <p:cNvSpPr txBox="1"/>
          <p:nvPr/>
        </p:nvSpPr>
        <p:spPr>
          <a:xfrm>
            <a:off x="8061659" y="4766149"/>
            <a:ext cx="9172951" cy="1416516"/>
          </a:xfrm>
          <a:prstGeom prst="rect">
            <a:avLst/>
          </a:prstGeom>
        </p:spPr>
        <p:txBody>
          <a:bodyPr lIns="0" tIns="0" rIns="0" bIns="0" rtlCol="0" anchor="t">
            <a:spAutoFit/>
          </a:bodyPr>
          <a:lstStyle/>
          <a:p>
            <a:pPr marL="0" lvl="0" indent="0" algn="just">
              <a:lnSpc>
                <a:spcPts val="3824"/>
              </a:lnSpc>
            </a:pPr>
            <a:r>
              <a:rPr lang="en-US" sz="2731">
                <a:solidFill>
                  <a:srgbClr val="324370"/>
                </a:solidFill>
                <a:latin typeface="Montserrat"/>
                <a:ea typeface="Montserrat"/>
                <a:cs typeface="Montserrat"/>
                <a:sym typeface="Montserrat"/>
              </a:rPr>
              <a:t>The MCP server should check authorization before executing any database operation.</a:t>
            </a:r>
          </a:p>
          <a:p>
            <a:pPr marL="0" lvl="0" indent="0" algn="just">
              <a:lnSpc>
                <a:spcPts val="3824"/>
              </a:lnSpc>
            </a:pPr>
            <a:endParaRPr lang="en-US" sz="2731">
              <a:solidFill>
                <a:srgbClr val="324370"/>
              </a:solidFill>
              <a:latin typeface="Montserrat"/>
              <a:ea typeface="Montserrat"/>
              <a:cs typeface="Montserrat"/>
              <a:sym typeface="Montserrat"/>
            </a:endParaRPr>
          </a:p>
        </p:txBody>
      </p:sp>
      <p:sp>
        <p:nvSpPr>
          <p:cNvPr id="5" name="TextBox 5"/>
          <p:cNvSpPr txBox="1"/>
          <p:nvPr/>
        </p:nvSpPr>
        <p:spPr>
          <a:xfrm>
            <a:off x="9144000" y="2096866"/>
            <a:ext cx="8115300" cy="776951"/>
          </a:xfrm>
          <a:prstGeom prst="rect">
            <a:avLst/>
          </a:prstGeom>
        </p:spPr>
        <p:txBody>
          <a:bodyPr lIns="0" tIns="0" rIns="0" bIns="0" rtlCol="0" anchor="t">
            <a:spAutoFit/>
          </a:bodyPr>
          <a:lstStyle/>
          <a:p>
            <a:pPr marL="0" lvl="0" indent="0" algn="l">
              <a:lnSpc>
                <a:spcPts val="5838"/>
              </a:lnSpc>
            </a:pPr>
            <a:r>
              <a:rPr lang="en-US" sz="5838" b="1">
                <a:solidFill>
                  <a:srgbClr val="324370"/>
                </a:solidFill>
                <a:latin typeface="Montserrat Ultra-Bold"/>
                <a:ea typeface="Montserrat Ultra-Bold"/>
                <a:cs typeface="Montserrat Ultra-Bold"/>
                <a:sym typeface="Montserrat Ultra-Bold"/>
              </a:rPr>
              <a:t>AUTHORIZATION</a:t>
            </a:r>
          </a:p>
        </p:txBody>
      </p:sp>
      <p:grpSp>
        <p:nvGrpSpPr>
          <p:cNvPr id="6" name="Group 6"/>
          <p:cNvGrpSpPr/>
          <p:nvPr/>
        </p:nvGrpSpPr>
        <p:grpSpPr>
          <a:xfrm>
            <a:off x="8061659" y="3411268"/>
            <a:ext cx="9197641" cy="1231494"/>
            <a:chOff x="0" y="0"/>
            <a:chExt cx="2282038" cy="305547"/>
          </a:xfrm>
        </p:grpSpPr>
        <p:sp>
          <p:nvSpPr>
            <p:cNvPr id="7" name="Freeform 7"/>
            <p:cNvSpPr/>
            <p:nvPr/>
          </p:nvSpPr>
          <p:spPr>
            <a:xfrm>
              <a:off x="0" y="0"/>
              <a:ext cx="2282038" cy="305547"/>
            </a:xfrm>
            <a:custGeom>
              <a:avLst/>
              <a:gdLst/>
              <a:ahLst/>
              <a:cxnLst/>
              <a:rect l="l" t="t" r="r" b="b"/>
              <a:pathLst>
                <a:path w="2282038" h="305547">
                  <a:moveTo>
                    <a:pt x="0" y="0"/>
                  </a:moveTo>
                  <a:lnTo>
                    <a:pt x="2282038" y="0"/>
                  </a:lnTo>
                  <a:lnTo>
                    <a:pt x="2282038" y="305547"/>
                  </a:lnTo>
                  <a:lnTo>
                    <a:pt x="0" y="305547"/>
                  </a:lnTo>
                  <a:close/>
                </a:path>
              </a:pathLst>
            </a:custGeom>
            <a:solidFill>
              <a:srgbClr val="324370"/>
            </a:solidFill>
          </p:spPr>
        </p:sp>
        <p:sp>
          <p:nvSpPr>
            <p:cNvPr id="8" name="TextBox 8"/>
            <p:cNvSpPr txBox="1"/>
            <p:nvPr/>
          </p:nvSpPr>
          <p:spPr>
            <a:xfrm>
              <a:off x="0" y="-38100"/>
              <a:ext cx="2282038" cy="343647"/>
            </a:xfrm>
            <a:prstGeom prst="rect">
              <a:avLst/>
            </a:prstGeom>
          </p:spPr>
          <p:txBody>
            <a:bodyPr lIns="42129" tIns="42129" rIns="42129" bIns="42129" rtlCol="0" anchor="ctr"/>
            <a:lstStyle/>
            <a:p>
              <a:pPr marL="0" lvl="0" indent="0" algn="ctr">
                <a:lnSpc>
                  <a:spcPts val="2659"/>
                </a:lnSpc>
              </a:pPr>
              <a:endParaRPr/>
            </a:p>
          </p:txBody>
        </p:sp>
      </p:grpSp>
      <p:sp>
        <p:nvSpPr>
          <p:cNvPr id="9" name="TextBox 9"/>
          <p:cNvSpPr txBox="1"/>
          <p:nvPr/>
        </p:nvSpPr>
        <p:spPr>
          <a:xfrm>
            <a:off x="8061659" y="3663188"/>
            <a:ext cx="9172951" cy="845951"/>
          </a:xfrm>
          <a:prstGeom prst="rect">
            <a:avLst/>
          </a:prstGeom>
        </p:spPr>
        <p:txBody>
          <a:bodyPr lIns="0" tIns="0" rIns="0" bIns="0" rtlCol="0" anchor="t">
            <a:spAutoFit/>
          </a:bodyPr>
          <a:lstStyle/>
          <a:p>
            <a:pPr marL="0" lvl="0" indent="0" algn="ctr">
              <a:lnSpc>
                <a:spcPts val="6305"/>
              </a:lnSpc>
            </a:pPr>
            <a:r>
              <a:rPr lang="en-US" sz="6305" b="1">
                <a:solidFill>
                  <a:srgbClr val="FFFFFF"/>
                </a:solidFill>
                <a:latin typeface="Montserrat Ultra-Bold"/>
                <a:ea typeface="Montserrat Ultra-Bold"/>
                <a:cs typeface="Montserrat Ultra-Bold"/>
                <a:sym typeface="Montserrat Ultra-Bold"/>
              </a:rPr>
              <a:t>IN MCP SERVER</a:t>
            </a:r>
          </a:p>
        </p:txBody>
      </p:sp>
      <p:grpSp>
        <p:nvGrpSpPr>
          <p:cNvPr id="10" name="Group 10"/>
          <p:cNvGrpSpPr/>
          <p:nvPr/>
        </p:nvGrpSpPr>
        <p:grpSpPr>
          <a:xfrm>
            <a:off x="11284513" y="6664461"/>
            <a:ext cx="2748902" cy="2593839"/>
            <a:chOff x="0" y="0"/>
            <a:chExt cx="682033" cy="643561"/>
          </a:xfrm>
        </p:grpSpPr>
        <p:sp>
          <p:nvSpPr>
            <p:cNvPr id="11" name="Freeform 11"/>
            <p:cNvSpPr/>
            <p:nvPr/>
          </p:nvSpPr>
          <p:spPr>
            <a:xfrm>
              <a:off x="0" y="0"/>
              <a:ext cx="682033" cy="643561"/>
            </a:xfrm>
            <a:custGeom>
              <a:avLst/>
              <a:gdLst/>
              <a:ahLst/>
              <a:cxnLst/>
              <a:rect l="l" t="t" r="r" b="b"/>
              <a:pathLst>
                <a:path w="682033" h="643561">
                  <a:moveTo>
                    <a:pt x="0" y="0"/>
                  </a:moveTo>
                  <a:lnTo>
                    <a:pt x="682033" y="0"/>
                  </a:lnTo>
                  <a:lnTo>
                    <a:pt x="682033" y="643561"/>
                  </a:lnTo>
                  <a:lnTo>
                    <a:pt x="0" y="643561"/>
                  </a:lnTo>
                  <a:close/>
                </a:path>
              </a:pathLst>
            </a:custGeom>
            <a:solidFill>
              <a:srgbClr val="546791"/>
            </a:solidFill>
          </p:spPr>
        </p:sp>
        <p:sp>
          <p:nvSpPr>
            <p:cNvPr id="12" name="TextBox 12"/>
            <p:cNvSpPr txBox="1"/>
            <p:nvPr/>
          </p:nvSpPr>
          <p:spPr>
            <a:xfrm>
              <a:off x="0" y="-38100"/>
              <a:ext cx="682033" cy="681661"/>
            </a:xfrm>
            <a:prstGeom prst="rect">
              <a:avLst/>
            </a:prstGeom>
          </p:spPr>
          <p:txBody>
            <a:bodyPr lIns="42129" tIns="42129" rIns="42129" bIns="42129" rtlCol="0" anchor="ctr"/>
            <a:lstStyle/>
            <a:p>
              <a:pPr marL="0" lvl="0" indent="0" algn="ctr">
                <a:lnSpc>
                  <a:spcPts val="2659"/>
                </a:lnSpc>
              </a:pPr>
              <a:endParaRPr/>
            </a:p>
          </p:txBody>
        </p:sp>
      </p:grpSp>
      <p:sp>
        <p:nvSpPr>
          <p:cNvPr id="13" name="TextBox 13"/>
          <p:cNvSpPr txBox="1"/>
          <p:nvPr/>
        </p:nvSpPr>
        <p:spPr>
          <a:xfrm>
            <a:off x="12197235" y="7041794"/>
            <a:ext cx="923458" cy="629423"/>
          </a:xfrm>
          <a:prstGeom prst="rect">
            <a:avLst/>
          </a:prstGeom>
        </p:spPr>
        <p:txBody>
          <a:bodyPr lIns="0" tIns="0" rIns="0" bIns="0" rtlCol="0" anchor="t">
            <a:spAutoFit/>
          </a:bodyPr>
          <a:lstStyle/>
          <a:p>
            <a:pPr marL="0" lvl="0" indent="0" algn="ctr">
              <a:lnSpc>
                <a:spcPts val="4758"/>
              </a:lnSpc>
            </a:pPr>
            <a:r>
              <a:rPr lang="en-US" sz="4758" b="1">
                <a:solidFill>
                  <a:srgbClr val="FFFFFF"/>
                </a:solidFill>
                <a:latin typeface="Montserrat Ultra-Bold"/>
                <a:ea typeface="Montserrat Ultra-Bold"/>
                <a:cs typeface="Montserrat Ultra-Bold"/>
                <a:sym typeface="Montserrat Ultra-Bold"/>
              </a:rPr>
              <a:t>2</a:t>
            </a:r>
          </a:p>
        </p:txBody>
      </p:sp>
      <p:sp>
        <p:nvSpPr>
          <p:cNvPr id="14" name="TextBox 14"/>
          <p:cNvSpPr txBox="1"/>
          <p:nvPr/>
        </p:nvSpPr>
        <p:spPr>
          <a:xfrm>
            <a:off x="11615682" y="7642736"/>
            <a:ext cx="2086564" cy="232134"/>
          </a:xfrm>
          <a:prstGeom prst="rect">
            <a:avLst/>
          </a:prstGeom>
        </p:spPr>
        <p:txBody>
          <a:bodyPr lIns="0" tIns="0" rIns="0" bIns="0" rtlCol="0" anchor="t">
            <a:spAutoFit/>
          </a:bodyPr>
          <a:lstStyle/>
          <a:p>
            <a:pPr marL="0" lvl="0" indent="0" algn="ctr">
              <a:lnSpc>
                <a:spcPts val="1905"/>
              </a:lnSpc>
            </a:pPr>
            <a:r>
              <a:rPr lang="en-US" sz="1360">
                <a:solidFill>
                  <a:srgbClr val="FFFFFF"/>
                </a:solidFill>
                <a:latin typeface="Montserrat"/>
                <a:ea typeface="Montserrat"/>
                <a:cs typeface="Montserrat"/>
                <a:sym typeface="Montserrat"/>
              </a:rPr>
              <a:t>Operation Level</a:t>
            </a:r>
          </a:p>
        </p:txBody>
      </p:sp>
      <p:grpSp>
        <p:nvGrpSpPr>
          <p:cNvPr id="15" name="Group 15"/>
          <p:cNvGrpSpPr/>
          <p:nvPr/>
        </p:nvGrpSpPr>
        <p:grpSpPr>
          <a:xfrm>
            <a:off x="14510398" y="6664461"/>
            <a:ext cx="2748902" cy="2593839"/>
            <a:chOff x="0" y="0"/>
            <a:chExt cx="682033" cy="643561"/>
          </a:xfrm>
        </p:grpSpPr>
        <p:sp>
          <p:nvSpPr>
            <p:cNvPr id="16" name="Freeform 16"/>
            <p:cNvSpPr/>
            <p:nvPr/>
          </p:nvSpPr>
          <p:spPr>
            <a:xfrm>
              <a:off x="0" y="0"/>
              <a:ext cx="682033" cy="643561"/>
            </a:xfrm>
            <a:custGeom>
              <a:avLst/>
              <a:gdLst/>
              <a:ahLst/>
              <a:cxnLst/>
              <a:rect l="l" t="t" r="r" b="b"/>
              <a:pathLst>
                <a:path w="682033" h="643561">
                  <a:moveTo>
                    <a:pt x="0" y="0"/>
                  </a:moveTo>
                  <a:lnTo>
                    <a:pt x="682033" y="0"/>
                  </a:lnTo>
                  <a:lnTo>
                    <a:pt x="682033" y="643561"/>
                  </a:lnTo>
                  <a:lnTo>
                    <a:pt x="0" y="643561"/>
                  </a:lnTo>
                  <a:close/>
                </a:path>
              </a:pathLst>
            </a:custGeom>
            <a:solidFill>
              <a:srgbClr val="334368"/>
            </a:solidFill>
          </p:spPr>
        </p:sp>
        <p:sp>
          <p:nvSpPr>
            <p:cNvPr id="17" name="TextBox 17"/>
            <p:cNvSpPr txBox="1"/>
            <p:nvPr/>
          </p:nvSpPr>
          <p:spPr>
            <a:xfrm>
              <a:off x="0" y="-38100"/>
              <a:ext cx="682033" cy="681661"/>
            </a:xfrm>
            <a:prstGeom prst="rect">
              <a:avLst/>
            </a:prstGeom>
          </p:spPr>
          <p:txBody>
            <a:bodyPr lIns="42129" tIns="42129" rIns="42129" bIns="42129" rtlCol="0" anchor="ctr"/>
            <a:lstStyle/>
            <a:p>
              <a:pPr marL="0" lvl="0" indent="0" algn="ctr">
                <a:lnSpc>
                  <a:spcPts val="2659"/>
                </a:lnSpc>
              </a:pPr>
              <a:endParaRPr/>
            </a:p>
          </p:txBody>
        </p:sp>
      </p:grpSp>
      <p:sp>
        <p:nvSpPr>
          <p:cNvPr id="18" name="TextBox 18"/>
          <p:cNvSpPr txBox="1"/>
          <p:nvPr/>
        </p:nvSpPr>
        <p:spPr>
          <a:xfrm>
            <a:off x="15423120" y="7041794"/>
            <a:ext cx="923458" cy="629423"/>
          </a:xfrm>
          <a:prstGeom prst="rect">
            <a:avLst/>
          </a:prstGeom>
        </p:spPr>
        <p:txBody>
          <a:bodyPr lIns="0" tIns="0" rIns="0" bIns="0" rtlCol="0" anchor="t">
            <a:spAutoFit/>
          </a:bodyPr>
          <a:lstStyle/>
          <a:p>
            <a:pPr marL="0" lvl="0" indent="0" algn="ctr">
              <a:lnSpc>
                <a:spcPts val="4758"/>
              </a:lnSpc>
            </a:pPr>
            <a:r>
              <a:rPr lang="en-US" sz="4758" b="1">
                <a:solidFill>
                  <a:srgbClr val="FFFFFF"/>
                </a:solidFill>
                <a:latin typeface="Montserrat Ultra-Bold"/>
                <a:ea typeface="Montserrat Ultra-Bold"/>
                <a:cs typeface="Montserrat Ultra-Bold"/>
                <a:sym typeface="Montserrat Ultra-Bold"/>
              </a:rPr>
              <a:t>3</a:t>
            </a:r>
          </a:p>
        </p:txBody>
      </p:sp>
      <p:sp>
        <p:nvSpPr>
          <p:cNvPr id="19" name="TextBox 19"/>
          <p:cNvSpPr txBox="1"/>
          <p:nvPr/>
        </p:nvSpPr>
        <p:spPr>
          <a:xfrm>
            <a:off x="14841567" y="7642736"/>
            <a:ext cx="2086564" cy="232134"/>
          </a:xfrm>
          <a:prstGeom prst="rect">
            <a:avLst/>
          </a:prstGeom>
        </p:spPr>
        <p:txBody>
          <a:bodyPr lIns="0" tIns="0" rIns="0" bIns="0" rtlCol="0" anchor="t">
            <a:spAutoFit/>
          </a:bodyPr>
          <a:lstStyle/>
          <a:p>
            <a:pPr marL="0" lvl="0" indent="0" algn="ctr">
              <a:lnSpc>
                <a:spcPts val="1905"/>
              </a:lnSpc>
            </a:pPr>
            <a:r>
              <a:rPr lang="en-US" sz="1360">
                <a:solidFill>
                  <a:srgbClr val="FFFFFF"/>
                </a:solidFill>
                <a:latin typeface="Montserrat"/>
                <a:ea typeface="Montserrat"/>
                <a:cs typeface="Montserrat"/>
                <a:sym typeface="Montserrat"/>
              </a:rPr>
              <a:t>Table/Row/Column level</a:t>
            </a:r>
          </a:p>
        </p:txBody>
      </p:sp>
      <p:grpSp>
        <p:nvGrpSpPr>
          <p:cNvPr id="20" name="Group 20"/>
          <p:cNvGrpSpPr/>
          <p:nvPr/>
        </p:nvGrpSpPr>
        <p:grpSpPr>
          <a:xfrm>
            <a:off x="8061659" y="6664461"/>
            <a:ext cx="2748902" cy="2593839"/>
            <a:chOff x="0" y="0"/>
            <a:chExt cx="682033" cy="643561"/>
          </a:xfrm>
        </p:grpSpPr>
        <p:sp>
          <p:nvSpPr>
            <p:cNvPr id="21" name="Freeform 21"/>
            <p:cNvSpPr/>
            <p:nvPr/>
          </p:nvSpPr>
          <p:spPr>
            <a:xfrm>
              <a:off x="0" y="0"/>
              <a:ext cx="682033" cy="643561"/>
            </a:xfrm>
            <a:custGeom>
              <a:avLst/>
              <a:gdLst/>
              <a:ahLst/>
              <a:cxnLst/>
              <a:rect l="l" t="t" r="r" b="b"/>
              <a:pathLst>
                <a:path w="682033" h="643561">
                  <a:moveTo>
                    <a:pt x="0" y="0"/>
                  </a:moveTo>
                  <a:lnTo>
                    <a:pt x="682033" y="0"/>
                  </a:lnTo>
                  <a:lnTo>
                    <a:pt x="682033" y="643561"/>
                  </a:lnTo>
                  <a:lnTo>
                    <a:pt x="0" y="643561"/>
                  </a:lnTo>
                  <a:close/>
                </a:path>
              </a:pathLst>
            </a:custGeom>
            <a:solidFill>
              <a:srgbClr val="8093BB"/>
            </a:solidFill>
          </p:spPr>
        </p:sp>
        <p:sp>
          <p:nvSpPr>
            <p:cNvPr id="22" name="TextBox 22"/>
            <p:cNvSpPr txBox="1"/>
            <p:nvPr/>
          </p:nvSpPr>
          <p:spPr>
            <a:xfrm>
              <a:off x="0" y="-38100"/>
              <a:ext cx="682033" cy="681661"/>
            </a:xfrm>
            <a:prstGeom prst="rect">
              <a:avLst/>
            </a:prstGeom>
          </p:spPr>
          <p:txBody>
            <a:bodyPr lIns="42129" tIns="42129" rIns="42129" bIns="42129" rtlCol="0" anchor="ctr"/>
            <a:lstStyle/>
            <a:p>
              <a:pPr marL="0" lvl="0" indent="0" algn="ctr">
                <a:lnSpc>
                  <a:spcPts val="2659"/>
                </a:lnSpc>
              </a:pPr>
              <a:endParaRPr/>
            </a:p>
          </p:txBody>
        </p:sp>
      </p:grpSp>
      <p:sp>
        <p:nvSpPr>
          <p:cNvPr id="23" name="TextBox 23"/>
          <p:cNvSpPr txBox="1"/>
          <p:nvPr/>
        </p:nvSpPr>
        <p:spPr>
          <a:xfrm>
            <a:off x="8974381" y="7041794"/>
            <a:ext cx="923458" cy="629423"/>
          </a:xfrm>
          <a:prstGeom prst="rect">
            <a:avLst/>
          </a:prstGeom>
        </p:spPr>
        <p:txBody>
          <a:bodyPr lIns="0" tIns="0" rIns="0" bIns="0" rtlCol="0" anchor="t">
            <a:spAutoFit/>
          </a:bodyPr>
          <a:lstStyle/>
          <a:p>
            <a:pPr marL="0" lvl="0" indent="0" algn="ctr">
              <a:lnSpc>
                <a:spcPts val="4758"/>
              </a:lnSpc>
            </a:pPr>
            <a:r>
              <a:rPr lang="en-US" sz="4758" b="1">
                <a:solidFill>
                  <a:srgbClr val="FFFFFF"/>
                </a:solidFill>
                <a:latin typeface="Montserrat Ultra-Bold"/>
                <a:ea typeface="Montserrat Ultra-Bold"/>
                <a:cs typeface="Montserrat Ultra-Bold"/>
                <a:sym typeface="Montserrat Ultra-Bold"/>
              </a:rPr>
              <a:t>1</a:t>
            </a:r>
          </a:p>
        </p:txBody>
      </p:sp>
      <p:sp>
        <p:nvSpPr>
          <p:cNvPr id="24" name="TextBox 24"/>
          <p:cNvSpPr txBox="1"/>
          <p:nvPr/>
        </p:nvSpPr>
        <p:spPr>
          <a:xfrm>
            <a:off x="8392828" y="7642736"/>
            <a:ext cx="2086564" cy="232134"/>
          </a:xfrm>
          <a:prstGeom prst="rect">
            <a:avLst/>
          </a:prstGeom>
        </p:spPr>
        <p:txBody>
          <a:bodyPr lIns="0" tIns="0" rIns="0" bIns="0" rtlCol="0" anchor="t">
            <a:spAutoFit/>
          </a:bodyPr>
          <a:lstStyle/>
          <a:p>
            <a:pPr marL="0" lvl="0" indent="0" algn="ctr">
              <a:lnSpc>
                <a:spcPts val="1905"/>
              </a:lnSpc>
            </a:pPr>
            <a:r>
              <a:rPr lang="en-US" sz="1360">
                <a:solidFill>
                  <a:srgbClr val="FFFFFF"/>
                </a:solidFill>
                <a:latin typeface="Montserrat"/>
                <a:ea typeface="Montserrat"/>
                <a:cs typeface="Montserrat"/>
                <a:sym typeface="Montserrat"/>
              </a:rPr>
              <a:t>Tool Level</a:t>
            </a:r>
          </a:p>
        </p:txBody>
      </p:sp>
      <p:sp>
        <p:nvSpPr>
          <p:cNvPr id="25" name="TextBox 25"/>
          <p:cNvSpPr txBox="1"/>
          <p:nvPr/>
        </p:nvSpPr>
        <p:spPr>
          <a:xfrm>
            <a:off x="15764299" y="742950"/>
            <a:ext cx="1476375" cy="781050"/>
          </a:xfrm>
          <a:prstGeom prst="rect">
            <a:avLst/>
          </a:prstGeom>
        </p:spPr>
        <p:txBody>
          <a:bodyPr lIns="0" tIns="0" rIns="0" bIns="0" rtlCol="0" anchor="t">
            <a:spAutoFit/>
          </a:bodyPr>
          <a:lstStyle/>
          <a:p>
            <a:pPr marL="0" lvl="0" indent="0" algn="ctr">
              <a:lnSpc>
                <a:spcPts val="5820"/>
              </a:lnSpc>
              <a:spcBef>
                <a:spcPct val="0"/>
              </a:spcBef>
            </a:pPr>
            <a:r>
              <a:rPr lang="en-US" sz="5820" b="1" u="none" strike="noStrike">
                <a:solidFill>
                  <a:srgbClr val="8093BB"/>
                </a:solidFill>
                <a:latin typeface="Montserrat Bold"/>
                <a:ea typeface="Montserrat Bold"/>
                <a:cs typeface="Montserrat Bold"/>
                <a:sym typeface="Montserrat Bold"/>
              </a:rPr>
              <a:t>24</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666" b="-666"/>
            </a:stretch>
          </a:blipFill>
        </p:spPr>
      </p:sp>
      <p:sp>
        <p:nvSpPr>
          <p:cNvPr id="3" name="TextBox 3"/>
          <p:cNvSpPr txBox="1"/>
          <p:nvPr/>
        </p:nvSpPr>
        <p:spPr>
          <a:xfrm>
            <a:off x="4773314" y="1123950"/>
            <a:ext cx="8741372" cy="1123452"/>
          </a:xfrm>
          <a:prstGeom prst="rect">
            <a:avLst/>
          </a:prstGeom>
        </p:spPr>
        <p:txBody>
          <a:bodyPr lIns="0" tIns="0" rIns="0" bIns="0" rtlCol="0" anchor="t">
            <a:spAutoFit/>
          </a:bodyPr>
          <a:lstStyle/>
          <a:p>
            <a:pPr marL="0" lvl="0" indent="0" algn="ctr">
              <a:lnSpc>
                <a:spcPts val="4382"/>
              </a:lnSpc>
            </a:pPr>
            <a:r>
              <a:rPr lang="en-US" sz="4382" b="1">
                <a:solidFill>
                  <a:srgbClr val="324370"/>
                </a:solidFill>
                <a:latin typeface="Montserrat Ultra-Bold"/>
                <a:ea typeface="Montserrat Ultra-Bold"/>
                <a:cs typeface="Montserrat Ultra-Bold"/>
                <a:sym typeface="Montserrat Ultra-Bold"/>
              </a:rPr>
              <a:t>SQL SERVER SECURITY BEST PRACTICES</a:t>
            </a:r>
          </a:p>
        </p:txBody>
      </p:sp>
      <p:sp>
        <p:nvSpPr>
          <p:cNvPr id="4" name="TextBox 4"/>
          <p:cNvSpPr txBox="1"/>
          <p:nvPr/>
        </p:nvSpPr>
        <p:spPr>
          <a:xfrm>
            <a:off x="1028700" y="2675223"/>
            <a:ext cx="16230600" cy="1244532"/>
          </a:xfrm>
          <a:prstGeom prst="rect">
            <a:avLst/>
          </a:prstGeom>
        </p:spPr>
        <p:txBody>
          <a:bodyPr lIns="0" tIns="0" rIns="0" bIns="0" rtlCol="0" anchor="t">
            <a:spAutoFit/>
          </a:bodyPr>
          <a:lstStyle/>
          <a:p>
            <a:pPr marL="0" lvl="0" indent="0" algn="just">
              <a:lnSpc>
                <a:spcPts val="3328"/>
              </a:lnSpc>
            </a:pPr>
            <a:r>
              <a:rPr lang="en-US" sz="2377">
                <a:solidFill>
                  <a:srgbClr val="324370"/>
                </a:solidFill>
                <a:latin typeface="Montserrat"/>
                <a:ea typeface="Montserrat"/>
                <a:cs typeface="Montserrat"/>
                <a:sym typeface="Montserrat"/>
              </a:rPr>
              <a:t>Protecting your SQL Server from unauthorized access requires layered, database-side defenses. Apply least privilege, use abstraction layers like stored procedures and views, isolate the MCP server login, and maintain full audit trails for all data changes.</a:t>
            </a:r>
          </a:p>
        </p:txBody>
      </p:sp>
      <p:sp>
        <p:nvSpPr>
          <p:cNvPr id="5" name="Freeform 5"/>
          <p:cNvSpPr/>
          <p:nvPr/>
        </p:nvSpPr>
        <p:spPr>
          <a:xfrm>
            <a:off x="1028700" y="6853144"/>
            <a:ext cx="16230600" cy="2405156"/>
          </a:xfrm>
          <a:custGeom>
            <a:avLst/>
            <a:gdLst/>
            <a:ahLst/>
            <a:cxnLst/>
            <a:rect l="l" t="t" r="r" b="b"/>
            <a:pathLst>
              <a:path w="16230600" h="2405156">
                <a:moveTo>
                  <a:pt x="0" y="0"/>
                </a:moveTo>
                <a:lnTo>
                  <a:pt x="16230600" y="0"/>
                </a:lnTo>
                <a:lnTo>
                  <a:pt x="16230600" y="2405156"/>
                </a:lnTo>
                <a:lnTo>
                  <a:pt x="0" y="2405156"/>
                </a:lnTo>
                <a:lnTo>
                  <a:pt x="0" y="0"/>
                </a:lnTo>
                <a:close/>
              </a:path>
            </a:pathLst>
          </a:custGeom>
          <a:blipFill>
            <a:blip r:embed="rId3"/>
            <a:stretch>
              <a:fillRect t="-142325" b="-142325"/>
            </a:stretch>
          </a:blipFill>
        </p:spPr>
      </p:sp>
      <p:grpSp>
        <p:nvGrpSpPr>
          <p:cNvPr id="6" name="Group 6"/>
          <p:cNvGrpSpPr/>
          <p:nvPr/>
        </p:nvGrpSpPr>
        <p:grpSpPr>
          <a:xfrm>
            <a:off x="1028700" y="5143500"/>
            <a:ext cx="5410200" cy="2101888"/>
            <a:chOff x="0" y="0"/>
            <a:chExt cx="1378861" cy="535694"/>
          </a:xfrm>
        </p:grpSpPr>
        <p:sp>
          <p:nvSpPr>
            <p:cNvPr id="7" name="Freeform 7"/>
            <p:cNvSpPr/>
            <p:nvPr/>
          </p:nvSpPr>
          <p:spPr>
            <a:xfrm>
              <a:off x="0" y="0"/>
              <a:ext cx="1378861" cy="535694"/>
            </a:xfrm>
            <a:custGeom>
              <a:avLst/>
              <a:gdLst/>
              <a:ahLst/>
              <a:cxnLst/>
              <a:rect l="l" t="t" r="r" b="b"/>
              <a:pathLst>
                <a:path w="1378861" h="535694">
                  <a:moveTo>
                    <a:pt x="0" y="0"/>
                  </a:moveTo>
                  <a:lnTo>
                    <a:pt x="1378861" y="0"/>
                  </a:lnTo>
                  <a:lnTo>
                    <a:pt x="1378861" y="535694"/>
                  </a:lnTo>
                  <a:lnTo>
                    <a:pt x="0" y="535694"/>
                  </a:lnTo>
                  <a:close/>
                </a:path>
              </a:pathLst>
            </a:custGeom>
            <a:solidFill>
              <a:srgbClr val="8093BB"/>
            </a:solidFill>
          </p:spPr>
        </p:sp>
        <p:sp>
          <p:nvSpPr>
            <p:cNvPr id="8" name="TextBox 8"/>
            <p:cNvSpPr txBox="1"/>
            <p:nvPr/>
          </p:nvSpPr>
          <p:spPr>
            <a:xfrm>
              <a:off x="0" y="-38100"/>
              <a:ext cx="1378861" cy="573794"/>
            </a:xfrm>
            <a:prstGeom prst="rect">
              <a:avLst/>
            </a:prstGeom>
          </p:spPr>
          <p:txBody>
            <a:bodyPr lIns="42129" tIns="42129" rIns="42129" bIns="42129" rtlCol="0" anchor="ctr"/>
            <a:lstStyle/>
            <a:p>
              <a:pPr marL="0" lvl="0" indent="0" algn="ctr">
                <a:lnSpc>
                  <a:spcPts val="2659"/>
                </a:lnSpc>
              </a:pPr>
              <a:endParaRPr/>
            </a:p>
          </p:txBody>
        </p:sp>
      </p:grpSp>
      <p:grpSp>
        <p:nvGrpSpPr>
          <p:cNvPr id="9" name="Group 9"/>
          <p:cNvGrpSpPr/>
          <p:nvPr/>
        </p:nvGrpSpPr>
        <p:grpSpPr>
          <a:xfrm>
            <a:off x="6438900" y="5143500"/>
            <a:ext cx="5410200" cy="2101888"/>
            <a:chOff x="0" y="0"/>
            <a:chExt cx="1378861" cy="535694"/>
          </a:xfrm>
        </p:grpSpPr>
        <p:sp>
          <p:nvSpPr>
            <p:cNvPr id="10" name="Freeform 10"/>
            <p:cNvSpPr/>
            <p:nvPr/>
          </p:nvSpPr>
          <p:spPr>
            <a:xfrm>
              <a:off x="0" y="0"/>
              <a:ext cx="1378861" cy="535694"/>
            </a:xfrm>
            <a:custGeom>
              <a:avLst/>
              <a:gdLst/>
              <a:ahLst/>
              <a:cxnLst/>
              <a:rect l="l" t="t" r="r" b="b"/>
              <a:pathLst>
                <a:path w="1378861" h="535694">
                  <a:moveTo>
                    <a:pt x="0" y="0"/>
                  </a:moveTo>
                  <a:lnTo>
                    <a:pt x="1378861" y="0"/>
                  </a:lnTo>
                  <a:lnTo>
                    <a:pt x="1378861" y="535694"/>
                  </a:lnTo>
                  <a:lnTo>
                    <a:pt x="0" y="535694"/>
                  </a:lnTo>
                  <a:close/>
                </a:path>
              </a:pathLst>
            </a:custGeom>
            <a:solidFill>
              <a:srgbClr val="546791"/>
            </a:solidFill>
          </p:spPr>
        </p:sp>
        <p:sp>
          <p:nvSpPr>
            <p:cNvPr id="11" name="TextBox 11"/>
            <p:cNvSpPr txBox="1"/>
            <p:nvPr/>
          </p:nvSpPr>
          <p:spPr>
            <a:xfrm>
              <a:off x="0" y="-38100"/>
              <a:ext cx="1378861" cy="573794"/>
            </a:xfrm>
            <a:prstGeom prst="rect">
              <a:avLst/>
            </a:prstGeom>
          </p:spPr>
          <p:txBody>
            <a:bodyPr lIns="42129" tIns="42129" rIns="42129" bIns="42129" rtlCol="0" anchor="ctr"/>
            <a:lstStyle/>
            <a:p>
              <a:pPr marL="0" lvl="0" indent="0" algn="ctr">
                <a:lnSpc>
                  <a:spcPts val="2659"/>
                </a:lnSpc>
              </a:pPr>
              <a:endParaRPr/>
            </a:p>
          </p:txBody>
        </p:sp>
      </p:grpSp>
      <p:grpSp>
        <p:nvGrpSpPr>
          <p:cNvPr id="12" name="Group 12"/>
          <p:cNvGrpSpPr/>
          <p:nvPr/>
        </p:nvGrpSpPr>
        <p:grpSpPr>
          <a:xfrm>
            <a:off x="11849100" y="5143500"/>
            <a:ext cx="5410200" cy="2101888"/>
            <a:chOff x="0" y="0"/>
            <a:chExt cx="1378861" cy="535694"/>
          </a:xfrm>
        </p:grpSpPr>
        <p:sp>
          <p:nvSpPr>
            <p:cNvPr id="13" name="Freeform 13"/>
            <p:cNvSpPr/>
            <p:nvPr/>
          </p:nvSpPr>
          <p:spPr>
            <a:xfrm>
              <a:off x="0" y="0"/>
              <a:ext cx="1378861" cy="535694"/>
            </a:xfrm>
            <a:custGeom>
              <a:avLst/>
              <a:gdLst/>
              <a:ahLst/>
              <a:cxnLst/>
              <a:rect l="l" t="t" r="r" b="b"/>
              <a:pathLst>
                <a:path w="1378861" h="535694">
                  <a:moveTo>
                    <a:pt x="0" y="0"/>
                  </a:moveTo>
                  <a:lnTo>
                    <a:pt x="1378861" y="0"/>
                  </a:lnTo>
                  <a:lnTo>
                    <a:pt x="1378861" y="535694"/>
                  </a:lnTo>
                  <a:lnTo>
                    <a:pt x="0" y="535694"/>
                  </a:lnTo>
                  <a:close/>
                </a:path>
              </a:pathLst>
            </a:custGeom>
            <a:solidFill>
              <a:srgbClr val="334368"/>
            </a:solidFill>
          </p:spPr>
        </p:sp>
        <p:sp>
          <p:nvSpPr>
            <p:cNvPr id="14" name="TextBox 14"/>
            <p:cNvSpPr txBox="1"/>
            <p:nvPr/>
          </p:nvSpPr>
          <p:spPr>
            <a:xfrm>
              <a:off x="0" y="-38100"/>
              <a:ext cx="1378861" cy="573794"/>
            </a:xfrm>
            <a:prstGeom prst="rect">
              <a:avLst/>
            </a:prstGeom>
          </p:spPr>
          <p:txBody>
            <a:bodyPr lIns="42129" tIns="42129" rIns="42129" bIns="42129" rtlCol="0" anchor="ctr"/>
            <a:lstStyle/>
            <a:p>
              <a:pPr marL="0" lvl="0" indent="0" algn="ctr">
                <a:lnSpc>
                  <a:spcPts val="2659"/>
                </a:lnSpc>
              </a:pPr>
              <a:endParaRPr/>
            </a:p>
          </p:txBody>
        </p:sp>
      </p:grpSp>
      <p:sp>
        <p:nvSpPr>
          <p:cNvPr id="15" name="TextBox 15"/>
          <p:cNvSpPr txBox="1"/>
          <p:nvPr/>
        </p:nvSpPr>
        <p:spPr>
          <a:xfrm>
            <a:off x="1866137" y="5575279"/>
            <a:ext cx="1324912" cy="672844"/>
          </a:xfrm>
          <a:prstGeom prst="rect">
            <a:avLst/>
          </a:prstGeom>
        </p:spPr>
        <p:txBody>
          <a:bodyPr lIns="0" tIns="0" rIns="0" bIns="0" rtlCol="0" anchor="t">
            <a:spAutoFit/>
          </a:bodyPr>
          <a:lstStyle/>
          <a:p>
            <a:pPr marL="0" lvl="0" indent="0" algn="ctr">
              <a:lnSpc>
                <a:spcPts val="5173"/>
              </a:lnSpc>
            </a:pPr>
            <a:r>
              <a:rPr lang="en-US" sz="5173" b="1">
                <a:solidFill>
                  <a:srgbClr val="FFFFFF"/>
                </a:solidFill>
                <a:latin typeface="Montserrat Ultra-Bold"/>
                <a:ea typeface="Montserrat Ultra-Bold"/>
                <a:cs typeface="Montserrat Ultra-Bold"/>
                <a:sym typeface="Montserrat Ultra-Bold"/>
              </a:rPr>
              <a:t>1</a:t>
            </a:r>
          </a:p>
        </p:txBody>
      </p:sp>
      <p:sp>
        <p:nvSpPr>
          <p:cNvPr id="16" name="TextBox 16"/>
          <p:cNvSpPr txBox="1"/>
          <p:nvPr/>
        </p:nvSpPr>
        <p:spPr>
          <a:xfrm>
            <a:off x="3177950" y="5513416"/>
            <a:ext cx="3260950" cy="1478915"/>
          </a:xfrm>
          <a:prstGeom prst="rect">
            <a:avLst/>
          </a:prstGeom>
        </p:spPr>
        <p:txBody>
          <a:bodyPr lIns="0" tIns="0" rIns="0" bIns="0" rtlCol="0" anchor="t">
            <a:spAutoFit/>
          </a:bodyPr>
          <a:lstStyle/>
          <a:p>
            <a:pPr marL="0" lvl="0" indent="0" algn="l">
              <a:lnSpc>
                <a:spcPts val="1959"/>
              </a:lnSpc>
            </a:pPr>
            <a:r>
              <a:rPr lang="en-US" sz="1399">
                <a:solidFill>
                  <a:srgbClr val="FFFFFF"/>
                </a:solidFill>
                <a:latin typeface="Montserrat"/>
                <a:ea typeface="Montserrat"/>
                <a:cs typeface="Montserrat"/>
                <a:sym typeface="Montserrat"/>
              </a:rPr>
              <a:t>Least Privilege Principle</a:t>
            </a:r>
          </a:p>
          <a:p>
            <a:pPr marL="0" lvl="0" indent="0" algn="l">
              <a:lnSpc>
                <a:spcPts val="1959"/>
              </a:lnSpc>
            </a:pPr>
            <a:r>
              <a:rPr lang="en-US" sz="1399">
                <a:solidFill>
                  <a:srgbClr val="FFFFFF"/>
                </a:solidFill>
                <a:latin typeface="Montserrat"/>
                <a:ea typeface="Montserrat"/>
                <a:cs typeface="Montserrat"/>
                <a:sym typeface="Montserrat"/>
              </a:rPr>
              <a:t>Grant only the minimum permissions required. The MCP server DB user should have SELECT, INSERT, UPDATE, and controlled DELETE — no DDL rights.</a:t>
            </a:r>
          </a:p>
        </p:txBody>
      </p:sp>
      <p:sp>
        <p:nvSpPr>
          <p:cNvPr id="17" name="TextBox 17"/>
          <p:cNvSpPr txBox="1"/>
          <p:nvPr/>
        </p:nvSpPr>
        <p:spPr>
          <a:xfrm>
            <a:off x="7438262" y="5575279"/>
            <a:ext cx="1324912" cy="672844"/>
          </a:xfrm>
          <a:prstGeom prst="rect">
            <a:avLst/>
          </a:prstGeom>
        </p:spPr>
        <p:txBody>
          <a:bodyPr lIns="0" tIns="0" rIns="0" bIns="0" rtlCol="0" anchor="t">
            <a:spAutoFit/>
          </a:bodyPr>
          <a:lstStyle/>
          <a:p>
            <a:pPr marL="0" lvl="0" indent="0" algn="ctr">
              <a:lnSpc>
                <a:spcPts val="5173"/>
              </a:lnSpc>
            </a:pPr>
            <a:r>
              <a:rPr lang="en-US" sz="5173" b="1">
                <a:solidFill>
                  <a:srgbClr val="FFFFFF"/>
                </a:solidFill>
                <a:latin typeface="Montserrat Ultra-Bold"/>
                <a:ea typeface="Montserrat Ultra-Bold"/>
                <a:cs typeface="Montserrat Ultra-Bold"/>
                <a:sym typeface="Montserrat Ultra-Bold"/>
              </a:rPr>
              <a:t>2</a:t>
            </a:r>
          </a:p>
        </p:txBody>
      </p:sp>
      <p:sp>
        <p:nvSpPr>
          <p:cNvPr id="18" name="TextBox 18"/>
          <p:cNvSpPr txBox="1"/>
          <p:nvPr/>
        </p:nvSpPr>
        <p:spPr>
          <a:xfrm>
            <a:off x="8763174" y="5513416"/>
            <a:ext cx="2903344" cy="1478915"/>
          </a:xfrm>
          <a:prstGeom prst="rect">
            <a:avLst/>
          </a:prstGeom>
        </p:spPr>
        <p:txBody>
          <a:bodyPr lIns="0" tIns="0" rIns="0" bIns="0" rtlCol="0" anchor="t">
            <a:spAutoFit/>
          </a:bodyPr>
          <a:lstStyle/>
          <a:p>
            <a:pPr marL="0" lvl="0" indent="0" algn="l">
              <a:lnSpc>
                <a:spcPts val="1959"/>
              </a:lnSpc>
            </a:pPr>
            <a:r>
              <a:rPr lang="en-US" sz="1399">
                <a:solidFill>
                  <a:srgbClr val="FFFFFF"/>
                </a:solidFill>
                <a:latin typeface="Montserrat"/>
                <a:ea typeface="Montserrat"/>
                <a:cs typeface="Montserrat"/>
                <a:sym typeface="Montserrat"/>
              </a:rPr>
              <a:t>Stored Procedures &amp; Views</a:t>
            </a:r>
          </a:p>
          <a:p>
            <a:pPr marL="0" lvl="0" indent="0" algn="l">
              <a:lnSpc>
                <a:spcPts val="1959"/>
              </a:lnSpc>
            </a:pPr>
            <a:r>
              <a:rPr lang="en-US" sz="1399">
                <a:solidFill>
                  <a:srgbClr val="FFFFFF"/>
                </a:solidFill>
                <a:latin typeface="Montserrat"/>
                <a:ea typeface="Montserrat"/>
                <a:cs typeface="Montserrat"/>
                <a:sym typeface="Montserrat"/>
              </a:rPr>
              <a:t>Encapsulate data access logic in stored procedures and views to prevent direct table exposure and enforce consistent business rules.</a:t>
            </a:r>
          </a:p>
        </p:txBody>
      </p:sp>
      <p:sp>
        <p:nvSpPr>
          <p:cNvPr id="19" name="TextBox 19"/>
          <p:cNvSpPr txBox="1"/>
          <p:nvPr/>
        </p:nvSpPr>
        <p:spPr>
          <a:xfrm>
            <a:off x="12848462" y="5575279"/>
            <a:ext cx="1324912" cy="672844"/>
          </a:xfrm>
          <a:prstGeom prst="rect">
            <a:avLst/>
          </a:prstGeom>
        </p:spPr>
        <p:txBody>
          <a:bodyPr lIns="0" tIns="0" rIns="0" bIns="0" rtlCol="0" anchor="t">
            <a:spAutoFit/>
          </a:bodyPr>
          <a:lstStyle/>
          <a:p>
            <a:pPr marL="0" lvl="0" indent="0" algn="ctr">
              <a:lnSpc>
                <a:spcPts val="5173"/>
              </a:lnSpc>
            </a:pPr>
            <a:r>
              <a:rPr lang="en-US" sz="5173" b="1">
                <a:solidFill>
                  <a:srgbClr val="FFFFFF"/>
                </a:solidFill>
                <a:latin typeface="Montserrat Ultra-Bold"/>
                <a:ea typeface="Montserrat Ultra-Bold"/>
                <a:cs typeface="Montserrat Ultra-Bold"/>
                <a:sym typeface="Montserrat Ultra-Bold"/>
              </a:rPr>
              <a:t>3</a:t>
            </a:r>
          </a:p>
        </p:txBody>
      </p:sp>
      <p:sp>
        <p:nvSpPr>
          <p:cNvPr id="20" name="TextBox 20"/>
          <p:cNvSpPr txBox="1"/>
          <p:nvPr/>
        </p:nvSpPr>
        <p:spPr>
          <a:xfrm>
            <a:off x="14173374" y="5513416"/>
            <a:ext cx="3064337" cy="1478915"/>
          </a:xfrm>
          <a:prstGeom prst="rect">
            <a:avLst/>
          </a:prstGeom>
        </p:spPr>
        <p:txBody>
          <a:bodyPr lIns="0" tIns="0" rIns="0" bIns="0" rtlCol="0" anchor="t">
            <a:spAutoFit/>
          </a:bodyPr>
          <a:lstStyle/>
          <a:p>
            <a:pPr marL="0" lvl="0" indent="0" algn="l">
              <a:lnSpc>
                <a:spcPts val="1959"/>
              </a:lnSpc>
            </a:pPr>
            <a:r>
              <a:rPr lang="en-US" sz="1399">
                <a:solidFill>
                  <a:srgbClr val="FFFFFF"/>
                </a:solidFill>
                <a:latin typeface="Montserrat"/>
                <a:ea typeface="Montserrat"/>
                <a:cs typeface="Montserrat"/>
                <a:sym typeface="Montserrat"/>
              </a:rPr>
              <a:t>Separate App Login &amp; Audit Trails</a:t>
            </a:r>
          </a:p>
          <a:p>
            <a:pPr marL="0" lvl="0" indent="0" algn="l">
              <a:lnSpc>
                <a:spcPts val="1959"/>
              </a:lnSpc>
            </a:pPr>
            <a:r>
              <a:rPr lang="en-US" sz="1399">
                <a:solidFill>
                  <a:srgbClr val="FFFFFF"/>
                </a:solidFill>
                <a:latin typeface="Montserrat"/>
                <a:ea typeface="Montserrat"/>
                <a:cs typeface="Montserrat"/>
                <a:sym typeface="Montserrat"/>
              </a:rPr>
              <a:t>Use a dedicated SQL Server login for the MCP server. Log all data changes with timestamps, user identity, tool called, and rows affected for forensic analysis.</a:t>
            </a:r>
          </a:p>
        </p:txBody>
      </p:sp>
      <p:sp>
        <p:nvSpPr>
          <p:cNvPr id="21" name="TextBox 21"/>
          <p:cNvSpPr txBox="1"/>
          <p:nvPr/>
        </p:nvSpPr>
        <p:spPr>
          <a:xfrm>
            <a:off x="15764299" y="695325"/>
            <a:ext cx="1476375" cy="428625"/>
          </a:xfrm>
          <a:prstGeom prst="rect">
            <a:avLst/>
          </a:prstGeom>
        </p:spPr>
        <p:txBody>
          <a:bodyPr lIns="0" tIns="0" rIns="0" bIns="0" rtlCol="0" anchor="t">
            <a:spAutoFit/>
          </a:bodyPr>
          <a:lstStyle/>
          <a:p>
            <a:pPr marL="0" lvl="0" indent="0" algn="ctr">
              <a:lnSpc>
                <a:spcPts val="3170"/>
              </a:lnSpc>
              <a:spcBef>
                <a:spcPct val="0"/>
              </a:spcBef>
            </a:pPr>
            <a:r>
              <a:rPr lang="en-US" sz="3170" b="1" u="none" strike="noStrike">
                <a:solidFill>
                  <a:srgbClr val="8093BB"/>
                </a:solidFill>
                <a:latin typeface="Montserrat Bold"/>
                <a:ea typeface="Montserrat Bold"/>
                <a:cs typeface="Montserrat Bold"/>
                <a:sym typeface="Montserrat Bold"/>
              </a:rPr>
              <a:t>25</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59" b="-9259"/>
            </a:stretch>
          </a:blipFill>
        </p:spPr>
      </p:sp>
      <p:sp>
        <p:nvSpPr>
          <p:cNvPr id="3" name="Freeform 3"/>
          <p:cNvSpPr/>
          <p:nvPr/>
        </p:nvSpPr>
        <p:spPr>
          <a:xfrm>
            <a:off x="1028700" y="1028700"/>
            <a:ext cx="6043342" cy="8229600"/>
          </a:xfrm>
          <a:custGeom>
            <a:avLst/>
            <a:gdLst/>
            <a:ahLst/>
            <a:cxnLst/>
            <a:rect l="l" t="t" r="r" b="b"/>
            <a:pathLst>
              <a:path w="6043342" h="8229600">
                <a:moveTo>
                  <a:pt x="0" y="0"/>
                </a:moveTo>
                <a:lnTo>
                  <a:pt x="6043342" y="0"/>
                </a:lnTo>
                <a:lnTo>
                  <a:pt x="6043342" y="8229600"/>
                </a:lnTo>
                <a:lnTo>
                  <a:pt x="0" y="8229600"/>
                </a:lnTo>
                <a:lnTo>
                  <a:pt x="0" y="0"/>
                </a:lnTo>
                <a:close/>
              </a:path>
            </a:pathLst>
          </a:custGeom>
          <a:blipFill>
            <a:blip r:embed="rId3"/>
            <a:stretch>
              <a:fillRect l="-810" r="-810"/>
            </a:stretch>
          </a:blipFill>
        </p:spPr>
      </p:sp>
      <p:sp>
        <p:nvSpPr>
          <p:cNvPr id="4" name="TextBox 4"/>
          <p:cNvSpPr txBox="1"/>
          <p:nvPr/>
        </p:nvSpPr>
        <p:spPr>
          <a:xfrm>
            <a:off x="8061659" y="4766149"/>
            <a:ext cx="9172951" cy="1416516"/>
          </a:xfrm>
          <a:prstGeom prst="rect">
            <a:avLst/>
          </a:prstGeom>
        </p:spPr>
        <p:txBody>
          <a:bodyPr lIns="0" tIns="0" rIns="0" bIns="0" rtlCol="0" anchor="t">
            <a:spAutoFit/>
          </a:bodyPr>
          <a:lstStyle/>
          <a:p>
            <a:pPr marL="0" lvl="0" indent="0" algn="just">
              <a:lnSpc>
                <a:spcPts val="3824"/>
              </a:lnSpc>
            </a:pPr>
            <a:r>
              <a:rPr lang="en-US" sz="2731">
                <a:solidFill>
                  <a:srgbClr val="324370"/>
                </a:solidFill>
                <a:latin typeface="Montserrat"/>
                <a:ea typeface="Montserrat"/>
                <a:cs typeface="Montserrat"/>
                <a:sym typeface="Montserrat"/>
              </a:rPr>
              <a:t>Data modification policies ensure safe, auditable, and controlled access to enterprise data through the SQL MCP layer.</a:t>
            </a:r>
          </a:p>
        </p:txBody>
      </p:sp>
      <p:sp>
        <p:nvSpPr>
          <p:cNvPr id="5" name="TextBox 5"/>
          <p:cNvSpPr txBox="1"/>
          <p:nvPr/>
        </p:nvSpPr>
        <p:spPr>
          <a:xfrm>
            <a:off x="8061659" y="2096866"/>
            <a:ext cx="9197641" cy="776951"/>
          </a:xfrm>
          <a:prstGeom prst="rect">
            <a:avLst/>
          </a:prstGeom>
        </p:spPr>
        <p:txBody>
          <a:bodyPr lIns="0" tIns="0" rIns="0" bIns="0" rtlCol="0" anchor="t">
            <a:spAutoFit/>
          </a:bodyPr>
          <a:lstStyle/>
          <a:p>
            <a:pPr marL="0" lvl="0" indent="0" algn="l">
              <a:lnSpc>
                <a:spcPts val="5838"/>
              </a:lnSpc>
            </a:pPr>
            <a:r>
              <a:rPr lang="en-US" sz="5838" b="1">
                <a:solidFill>
                  <a:srgbClr val="324370"/>
                </a:solidFill>
                <a:latin typeface="Montserrat Ultra-Bold"/>
                <a:ea typeface="Montserrat Ultra-Bold"/>
                <a:cs typeface="Montserrat Ultra-Bold"/>
                <a:sym typeface="Montserrat Ultra-Bold"/>
              </a:rPr>
              <a:t>READ/UPDATE/DELETE</a:t>
            </a:r>
          </a:p>
        </p:txBody>
      </p:sp>
      <p:grpSp>
        <p:nvGrpSpPr>
          <p:cNvPr id="6" name="Group 6"/>
          <p:cNvGrpSpPr/>
          <p:nvPr/>
        </p:nvGrpSpPr>
        <p:grpSpPr>
          <a:xfrm>
            <a:off x="8061659" y="3411268"/>
            <a:ext cx="9197641" cy="1231494"/>
            <a:chOff x="0" y="0"/>
            <a:chExt cx="2282038" cy="305547"/>
          </a:xfrm>
        </p:grpSpPr>
        <p:sp>
          <p:nvSpPr>
            <p:cNvPr id="7" name="Freeform 7"/>
            <p:cNvSpPr/>
            <p:nvPr/>
          </p:nvSpPr>
          <p:spPr>
            <a:xfrm>
              <a:off x="0" y="0"/>
              <a:ext cx="2282038" cy="305547"/>
            </a:xfrm>
            <a:custGeom>
              <a:avLst/>
              <a:gdLst/>
              <a:ahLst/>
              <a:cxnLst/>
              <a:rect l="l" t="t" r="r" b="b"/>
              <a:pathLst>
                <a:path w="2282038" h="305547">
                  <a:moveTo>
                    <a:pt x="0" y="0"/>
                  </a:moveTo>
                  <a:lnTo>
                    <a:pt x="2282038" y="0"/>
                  </a:lnTo>
                  <a:lnTo>
                    <a:pt x="2282038" y="305547"/>
                  </a:lnTo>
                  <a:lnTo>
                    <a:pt x="0" y="305547"/>
                  </a:lnTo>
                  <a:close/>
                </a:path>
              </a:pathLst>
            </a:custGeom>
            <a:solidFill>
              <a:srgbClr val="324370"/>
            </a:solidFill>
          </p:spPr>
        </p:sp>
        <p:sp>
          <p:nvSpPr>
            <p:cNvPr id="8" name="TextBox 8"/>
            <p:cNvSpPr txBox="1"/>
            <p:nvPr/>
          </p:nvSpPr>
          <p:spPr>
            <a:xfrm>
              <a:off x="0" y="-38100"/>
              <a:ext cx="2282038" cy="343647"/>
            </a:xfrm>
            <a:prstGeom prst="rect">
              <a:avLst/>
            </a:prstGeom>
          </p:spPr>
          <p:txBody>
            <a:bodyPr lIns="42129" tIns="42129" rIns="42129" bIns="42129" rtlCol="0" anchor="ctr"/>
            <a:lstStyle/>
            <a:p>
              <a:pPr marL="0" lvl="0" indent="0" algn="ctr">
                <a:lnSpc>
                  <a:spcPts val="2659"/>
                </a:lnSpc>
              </a:pPr>
              <a:endParaRPr/>
            </a:p>
          </p:txBody>
        </p:sp>
      </p:grpSp>
      <p:sp>
        <p:nvSpPr>
          <p:cNvPr id="9" name="TextBox 9"/>
          <p:cNvSpPr txBox="1"/>
          <p:nvPr/>
        </p:nvSpPr>
        <p:spPr>
          <a:xfrm>
            <a:off x="8061659" y="3663188"/>
            <a:ext cx="9172951" cy="845951"/>
          </a:xfrm>
          <a:prstGeom prst="rect">
            <a:avLst/>
          </a:prstGeom>
        </p:spPr>
        <p:txBody>
          <a:bodyPr lIns="0" tIns="0" rIns="0" bIns="0" rtlCol="0" anchor="t">
            <a:spAutoFit/>
          </a:bodyPr>
          <a:lstStyle/>
          <a:p>
            <a:pPr marL="0" lvl="0" indent="0" algn="ctr">
              <a:lnSpc>
                <a:spcPts val="6305"/>
              </a:lnSpc>
            </a:pPr>
            <a:r>
              <a:rPr lang="en-US" sz="6305" b="1">
                <a:solidFill>
                  <a:srgbClr val="FFFFFF"/>
                </a:solidFill>
                <a:latin typeface="Montserrat Ultra-Bold"/>
                <a:ea typeface="Montserrat Ultra-Bold"/>
                <a:cs typeface="Montserrat Ultra-Bold"/>
                <a:sym typeface="Montserrat Ultra-Bold"/>
              </a:rPr>
              <a:t>GOVERNANCE</a:t>
            </a:r>
          </a:p>
        </p:txBody>
      </p:sp>
      <p:grpSp>
        <p:nvGrpSpPr>
          <p:cNvPr id="10" name="Group 10"/>
          <p:cNvGrpSpPr/>
          <p:nvPr/>
        </p:nvGrpSpPr>
        <p:grpSpPr>
          <a:xfrm>
            <a:off x="11284513" y="6664461"/>
            <a:ext cx="2748902" cy="2875418"/>
            <a:chOff x="0" y="0"/>
            <a:chExt cx="682033" cy="713423"/>
          </a:xfrm>
        </p:grpSpPr>
        <p:sp>
          <p:nvSpPr>
            <p:cNvPr id="11" name="Freeform 11"/>
            <p:cNvSpPr/>
            <p:nvPr/>
          </p:nvSpPr>
          <p:spPr>
            <a:xfrm>
              <a:off x="0" y="0"/>
              <a:ext cx="682033" cy="713423"/>
            </a:xfrm>
            <a:custGeom>
              <a:avLst/>
              <a:gdLst/>
              <a:ahLst/>
              <a:cxnLst/>
              <a:rect l="l" t="t" r="r" b="b"/>
              <a:pathLst>
                <a:path w="682033" h="713423">
                  <a:moveTo>
                    <a:pt x="0" y="0"/>
                  </a:moveTo>
                  <a:lnTo>
                    <a:pt x="682033" y="0"/>
                  </a:lnTo>
                  <a:lnTo>
                    <a:pt x="682033" y="713423"/>
                  </a:lnTo>
                  <a:lnTo>
                    <a:pt x="0" y="713423"/>
                  </a:lnTo>
                  <a:close/>
                </a:path>
              </a:pathLst>
            </a:custGeom>
            <a:solidFill>
              <a:srgbClr val="546791"/>
            </a:solidFill>
          </p:spPr>
        </p:sp>
        <p:sp>
          <p:nvSpPr>
            <p:cNvPr id="12" name="TextBox 12"/>
            <p:cNvSpPr txBox="1"/>
            <p:nvPr/>
          </p:nvSpPr>
          <p:spPr>
            <a:xfrm>
              <a:off x="0" y="-38100"/>
              <a:ext cx="682033" cy="751523"/>
            </a:xfrm>
            <a:prstGeom prst="rect">
              <a:avLst/>
            </a:prstGeom>
          </p:spPr>
          <p:txBody>
            <a:bodyPr lIns="42129" tIns="42129" rIns="42129" bIns="42129" rtlCol="0" anchor="ctr"/>
            <a:lstStyle/>
            <a:p>
              <a:pPr marL="0" lvl="0" indent="0" algn="ctr">
                <a:lnSpc>
                  <a:spcPts val="2659"/>
                </a:lnSpc>
              </a:pPr>
              <a:endParaRPr/>
            </a:p>
          </p:txBody>
        </p:sp>
      </p:grpSp>
      <p:sp>
        <p:nvSpPr>
          <p:cNvPr id="13" name="TextBox 13"/>
          <p:cNvSpPr txBox="1"/>
          <p:nvPr/>
        </p:nvSpPr>
        <p:spPr>
          <a:xfrm>
            <a:off x="12197235" y="7041794"/>
            <a:ext cx="923458" cy="629423"/>
          </a:xfrm>
          <a:prstGeom prst="rect">
            <a:avLst/>
          </a:prstGeom>
        </p:spPr>
        <p:txBody>
          <a:bodyPr lIns="0" tIns="0" rIns="0" bIns="0" rtlCol="0" anchor="t">
            <a:spAutoFit/>
          </a:bodyPr>
          <a:lstStyle/>
          <a:p>
            <a:pPr marL="0" lvl="0" indent="0" algn="ctr">
              <a:lnSpc>
                <a:spcPts val="4758"/>
              </a:lnSpc>
            </a:pPr>
            <a:r>
              <a:rPr lang="en-US" sz="4758" b="1">
                <a:solidFill>
                  <a:srgbClr val="FFFFFF"/>
                </a:solidFill>
                <a:latin typeface="Montserrat Ultra-Bold"/>
                <a:ea typeface="Montserrat Ultra-Bold"/>
                <a:cs typeface="Montserrat Ultra-Bold"/>
                <a:sym typeface="Montserrat Ultra-Bold"/>
              </a:rPr>
              <a:t>2</a:t>
            </a:r>
          </a:p>
        </p:txBody>
      </p:sp>
      <p:sp>
        <p:nvSpPr>
          <p:cNvPr id="14" name="TextBox 14"/>
          <p:cNvSpPr txBox="1"/>
          <p:nvPr/>
        </p:nvSpPr>
        <p:spPr>
          <a:xfrm>
            <a:off x="11615682" y="7642736"/>
            <a:ext cx="2086564" cy="1660884"/>
          </a:xfrm>
          <a:prstGeom prst="rect">
            <a:avLst/>
          </a:prstGeom>
        </p:spPr>
        <p:txBody>
          <a:bodyPr lIns="0" tIns="0" rIns="0" bIns="0" rtlCol="0" anchor="t">
            <a:spAutoFit/>
          </a:bodyPr>
          <a:lstStyle/>
          <a:p>
            <a:pPr marL="0" lvl="0" indent="0" algn="ctr">
              <a:lnSpc>
                <a:spcPts val="1905"/>
              </a:lnSpc>
            </a:pPr>
            <a:r>
              <a:rPr lang="en-US" sz="1360">
                <a:solidFill>
                  <a:srgbClr val="FFFFFF"/>
                </a:solidFill>
                <a:latin typeface="Montserrat"/>
                <a:ea typeface="Montserrat"/>
                <a:cs typeface="Montserrat"/>
                <a:sym typeface="Montserrat"/>
              </a:rPr>
              <a:t> Update operations should require strict validation, allowed fields, business rules, and audit logging before execution.</a:t>
            </a:r>
          </a:p>
          <a:p>
            <a:pPr marL="0" lvl="0" indent="0" algn="ctr">
              <a:lnSpc>
                <a:spcPts val="1905"/>
              </a:lnSpc>
            </a:pPr>
            <a:endParaRPr lang="en-US" sz="1360">
              <a:solidFill>
                <a:srgbClr val="FFFFFF"/>
              </a:solidFill>
              <a:latin typeface="Montserrat"/>
              <a:ea typeface="Montserrat"/>
              <a:cs typeface="Montserrat"/>
              <a:sym typeface="Montserrat"/>
            </a:endParaRPr>
          </a:p>
        </p:txBody>
      </p:sp>
      <p:grpSp>
        <p:nvGrpSpPr>
          <p:cNvPr id="15" name="Group 15"/>
          <p:cNvGrpSpPr/>
          <p:nvPr/>
        </p:nvGrpSpPr>
        <p:grpSpPr>
          <a:xfrm>
            <a:off x="14510398" y="6664461"/>
            <a:ext cx="2748902" cy="2877284"/>
            <a:chOff x="0" y="0"/>
            <a:chExt cx="682033" cy="713886"/>
          </a:xfrm>
        </p:grpSpPr>
        <p:sp>
          <p:nvSpPr>
            <p:cNvPr id="16" name="Freeform 16"/>
            <p:cNvSpPr/>
            <p:nvPr/>
          </p:nvSpPr>
          <p:spPr>
            <a:xfrm>
              <a:off x="0" y="0"/>
              <a:ext cx="682033" cy="713886"/>
            </a:xfrm>
            <a:custGeom>
              <a:avLst/>
              <a:gdLst/>
              <a:ahLst/>
              <a:cxnLst/>
              <a:rect l="l" t="t" r="r" b="b"/>
              <a:pathLst>
                <a:path w="682033" h="713886">
                  <a:moveTo>
                    <a:pt x="0" y="0"/>
                  </a:moveTo>
                  <a:lnTo>
                    <a:pt x="682033" y="0"/>
                  </a:lnTo>
                  <a:lnTo>
                    <a:pt x="682033" y="713886"/>
                  </a:lnTo>
                  <a:lnTo>
                    <a:pt x="0" y="713886"/>
                  </a:lnTo>
                  <a:close/>
                </a:path>
              </a:pathLst>
            </a:custGeom>
            <a:solidFill>
              <a:srgbClr val="334368"/>
            </a:solidFill>
          </p:spPr>
        </p:sp>
        <p:sp>
          <p:nvSpPr>
            <p:cNvPr id="17" name="TextBox 17"/>
            <p:cNvSpPr txBox="1"/>
            <p:nvPr/>
          </p:nvSpPr>
          <p:spPr>
            <a:xfrm>
              <a:off x="0" y="-38100"/>
              <a:ext cx="682033" cy="751986"/>
            </a:xfrm>
            <a:prstGeom prst="rect">
              <a:avLst/>
            </a:prstGeom>
          </p:spPr>
          <p:txBody>
            <a:bodyPr lIns="42129" tIns="42129" rIns="42129" bIns="42129" rtlCol="0" anchor="ctr"/>
            <a:lstStyle/>
            <a:p>
              <a:pPr marL="0" lvl="0" indent="0" algn="ctr">
                <a:lnSpc>
                  <a:spcPts val="2659"/>
                </a:lnSpc>
              </a:pPr>
              <a:endParaRPr/>
            </a:p>
          </p:txBody>
        </p:sp>
      </p:grpSp>
      <p:sp>
        <p:nvSpPr>
          <p:cNvPr id="18" name="TextBox 18"/>
          <p:cNvSpPr txBox="1"/>
          <p:nvPr/>
        </p:nvSpPr>
        <p:spPr>
          <a:xfrm>
            <a:off x="15423120" y="7041794"/>
            <a:ext cx="923458" cy="629423"/>
          </a:xfrm>
          <a:prstGeom prst="rect">
            <a:avLst/>
          </a:prstGeom>
        </p:spPr>
        <p:txBody>
          <a:bodyPr lIns="0" tIns="0" rIns="0" bIns="0" rtlCol="0" anchor="t">
            <a:spAutoFit/>
          </a:bodyPr>
          <a:lstStyle/>
          <a:p>
            <a:pPr marL="0" lvl="0" indent="0" algn="ctr">
              <a:lnSpc>
                <a:spcPts val="4758"/>
              </a:lnSpc>
            </a:pPr>
            <a:r>
              <a:rPr lang="en-US" sz="4758" b="1">
                <a:solidFill>
                  <a:srgbClr val="FFFFFF"/>
                </a:solidFill>
                <a:latin typeface="Montserrat Ultra-Bold"/>
                <a:ea typeface="Montserrat Ultra-Bold"/>
                <a:cs typeface="Montserrat Ultra-Bold"/>
                <a:sym typeface="Montserrat Ultra-Bold"/>
              </a:rPr>
              <a:t>3</a:t>
            </a:r>
          </a:p>
        </p:txBody>
      </p:sp>
      <p:sp>
        <p:nvSpPr>
          <p:cNvPr id="19" name="TextBox 19"/>
          <p:cNvSpPr txBox="1"/>
          <p:nvPr/>
        </p:nvSpPr>
        <p:spPr>
          <a:xfrm>
            <a:off x="14841567" y="7642736"/>
            <a:ext cx="2086564" cy="1899009"/>
          </a:xfrm>
          <a:prstGeom prst="rect">
            <a:avLst/>
          </a:prstGeom>
        </p:spPr>
        <p:txBody>
          <a:bodyPr lIns="0" tIns="0" rIns="0" bIns="0" rtlCol="0" anchor="t">
            <a:spAutoFit/>
          </a:bodyPr>
          <a:lstStyle/>
          <a:p>
            <a:pPr marL="0" lvl="0" indent="0" algn="ctr">
              <a:lnSpc>
                <a:spcPts val="1905"/>
              </a:lnSpc>
            </a:pPr>
            <a:r>
              <a:rPr lang="en-US" sz="1360">
                <a:solidFill>
                  <a:srgbClr val="FFFFFF"/>
                </a:solidFill>
                <a:latin typeface="Montserrat"/>
                <a:ea typeface="Montserrat"/>
                <a:cs typeface="Montserrat"/>
                <a:sym typeface="Montserrat"/>
              </a:rPr>
              <a:t>Delete operations should be highly restricted and preferably implemented as soft delete instead of permanent delete.</a:t>
            </a:r>
          </a:p>
          <a:p>
            <a:pPr marL="0" lvl="0" indent="0" algn="ctr">
              <a:lnSpc>
                <a:spcPts val="1905"/>
              </a:lnSpc>
            </a:pPr>
            <a:endParaRPr lang="en-US" sz="1360">
              <a:solidFill>
                <a:srgbClr val="FFFFFF"/>
              </a:solidFill>
              <a:latin typeface="Montserrat"/>
              <a:ea typeface="Montserrat"/>
              <a:cs typeface="Montserrat"/>
              <a:sym typeface="Montserrat"/>
            </a:endParaRPr>
          </a:p>
        </p:txBody>
      </p:sp>
      <p:grpSp>
        <p:nvGrpSpPr>
          <p:cNvPr id="20" name="Group 20"/>
          <p:cNvGrpSpPr/>
          <p:nvPr/>
        </p:nvGrpSpPr>
        <p:grpSpPr>
          <a:xfrm>
            <a:off x="8061659" y="6664461"/>
            <a:ext cx="2748902" cy="2875418"/>
            <a:chOff x="0" y="0"/>
            <a:chExt cx="682033" cy="713423"/>
          </a:xfrm>
        </p:grpSpPr>
        <p:sp>
          <p:nvSpPr>
            <p:cNvPr id="21" name="Freeform 21"/>
            <p:cNvSpPr/>
            <p:nvPr/>
          </p:nvSpPr>
          <p:spPr>
            <a:xfrm>
              <a:off x="0" y="0"/>
              <a:ext cx="682033" cy="713423"/>
            </a:xfrm>
            <a:custGeom>
              <a:avLst/>
              <a:gdLst/>
              <a:ahLst/>
              <a:cxnLst/>
              <a:rect l="l" t="t" r="r" b="b"/>
              <a:pathLst>
                <a:path w="682033" h="713423">
                  <a:moveTo>
                    <a:pt x="0" y="0"/>
                  </a:moveTo>
                  <a:lnTo>
                    <a:pt x="682033" y="0"/>
                  </a:lnTo>
                  <a:lnTo>
                    <a:pt x="682033" y="713423"/>
                  </a:lnTo>
                  <a:lnTo>
                    <a:pt x="0" y="713423"/>
                  </a:lnTo>
                  <a:close/>
                </a:path>
              </a:pathLst>
            </a:custGeom>
            <a:solidFill>
              <a:srgbClr val="8093BB"/>
            </a:solidFill>
          </p:spPr>
        </p:sp>
        <p:sp>
          <p:nvSpPr>
            <p:cNvPr id="22" name="TextBox 22"/>
            <p:cNvSpPr txBox="1"/>
            <p:nvPr/>
          </p:nvSpPr>
          <p:spPr>
            <a:xfrm>
              <a:off x="0" y="-38100"/>
              <a:ext cx="682033" cy="751523"/>
            </a:xfrm>
            <a:prstGeom prst="rect">
              <a:avLst/>
            </a:prstGeom>
          </p:spPr>
          <p:txBody>
            <a:bodyPr lIns="42129" tIns="42129" rIns="42129" bIns="42129" rtlCol="0" anchor="ctr"/>
            <a:lstStyle/>
            <a:p>
              <a:pPr marL="0" lvl="0" indent="0" algn="ctr">
                <a:lnSpc>
                  <a:spcPts val="2659"/>
                </a:lnSpc>
              </a:pPr>
              <a:endParaRPr/>
            </a:p>
          </p:txBody>
        </p:sp>
      </p:grpSp>
      <p:sp>
        <p:nvSpPr>
          <p:cNvPr id="23" name="TextBox 23"/>
          <p:cNvSpPr txBox="1"/>
          <p:nvPr/>
        </p:nvSpPr>
        <p:spPr>
          <a:xfrm>
            <a:off x="8974381" y="7041794"/>
            <a:ext cx="923458" cy="629423"/>
          </a:xfrm>
          <a:prstGeom prst="rect">
            <a:avLst/>
          </a:prstGeom>
        </p:spPr>
        <p:txBody>
          <a:bodyPr lIns="0" tIns="0" rIns="0" bIns="0" rtlCol="0" anchor="t">
            <a:spAutoFit/>
          </a:bodyPr>
          <a:lstStyle/>
          <a:p>
            <a:pPr marL="0" lvl="0" indent="0" algn="ctr">
              <a:lnSpc>
                <a:spcPts val="4758"/>
              </a:lnSpc>
            </a:pPr>
            <a:r>
              <a:rPr lang="en-US" sz="4758" b="1">
                <a:solidFill>
                  <a:srgbClr val="FFFFFF"/>
                </a:solidFill>
                <a:latin typeface="Montserrat Ultra-Bold"/>
                <a:ea typeface="Montserrat Ultra-Bold"/>
                <a:cs typeface="Montserrat Ultra-Bold"/>
                <a:sym typeface="Montserrat Ultra-Bold"/>
              </a:rPr>
              <a:t>1</a:t>
            </a:r>
          </a:p>
        </p:txBody>
      </p:sp>
      <p:sp>
        <p:nvSpPr>
          <p:cNvPr id="24" name="TextBox 24"/>
          <p:cNvSpPr txBox="1"/>
          <p:nvPr/>
        </p:nvSpPr>
        <p:spPr>
          <a:xfrm>
            <a:off x="8392828" y="7642736"/>
            <a:ext cx="2086564" cy="1660884"/>
          </a:xfrm>
          <a:prstGeom prst="rect">
            <a:avLst/>
          </a:prstGeom>
        </p:spPr>
        <p:txBody>
          <a:bodyPr lIns="0" tIns="0" rIns="0" bIns="0" rtlCol="0" anchor="t">
            <a:spAutoFit/>
          </a:bodyPr>
          <a:lstStyle/>
          <a:p>
            <a:pPr marL="0" lvl="0" indent="0" algn="ctr">
              <a:lnSpc>
                <a:spcPts val="1905"/>
              </a:lnSpc>
            </a:pPr>
            <a:r>
              <a:rPr lang="en-US" sz="1360">
                <a:solidFill>
                  <a:srgbClr val="FFFFFF"/>
                </a:solidFill>
                <a:latin typeface="Montserrat"/>
                <a:ea typeface="Montserrat"/>
                <a:cs typeface="Montserrat"/>
                <a:sym typeface="Montserrat"/>
              </a:rPr>
              <a:t>Read operations should be the safest and most commonly allowed MCP tools, but still limited by table, column, row, and user permission.</a:t>
            </a:r>
          </a:p>
        </p:txBody>
      </p:sp>
      <p:sp>
        <p:nvSpPr>
          <p:cNvPr id="25" name="TextBox 25"/>
          <p:cNvSpPr txBox="1"/>
          <p:nvPr/>
        </p:nvSpPr>
        <p:spPr>
          <a:xfrm>
            <a:off x="15764299" y="742950"/>
            <a:ext cx="1476375" cy="781050"/>
          </a:xfrm>
          <a:prstGeom prst="rect">
            <a:avLst/>
          </a:prstGeom>
        </p:spPr>
        <p:txBody>
          <a:bodyPr lIns="0" tIns="0" rIns="0" bIns="0" rtlCol="0" anchor="t">
            <a:spAutoFit/>
          </a:bodyPr>
          <a:lstStyle/>
          <a:p>
            <a:pPr marL="0" lvl="0" indent="0" algn="ctr">
              <a:lnSpc>
                <a:spcPts val="5820"/>
              </a:lnSpc>
              <a:spcBef>
                <a:spcPct val="0"/>
              </a:spcBef>
            </a:pPr>
            <a:r>
              <a:rPr lang="en-US" sz="5820" b="1" u="none" strike="noStrike">
                <a:solidFill>
                  <a:srgbClr val="8093BB"/>
                </a:solidFill>
                <a:latin typeface="Montserrat Bold"/>
                <a:ea typeface="Montserrat Bold"/>
                <a:cs typeface="Montserrat Bold"/>
                <a:sym typeface="Montserrat Bold"/>
              </a:rPr>
              <a:t>26</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59" b="-9259"/>
            </a:stretch>
          </a:blipFill>
        </p:spPr>
      </p:sp>
      <p:sp>
        <p:nvSpPr>
          <p:cNvPr id="3" name="Freeform 3"/>
          <p:cNvSpPr/>
          <p:nvPr/>
        </p:nvSpPr>
        <p:spPr>
          <a:xfrm>
            <a:off x="3431086" y="183547"/>
            <a:ext cx="11855076" cy="9839335"/>
          </a:xfrm>
          <a:custGeom>
            <a:avLst/>
            <a:gdLst/>
            <a:ahLst/>
            <a:cxnLst/>
            <a:rect l="l" t="t" r="r" b="b"/>
            <a:pathLst>
              <a:path w="11855076" h="9839335">
                <a:moveTo>
                  <a:pt x="0" y="0"/>
                </a:moveTo>
                <a:lnTo>
                  <a:pt x="11855076" y="0"/>
                </a:lnTo>
                <a:lnTo>
                  <a:pt x="11855076" y="9839335"/>
                </a:lnTo>
                <a:lnTo>
                  <a:pt x="0" y="9839335"/>
                </a:lnTo>
                <a:lnTo>
                  <a:pt x="0" y="0"/>
                </a:lnTo>
                <a:close/>
              </a:path>
            </a:pathLst>
          </a:custGeom>
          <a:blipFill>
            <a:blip r:embed="rId3"/>
            <a:stretch>
              <a:fillRect/>
            </a:stretch>
          </a:blipFill>
        </p:spPr>
      </p:sp>
      <p:sp>
        <p:nvSpPr>
          <p:cNvPr id="4" name="TextBox 4"/>
          <p:cNvSpPr txBox="1"/>
          <p:nvPr/>
        </p:nvSpPr>
        <p:spPr>
          <a:xfrm>
            <a:off x="15764299" y="703761"/>
            <a:ext cx="1473411" cy="426493"/>
          </a:xfrm>
          <a:prstGeom prst="rect">
            <a:avLst/>
          </a:prstGeom>
        </p:spPr>
        <p:txBody>
          <a:bodyPr lIns="0" tIns="0" rIns="0" bIns="0" rtlCol="0" anchor="t">
            <a:spAutoFit/>
          </a:bodyPr>
          <a:lstStyle/>
          <a:p>
            <a:pPr marL="0" lvl="0" indent="0" algn="ctr">
              <a:lnSpc>
                <a:spcPts val="3291"/>
              </a:lnSpc>
            </a:pPr>
            <a:r>
              <a:rPr lang="en-US" sz="3291" b="1">
                <a:solidFill>
                  <a:srgbClr val="8093BB"/>
                </a:solidFill>
                <a:latin typeface="Montserrat Bold"/>
                <a:ea typeface="Montserrat Bold"/>
                <a:cs typeface="Montserrat Bold"/>
                <a:sym typeface="Montserrat Bold"/>
              </a:rPr>
              <a:t>27</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59" b="-9259"/>
            </a:stretch>
          </a:blipFill>
        </p:spPr>
      </p:sp>
      <p:sp>
        <p:nvSpPr>
          <p:cNvPr id="3" name="TextBox 3"/>
          <p:cNvSpPr txBox="1"/>
          <p:nvPr/>
        </p:nvSpPr>
        <p:spPr>
          <a:xfrm>
            <a:off x="708303" y="971550"/>
            <a:ext cx="8999745" cy="7337516"/>
          </a:xfrm>
          <a:prstGeom prst="rect">
            <a:avLst/>
          </a:prstGeom>
        </p:spPr>
        <p:txBody>
          <a:bodyPr lIns="0" tIns="0" rIns="0" bIns="0" rtlCol="0" anchor="t">
            <a:spAutoFit/>
          </a:bodyPr>
          <a:lstStyle/>
          <a:p>
            <a:pPr marL="646565" lvl="1" indent="-323282" algn="l">
              <a:lnSpc>
                <a:spcPts val="4192"/>
              </a:lnSpc>
              <a:buFont typeface="Arial"/>
              <a:buChar char="•"/>
            </a:pPr>
            <a:r>
              <a:rPr lang="en-US" sz="2994" b="1">
                <a:solidFill>
                  <a:srgbClr val="324370"/>
                </a:solidFill>
                <a:latin typeface="Open Sans Bold"/>
                <a:ea typeface="Open Sans Bold"/>
                <a:cs typeface="Open Sans Bold"/>
                <a:sym typeface="Open Sans Bold"/>
              </a:rPr>
              <a:t>MCP also has tool metadata/annotations such as read-only or destructive hints</a:t>
            </a:r>
          </a:p>
          <a:p>
            <a:pPr algn="l">
              <a:lnSpc>
                <a:spcPts val="4192"/>
              </a:lnSpc>
            </a:pPr>
            <a:endParaRPr lang="en-US" sz="2994" b="1">
              <a:solidFill>
                <a:srgbClr val="324370"/>
              </a:solidFill>
              <a:latin typeface="Open Sans Bold"/>
              <a:ea typeface="Open Sans Bold"/>
              <a:cs typeface="Open Sans Bold"/>
              <a:sym typeface="Open Sans Bold"/>
            </a:endParaRPr>
          </a:p>
          <a:p>
            <a:pPr marL="646565" lvl="1" indent="-323282" algn="l">
              <a:lnSpc>
                <a:spcPts val="4192"/>
              </a:lnSpc>
              <a:buFont typeface="Arial"/>
              <a:buChar char="•"/>
            </a:pPr>
            <a:r>
              <a:rPr lang="en-US" sz="2994" b="1">
                <a:solidFill>
                  <a:srgbClr val="324370"/>
                </a:solidFill>
                <a:latin typeface="Open Sans Bold"/>
                <a:ea typeface="Open Sans Bold"/>
                <a:cs typeface="Open Sans Bold"/>
                <a:sym typeface="Open Sans Bold"/>
              </a:rPr>
              <a:t>Clients must treat annotations as hints and not as a security boundary unless the server is trusted.</a:t>
            </a:r>
          </a:p>
          <a:p>
            <a:pPr algn="l">
              <a:lnSpc>
                <a:spcPts val="4192"/>
              </a:lnSpc>
            </a:pPr>
            <a:endParaRPr lang="en-US" sz="2994" b="1">
              <a:solidFill>
                <a:srgbClr val="324370"/>
              </a:solidFill>
              <a:latin typeface="Open Sans Bold"/>
              <a:ea typeface="Open Sans Bold"/>
              <a:cs typeface="Open Sans Bold"/>
              <a:sym typeface="Open Sans Bold"/>
            </a:endParaRPr>
          </a:p>
          <a:p>
            <a:pPr marL="646565" lvl="1" indent="-323282" algn="l">
              <a:lnSpc>
                <a:spcPts val="4192"/>
              </a:lnSpc>
              <a:buFont typeface="Arial"/>
              <a:buChar char="•"/>
            </a:pPr>
            <a:r>
              <a:rPr lang="en-US" sz="2994" b="1">
                <a:solidFill>
                  <a:srgbClr val="324370"/>
                </a:solidFill>
                <a:latin typeface="Open Sans Bold"/>
                <a:ea typeface="Open Sans Bold"/>
                <a:cs typeface="Open Sans Bold"/>
                <a:sym typeface="Open Sans Bold"/>
              </a:rPr>
              <a:t>There is also a feature called elicitation, where the server can request additional user input during an operation. </a:t>
            </a:r>
          </a:p>
          <a:p>
            <a:pPr algn="l">
              <a:lnSpc>
                <a:spcPts val="4192"/>
              </a:lnSpc>
            </a:pPr>
            <a:endParaRPr lang="en-US" sz="2994" b="1">
              <a:solidFill>
                <a:srgbClr val="324370"/>
              </a:solidFill>
              <a:latin typeface="Open Sans Bold"/>
              <a:ea typeface="Open Sans Bold"/>
              <a:cs typeface="Open Sans Bold"/>
              <a:sym typeface="Open Sans Bold"/>
            </a:endParaRPr>
          </a:p>
          <a:p>
            <a:pPr marL="646565" lvl="1" indent="-323282" algn="l">
              <a:lnSpc>
                <a:spcPts val="4192"/>
              </a:lnSpc>
              <a:buFont typeface="Arial"/>
              <a:buChar char="•"/>
            </a:pPr>
            <a:r>
              <a:rPr lang="en-US" sz="2994" b="1">
                <a:solidFill>
                  <a:srgbClr val="324370"/>
                </a:solidFill>
                <a:latin typeface="Open Sans Bold"/>
                <a:ea typeface="Open Sans Bold"/>
                <a:cs typeface="Open Sans Bold"/>
                <a:sym typeface="Open Sans Bold"/>
              </a:rPr>
              <a:t>The protocol does not force one specific UI pattern for that; the client/host decides how to show it.</a:t>
            </a:r>
          </a:p>
        </p:txBody>
      </p:sp>
      <p:sp>
        <p:nvSpPr>
          <p:cNvPr id="4" name="Freeform 4"/>
          <p:cNvSpPr/>
          <p:nvPr/>
        </p:nvSpPr>
        <p:spPr>
          <a:xfrm>
            <a:off x="10733771" y="897297"/>
            <a:ext cx="6043342" cy="8229600"/>
          </a:xfrm>
          <a:custGeom>
            <a:avLst/>
            <a:gdLst/>
            <a:ahLst/>
            <a:cxnLst/>
            <a:rect l="l" t="t" r="r" b="b"/>
            <a:pathLst>
              <a:path w="6043342" h="8229600">
                <a:moveTo>
                  <a:pt x="0" y="0"/>
                </a:moveTo>
                <a:lnTo>
                  <a:pt x="6043342" y="0"/>
                </a:lnTo>
                <a:lnTo>
                  <a:pt x="6043342" y="8229600"/>
                </a:lnTo>
                <a:lnTo>
                  <a:pt x="0" y="8229600"/>
                </a:lnTo>
                <a:lnTo>
                  <a:pt x="0" y="0"/>
                </a:lnTo>
                <a:close/>
              </a:path>
            </a:pathLst>
          </a:custGeom>
          <a:blipFill>
            <a:blip r:embed="rId3"/>
            <a:stretch>
              <a:fillRect l="-810" r="-810"/>
            </a:stretch>
          </a:blipFill>
        </p:spPr>
      </p:sp>
      <p:sp>
        <p:nvSpPr>
          <p:cNvPr id="5" name="TextBox 5"/>
          <p:cNvSpPr txBox="1"/>
          <p:nvPr/>
        </p:nvSpPr>
        <p:spPr>
          <a:xfrm>
            <a:off x="15764299" y="703761"/>
            <a:ext cx="1473411" cy="426493"/>
          </a:xfrm>
          <a:prstGeom prst="rect">
            <a:avLst/>
          </a:prstGeom>
        </p:spPr>
        <p:txBody>
          <a:bodyPr lIns="0" tIns="0" rIns="0" bIns="0" rtlCol="0" anchor="t">
            <a:spAutoFit/>
          </a:bodyPr>
          <a:lstStyle/>
          <a:p>
            <a:pPr marL="0" lvl="0" indent="0" algn="ctr">
              <a:lnSpc>
                <a:spcPts val="3291"/>
              </a:lnSpc>
            </a:pPr>
            <a:r>
              <a:rPr lang="en-US" sz="3291" b="1">
                <a:solidFill>
                  <a:srgbClr val="8093BB"/>
                </a:solidFill>
                <a:latin typeface="Montserrat Bold"/>
                <a:ea typeface="Montserrat Bold"/>
                <a:cs typeface="Montserrat Bold"/>
                <a:sym typeface="Montserrat Bold"/>
              </a:rPr>
              <a:t>28</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666" b="-666"/>
            </a:stretch>
          </a:blipFill>
        </p:spPr>
      </p:sp>
      <p:sp>
        <p:nvSpPr>
          <p:cNvPr id="3" name="TextBox 3"/>
          <p:cNvSpPr txBox="1"/>
          <p:nvPr/>
        </p:nvSpPr>
        <p:spPr>
          <a:xfrm>
            <a:off x="4773314" y="1143000"/>
            <a:ext cx="8741372" cy="802336"/>
          </a:xfrm>
          <a:prstGeom prst="rect">
            <a:avLst/>
          </a:prstGeom>
        </p:spPr>
        <p:txBody>
          <a:bodyPr lIns="0" tIns="0" rIns="0" bIns="0" rtlCol="0" anchor="t">
            <a:spAutoFit/>
          </a:bodyPr>
          <a:lstStyle/>
          <a:p>
            <a:pPr marL="0" lvl="0" indent="0" algn="ctr">
              <a:lnSpc>
                <a:spcPts val="6070"/>
              </a:lnSpc>
            </a:pPr>
            <a:r>
              <a:rPr lang="en-US" sz="6070" b="1">
                <a:solidFill>
                  <a:srgbClr val="324370"/>
                </a:solidFill>
                <a:latin typeface="Montserrat Ultra-Bold"/>
                <a:ea typeface="Montserrat Ultra-Bold"/>
                <a:cs typeface="Montserrat Ultra-Bold"/>
                <a:sym typeface="Montserrat Ultra-Bold"/>
              </a:rPr>
              <a:t>LOGGING AND AUDIT</a:t>
            </a:r>
          </a:p>
        </p:txBody>
      </p:sp>
      <p:sp>
        <p:nvSpPr>
          <p:cNvPr id="4" name="TextBox 4"/>
          <p:cNvSpPr txBox="1"/>
          <p:nvPr/>
        </p:nvSpPr>
        <p:spPr>
          <a:xfrm>
            <a:off x="1028700" y="2675223"/>
            <a:ext cx="16230600" cy="860424"/>
          </a:xfrm>
          <a:prstGeom prst="rect">
            <a:avLst/>
          </a:prstGeom>
        </p:spPr>
        <p:txBody>
          <a:bodyPr lIns="0" tIns="0" rIns="0" bIns="0" rtlCol="0" anchor="t">
            <a:spAutoFit/>
          </a:bodyPr>
          <a:lstStyle/>
          <a:p>
            <a:pPr marL="0" lvl="0" indent="0" algn="just">
              <a:lnSpc>
                <a:spcPts val="3500"/>
              </a:lnSpc>
            </a:pPr>
            <a:r>
              <a:rPr lang="en-US" sz="2500">
                <a:solidFill>
                  <a:srgbClr val="324370"/>
                </a:solidFill>
                <a:latin typeface="Montserrat"/>
                <a:ea typeface="Montserrat"/>
                <a:cs typeface="Montserrat"/>
                <a:sym typeface="Montserrat"/>
              </a:rPr>
              <a:t>Traceability and compliance are essential in AI-native data applications. Every interaction between Claude, the MCP server, and SQL Server must be logged to ensure accountability.</a:t>
            </a:r>
          </a:p>
        </p:txBody>
      </p:sp>
      <p:sp>
        <p:nvSpPr>
          <p:cNvPr id="5" name="Freeform 5"/>
          <p:cNvSpPr/>
          <p:nvPr/>
        </p:nvSpPr>
        <p:spPr>
          <a:xfrm>
            <a:off x="1028700" y="6853144"/>
            <a:ext cx="16230600" cy="2405156"/>
          </a:xfrm>
          <a:custGeom>
            <a:avLst/>
            <a:gdLst/>
            <a:ahLst/>
            <a:cxnLst/>
            <a:rect l="l" t="t" r="r" b="b"/>
            <a:pathLst>
              <a:path w="16230600" h="2405156">
                <a:moveTo>
                  <a:pt x="0" y="0"/>
                </a:moveTo>
                <a:lnTo>
                  <a:pt x="16230600" y="0"/>
                </a:lnTo>
                <a:lnTo>
                  <a:pt x="16230600" y="2405156"/>
                </a:lnTo>
                <a:lnTo>
                  <a:pt x="0" y="2405156"/>
                </a:lnTo>
                <a:lnTo>
                  <a:pt x="0" y="0"/>
                </a:lnTo>
                <a:close/>
              </a:path>
            </a:pathLst>
          </a:custGeom>
          <a:blipFill>
            <a:blip r:embed="rId3"/>
            <a:stretch>
              <a:fillRect t="-142325" b="-142325"/>
            </a:stretch>
          </a:blipFill>
        </p:spPr>
      </p:sp>
      <p:grpSp>
        <p:nvGrpSpPr>
          <p:cNvPr id="6" name="Group 6"/>
          <p:cNvGrpSpPr/>
          <p:nvPr/>
        </p:nvGrpSpPr>
        <p:grpSpPr>
          <a:xfrm>
            <a:off x="1028700" y="5143500"/>
            <a:ext cx="5410200" cy="2101888"/>
            <a:chOff x="0" y="0"/>
            <a:chExt cx="1378861" cy="535694"/>
          </a:xfrm>
        </p:grpSpPr>
        <p:sp>
          <p:nvSpPr>
            <p:cNvPr id="7" name="Freeform 7"/>
            <p:cNvSpPr/>
            <p:nvPr/>
          </p:nvSpPr>
          <p:spPr>
            <a:xfrm>
              <a:off x="0" y="0"/>
              <a:ext cx="1378861" cy="535694"/>
            </a:xfrm>
            <a:custGeom>
              <a:avLst/>
              <a:gdLst/>
              <a:ahLst/>
              <a:cxnLst/>
              <a:rect l="l" t="t" r="r" b="b"/>
              <a:pathLst>
                <a:path w="1378861" h="535694">
                  <a:moveTo>
                    <a:pt x="0" y="0"/>
                  </a:moveTo>
                  <a:lnTo>
                    <a:pt x="1378861" y="0"/>
                  </a:lnTo>
                  <a:lnTo>
                    <a:pt x="1378861" y="535694"/>
                  </a:lnTo>
                  <a:lnTo>
                    <a:pt x="0" y="535694"/>
                  </a:lnTo>
                  <a:close/>
                </a:path>
              </a:pathLst>
            </a:custGeom>
            <a:solidFill>
              <a:srgbClr val="8093BB"/>
            </a:solidFill>
          </p:spPr>
        </p:sp>
        <p:sp>
          <p:nvSpPr>
            <p:cNvPr id="8" name="TextBox 8"/>
            <p:cNvSpPr txBox="1"/>
            <p:nvPr/>
          </p:nvSpPr>
          <p:spPr>
            <a:xfrm>
              <a:off x="0" y="-38100"/>
              <a:ext cx="1378861" cy="573794"/>
            </a:xfrm>
            <a:prstGeom prst="rect">
              <a:avLst/>
            </a:prstGeom>
          </p:spPr>
          <p:txBody>
            <a:bodyPr lIns="42129" tIns="42129" rIns="42129" bIns="42129" rtlCol="0" anchor="ctr"/>
            <a:lstStyle/>
            <a:p>
              <a:pPr marL="0" lvl="0" indent="0" algn="ctr">
                <a:lnSpc>
                  <a:spcPts val="2659"/>
                </a:lnSpc>
              </a:pPr>
              <a:endParaRPr/>
            </a:p>
          </p:txBody>
        </p:sp>
      </p:grpSp>
      <p:grpSp>
        <p:nvGrpSpPr>
          <p:cNvPr id="9" name="Group 9"/>
          <p:cNvGrpSpPr/>
          <p:nvPr/>
        </p:nvGrpSpPr>
        <p:grpSpPr>
          <a:xfrm>
            <a:off x="6438900" y="5143500"/>
            <a:ext cx="5410200" cy="2101888"/>
            <a:chOff x="0" y="0"/>
            <a:chExt cx="1378861" cy="535694"/>
          </a:xfrm>
        </p:grpSpPr>
        <p:sp>
          <p:nvSpPr>
            <p:cNvPr id="10" name="Freeform 10"/>
            <p:cNvSpPr/>
            <p:nvPr/>
          </p:nvSpPr>
          <p:spPr>
            <a:xfrm>
              <a:off x="0" y="0"/>
              <a:ext cx="1378861" cy="535694"/>
            </a:xfrm>
            <a:custGeom>
              <a:avLst/>
              <a:gdLst/>
              <a:ahLst/>
              <a:cxnLst/>
              <a:rect l="l" t="t" r="r" b="b"/>
              <a:pathLst>
                <a:path w="1378861" h="535694">
                  <a:moveTo>
                    <a:pt x="0" y="0"/>
                  </a:moveTo>
                  <a:lnTo>
                    <a:pt x="1378861" y="0"/>
                  </a:lnTo>
                  <a:lnTo>
                    <a:pt x="1378861" y="535694"/>
                  </a:lnTo>
                  <a:lnTo>
                    <a:pt x="0" y="535694"/>
                  </a:lnTo>
                  <a:close/>
                </a:path>
              </a:pathLst>
            </a:custGeom>
            <a:solidFill>
              <a:srgbClr val="546791"/>
            </a:solidFill>
          </p:spPr>
        </p:sp>
        <p:sp>
          <p:nvSpPr>
            <p:cNvPr id="11" name="TextBox 11"/>
            <p:cNvSpPr txBox="1"/>
            <p:nvPr/>
          </p:nvSpPr>
          <p:spPr>
            <a:xfrm>
              <a:off x="0" y="-38100"/>
              <a:ext cx="1378861" cy="573794"/>
            </a:xfrm>
            <a:prstGeom prst="rect">
              <a:avLst/>
            </a:prstGeom>
          </p:spPr>
          <p:txBody>
            <a:bodyPr lIns="42129" tIns="42129" rIns="42129" bIns="42129" rtlCol="0" anchor="ctr"/>
            <a:lstStyle/>
            <a:p>
              <a:pPr marL="0" lvl="0" indent="0" algn="ctr">
                <a:lnSpc>
                  <a:spcPts val="2659"/>
                </a:lnSpc>
              </a:pPr>
              <a:endParaRPr/>
            </a:p>
          </p:txBody>
        </p:sp>
      </p:grpSp>
      <p:grpSp>
        <p:nvGrpSpPr>
          <p:cNvPr id="12" name="Group 12"/>
          <p:cNvGrpSpPr/>
          <p:nvPr/>
        </p:nvGrpSpPr>
        <p:grpSpPr>
          <a:xfrm>
            <a:off x="11849100" y="5143500"/>
            <a:ext cx="5410200" cy="2101888"/>
            <a:chOff x="0" y="0"/>
            <a:chExt cx="1378861" cy="535694"/>
          </a:xfrm>
        </p:grpSpPr>
        <p:sp>
          <p:nvSpPr>
            <p:cNvPr id="13" name="Freeform 13"/>
            <p:cNvSpPr/>
            <p:nvPr/>
          </p:nvSpPr>
          <p:spPr>
            <a:xfrm>
              <a:off x="0" y="0"/>
              <a:ext cx="1378861" cy="535694"/>
            </a:xfrm>
            <a:custGeom>
              <a:avLst/>
              <a:gdLst/>
              <a:ahLst/>
              <a:cxnLst/>
              <a:rect l="l" t="t" r="r" b="b"/>
              <a:pathLst>
                <a:path w="1378861" h="535694">
                  <a:moveTo>
                    <a:pt x="0" y="0"/>
                  </a:moveTo>
                  <a:lnTo>
                    <a:pt x="1378861" y="0"/>
                  </a:lnTo>
                  <a:lnTo>
                    <a:pt x="1378861" y="535694"/>
                  </a:lnTo>
                  <a:lnTo>
                    <a:pt x="0" y="535694"/>
                  </a:lnTo>
                  <a:close/>
                </a:path>
              </a:pathLst>
            </a:custGeom>
            <a:solidFill>
              <a:srgbClr val="334368"/>
            </a:solidFill>
          </p:spPr>
        </p:sp>
        <p:sp>
          <p:nvSpPr>
            <p:cNvPr id="14" name="TextBox 14"/>
            <p:cNvSpPr txBox="1"/>
            <p:nvPr/>
          </p:nvSpPr>
          <p:spPr>
            <a:xfrm>
              <a:off x="0" y="-38100"/>
              <a:ext cx="1378861" cy="573794"/>
            </a:xfrm>
            <a:prstGeom prst="rect">
              <a:avLst/>
            </a:prstGeom>
          </p:spPr>
          <p:txBody>
            <a:bodyPr lIns="42129" tIns="42129" rIns="42129" bIns="42129" rtlCol="0" anchor="ctr"/>
            <a:lstStyle/>
            <a:p>
              <a:pPr marL="0" lvl="0" indent="0" algn="ctr">
                <a:lnSpc>
                  <a:spcPts val="2659"/>
                </a:lnSpc>
              </a:pPr>
              <a:endParaRPr/>
            </a:p>
          </p:txBody>
        </p:sp>
      </p:grpSp>
      <p:sp>
        <p:nvSpPr>
          <p:cNvPr id="15" name="TextBox 15"/>
          <p:cNvSpPr txBox="1"/>
          <p:nvPr/>
        </p:nvSpPr>
        <p:spPr>
          <a:xfrm>
            <a:off x="2028062" y="5603854"/>
            <a:ext cx="1324912" cy="953339"/>
          </a:xfrm>
          <a:prstGeom prst="rect">
            <a:avLst/>
          </a:prstGeom>
        </p:spPr>
        <p:txBody>
          <a:bodyPr lIns="0" tIns="0" rIns="0" bIns="0" rtlCol="0" anchor="t">
            <a:spAutoFit/>
          </a:bodyPr>
          <a:lstStyle/>
          <a:p>
            <a:pPr marL="0" lvl="0" indent="0" algn="ctr">
              <a:lnSpc>
                <a:spcPts val="7165"/>
              </a:lnSpc>
            </a:pPr>
            <a:r>
              <a:rPr lang="en-US" sz="7165" b="1">
                <a:solidFill>
                  <a:srgbClr val="FFFFFF"/>
                </a:solidFill>
                <a:latin typeface="Montserrat Ultra-Bold"/>
                <a:ea typeface="Montserrat Ultra-Bold"/>
                <a:cs typeface="Montserrat Ultra-Bold"/>
                <a:sym typeface="Montserrat Ultra-Bold"/>
              </a:rPr>
              <a:t>1</a:t>
            </a:r>
          </a:p>
        </p:txBody>
      </p:sp>
      <p:sp>
        <p:nvSpPr>
          <p:cNvPr id="16" name="TextBox 16"/>
          <p:cNvSpPr txBox="1"/>
          <p:nvPr/>
        </p:nvSpPr>
        <p:spPr>
          <a:xfrm>
            <a:off x="3352974" y="5513416"/>
            <a:ext cx="2495376" cy="1277322"/>
          </a:xfrm>
          <a:prstGeom prst="rect">
            <a:avLst/>
          </a:prstGeom>
        </p:spPr>
        <p:txBody>
          <a:bodyPr lIns="0" tIns="0" rIns="0" bIns="0" rtlCol="0" anchor="t">
            <a:spAutoFit/>
          </a:bodyPr>
          <a:lstStyle/>
          <a:p>
            <a:pPr marL="0" lvl="0" indent="0" algn="l">
              <a:lnSpc>
                <a:spcPts val="2046"/>
              </a:lnSpc>
            </a:pPr>
            <a:r>
              <a:rPr lang="en-US" sz="1461">
                <a:solidFill>
                  <a:srgbClr val="FFFFFF"/>
                </a:solidFill>
                <a:latin typeface="Montserrat"/>
                <a:ea typeface="Montserrat"/>
                <a:cs typeface="Montserrat"/>
                <a:sym typeface="Montserrat"/>
              </a:rPr>
              <a:t>Capture who asked: user identity, role, session ID, source host, and timestamp.</a:t>
            </a:r>
          </a:p>
          <a:p>
            <a:pPr marL="0" lvl="0" indent="0" algn="l">
              <a:lnSpc>
                <a:spcPts val="2046"/>
              </a:lnSpc>
            </a:pPr>
            <a:endParaRPr lang="en-US" sz="1461">
              <a:solidFill>
                <a:srgbClr val="FFFFFF"/>
              </a:solidFill>
              <a:latin typeface="Montserrat"/>
              <a:ea typeface="Montserrat"/>
              <a:cs typeface="Montserrat"/>
              <a:sym typeface="Montserrat"/>
            </a:endParaRPr>
          </a:p>
        </p:txBody>
      </p:sp>
      <p:sp>
        <p:nvSpPr>
          <p:cNvPr id="17" name="TextBox 17"/>
          <p:cNvSpPr txBox="1"/>
          <p:nvPr/>
        </p:nvSpPr>
        <p:spPr>
          <a:xfrm>
            <a:off x="7438262" y="5603854"/>
            <a:ext cx="1324912" cy="953339"/>
          </a:xfrm>
          <a:prstGeom prst="rect">
            <a:avLst/>
          </a:prstGeom>
        </p:spPr>
        <p:txBody>
          <a:bodyPr lIns="0" tIns="0" rIns="0" bIns="0" rtlCol="0" anchor="t">
            <a:spAutoFit/>
          </a:bodyPr>
          <a:lstStyle/>
          <a:p>
            <a:pPr marL="0" lvl="0" indent="0" algn="ctr">
              <a:lnSpc>
                <a:spcPts val="7165"/>
              </a:lnSpc>
            </a:pPr>
            <a:r>
              <a:rPr lang="en-US" sz="7165" b="1">
                <a:solidFill>
                  <a:srgbClr val="FFFFFF"/>
                </a:solidFill>
                <a:latin typeface="Montserrat Ultra-Bold"/>
                <a:ea typeface="Montserrat Ultra-Bold"/>
                <a:cs typeface="Montserrat Ultra-Bold"/>
                <a:sym typeface="Montserrat Ultra-Bold"/>
              </a:rPr>
              <a:t>2</a:t>
            </a:r>
          </a:p>
        </p:txBody>
      </p:sp>
      <p:sp>
        <p:nvSpPr>
          <p:cNvPr id="18" name="TextBox 18"/>
          <p:cNvSpPr txBox="1"/>
          <p:nvPr/>
        </p:nvSpPr>
        <p:spPr>
          <a:xfrm>
            <a:off x="8763174" y="5513416"/>
            <a:ext cx="2494954" cy="1277322"/>
          </a:xfrm>
          <a:prstGeom prst="rect">
            <a:avLst/>
          </a:prstGeom>
        </p:spPr>
        <p:txBody>
          <a:bodyPr lIns="0" tIns="0" rIns="0" bIns="0" rtlCol="0" anchor="t">
            <a:spAutoFit/>
          </a:bodyPr>
          <a:lstStyle/>
          <a:p>
            <a:pPr marL="0" lvl="0" indent="0" algn="l">
              <a:lnSpc>
                <a:spcPts val="2046"/>
              </a:lnSpc>
            </a:pPr>
            <a:r>
              <a:rPr lang="en-US" sz="1461">
                <a:solidFill>
                  <a:srgbClr val="FFFFFF"/>
                </a:solidFill>
                <a:latin typeface="Montserrat"/>
                <a:ea typeface="Montserrat"/>
                <a:cs typeface="Montserrat"/>
                <a:sym typeface="Montserrat"/>
              </a:rPr>
              <a:t>Record what was called: MCP tool name, operation type, target table/entity, and request purpose.</a:t>
            </a:r>
          </a:p>
          <a:p>
            <a:pPr marL="0" lvl="0" indent="0" algn="l">
              <a:lnSpc>
                <a:spcPts val="2046"/>
              </a:lnSpc>
            </a:pPr>
            <a:endParaRPr lang="en-US" sz="1461">
              <a:solidFill>
                <a:srgbClr val="FFFFFF"/>
              </a:solidFill>
              <a:latin typeface="Montserrat"/>
              <a:ea typeface="Montserrat"/>
              <a:cs typeface="Montserrat"/>
              <a:sym typeface="Montserrat"/>
            </a:endParaRPr>
          </a:p>
        </p:txBody>
      </p:sp>
      <p:sp>
        <p:nvSpPr>
          <p:cNvPr id="19" name="TextBox 19"/>
          <p:cNvSpPr txBox="1"/>
          <p:nvPr/>
        </p:nvSpPr>
        <p:spPr>
          <a:xfrm>
            <a:off x="12848462" y="5603854"/>
            <a:ext cx="1324912" cy="953339"/>
          </a:xfrm>
          <a:prstGeom prst="rect">
            <a:avLst/>
          </a:prstGeom>
        </p:spPr>
        <p:txBody>
          <a:bodyPr lIns="0" tIns="0" rIns="0" bIns="0" rtlCol="0" anchor="t">
            <a:spAutoFit/>
          </a:bodyPr>
          <a:lstStyle/>
          <a:p>
            <a:pPr marL="0" lvl="0" indent="0" algn="ctr">
              <a:lnSpc>
                <a:spcPts val="7165"/>
              </a:lnSpc>
            </a:pPr>
            <a:r>
              <a:rPr lang="en-US" sz="7165" b="1">
                <a:solidFill>
                  <a:srgbClr val="FFFFFF"/>
                </a:solidFill>
                <a:latin typeface="Montserrat Ultra-Bold"/>
                <a:ea typeface="Montserrat Ultra-Bold"/>
                <a:cs typeface="Montserrat Ultra-Bold"/>
                <a:sym typeface="Montserrat Ultra-Bold"/>
              </a:rPr>
              <a:t>3</a:t>
            </a:r>
          </a:p>
        </p:txBody>
      </p:sp>
      <p:sp>
        <p:nvSpPr>
          <p:cNvPr id="20" name="TextBox 20"/>
          <p:cNvSpPr txBox="1"/>
          <p:nvPr/>
        </p:nvSpPr>
        <p:spPr>
          <a:xfrm>
            <a:off x="14173374" y="5513416"/>
            <a:ext cx="2327631" cy="1791672"/>
          </a:xfrm>
          <a:prstGeom prst="rect">
            <a:avLst/>
          </a:prstGeom>
        </p:spPr>
        <p:txBody>
          <a:bodyPr lIns="0" tIns="0" rIns="0" bIns="0" rtlCol="0" anchor="t">
            <a:spAutoFit/>
          </a:bodyPr>
          <a:lstStyle/>
          <a:p>
            <a:pPr marL="0" lvl="0" indent="0" algn="l">
              <a:lnSpc>
                <a:spcPts val="2046"/>
              </a:lnSpc>
            </a:pPr>
            <a:r>
              <a:rPr lang="en-US" sz="1461">
                <a:solidFill>
                  <a:srgbClr val="FFFFFF"/>
                </a:solidFill>
                <a:latin typeface="Montserrat"/>
                <a:ea typeface="Montserrat"/>
                <a:cs typeface="Montserrat"/>
                <a:sym typeface="Montserrat"/>
              </a:rPr>
              <a:t> Log database execution details: generated SQL template or stored procedure name, parameters, rows affected, duration, and success/failure.</a:t>
            </a:r>
          </a:p>
        </p:txBody>
      </p:sp>
      <p:sp>
        <p:nvSpPr>
          <p:cNvPr id="21" name="TextBox 21"/>
          <p:cNvSpPr txBox="1"/>
          <p:nvPr/>
        </p:nvSpPr>
        <p:spPr>
          <a:xfrm>
            <a:off x="15764299" y="742950"/>
            <a:ext cx="1476375" cy="781050"/>
          </a:xfrm>
          <a:prstGeom prst="rect">
            <a:avLst/>
          </a:prstGeom>
        </p:spPr>
        <p:txBody>
          <a:bodyPr lIns="0" tIns="0" rIns="0" bIns="0" rtlCol="0" anchor="t">
            <a:spAutoFit/>
          </a:bodyPr>
          <a:lstStyle/>
          <a:p>
            <a:pPr marL="0" lvl="0" indent="0" algn="ctr">
              <a:lnSpc>
                <a:spcPts val="5820"/>
              </a:lnSpc>
              <a:spcBef>
                <a:spcPct val="0"/>
              </a:spcBef>
            </a:pPr>
            <a:r>
              <a:rPr lang="en-US" sz="5820" b="1" u="none" strike="noStrike">
                <a:solidFill>
                  <a:srgbClr val="8093BB"/>
                </a:solidFill>
                <a:latin typeface="Montserrat Bold"/>
                <a:ea typeface="Montserrat Bold"/>
                <a:cs typeface="Montserrat Bold"/>
                <a:sym typeface="Montserrat Bold"/>
              </a:rPr>
              <a:t>29</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59" b="-9259"/>
            </a:stretch>
          </a:blipFill>
        </p:spPr>
      </p:sp>
      <p:sp>
        <p:nvSpPr>
          <p:cNvPr id="3" name="Freeform 3"/>
          <p:cNvSpPr/>
          <p:nvPr/>
        </p:nvSpPr>
        <p:spPr>
          <a:xfrm>
            <a:off x="1028700" y="1028700"/>
            <a:ext cx="6043342" cy="8229600"/>
          </a:xfrm>
          <a:custGeom>
            <a:avLst/>
            <a:gdLst/>
            <a:ahLst/>
            <a:cxnLst/>
            <a:rect l="l" t="t" r="r" b="b"/>
            <a:pathLst>
              <a:path w="6043342" h="8229600">
                <a:moveTo>
                  <a:pt x="0" y="0"/>
                </a:moveTo>
                <a:lnTo>
                  <a:pt x="6043342" y="0"/>
                </a:lnTo>
                <a:lnTo>
                  <a:pt x="6043342" y="8229600"/>
                </a:lnTo>
                <a:lnTo>
                  <a:pt x="0" y="8229600"/>
                </a:lnTo>
                <a:lnTo>
                  <a:pt x="0" y="0"/>
                </a:lnTo>
                <a:close/>
              </a:path>
            </a:pathLst>
          </a:custGeom>
          <a:blipFill>
            <a:blip r:embed="rId3"/>
            <a:stretch>
              <a:fillRect l="-810" r="-810"/>
            </a:stretch>
          </a:blipFill>
        </p:spPr>
      </p:sp>
      <p:sp>
        <p:nvSpPr>
          <p:cNvPr id="4" name="TextBox 4"/>
          <p:cNvSpPr txBox="1"/>
          <p:nvPr/>
        </p:nvSpPr>
        <p:spPr>
          <a:xfrm>
            <a:off x="8061659" y="5172566"/>
            <a:ext cx="9172951" cy="1810390"/>
          </a:xfrm>
          <a:prstGeom prst="rect">
            <a:avLst/>
          </a:prstGeom>
        </p:spPr>
        <p:txBody>
          <a:bodyPr lIns="0" tIns="0" rIns="0" bIns="0" rtlCol="0" anchor="t">
            <a:spAutoFit/>
          </a:bodyPr>
          <a:lstStyle/>
          <a:p>
            <a:pPr marL="0" lvl="0" indent="0" algn="just">
              <a:lnSpc>
                <a:spcPts val="3639"/>
              </a:lnSpc>
            </a:pPr>
            <a:r>
              <a:rPr lang="en-US" sz="2599" dirty="0">
                <a:solidFill>
                  <a:srgbClr val="324370"/>
                </a:solidFill>
                <a:latin typeface="Montserrat"/>
                <a:ea typeface="Montserrat"/>
                <a:cs typeface="Montserrat"/>
                <a:sym typeface="Montserrat"/>
              </a:rPr>
              <a:t>Include an audit/error reference ID in the response so engineers can trace the issue without exposing sensitive details.</a:t>
            </a:r>
          </a:p>
          <a:p>
            <a:pPr marL="0" lvl="0" indent="0" algn="just">
              <a:lnSpc>
                <a:spcPts val="3639"/>
              </a:lnSpc>
            </a:pPr>
            <a:endParaRPr lang="en-US" sz="2599" dirty="0">
              <a:solidFill>
                <a:srgbClr val="324370"/>
              </a:solidFill>
              <a:latin typeface="Montserrat"/>
              <a:ea typeface="Montserrat"/>
              <a:cs typeface="Montserrat"/>
              <a:sym typeface="Montserrat"/>
            </a:endParaRPr>
          </a:p>
        </p:txBody>
      </p:sp>
      <p:sp>
        <p:nvSpPr>
          <p:cNvPr id="5" name="TextBox 5"/>
          <p:cNvSpPr txBox="1"/>
          <p:nvPr/>
        </p:nvSpPr>
        <p:spPr>
          <a:xfrm>
            <a:off x="8061659" y="2134966"/>
            <a:ext cx="9197641" cy="978225"/>
          </a:xfrm>
          <a:prstGeom prst="rect">
            <a:avLst/>
          </a:prstGeom>
        </p:spPr>
        <p:txBody>
          <a:bodyPr lIns="0" tIns="0" rIns="0" bIns="0" rtlCol="0" anchor="t">
            <a:spAutoFit/>
          </a:bodyPr>
          <a:lstStyle/>
          <a:p>
            <a:pPr marL="0" lvl="0" indent="0" algn="l">
              <a:lnSpc>
                <a:spcPts val="7387"/>
              </a:lnSpc>
            </a:pPr>
            <a:r>
              <a:rPr lang="en-US" sz="7387" b="1">
                <a:solidFill>
                  <a:srgbClr val="324370"/>
                </a:solidFill>
                <a:latin typeface="Montserrat Ultra-Bold"/>
                <a:ea typeface="Montserrat Ultra-Bold"/>
                <a:cs typeface="Montserrat Ultra-Bold"/>
                <a:sym typeface="Montserrat Ultra-Bold"/>
              </a:rPr>
              <a:t>ERROR HANDLING</a:t>
            </a:r>
          </a:p>
        </p:txBody>
      </p:sp>
      <p:grpSp>
        <p:nvGrpSpPr>
          <p:cNvPr id="6" name="Group 6"/>
          <p:cNvGrpSpPr/>
          <p:nvPr/>
        </p:nvGrpSpPr>
        <p:grpSpPr>
          <a:xfrm>
            <a:off x="8061659" y="3411268"/>
            <a:ext cx="9197641" cy="1761298"/>
            <a:chOff x="0" y="0"/>
            <a:chExt cx="2282038" cy="305547"/>
          </a:xfrm>
        </p:grpSpPr>
        <p:sp>
          <p:nvSpPr>
            <p:cNvPr id="7" name="Freeform 7"/>
            <p:cNvSpPr/>
            <p:nvPr/>
          </p:nvSpPr>
          <p:spPr>
            <a:xfrm>
              <a:off x="0" y="0"/>
              <a:ext cx="2282038" cy="305547"/>
            </a:xfrm>
            <a:custGeom>
              <a:avLst/>
              <a:gdLst/>
              <a:ahLst/>
              <a:cxnLst/>
              <a:rect l="l" t="t" r="r" b="b"/>
              <a:pathLst>
                <a:path w="2282038" h="305547">
                  <a:moveTo>
                    <a:pt x="0" y="0"/>
                  </a:moveTo>
                  <a:lnTo>
                    <a:pt x="2282038" y="0"/>
                  </a:lnTo>
                  <a:lnTo>
                    <a:pt x="2282038" y="305547"/>
                  </a:lnTo>
                  <a:lnTo>
                    <a:pt x="0" y="305547"/>
                  </a:lnTo>
                  <a:close/>
                </a:path>
              </a:pathLst>
            </a:custGeom>
            <a:solidFill>
              <a:srgbClr val="324370"/>
            </a:solidFill>
          </p:spPr>
        </p:sp>
        <p:sp>
          <p:nvSpPr>
            <p:cNvPr id="8" name="TextBox 8"/>
            <p:cNvSpPr txBox="1"/>
            <p:nvPr/>
          </p:nvSpPr>
          <p:spPr>
            <a:xfrm>
              <a:off x="0" y="-38100"/>
              <a:ext cx="2282038" cy="343647"/>
            </a:xfrm>
            <a:prstGeom prst="rect">
              <a:avLst/>
            </a:prstGeom>
          </p:spPr>
          <p:txBody>
            <a:bodyPr lIns="42129" tIns="42129" rIns="42129" bIns="42129" rtlCol="0" anchor="ctr"/>
            <a:lstStyle/>
            <a:p>
              <a:pPr marL="0" lvl="0" indent="0" algn="ctr">
                <a:lnSpc>
                  <a:spcPts val="2659"/>
                </a:lnSpc>
              </a:pPr>
              <a:endParaRPr/>
            </a:p>
          </p:txBody>
        </p:sp>
      </p:grpSp>
      <p:sp>
        <p:nvSpPr>
          <p:cNvPr id="9" name="TextBox 9"/>
          <p:cNvSpPr txBox="1"/>
          <p:nvPr/>
        </p:nvSpPr>
        <p:spPr>
          <a:xfrm>
            <a:off x="8061659" y="3653663"/>
            <a:ext cx="9172951" cy="765015"/>
          </a:xfrm>
          <a:prstGeom prst="rect">
            <a:avLst/>
          </a:prstGeom>
        </p:spPr>
        <p:txBody>
          <a:bodyPr lIns="0" tIns="0" rIns="0" bIns="0" rtlCol="0" anchor="t">
            <a:spAutoFit/>
          </a:bodyPr>
          <a:lstStyle/>
          <a:p>
            <a:pPr marL="0" lvl="0" indent="0" algn="ctr">
              <a:lnSpc>
                <a:spcPts val="5743"/>
              </a:lnSpc>
            </a:pPr>
            <a:r>
              <a:rPr lang="en-US" sz="5743" b="1" dirty="0">
                <a:solidFill>
                  <a:srgbClr val="FFFFFF"/>
                </a:solidFill>
                <a:latin typeface="Montserrat Ultra-Bold"/>
                <a:ea typeface="Montserrat Ultra-Bold"/>
                <a:cs typeface="Montserrat Ultra-Bold"/>
                <a:sym typeface="Montserrat Ultra-Bold"/>
              </a:rPr>
              <a:t>SAFE &amp; USER-FRIENDLY</a:t>
            </a:r>
          </a:p>
        </p:txBody>
      </p:sp>
      <p:grpSp>
        <p:nvGrpSpPr>
          <p:cNvPr id="10" name="Group 10"/>
          <p:cNvGrpSpPr/>
          <p:nvPr/>
        </p:nvGrpSpPr>
        <p:grpSpPr>
          <a:xfrm>
            <a:off x="11284513" y="6664461"/>
            <a:ext cx="2748902" cy="2819102"/>
            <a:chOff x="0" y="0"/>
            <a:chExt cx="682033" cy="699451"/>
          </a:xfrm>
        </p:grpSpPr>
        <p:sp>
          <p:nvSpPr>
            <p:cNvPr id="11" name="Freeform 11"/>
            <p:cNvSpPr/>
            <p:nvPr/>
          </p:nvSpPr>
          <p:spPr>
            <a:xfrm>
              <a:off x="0" y="0"/>
              <a:ext cx="682033" cy="699451"/>
            </a:xfrm>
            <a:custGeom>
              <a:avLst/>
              <a:gdLst/>
              <a:ahLst/>
              <a:cxnLst/>
              <a:rect l="l" t="t" r="r" b="b"/>
              <a:pathLst>
                <a:path w="682033" h="699451">
                  <a:moveTo>
                    <a:pt x="0" y="0"/>
                  </a:moveTo>
                  <a:lnTo>
                    <a:pt x="682033" y="0"/>
                  </a:lnTo>
                  <a:lnTo>
                    <a:pt x="682033" y="699451"/>
                  </a:lnTo>
                  <a:lnTo>
                    <a:pt x="0" y="699451"/>
                  </a:lnTo>
                  <a:close/>
                </a:path>
              </a:pathLst>
            </a:custGeom>
            <a:solidFill>
              <a:srgbClr val="546791"/>
            </a:solidFill>
          </p:spPr>
        </p:sp>
        <p:sp>
          <p:nvSpPr>
            <p:cNvPr id="12" name="TextBox 12"/>
            <p:cNvSpPr txBox="1"/>
            <p:nvPr/>
          </p:nvSpPr>
          <p:spPr>
            <a:xfrm>
              <a:off x="0" y="-38100"/>
              <a:ext cx="682033" cy="737551"/>
            </a:xfrm>
            <a:prstGeom prst="rect">
              <a:avLst/>
            </a:prstGeom>
          </p:spPr>
          <p:txBody>
            <a:bodyPr lIns="42129" tIns="42129" rIns="42129" bIns="42129" rtlCol="0" anchor="ctr"/>
            <a:lstStyle/>
            <a:p>
              <a:pPr marL="0" lvl="0" indent="0" algn="ctr">
                <a:lnSpc>
                  <a:spcPts val="2659"/>
                </a:lnSpc>
              </a:pPr>
              <a:endParaRPr/>
            </a:p>
          </p:txBody>
        </p:sp>
      </p:grpSp>
      <p:sp>
        <p:nvSpPr>
          <p:cNvPr id="13" name="TextBox 13"/>
          <p:cNvSpPr txBox="1"/>
          <p:nvPr/>
        </p:nvSpPr>
        <p:spPr>
          <a:xfrm>
            <a:off x="12197235" y="7022744"/>
            <a:ext cx="923458" cy="580204"/>
          </a:xfrm>
          <a:prstGeom prst="rect">
            <a:avLst/>
          </a:prstGeom>
        </p:spPr>
        <p:txBody>
          <a:bodyPr lIns="0" tIns="0" rIns="0" bIns="0" rtlCol="0" anchor="t">
            <a:spAutoFit/>
          </a:bodyPr>
          <a:lstStyle/>
          <a:p>
            <a:pPr marL="0" lvl="0" indent="0" algn="ctr">
              <a:lnSpc>
                <a:spcPts val="4334"/>
              </a:lnSpc>
            </a:pPr>
            <a:r>
              <a:rPr lang="en-US" sz="4334" b="1">
                <a:solidFill>
                  <a:srgbClr val="FFFFFF"/>
                </a:solidFill>
                <a:latin typeface="Montserrat Ultra-Bold"/>
                <a:ea typeface="Montserrat Ultra-Bold"/>
                <a:cs typeface="Montserrat Ultra-Bold"/>
                <a:sym typeface="Montserrat Ultra-Bold"/>
              </a:rPr>
              <a:t>2</a:t>
            </a:r>
          </a:p>
        </p:txBody>
      </p:sp>
      <p:sp>
        <p:nvSpPr>
          <p:cNvPr id="14" name="TextBox 14"/>
          <p:cNvSpPr txBox="1"/>
          <p:nvPr/>
        </p:nvSpPr>
        <p:spPr>
          <a:xfrm>
            <a:off x="11615682" y="7642736"/>
            <a:ext cx="2086564" cy="1974215"/>
          </a:xfrm>
          <a:prstGeom prst="rect">
            <a:avLst/>
          </a:prstGeom>
        </p:spPr>
        <p:txBody>
          <a:bodyPr lIns="0" tIns="0" rIns="0" bIns="0" rtlCol="0" anchor="t">
            <a:spAutoFit/>
          </a:bodyPr>
          <a:lstStyle/>
          <a:p>
            <a:pPr marL="0" lvl="0" indent="0" algn="ctr">
              <a:lnSpc>
                <a:spcPts val="1959"/>
              </a:lnSpc>
            </a:pPr>
            <a:r>
              <a:rPr lang="en-US" sz="1399">
                <a:solidFill>
                  <a:srgbClr val="FFFFFF"/>
                </a:solidFill>
                <a:latin typeface="Montserrat"/>
                <a:ea typeface="Montserrat"/>
                <a:cs typeface="Montserrat"/>
                <a:sym typeface="Montserrat"/>
              </a:rPr>
              <a:t>Separate error types clearly: validation error, authorization error, database error, timeout, and unexpected system error.</a:t>
            </a:r>
          </a:p>
          <a:p>
            <a:pPr marL="0" lvl="0" indent="0" algn="ctr">
              <a:lnSpc>
                <a:spcPts val="1959"/>
              </a:lnSpc>
            </a:pPr>
            <a:endParaRPr lang="en-US" sz="1399">
              <a:solidFill>
                <a:srgbClr val="FFFFFF"/>
              </a:solidFill>
              <a:latin typeface="Montserrat"/>
              <a:ea typeface="Montserrat"/>
              <a:cs typeface="Montserrat"/>
              <a:sym typeface="Montserrat"/>
            </a:endParaRPr>
          </a:p>
        </p:txBody>
      </p:sp>
      <p:grpSp>
        <p:nvGrpSpPr>
          <p:cNvPr id="15" name="Group 15"/>
          <p:cNvGrpSpPr/>
          <p:nvPr/>
        </p:nvGrpSpPr>
        <p:grpSpPr>
          <a:xfrm>
            <a:off x="14510398" y="6664461"/>
            <a:ext cx="2748902" cy="2593839"/>
            <a:chOff x="0" y="0"/>
            <a:chExt cx="682033" cy="643561"/>
          </a:xfrm>
        </p:grpSpPr>
        <p:sp>
          <p:nvSpPr>
            <p:cNvPr id="16" name="Freeform 16"/>
            <p:cNvSpPr/>
            <p:nvPr/>
          </p:nvSpPr>
          <p:spPr>
            <a:xfrm>
              <a:off x="0" y="0"/>
              <a:ext cx="682033" cy="643561"/>
            </a:xfrm>
            <a:custGeom>
              <a:avLst/>
              <a:gdLst/>
              <a:ahLst/>
              <a:cxnLst/>
              <a:rect l="l" t="t" r="r" b="b"/>
              <a:pathLst>
                <a:path w="682033" h="643561">
                  <a:moveTo>
                    <a:pt x="0" y="0"/>
                  </a:moveTo>
                  <a:lnTo>
                    <a:pt x="682033" y="0"/>
                  </a:lnTo>
                  <a:lnTo>
                    <a:pt x="682033" y="643561"/>
                  </a:lnTo>
                  <a:lnTo>
                    <a:pt x="0" y="643561"/>
                  </a:lnTo>
                  <a:close/>
                </a:path>
              </a:pathLst>
            </a:custGeom>
            <a:solidFill>
              <a:srgbClr val="334368"/>
            </a:solidFill>
          </p:spPr>
        </p:sp>
        <p:sp>
          <p:nvSpPr>
            <p:cNvPr id="17" name="TextBox 17"/>
            <p:cNvSpPr txBox="1"/>
            <p:nvPr/>
          </p:nvSpPr>
          <p:spPr>
            <a:xfrm>
              <a:off x="0" y="-38100"/>
              <a:ext cx="682033" cy="681661"/>
            </a:xfrm>
            <a:prstGeom prst="rect">
              <a:avLst/>
            </a:prstGeom>
          </p:spPr>
          <p:txBody>
            <a:bodyPr lIns="42129" tIns="42129" rIns="42129" bIns="42129" rtlCol="0" anchor="ctr"/>
            <a:lstStyle/>
            <a:p>
              <a:pPr marL="0" lvl="0" indent="0" algn="ctr">
                <a:lnSpc>
                  <a:spcPts val="2659"/>
                </a:lnSpc>
              </a:pPr>
              <a:endParaRPr/>
            </a:p>
          </p:txBody>
        </p:sp>
      </p:grpSp>
      <p:sp>
        <p:nvSpPr>
          <p:cNvPr id="18" name="TextBox 18"/>
          <p:cNvSpPr txBox="1"/>
          <p:nvPr/>
        </p:nvSpPr>
        <p:spPr>
          <a:xfrm>
            <a:off x="15423120" y="7022744"/>
            <a:ext cx="923458" cy="580204"/>
          </a:xfrm>
          <a:prstGeom prst="rect">
            <a:avLst/>
          </a:prstGeom>
        </p:spPr>
        <p:txBody>
          <a:bodyPr lIns="0" tIns="0" rIns="0" bIns="0" rtlCol="0" anchor="t">
            <a:spAutoFit/>
          </a:bodyPr>
          <a:lstStyle/>
          <a:p>
            <a:pPr marL="0" lvl="0" indent="0" algn="ctr">
              <a:lnSpc>
                <a:spcPts val="4334"/>
              </a:lnSpc>
            </a:pPr>
            <a:r>
              <a:rPr lang="en-US" sz="4334" b="1">
                <a:solidFill>
                  <a:srgbClr val="FFFFFF"/>
                </a:solidFill>
                <a:latin typeface="Montserrat Ultra-Bold"/>
                <a:ea typeface="Montserrat Ultra-Bold"/>
                <a:cs typeface="Montserrat Ultra-Bold"/>
                <a:sym typeface="Montserrat Ultra-Bold"/>
              </a:rPr>
              <a:t>3</a:t>
            </a:r>
          </a:p>
        </p:txBody>
      </p:sp>
      <p:sp>
        <p:nvSpPr>
          <p:cNvPr id="19" name="TextBox 19"/>
          <p:cNvSpPr txBox="1"/>
          <p:nvPr/>
        </p:nvSpPr>
        <p:spPr>
          <a:xfrm>
            <a:off x="14841567" y="7642736"/>
            <a:ext cx="2086564" cy="1478915"/>
          </a:xfrm>
          <a:prstGeom prst="rect">
            <a:avLst/>
          </a:prstGeom>
        </p:spPr>
        <p:txBody>
          <a:bodyPr lIns="0" tIns="0" rIns="0" bIns="0" rtlCol="0" anchor="t">
            <a:spAutoFit/>
          </a:bodyPr>
          <a:lstStyle/>
          <a:p>
            <a:pPr marL="0" lvl="0" indent="0" algn="ctr">
              <a:lnSpc>
                <a:spcPts val="1959"/>
              </a:lnSpc>
            </a:pPr>
            <a:r>
              <a:rPr lang="en-US" sz="1399">
                <a:solidFill>
                  <a:srgbClr val="FFFFFF"/>
                </a:solidFill>
                <a:latin typeface="Montserrat"/>
                <a:ea typeface="Montserrat"/>
                <a:cs typeface="Montserrat"/>
                <a:sym typeface="Montserrat"/>
              </a:rPr>
              <a:t> For write operations, use transactions so failed insert, update, or delete actions can be rolled back safely.</a:t>
            </a:r>
          </a:p>
          <a:p>
            <a:pPr marL="0" lvl="0" indent="0" algn="ctr">
              <a:lnSpc>
                <a:spcPts val="1959"/>
              </a:lnSpc>
            </a:pPr>
            <a:endParaRPr lang="en-US" sz="1399">
              <a:solidFill>
                <a:srgbClr val="FFFFFF"/>
              </a:solidFill>
              <a:latin typeface="Montserrat"/>
              <a:ea typeface="Montserrat"/>
              <a:cs typeface="Montserrat"/>
              <a:sym typeface="Montserrat"/>
            </a:endParaRPr>
          </a:p>
        </p:txBody>
      </p:sp>
      <p:grpSp>
        <p:nvGrpSpPr>
          <p:cNvPr id="20" name="Group 20"/>
          <p:cNvGrpSpPr/>
          <p:nvPr/>
        </p:nvGrpSpPr>
        <p:grpSpPr>
          <a:xfrm>
            <a:off x="8061659" y="6664461"/>
            <a:ext cx="2748902" cy="2593839"/>
            <a:chOff x="0" y="0"/>
            <a:chExt cx="682033" cy="643561"/>
          </a:xfrm>
        </p:grpSpPr>
        <p:sp>
          <p:nvSpPr>
            <p:cNvPr id="21" name="Freeform 21"/>
            <p:cNvSpPr/>
            <p:nvPr/>
          </p:nvSpPr>
          <p:spPr>
            <a:xfrm>
              <a:off x="0" y="0"/>
              <a:ext cx="682033" cy="643561"/>
            </a:xfrm>
            <a:custGeom>
              <a:avLst/>
              <a:gdLst/>
              <a:ahLst/>
              <a:cxnLst/>
              <a:rect l="l" t="t" r="r" b="b"/>
              <a:pathLst>
                <a:path w="682033" h="643561">
                  <a:moveTo>
                    <a:pt x="0" y="0"/>
                  </a:moveTo>
                  <a:lnTo>
                    <a:pt x="682033" y="0"/>
                  </a:lnTo>
                  <a:lnTo>
                    <a:pt x="682033" y="643561"/>
                  </a:lnTo>
                  <a:lnTo>
                    <a:pt x="0" y="643561"/>
                  </a:lnTo>
                  <a:close/>
                </a:path>
              </a:pathLst>
            </a:custGeom>
            <a:solidFill>
              <a:srgbClr val="8093BB"/>
            </a:solidFill>
          </p:spPr>
        </p:sp>
        <p:sp>
          <p:nvSpPr>
            <p:cNvPr id="22" name="TextBox 22"/>
            <p:cNvSpPr txBox="1"/>
            <p:nvPr/>
          </p:nvSpPr>
          <p:spPr>
            <a:xfrm>
              <a:off x="0" y="-38100"/>
              <a:ext cx="682033" cy="681661"/>
            </a:xfrm>
            <a:prstGeom prst="rect">
              <a:avLst/>
            </a:prstGeom>
          </p:spPr>
          <p:txBody>
            <a:bodyPr lIns="42129" tIns="42129" rIns="42129" bIns="42129" rtlCol="0" anchor="ctr"/>
            <a:lstStyle/>
            <a:p>
              <a:pPr marL="0" lvl="0" indent="0" algn="ctr">
                <a:lnSpc>
                  <a:spcPts val="2659"/>
                </a:lnSpc>
              </a:pPr>
              <a:endParaRPr/>
            </a:p>
          </p:txBody>
        </p:sp>
      </p:grpSp>
      <p:sp>
        <p:nvSpPr>
          <p:cNvPr id="23" name="TextBox 23"/>
          <p:cNvSpPr txBox="1"/>
          <p:nvPr/>
        </p:nvSpPr>
        <p:spPr>
          <a:xfrm>
            <a:off x="8974381" y="7022744"/>
            <a:ext cx="923458" cy="580204"/>
          </a:xfrm>
          <a:prstGeom prst="rect">
            <a:avLst/>
          </a:prstGeom>
        </p:spPr>
        <p:txBody>
          <a:bodyPr lIns="0" tIns="0" rIns="0" bIns="0" rtlCol="0" anchor="t">
            <a:spAutoFit/>
          </a:bodyPr>
          <a:lstStyle/>
          <a:p>
            <a:pPr marL="0" lvl="0" indent="0" algn="ctr">
              <a:lnSpc>
                <a:spcPts val="4334"/>
              </a:lnSpc>
            </a:pPr>
            <a:r>
              <a:rPr lang="en-US" sz="4334" b="1">
                <a:solidFill>
                  <a:srgbClr val="FFFFFF"/>
                </a:solidFill>
                <a:latin typeface="Montserrat Ultra-Bold"/>
                <a:ea typeface="Montserrat Ultra-Bold"/>
                <a:cs typeface="Montserrat Ultra-Bold"/>
                <a:sym typeface="Montserrat Ultra-Bold"/>
              </a:rPr>
              <a:t>1</a:t>
            </a:r>
          </a:p>
        </p:txBody>
      </p:sp>
      <p:sp>
        <p:nvSpPr>
          <p:cNvPr id="24" name="TextBox 24"/>
          <p:cNvSpPr txBox="1"/>
          <p:nvPr/>
        </p:nvSpPr>
        <p:spPr>
          <a:xfrm>
            <a:off x="8392828" y="7642736"/>
            <a:ext cx="2086564" cy="1478915"/>
          </a:xfrm>
          <a:prstGeom prst="rect">
            <a:avLst/>
          </a:prstGeom>
        </p:spPr>
        <p:txBody>
          <a:bodyPr lIns="0" tIns="0" rIns="0" bIns="0" rtlCol="0" anchor="t">
            <a:spAutoFit/>
          </a:bodyPr>
          <a:lstStyle/>
          <a:p>
            <a:pPr marL="0" lvl="0" indent="0" algn="ctr">
              <a:lnSpc>
                <a:spcPts val="1959"/>
              </a:lnSpc>
            </a:pPr>
            <a:r>
              <a:rPr lang="en-US" sz="1399">
                <a:solidFill>
                  <a:srgbClr val="FFFFFF"/>
                </a:solidFill>
                <a:latin typeface="Montserrat"/>
                <a:ea typeface="Montserrat"/>
                <a:cs typeface="Montserrat"/>
                <a:sym typeface="Montserrat"/>
              </a:rPr>
              <a:t>do not expose connection strings, passwords, stack traces, or internal server paths.</a:t>
            </a:r>
          </a:p>
          <a:p>
            <a:pPr marL="0" lvl="0" indent="0" algn="ctr">
              <a:lnSpc>
                <a:spcPts val="1959"/>
              </a:lnSpc>
            </a:pPr>
            <a:endParaRPr lang="en-US" sz="1399">
              <a:solidFill>
                <a:srgbClr val="FFFFFF"/>
              </a:solidFill>
              <a:latin typeface="Montserrat"/>
              <a:ea typeface="Montserrat"/>
              <a:cs typeface="Montserrat"/>
              <a:sym typeface="Montserrat"/>
            </a:endParaRPr>
          </a:p>
        </p:txBody>
      </p:sp>
      <p:sp>
        <p:nvSpPr>
          <p:cNvPr id="25" name="TextBox 25"/>
          <p:cNvSpPr txBox="1"/>
          <p:nvPr/>
        </p:nvSpPr>
        <p:spPr>
          <a:xfrm>
            <a:off x="15764299" y="741861"/>
            <a:ext cx="1473411" cy="696695"/>
          </a:xfrm>
          <a:prstGeom prst="rect">
            <a:avLst/>
          </a:prstGeom>
        </p:spPr>
        <p:txBody>
          <a:bodyPr lIns="0" tIns="0" rIns="0" bIns="0" rtlCol="0" anchor="t">
            <a:spAutoFit/>
          </a:bodyPr>
          <a:lstStyle/>
          <a:p>
            <a:pPr marL="0" lvl="0" indent="0" algn="ctr">
              <a:lnSpc>
                <a:spcPts val="5303"/>
              </a:lnSpc>
            </a:pPr>
            <a:r>
              <a:rPr lang="en-US" sz="5303" b="1">
                <a:solidFill>
                  <a:srgbClr val="8093BB"/>
                </a:solidFill>
                <a:latin typeface="Montserrat Bold"/>
                <a:ea typeface="Montserrat Bold"/>
                <a:cs typeface="Montserrat Bold"/>
                <a:sym typeface="Montserrat Bold"/>
              </a:rPr>
              <a:t>30</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666" b="-666"/>
            </a:stretch>
          </a:blipFill>
        </p:spPr>
      </p:sp>
      <p:sp>
        <p:nvSpPr>
          <p:cNvPr id="3" name="TextBox 3"/>
          <p:cNvSpPr txBox="1"/>
          <p:nvPr/>
        </p:nvSpPr>
        <p:spPr>
          <a:xfrm>
            <a:off x="4773314" y="1181100"/>
            <a:ext cx="8741372" cy="1068742"/>
          </a:xfrm>
          <a:prstGeom prst="rect">
            <a:avLst/>
          </a:prstGeom>
        </p:spPr>
        <p:txBody>
          <a:bodyPr lIns="0" tIns="0" rIns="0" bIns="0" rtlCol="0" anchor="t">
            <a:spAutoFit/>
          </a:bodyPr>
          <a:lstStyle/>
          <a:p>
            <a:pPr marL="0" lvl="0" indent="0" algn="ctr">
              <a:lnSpc>
                <a:spcPts val="8052"/>
              </a:lnSpc>
            </a:pPr>
            <a:r>
              <a:rPr lang="en-US" sz="8052" b="1">
                <a:solidFill>
                  <a:srgbClr val="324370"/>
                </a:solidFill>
                <a:latin typeface="Montserrat Ultra-Bold"/>
                <a:ea typeface="Montserrat Ultra-Bold"/>
                <a:cs typeface="Montserrat Ultra-Bold"/>
                <a:sym typeface="Montserrat Ultra-Bold"/>
              </a:rPr>
              <a:t>DEMO</a:t>
            </a:r>
          </a:p>
        </p:txBody>
      </p:sp>
      <p:sp>
        <p:nvSpPr>
          <p:cNvPr id="4" name="TextBox 4"/>
          <p:cNvSpPr txBox="1"/>
          <p:nvPr/>
        </p:nvSpPr>
        <p:spPr>
          <a:xfrm>
            <a:off x="15445177" y="2074666"/>
            <a:ext cx="1473411" cy="776539"/>
          </a:xfrm>
          <a:prstGeom prst="rect">
            <a:avLst/>
          </a:prstGeom>
        </p:spPr>
        <p:txBody>
          <a:bodyPr lIns="0" tIns="0" rIns="0" bIns="0" rtlCol="0" anchor="t">
            <a:spAutoFit/>
          </a:bodyPr>
          <a:lstStyle/>
          <a:p>
            <a:pPr marL="0" lvl="0" indent="0" algn="ctr">
              <a:lnSpc>
                <a:spcPts val="5822"/>
              </a:lnSpc>
            </a:pPr>
            <a:r>
              <a:rPr lang="en-US" sz="5822" b="1">
                <a:solidFill>
                  <a:srgbClr val="8093BB"/>
                </a:solidFill>
                <a:latin typeface="Montserrat Bold"/>
                <a:ea typeface="Montserrat Bold"/>
                <a:cs typeface="Montserrat Bold"/>
                <a:sym typeface="Montserrat Bold"/>
              </a:rPr>
              <a:t>31</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666" b="-666"/>
            </a:stretch>
          </a:blipFill>
        </p:spPr>
      </p:sp>
      <p:sp>
        <p:nvSpPr>
          <p:cNvPr id="3" name="TextBox 3"/>
          <p:cNvSpPr txBox="1"/>
          <p:nvPr/>
        </p:nvSpPr>
        <p:spPr>
          <a:xfrm>
            <a:off x="4773314" y="1123950"/>
            <a:ext cx="8741372" cy="592203"/>
          </a:xfrm>
          <a:prstGeom prst="rect">
            <a:avLst/>
          </a:prstGeom>
        </p:spPr>
        <p:txBody>
          <a:bodyPr lIns="0" tIns="0" rIns="0" bIns="0" rtlCol="0" anchor="t">
            <a:spAutoFit/>
          </a:bodyPr>
          <a:lstStyle/>
          <a:p>
            <a:pPr marL="0" lvl="0" indent="0" algn="ctr">
              <a:lnSpc>
                <a:spcPts val="4551"/>
              </a:lnSpc>
            </a:pPr>
            <a:r>
              <a:rPr lang="en-US" sz="4551" b="1">
                <a:solidFill>
                  <a:srgbClr val="324370"/>
                </a:solidFill>
                <a:latin typeface="Montserrat Ultra-Bold"/>
                <a:ea typeface="Montserrat Ultra-Bold"/>
                <a:cs typeface="Montserrat Ultra-Bold"/>
                <a:sym typeface="Montserrat Ultra-Bold"/>
              </a:rPr>
              <a:t>PRODUCTION DEPLOYMENT</a:t>
            </a:r>
          </a:p>
        </p:txBody>
      </p:sp>
      <p:sp>
        <p:nvSpPr>
          <p:cNvPr id="4" name="TextBox 4"/>
          <p:cNvSpPr txBox="1"/>
          <p:nvPr/>
        </p:nvSpPr>
        <p:spPr>
          <a:xfrm>
            <a:off x="1028700" y="2675223"/>
            <a:ext cx="16230600" cy="1663632"/>
          </a:xfrm>
          <a:prstGeom prst="rect">
            <a:avLst/>
          </a:prstGeom>
        </p:spPr>
        <p:txBody>
          <a:bodyPr lIns="0" tIns="0" rIns="0" bIns="0" rtlCol="0" anchor="t">
            <a:spAutoFit/>
          </a:bodyPr>
          <a:lstStyle/>
          <a:p>
            <a:pPr marL="0" lvl="0" indent="0" algn="just">
              <a:lnSpc>
                <a:spcPts val="3328"/>
              </a:lnSpc>
            </a:pPr>
            <a:r>
              <a:rPr lang="en-US" sz="2377">
                <a:solidFill>
                  <a:srgbClr val="324370"/>
                </a:solidFill>
                <a:latin typeface="Montserrat"/>
                <a:ea typeface="Montserrat"/>
                <a:cs typeface="Montserrat"/>
                <a:sym typeface="Montserrat"/>
              </a:rPr>
              <a:t>Deploying an SQL MCP server in production requires careful attention to environment configuration, credential management, and operational visibility. Choose the right deployment model: local STDIO for development, internal service for team use, or cloud API gateway for enterprise scale. Each tier requires its own security and monitoring posture to ensure reliability and safety.</a:t>
            </a:r>
          </a:p>
        </p:txBody>
      </p:sp>
      <p:sp>
        <p:nvSpPr>
          <p:cNvPr id="5" name="Freeform 5"/>
          <p:cNvSpPr/>
          <p:nvPr/>
        </p:nvSpPr>
        <p:spPr>
          <a:xfrm>
            <a:off x="1028700" y="6853144"/>
            <a:ext cx="16230600" cy="2405156"/>
          </a:xfrm>
          <a:custGeom>
            <a:avLst/>
            <a:gdLst/>
            <a:ahLst/>
            <a:cxnLst/>
            <a:rect l="l" t="t" r="r" b="b"/>
            <a:pathLst>
              <a:path w="16230600" h="2405156">
                <a:moveTo>
                  <a:pt x="0" y="0"/>
                </a:moveTo>
                <a:lnTo>
                  <a:pt x="16230600" y="0"/>
                </a:lnTo>
                <a:lnTo>
                  <a:pt x="16230600" y="2405156"/>
                </a:lnTo>
                <a:lnTo>
                  <a:pt x="0" y="2405156"/>
                </a:lnTo>
                <a:lnTo>
                  <a:pt x="0" y="0"/>
                </a:lnTo>
                <a:close/>
              </a:path>
            </a:pathLst>
          </a:custGeom>
          <a:blipFill>
            <a:blip r:embed="rId3"/>
            <a:stretch>
              <a:fillRect t="-142325" b="-142325"/>
            </a:stretch>
          </a:blipFill>
        </p:spPr>
      </p:sp>
      <p:grpSp>
        <p:nvGrpSpPr>
          <p:cNvPr id="6" name="Group 6"/>
          <p:cNvGrpSpPr/>
          <p:nvPr/>
        </p:nvGrpSpPr>
        <p:grpSpPr>
          <a:xfrm>
            <a:off x="1028700" y="5143500"/>
            <a:ext cx="5410200" cy="2101888"/>
            <a:chOff x="0" y="0"/>
            <a:chExt cx="1378861" cy="535694"/>
          </a:xfrm>
        </p:grpSpPr>
        <p:sp>
          <p:nvSpPr>
            <p:cNvPr id="7" name="Freeform 7"/>
            <p:cNvSpPr/>
            <p:nvPr/>
          </p:nvSpPr>
          <p:spPr>
            <a:xfrm>
              <a:off x="0" y="0"/>
              <a:ext cx="1378861" cy="535694"/>
            </a:xfrm>
            <a:custGeom>
              <a:avLst/>
              <a:gdLst/>
              <a:ahLst/>
              <a:cxnLst/>
              <a:rect l="l" t="t" r="r" b="b"/>
              <a:pathLst>
                <a:path w="1378861" h="535694">
                  <a:moveTo>
                    <a:pt x="0" y="0"/>
                  </a:moveTo>
                  <a:lnTo>
                    <a:pt x="1378861" y="0"/>
                  </a:lnTo>
                  <a:lnTo>
                    <a:pt x="1378861" y="535694"/>
                  </a:lnTo>
                  <a:lnTo>
                    <a:pt x="0" y="535694"/>
                  </a:lnTo>
                  <a:close/>
                </a:path>
              </a:pathLst>
            </a:custGeom>
            <a:solidFill>
              <a:srgbClr val="8093BB"/>
            </a:solidFill>
          </p:spPr>
        </p:sp>
        <p:sp>
          <p:nvSpPr>
            <p:cNvPr id="8" name="TextBox 8"/>
            <p:cNvSpPr txBox="1"/>
            <p:nvPr/>
          </p:nvSpPr>
          <p:spPr>
            <a:xfrm>
              <a:off x="0" y="-38100"/>
              <a:ext cx="1378861" cy="573794"/>
            </a:xfrm>
            <a:prstGeom prst="rect">
              <a:avLst/>
            </a:prstGeom>
          </p:spPr>
          <p:txBody>
            <a:bodyPr lIns="42129" tIns="42129" rIns="42129" bIns="42129" rtlCol="0" anchor="ctr"/>
            <a:lstStyle/>
            <a:p>
              <a:pPr marL="0" lvl="0" indent="0" algn="ctr">
                <a:lnSpc>
                  <a:spcPts val="2659"/>
                </a:lnSpc>
              </a:pPr>
              <a:endParaRPr/>
            </a:p>
          </p:txBody>
        </p:sp>
      </p:grpSp>
      <p:grpSp>
        <p:nvGrpSpPr>
          <p:cNvPr id="9" name="Group 9"/>
          <p:cNvGrpSpPr/>
          <p:nvPr/>
        </p:nvGrpSpPr>
        <p:grpSpPr>
          <a:xfrm>
            <a:off x="6438900" y="5143500"/>
            <a:ext cx="5410200" cy="2101888"/>
            <a:chOff x="0" y="0"/>
            <a:chExt cx="1378861" cy="535694"/>
          </a:xfrm>
        </p:grpSpPr>
        <p:sp>
          <p:nvSpPr>
            <p:cNvPr id="10" name="Freeform 10"/>
            <p:cNvSpPr/>
            <p:nvPr/>
          </p:nvSpPr>
          <p:spPr>
            <a:xfrm>
              <a:off x="0" y="0"/>
              <a:ext cx="1378861" cy="535694"/>
            </a:xfrm>
            <a:custGeom>
              <a:avLst/>
              <a:gdLst/>
              <a:ahLst/>
              <a:cxnLst/>
              <a:rect l="l" t="t" r="r" b="b"/>
              <a:pathLst>
                <a:path w="1378861" h="535694">
                  <a:moveTo>
                    <a:pt x="0" y="0"/>
                  </a:moveTo>
                  <a:lnTo>
                    <a:pt x="1378861" y="0"/>
                  </a:lnTo>
                  <a:lnTo>
                    <a:pt x="1378861" y="535694"/>
                  </a:lnTo>
                  <a:lnTo>
                    <a:pt x="0" y="535694"/>
                  </a:lnTo>
                  <a:close/>
                </a:path>
              </a:pathLst>
            </a:custGeom>
            <a:solidFill>
              <a:srgbClr val="546791"/>
            </a:solidFill>
          </p:spPr>
        </p:sp>
        <p:sp>
          <p:nvSpPr>
            <p:cNvPr id="11" name="TextBox 11"/>
            <p:cNvSpPr txBox="1"/>
            <p:nvPr/>
          </p:nvSpPr>
          <p:spPr>
            <a:xfrm>
              <a:off x="0" y="-38100"/>
              <a:ext cx="1378861" cy="573794"/>
            </a:xfrm>
            <a:prstGeom prst="rect">
              <a:avLst/>
            </a:prstGeom>
          </p:spPr>
          <p:txBody>
            <a:bodyPr lIns="42129" tIns="42129" rIns="42129" bIns="42129" rtlCol="0" anchor="ctr"/>
            <a:lstStyle/>
            <a:p>
              <a:pPr marL="0" lvl="0" indent="0" algn="ctr">
                <a:lnSpc>
                  <a:spcPts val="2659"/>
                </a:lnSpc>
              </a:pPr>
              <a:endParaRPr/>
            </a:p>
          </p:txBody>
        </p:sp>
      </p:grpSp>
      <p:grpSp>
        <p:nvGrpSpPr>
          <p:cNvPr id="12" name="Group 12"/>
          <p:cNvGrpSpPr/>
          <p:nvPr/>
        </p:nvGrpSpPr>
        <p:grpSpPr>
          <a:xfrm>
            <a:off x="11849100" y="5143500"/>
            <a:ext cx="5410200" cy="2101888"/>
            <a:chOff x="0" y="0"/>
            <a:chExt cx="1378861" cy="535694"/>
          </a:xfrm>
        </p:grpSpPr>
        <p:sp>
          <p:nvSpPr>
            <p:cNvPr id="13" name="Freeform 13"/>
            <p:cNvSpPr/>
            <p:nvPr/>
          </p:nvSpPr>
          <p:spPr>
            <a:xfrm>
              <a:off x="0" y="0"/>
              <a:ext cx="1378861" cy="535694"/>
            </a:xfrm>
            <a:custGeom>
              <a:avLst/>
              <a:gdLst/>
              <a:ahLst/>
              <a:cxnLst/>
              <a:rect l="l" t="t" r="r" b="b"/>
              <a:pathLst>
                <a:path w="1378861" h="535694">
                  <a:moveTo>
                    <a:pt x="0" y="0"/>
                  </a:moveTo>
                  <a:lnTo>
                    <a:pt x="1378861" y="0"/>
                  </a:lnTo>
                  <a:lnTo>
                    <a:pt x="1378861" y="535694"/>
                  </a:lnTo>
                  <a:lnTo>
                    <a:pt x="0" y="535694"/>
                  </a:lnTo>
                  <a:close/>
                </a:path>
              </a:pathLst>
            </a:custGeom>
            <a:solidFill>
              <a:srgbClr val="334368"/>
            </a:solidFill>
          </p:spPr>
        </p:sp>
        <p:sp>
          <p:nvSpPr>
            <p:cNvPr id="14" name="TextBox 14"/>
            <p:cNvSpPr txBox="1"/>
            <p:nvPr/>
          </p:nvSpPr>
          <p:spPr>
            <a:xfrm>
              <a:off x="0" y="-38100"/>
              <a:ext cx="1378861" cy="573794"/>
            </a:xfrm>
            <a:prstGeom prst="rect">
              <a:avLst/>
            </a:prstGeom>
          </p:spPr>
          <p:txBody>
            <a:bodyPr lIns="42129" tIns="42129" rIns="42129" bIns="42129" rtlCol="0" anchor="ctr"/>
            <a:lstStyle/>
            <a:p>
              <a:pPr marL="0" lvl="0" indent="0" algn="ctr">
                <a:lnSpc>
                  <a:spcPts val="2659"/>
                </a:lnSpc>
              </a:pPr>
              <a:endParaRPr/>
            </a:p>
          </p:txBody>
        </p:sp>
      </p:grpSp>
      <p:grpSp>
        <p:nvGrpSpPr>
          <p:cNvPr id="15" name="Group 15"/>
          <p:cNvGrpSpPr/>
          <p:nvPr/>
        </p:nvGrpSpPr>
        <p:grpSpPr>
          <a:xfrm>
            <a:off x="2028062" y="5470504"/>
            <a:ext cx="3411476" cy="1835518"/>
            <a:chOff x="0" y="0"/>
            <a:chExt cx="4548635" cy="2447357"/>
          </a:xfrm>
        </p:grpSpPr>
        <p:sp>
          <p:nvSpPr>
            <p:cNvPr id="16" name="TextBox 16"/>
            <p:cNvSpPr txBox="1"/>
            <p:nvPr/>
          </p:nvSpPr>
          <p:spPr>
            <a:xfrm>
              <a:off x="0" y="95250"/>
              <a:ext cx="1766549" cy="986614"/>
            </a:xfrm>
            <a:prstGeom prst="rect">
              <a:avLst/>
            </a:prstGeom>
          </p:spPr>
          <p:txBody>
            <a:bodyPr lIns="0" tIns="0" rIns="0" bIns="0" rtlCol="0" anchor="t">
              <a:spAutoFit/>
            </a:bodyPr>
            <a:lstStyle/>
            <a:p>
              <a:pPr marL="0" lvl="0" indent="0" algn="ctr">
                <a:lnSpc>
                  <a:spcPts val="5373"/>
                </a:lnSpc>
              </a:pPr>
              <a:r>
                <a:rPr lang="en-US" sz="5373" b="1">
                  <a:solidFill>
                    <a:srgbClr val="FFFFFF"/>
                  </a:solidFill>
                  <a:latin typeface="Montserrat Ultra-Bold"/>
                  <a:ea typeface="Montserrat Ultra-Bold"/>
                  <a:cs typeface="Montserrat Ultra-Bold"/>
                  <a:sym typeface="Montserrat Ultra-Bold"/>
                </a:rPr>
                <a:t>1</a:t>
              </a:r>
            </a:p>
          </p:txBody>
        </p:sp>
        <p:sp>
          <p:nvSpPr>
            <p:cNvPr id="17" name="TextBox 17"/>
            <p:cNvSpPr txBox="1"/>
            <p:nvPr/>
          </p:nvSpPr>
          <p:spPr>
            <a:xfrm>
              <a:off x="1766549" y="66741"/>
              <a:ext cx="2782085" cy="2380616"/>
            </a:xfrm>
            <a:prstGeom prst="rect">
              <a:avLst/>
            </a:prstGeom>
          </p:spPr>
          <p:txBody>
            <a:bodyPr lIns="0" tIns="0" rIns="0" bIns="0" rtlCol="0" anchor="t">
              <a:spAutoFit/>
            </a:bodyPr>
            <a:lstStyle/>
            <a:p>
              <a:pPr marL="0" lvl="0" indent="0" algn="l">
                <a:lnSpc>
                  <a:spcPts val="2379"/>
                </a:lnSpc>
              </a:pPr>
              <a:r>
                <a:rPr lang="en-US" sz="1699">
                  <a:solidFill>
                    <a:srgbClr val="FFFFFF"/>
                  </a:solidFill>
                  <a:latin typeface="Montserrat"/>
                  <a:ea typeface="Montserrat"/>
                  <a:cs typeface="Montserrat"/>
                  <a:sym typeface="Montserrat"/>
                </a:rPr>
                <a:t>AI Host connects to the MCP server through a secured transport such as HTTPS.</a:t>
              </a:r>
            </a:p>
            <a:p>
              <a:pPr marL="0" lvl="0" indent="0" algn="l">
                <a:lnSpc>
                  <a:spcPts val="2659"/>
                </a:lnSpc>
              </a:pPr>
              <a:endParaRPr lang="en-US" sz="1699">
                <a:solidFill>
                  <a:srgbClr val="FFFFFF"/>
                </a:solidFill>
                <a:latin typeface="Montserrat"/>
                <a:ea typeface="Montserrat"/>
                <a:cs typeface="Montserrat"/>
                <a:sym typeface="Montserrat"/>
              </a:endParaRPr>
            </a:p>
          </p:txBody>
        </p:sp>
      </p:grpSp>
      <p:sp>
        <p:nvSpPr>
          <p:cNvPr id="18" name="TextBox 18"/>
          <p:cNvSpPr txBox="1"/>
          <p:nvPr/>
        </p:nvSpPr>
        <p:spPr>
          <a:xfrm>
            <a:off x="7438262" y="5565754"/>
            <a:ext cx="1324912" cy="716148"/>
          </a:xfrm>
          <a:prstGeom prst="rect">
            <a:avLst/>
          </a:prstGeom>
        </p:spPr>
        <p:txBody>
          <a:bodyPr lIns="0" tIns="0" rIns="0" bIns="0" rtlCol="0" anchor="t">
            <a:spAutoFit/>
          </a:bodyPr>
          <a:lstStyle/>
          <a:p>
            <a:pPr marL="0" lvl="0" indent="0" algn="ctr">
              <a:lnSpc>
                <a:spcPts val="5373"/>
              </a:lnSpc>
            </a:pPr>
            <a:r>
              <a:rPr lang="en-US" sz="5373" b="1">
                <a:solidFill>
                  <a:srgbClr val="FFFFFF"/>
                </a:solidFill>
                <a:latin typeface="Montserrat Ultra-Bold"/>
                <a:ea typeface="Montserrat Ultra-Bold"/>
                <a:cs typeface="Montserrat Ultra-Bold"/>
                <a:sym typeface="Montserrat Ultra-Bold"/>
              </a:rPr>
              <a:t>2</a:t>
            </a:r>
          </a:p>
        </p:txBody>
      </p:sp>
      <p:sp>
        <p:nvSpPr>
          <p:cNvPr id="19" name="TextBox 19"/>
          <p:cNvSpPr txBox="1"/>
          <p:nvPr/>
        </p:nvSpPr>
        <p:spPr>
          <a:xfrm>
            <a:off x="8763174" y="5513416"/>
            <a:ext cx="2086564" cy="1461770"/>
          </a:xfrm>
          <a:prstGeom prst="rect">
            <a:avLst/>
          </a:prstGeom>
        </p:spPr>
        <p:txBody>
          <a:bodyPr lIns="0" tIns="0" rIns="0" bIns="0" rtlCol="0" anchor="t">
            <a:spAutoFit/>
          </a:bodyPr>
          <a:lstStyle/>
          <a:p>
            <a:pPr marL="0" lvl="0" indent="0" algn="l">
              <a:lnSpc>
                <a:spcPts val="2379"/>
              </a:lnSpc>
            </a:pPr>
            <a:r>
              <a:rPr lang="en-US" sz="1699">
                <a:solidFill>
                  <a:srgbClr val="FFFFFF"/>
                </a:solidFill>
                <a:latin typeface="Montserrat"/>
                <a:ea typeface="Montserrat"/>
                <a:cs typeface="Montserrat"/>
                <a:sym typeface="Montserrat"/>
              </a:rPr>
              <a:t>MCP server validates identity using OAuth/JWT or enterprise SSO.</a:t>
            </a:r>
          </a:p>
          <a:p>
            <a:pPr marL="0" lvl="0" indent="0" algn="l">
              <a:lnSpc>
                <a:spcPts val="2379"/>
              </a:lnSpc>
            </a:pPr>
            <a:endParaRPr lang="en-US" sz="1699">
              <a:solidFill>
                <a:srgbClr val="FFFFFF"/>
              </a:solidFill>
              <a:latin typeface="Montserrat"/>
              <a:ea typeface="Montserrat"/>
              <a:cs typeface="Montserrat"/>
              <a:sym typeface="Montserrat"/>
            </a:endParaRPr>
          </a:p>
        </p:txBody>
      </p:sp>
      <p:sp>
        <p:nvSpPr>
          <p:cNvPr id="20" name="TextBox 20"/>
          <p:cNvSpPr txBox="1"/>
          <p:nvPr/>
        </p:nvSpPr>
        <p:spPr>
          <a:xfrm>
            <a:off x="12848462" y="5565754"/>
            <a:ext cx="1324912" cy="716148"/>
          </a:xfrm>
          <a:prstGeom prst="rect">
            <a:avLst/>
          </a:prstGeom>
        </p:spPr>
        <p:txBody>
          <a:bodyPr lIns="0" tIns="0" rIns="0" bIns="0" rtlCol="0" anchor="t">
            <a:spAutoFit/>
          </a:bodyPr>
          <a:lstStyle/>
          <a:p>
            <a:pPr marL="0" lvl="0" indent="0" algn="ctr">
              <a:lnSpc>
                <a:spcPts val="5373"/>
              </a:lnSpc>
            </a:pPr>
            <a:r>
              <a:rPr lang="en-US" sz="5373" b="1">
                <a:solidFill>
                  <a:srgbClr val="FFFFFF"/>
                </a:solidFill>
                <a:latin typeface="Montserrat Ultra-Bold"/>
                <a:ea typeface="Montserrat Ultra-Bold"/>
                <a:cs typeface="Montserrat Ultra-Bold"/>
                <a:sym typeface="Montserrat Ultra-Bold"/>
              </a:rPr>
              <a:t>3</a:t>
            </a:r>
          </a:p>
        </p:txBody>
      </p:sp>
      <p:sp>
        <p:nvSpPr>
          <p:cNvPr id="21" name="TextBox 21"/>
          <p:cNvSpPr txBox="1"/>
          <p:nvPr/>
        </p:nvSpPr>
        <p:spPr>
          <a:xfrm>
            <a:off x="14173374" y="5513416"/>
            <a:ext cx="2086564" cy="1533525"/>
          </a:xfrm>
          <a:prstGeom prst="rect">
            <a:avLst/>
          </a:prstGeom>
        </p:spPr>
        <p:txBody>
          <a:bodyPr lIns="0" tIns="0" rIns="0" bIns="0" rtlCol="0" anchor="t">
            <a:spAutoFit/>
          </a:bodyPr>
          <a:lstStyle/>
          <a:p>
            <a:pPr marL="0" lvl="0" indent="0" algn="l">
              <a:lnSpc>
                <a:spcPts val="2099"/>
              </a:lnSpc>
            </a:pPr>
            <a:r>
              <a:rPr lang="en-US" sz="1499">
                <a:solidFill>
                  <a:srgbClr val="FFFFFF"/>
                </a:solidFill>
                <a:latin typeface="Montserrat"/>
                <a:ea typeface="Montserrat"/>
                <a:cs typeface="Montserrat"/>
                <a:sym typeface="Montserrat"/>
              </a:rPr>
              <a:t>MCP server connects to SQL Server using a dedicated least-privilege service account.</a:t>
            </a:r>
          </a:p>
          <a:p>
            <a:pPr marL="0" lvl="0" indent="0" algn="l">
              <a:lnSpc>
                <a:spcPts val="2099"/>
              </a:lnSpc>
            </a:pPr>
            <a:endParaRPr lang="en-US" sz="1499">
              <a:solidFill>
                <a:srgbClr val="FFFFFF"/>
              </a:solidFill>
              <a:latin typeface="Montserrat"/>
              <a:ea typeface="Montserrat"/>
              <a:cs typeface="Montserrat"/>
              <a:sym typeface="Montserrat"/>
            </a:endParaRPr>
          </a:p>
        </p:txBody>
      </p:sp>
      <p:sp>
        <p:nvSpPr>
          <p:cNvPr id="22" name="TextBox 22"/>
          <p:cNvSpPr txBox="1"/>
          <p:nvPr/>
        </p:nvSpPr>
        <p:spPr>
          <a:xfrm>
            <a:off x="15764299" y="703761"/>
            <a:ext cx="1473411" cy="426493"/>
          </a:xfrm>
          <a:prstGeom prst="rect">
            <a:avLst/>
          </a:prstGeom>
        </p:spPr>
        <p:txBody>
          <a:bodyPr lIns="0" tIns="0" rIns="0" bIns="0" rtlCol="0" anchor="t">
            <a:spAutoFit/>
          </a:bodyPr>
          <a:lstStyle/>
          <a:p>
            <a:pPr marL="0" lvl="0" indent="0" algn="ctr">
              <a:lnSpc>
                <a:spcPts val="3291"/>
              </a:lnSpc>
            </a:pPr>
            <a:r>
              <a:rPr lang="en-US" sz="3291" b="1">
                <a:solidFill>
                  <a:srgbClr val="8093BB"/>
                </a:solidFill>
                <a:latin typeface="Montserrat Bold"/>
                <a:ea typeface="Montserrat Bold"/>
                <a:cs typeface="Montserrat Bold"/>
                <a:sym typeface="Montserrat Bold"/>
              </a:rPr>
              <a:t>32</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59" b="-9259"/>
            </a:stretch>
          </a:blipFill>
        </p:spPr>
      </p:sp>
      <p:sp>
        <p:nvSpPr>
          <p:cNvPr id="3" name="TextBox 3"/>
          <p:cNvSpPr txBox="1"/>
          <p:nvPr/>
        </p:nvSpPr>
        <p:spPr>
          <a:xfrm>
            <a:off x="4773314" y="1123950"/>
            <a:ext cx="8741372" cy="636010"/>
          </a:xfrm>
          <a:prstGeom prst="rect">
            <a:avLst/>
          </a:prstGeom>
        </p:spPr>
        <p:txBody>
          <a:bodyPr lIns="0" tIns="0" rIns="0" bIns="0" rtlCol="0" anchor="t">
            <a:spAutoFit/>
          </a:bodyPr>
          <a:lstStyle/>
          <a:p>
            <a:pPr marL="0" lvl="0" indent="0" algn="ctr">
              <a:lnSpc>
                <a:spcPts val="4846"/>
              </a:lnSpc>
            </a:pPr>
            <a:r>
              <a:rPr lang="en-US" sz="4846" b="1">
                <a:solidFill>
                  <a:srgbClr val="324370"/>
                </a:solidFill>
                <a:latin typeface="Montserrat Ultra-Bold"/>
                <a:ea typeface="Montserrat Ultra-Bold"/>
                <a:cs typeface="Montserrat Ultra-Bold"/>
                <a:sym typeface="Montserrat Ultra-Bold"/>
              </a:rPr>
              <a:t>COMMON FAILURE MODES</a:t>
            </a:r>
          </a:p>
        </p:txBody>
      </p:sp>
      <p:sp>
        <p:nvSpPr>
          <p:cNvPr id="4" name="TextBox 4"/>
          <p:cNvSpPr txBox="1"/>
          <p:nvPr/>
        </p:nvSpPr>
        <p:spPr>
          <a:xfrm>
            <a:off x="1314820" y="2808573"/>
            <a:ext cx="904367" cy="528498"/>
          </a:xfrm>
          <a:prstGeom prst="rect">
            <a:avLst/>
          </a:prstGeom>
        </p:spPr>
        <p:txBody>
          <a:bodyPr lIns="0" tIns="0" rIns="0" bIns="0" rtlCol="0" anchor="t">
            <a:spAutoFit/>
          </a:bodyPr>
          <a:lstStyle/>
          <a:p>
            <a:pPr marL="0" lvl="0" indent="0" algn="ctr">
              <a:lnSpc>
                <a:spcPts val="4071"/>
              </a:lnSpc>
            </a:pPr>
            <a:r>
              <a:rPr lang="en-US" sz="4071" b="1">
                <a:solidFill>
                  <a:srgbClr val="324370"/>
                </a:solidFill>
                <a:latin typeface="Montserrat Ultra-Bold"/>
                <a:ea typeface="Montserrat Ultra-Bold"/>
                <a:cs typeface="Montserrat Ultra-Bold"/>
                <a:sym typeface="Montserrat Ultra-Bold"/>
              </a:rPr>
              <a:t>1.</a:t>
            </a:r>
          </a:p>
        </p:txBody>
      </p:sp>
      <p:sp>
        <p:nvSpPr>
          <p:cNvPr id="5" name="TextBox 5"/>
          <p:cNvSpPr txBox="1"/>
          <p:nvPr/>
        </p:nvSpPr>
        <p:spPr>
          <a:xfrm>
            <a:off x="2431965" y="2706955"/>
            <a:ext cx="6351413" cy="762002"/>
          </a:xfrm>
          <a:prstGeom prst="rect">
            <a:avLst/>
          </a:prstGeom>
        </p:spPr>
        <p:txBody>
          <a:bodyPr lIns="0" tIns="0" rIns="0" bIns="0" rtlCol="0" anchor="t">
            <a:spAutoFit/>
          </a:bodyPr>
          <a:lstStyle/>
          <a:p>
            <a:pPr marL="0" lvl="0" indent="0" algn="just">
              <a:lnSpc>
                <a:spcPts val="2099"/>
              </a:lnSpc>
            </a:pPr>
            <a:r>
              <a:rPr lang="en-US" sz="1499" b="1">
                <a:solidFill>
                  <a:srgbClr val="324370"/>
                </a:solidFill>
                <a:latin typeface="Montserrat Bold"/>
                <a:ea typeface="Montserrat Bold"/>
                <a:cs typeface="Montserrat Bold"/>
                <a:sym typeface="Montserrat Bold"/>
              </a:rPr>
              <a:t>Over-broad tool exposure: Exposing too many database operations increases the attack surface and risks unintended data leakage or modification.</a:t>
            </a:r>
          </a:p>
        </p:txBody>
      </p:sp>
      <p:sp>
        <p:nvSpPr>
          <p:cNvPr id="6" name="TextBox 6"/>
          <p:cNvSpPr txBox="1"/>
          <p:nvPr/>
        </p:nvSpPr>
        <p:spPr>
          <a:xfrm>
            <a:off x="9552247" y="2808573"/>
            <a:ext cx="904367" cy="528498"/>
          </a:xfrm>
          <a:prstGeom prst="rect">
            <a:avLst/>
          </a:prstGeom>
        </p:spPr>
        <p:txBody>
          <a:bodyPr lIns="0" tIns="0" rIns="0" bIns="0" rtlCol="0" anchor="t">
            <a:spAutoFit/>
          </a:bodyPr>
          <a:lstStyle/>
          <a:p>
            <a:pPr marL="0" lvl="0" indent="0" algn="ctr">
              <a:lnSpc>
                <a:spcPts val="4071"/>
              </a:lnSpc>
            </a:pPr>
            <a:r>
              <a:rPr lang="en-US" sz="4071" b="1">
                <a:solidFill>
                  <a:srgbClr val="324370"/>
                </a:solidFill>
                <a:latin typeface="Montserrat Ultra-Bold"/>
                <a:ea typeface="Montserrat Ultra-Bold"/>
                <a:cs typeface="Montserrat Ultra-Bold"/>
                <a:sym typeface="Montserrat Ultra-Bold"/>
              </a:rPr>
              <a:t>2.</a:t>
            </a:r>
          </a:p>
        </p:txBody>
      </p:sp>
      <p:sp>
        <p:nvSpPr>
          <p:cNvPr id="7" name="TextBox 7"/>
          <p:cNvSpPr txBox="1"/>
          <p:nvPr/>
        </p:nvSpPr>
        <p:spPr>
          <a:xfrm>
            <a:off x="10669392" y="2706955"/>
            <a:ext cx="6351413" cy="762002"/>
          </a:xfrm>
          <a:prstGeom prst="rect">
            <a:avLst/>
          </a:prstGeom>
        </p:spPr>
        <p:txBody>
          <a:bodyPr lIns="0" tIns="0" rIns="0" bIns="0" rtlCol="0" anchor="t">
            <a:spAutoFit/>
          </a:bodyPr>
          <a:lstStyle/>
          <a:p>
            <a:pPr marL="0" lvl="0" indent="0" algn="just">
              <a:lnSpc>
                <a:spcPts val="2099"/>
              </a:lnSpc>
            </a:pPr>
            <a:r>
              <a:rPr lang="en-US" sz="1499" b="1">
                <a:solidFill>
                  <a:srgbClr val="324370"/>
                </a:solidFill>
                <a:latin typeface="Montserrat Bold"/>
                <a:ea typeface="Montserrat Bold"/>
                <a:cs typeface="Montserrat Bold"/>
                <a:sym typeface="Montserrat Bold"/>
              </a:rPr>
              <a:t>Allowing raw SQL execution: Accepting model-generated SQL directly enables prompt injection, destructive queries, and privilege escalation attacks.</a:t>
            </a:r>
          </a:p>
        </p:txBody>
      </p:sp>
      <p:sp>
        <p:nvSpPr>
          <p:cNvPr id="8" name="TextBox 8"/>
          <p:cNvSpPr txBox="1"/>
          <p:nvPr/>
        </p:nvSpPr>
        <p:spPr>
          <a:xfrm>
            <a:off x="1314820" y="5144389"/>
            <a:ext cx="904367" cy="528498"/>
          </a:xfrm>
          <a:prstGeom prst="rect">
            <a:avLst/>
          </a:prstGeom>
        </p:spPr>
        <p:txBody>
          <a:bodyPr lIns="0" tIns="0" rIns="0" bIns="0" rtlCol="0" anchor="t">
            <a:spAutoFit/>
          </a:bodyPr>
          <a:lstStyle/>
          <a:p>
            <a:pPr marL="0" lvl="0" indent="0" algn="ctr">
              <a:lnSpc>
                <a:spcPts val="4071"/>
              </a:lnSpc>
            </a:pPr>
            <a:r>
              <a:rPr lang="en-US" sz="4071" b="1">
                <a:solidFill>
                  <a:srgbClr val="324370"/>
                </a:solidFill>
                <a:latin typeface="Montserrat Ultra-Bold"/>
                <a:ea typeface="Montserrat Ultra-Bold"/>
                <a:cs typeface="Montserrat Ultra-Bold"/>
                <a:sym typeface="Montserrat Ultra-Bold"/>
              </a:rPr>
              <a:t>3.</a:t>
            </a:r>
          </a:p>
        </p:txBody>
      </p:sp>
      <p:sp>
        <p:nvSpPr>
          <p:cNvPr id="9" name="TextBox 9"/>
          <p:cNvSpPr txBox="1"/>
          <p:nvPr/>
        </p:nvSpPr>
        <p:spPr>
          <a:xfrm>
            <a:off x="2431965" y="5042772"/>
            <a:ext cx="6351413" cy="762002"/>
          </a:xfrm>
          <a:prstGeom prst="rect">
            <a:avLst/>
          </a:prstGeom>
        </p:spPr>
        <p:txBody>
          <a:bodyPr lIns="0" tIns="0" rIns="0" bIns="0" rtlCol="0" anchor="t">
            <a:spAutoFit/>
          </a:bodyPr>
          <a:lstStyle/>
          <a:p>
            <a:pPr marL="0" lvl="0" indent="0" algn="just">
              <a:lnSpc>
                <a:spcPts val="2099"/>
              </a:lnSpc>
            </a:pPr>
            <a:r>
              <a:rPr lang="en-US" sz="1499" b="1">
                <a:solidFill>
                  <a:srgbClr val="324370"/>
                </a:solidFill>
                <a:latin typeface="Montserrat Bold"/>
                <a:ea typeface="Montserrat Bold"/>
                <a:cs typeface="Montserrat Bold"/>
                <a:sym typeface="Montserrat Bold"/>
              </a:rPr>
              <a:t>Weak authentication: Missing or inadequate caller verification at the MCP server layer allows unauthorized access to sensitive database operations.</a:t>
            </a:r>
          </a:p>
        </p:txBody>
      </p:sp>
      <p:sp>
        <p:nvSpPr>
          <p:cNvPr id="10" name="TextBox 10"/>
          <p:cNvSpPr txBox="1"/>
          <p:nvPr/>
        </p:nvSpPr>
        <p:spPr>
          <a:xfrm>
            <a:off x="9552247" y="5144389"/>
            <a:ext cx="904367" cy="528498"/>
          </a:xfrm>
          <a:prstGeom prst="rect">
            <a:avLst/>
          </a:prstGeom>
        </p:spPr>
        <p:txBody>
          <a:bodyPr lIns="0" tIns="0" rIns="0" bIns="0" rtlCol="0" anchor="t">
            <a:spAutoFit/>
          </a:bodyPr>
          <a:lstStyle/>
          <a:p>
            <a:pPr marL="0" lvl="0" indent="0" algn="ctr">
              <a:lnSpc>
                <a:spcPts val="4071"/>
              </a:lnSpc>
            </a:pPr>
            <a:r>
              <a:rPr lang="en-US" sz="4071" b="1">
                <a:solidFill>
                  <a:srgbClr val="324370"/>
                </a:solidFill>
                <a:latin typeface="Montserrat Ultra-Bold"/>
                <a:ea typeface="Montserrat Ultra-Bold"/>
                <a:cs typeface="Montserrat Ultra-Bold"/>
                <a:sym typeface="Montserrat Ultra-Bold"/>
              </a:rPr>
              <a:t>4.</a:t>
            </a:r>
          </a:p>
        </p:txBody>
      </p:sp>
      <p:sp>
        <p:nvSpPr>
          <p:cNvPr id="11" name="TextBox 11"/>
          <p:cNvSpPr txBox="1"/>
          <p:nvPr/>
        </p:nvSpPr>
        <p:spPr>
          <a:xfrm>
            <a:off x="10669392" y="5042772"/>
            <a:ext cx="6351413" cy="762002"/>
          </a:xfrm>
          <a:prstGeom prst="rect">
            <a:avLst/>
          </a:prstGeom>
        </p:spPr>
        <p:txBody>
          <a:bodyPr lIns="0" tIns="0" rIns="0" bIns="0" rtlCol="0" anchor="t">
            <a:spAutoFit/>
          </a:bodyPr>
          <a:lstStyle/>
          <a:p>
            <a:pPr marL="0" lvl="0" indent="0" algn="just">
              <a:lnSpc>
                <a:spcPts val="2099"/>
              </a:lnSpc>
            </a:pPr>
            <a:r>
              <a:rPr lang="en-US" sz="1499" b="1">
                <a:solidFill>
                  <a:srgbClr val="324370"/>
                </a:solidFill>
                <a:latin typeface="Montserrat Bold"/>
                <a:ea typeface="Montserrat Bold"/>
                <a:cs typeface="Montserrat Bold"/>
                <a:sym typeface="Montserrat Bold"/>
              </a:rPr>
              <a:t>Missing authorization checks: Without fine-grained role and policy enforcement, users may perform operations beyond their permitted scope.</a:t>
            </a:r>
          </a:p>
        </p:txBody>
      </p:sp>
      <p:sp>
        <p:nvSpPr>
          <p:cNvPr id="12" name="TextBox 12"/>
          <p:cNvSpPr txBox="1"/>
          <p:nvPr/>
        </p:nvSpPr>
        <p:spPr>
          <a:xfrm>
            <a:off x="1314820" y="7480205"/>
            <a:ext cx="904367" cy="528498"/>
          </a:xfrm>
          <a:prstGeom prst="rect">
            <a:avLst/>
          </a:prstGeom>
        </p:spPr>
        <p:txBody>
          <a:bodyPr lIns="0" tIns="0" rIns="0" bIns="0" rtlCol="0" anchor="t">
            <a:spAutoFit/>
          </a:bodyPr>
          <a:lstStyle/>
          <a:p>
            <a:pPr marL="0" lvl="0" indent="0" algn="ctr">
              <a:lnSpc>
                <a:spcPts val="4071"/>
              </a:lnSpc>
            </a:pPr>
            <a:r>
              <a:rPr lang="en-US" sz="4071" b="1">
                <a:solidFill>
                  <a:srgbClr val="324370"/>
                </a:solidFill>
                <a:latin typeface="Montserrat Ultra-Bold"/>
                <a:ea typeface="Montserrat Ultra-Bold"/>
                <a:cs typeface="Montserrat Ultra-Bold"/>
                <a:sym typeface="Montserrat Ultra-Bold"/>
              </a:rPr>
              <a:t>5.</a:t>
            </a:r>
          </a:p>
        </p:txBody>
      </p:sp>
      <p:sp>
        <p:nvSpPr>
          <p:cNvPr id="13" name="TextBox 13"/>
          <p:cNvSpPr txBox="1"/>
          <p:nvPr/>
        </p:nvSpPr>
        <p:spPr>
          <a:xfrm>
            <a:off x="2431965" y="7378588"/>
            <a:ext cx="6351413" cy="762002"/>
          </a:xfrm>
          <a:prstGeom prst="rect">
            <a:avLst/>
          </a:prstGeom>
        </p:spPr>
        <p:txBody>
          <a:bodyPr lIns="0" tIns="0" rIns="0" bIns="0" rtlCol="0" anchor="t">
            <a:spAutoFit/>
          </a:bodyPr>
          <a:lstStyle/>
          <a:p>
            <a:pPr marL="0" lvl="0" indent="0" algn="just">
              <a:lnSpc>
                <a:spcPts val="2099"/>
              </a:lnSpc>
            </a:pPr>
            <a:r>
              <a:rPr lang="en-US" sz="1499" b="1">
                <a:solidFill>
                  <a:srgbClr val="324370"/>
                </a:solidFill>
                <a:latin typeface="Montserrat Bold"/>
                <a:ea typeface="Montserrat Bold"/>
                <a:cs typeface="Montserrat Bold"/>
                <a:sym typeface="Montserrat Bold"/>
              </a:rPr>
              <a:t>Inadequate audit logging: Failing to log tool calls, SQL queries, and results makes forensic analysis and compliance reporting impossible.</a:t>
            </a:r>
          </a:p>
        </p:txBody>
      </p:sp>
      <p:sp>
        <p:nvSpPr>
          <p:cNvPr id="14" name="TextBox 14"/>
          <p:cNvSpPr txBox="1"/>
          <p:nvPr/>
        </p:nvSpPr>
        <p:spPr>
          <a:xfrm>
            <a:off x="9552247" y="7480205"/>
            <a:ext cx="904367" cy="528498"/>
          </a:xfrm>
          <a:prstGeom prst="rect">
            <a:avLst/>
          </a:prstGeom>
        </p:spPr>
        <p:txBody>
          <a:bodyPr lIns="0" tIns="0" rIns="0" bIns="0" rtlCol="0" anchor="t">
            <a:spAutoFit/>
          </a:bodyPr>
          <a:lstStyle/>
          <a:p>
            <a:pPr marL="0" lvl="0" indent="0" algn="ctr">
              <a:lnSpc>
                <a:spcPts val="4071"/>
              </a:lnSpc>
            </a:pPr>
            <a:r>
              <a:rPr lang="en-US" sz="4071" b="1">
                <a:solidFill>
                  <a:srgbClr val="324370"/>
                </a:solidFill>
                <a:latin typeface="Montserrat Ultra-Bold"/>
                <a:ea typeface="Montserrat Ultra-Bold"/>
                <a:cs typeface="Montserrat Ultra-Bold"/>
                <a:sym typeface="Montserrat Ultra-Bold"/>
              </a:rPr>
              <a:t>6.</a:t>
            </a:r>
          </a:p>
        </p:txBody>
      </p:sp>
      <p:sp>
        <p:nvSpPr>
          <p:cNvPr id="15" name="TextBox 15"/>
          <p:cNvSpPr txBox="1"/>
          <p:nvPr/>
        </p:nvSpPr>
        <p:spPr>
          <a:xfrm>
            <a:off x="10669392" y="7378588"/>
            <a:ext cx="6351413" cy="762002"/>
          </a:xfrm>
          <a:prstGeom prst="rect">
            <a:avLst/>
          </a:prstGeom>
        </p:spPr>
        <p:txBody>
          <a:bodyPr lIns="0" tIns="0" rIns="0" bIns="0" rtlCol="0" anchor="t">
            <a:spAutoFit/>
          </a:bodyPr>
          <a:lstStyle/>
          <a:p>
            <a:pPr marL="0" lvl="0" indent="0" algn="just">
              <a:lnSpc>
                <a:spcPts val="2099"/>
              </a:lnSpc>
            </a:pPr>
            <a:r>
              <a:rPr lang="en-US" sz="1499" b="1">
                <a:solidFill>
                  <a:srgbClr val="324370"/>
                </a:solidFill>
                <a:latin typeface="Montserrat Bold"/>
                <a:ea typeface="Montserrat Bold"/>
                <a:cs typeface="Montserrat Bold"/>
                <a:sym typeface="Montserrat Bold"/>
              </a:rPr>
              <a:t>Prompt injection vulnerability: Malicious input embedded in user prompts can manipulate the LLM into calling unintended tools or bypassing safety rules.</a:t>
            </a:r>
          </a:p>
        </p:txBody>
      </p:sp>
      <p:sp>
        <p:nvSpPr>
          <p:cNvPr id="16" name="TextBox 16"/>
          <p:cNvSpPr txBox="1"/>
          <p:nvPr/>
        </p:nvSpPr>
        <p:spPr>
          <a:xfrm>
            <a:off x="15764299" y="695325"/>
            <a:ext cx="1476375" cy="476250"/>
          </a:xfrm>
          <a:prstGeom prst="rect">
            <a:avLst/>
          </a:prstGeom>
        </p:spPr>
        <p:txBody>
          <a:bodyPr lIns="0" tIns="0" rIns="0" bIns="0" rtlCol="0" anchor="t">
            <a:spAutoFit/>
          </a:bodyPr>
          <a:lstStyle/>
          <a:p>
            <a:pPr marL="0" lvl="0" indent="0" algn="ctr">
              <a:lnSpc>
                <a:spcPts val="3500"/>
              </a:lnSpc>
              <a:spcBef>
                <a:spcPct val="0"/>
              </a:spcBef>
            </a:pPr>
            <a:r>
              <a:rPr lang="en-US" sz="3500" b="1" u="none" strike="noStrike">
                <a:solidFill>
                  <a:srgbClr val="8093BB"/>
                </a:solidFill>
                <a:latin typeface="Montserrat Bold"/>
                <a:ea typeface="Montserrat Bold"/>
                <a:cs typeface="Montserrat Bold"/>
                <a:sym typeface="Montserrat Bold"/>
              </a:rPr>
              <a:t>33</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666" b="-666"/>
            </a:stretch>
          </a:blipFill>
        </p:spPr>
      </p:sp>
      <p:sp>
        <p:nvSpPr>
          <p:cNvPr id="3" name="Freeform 3"/>
          <p:cNvSpPr/>
          <p:nvPr/>
        </p:nvSpPr>
        <p:spPr>
          <a:xfrm>
            <a:off x="1065827" y="2625980"/>
            <a:ext cx="6092758" cy="6307358"/>
          </a:xfrm>
          <a:custGeom>
            <a:avLst/>
            <a:gdLst/>
            <a:ahLst/>
            <a:cxnLst/>
            <a:rect l="l" t="t" r="r" b="b"/>
            <a:pathLst>
              <a:path w="6092758" h="6307358">
                <a:moveTo>
                  <a:pt x="0" y="0"/>
                </a:moveTo>
                <a:lnTo>
                  <a:pt x="6092757" y="0"/>
                </a:lnTo>
                <a:lnTo>
                  <a:pt x="6092757" y="6307357"/>
                </a:lnTo>
                <a:lnTo>
                  <a:pt x="0" y="6307357"/>
                </a:lnTo>
                <a:lnTo>
                  <a:pt x="0" y="0"/>
                </a:lnTo>
                <a:close/>
              </a:path>
            </a:pathLst>
          </a:custGeom>
          <a:blipFill>
            <a:blip r:embed="rId3"/>
            <a:stretch>
              <a:fillRect l="-797" t="-12824" b="-17652"/>
            </a:stretch>
          </a:blipFill>
        </p:spPr>
      </p:sp>
      <p:sp>
        <p:nvSpPr>
          <p:cNvPr id="4" name="TextBox 4"/>
          <p:cNvSpPr txBox="1"/>
          <p:nvPr/>
        </p:nvSpPr>
        <p:spPr>
          <a:xfrm>
            <a:off x="8061659" y="4775674"/>
            <a:ext cx="9172951" cy="1810390"/>
          </a:xfrm>
          <a:prstGeom prst="rect">
            <a:avLst/>
          </a:prstGeom>
        </p:spPr>
        <p:txBody>
          <a:bodyPr lIns="0" tIns="0" rIns="0" bIns="0" rtlCol="0" anchor="t">
            <a:spAutoFit/>
          </a:bodyPr>
          <a:lstStyle/>
          <a:p>
            <a:pPr marL="0" lvl="0" indent="0" algn="just">
              <a:lnSpc>
                <a:spcPts val="3639"/>
              </a:lnSpc>
            </a:pPr>
            <a:r>
              <a:rPr lang="en-US" sz="2599">
                <a:solidFill>
                  <a:srgbClr val="324370"/>
                </a:solidFill>
                <a:latin typeface="Montserrat"/>
                <a:ea typeface="Montserrat"/>
                <a:cs typeface="Montserrat"/>
                <a:sym typeface="Montserrat"/>
              </a:rPr>
              <a:t>MCP is not magic database access, it is a governed, secure tool boundary that enables safe AI interaction with enterprise data, bridging natural language intent and controlled system actions.</a:t>
            </a:r>
          </a:p>
        </p:txBody>
      </p:sp>
      <p:sp>
        <p:nvSpPr>
          <p:cNvPr id="5" name="TextBox 5"/>
          <p:cNvSpPr txBox="1"/>
          <p:nvPr/>
        </p:nvSpPr>
        <p:spPr>
          <a:xfrm>
            <a:off x="8061659" y="2087341"/>
            <a:ext cx="9197641" cy="1183622"/>
          </a:xfrm>
          <a:prstGeom prst="rect">
            <a:avLst/>
          </a:prstGeom>
        </p:spPr>
        <p:txBody>
          <a:bodyPr lIns="0" tIns="0" rIns="0" bIns="0" rtlCol="0" anchor="t">
            <a:spAutoFit/>
          </a:bodyPr>
          <a:lstStyle/>
          <a:p>
            <a:pPr marL="0" lvl="0" indent="0" algn="l">
              <a:lnSpc>
                <a:spcPts val="4599"/>
              </a:lnSpc>
            </a:pPr>
            <a:r>
              <a:rPr lang="en-US" sz="4599" b="1">
                <a:solidFill>
                  <a:srgbClr val="324370"/>
                </a:solidFill>
                <a:latin typeface="Montserrat Ultra-Bold"/>
                <a:ea typeface="Montserrat Ultra-Bold"/>
                <a:cs typeface="Montserrat Ultra-Bold"/>
                <a:sym typeface="Montserrat Ultra-Bold"/>
              </a:rPr>
              <a:t>CLOSING ARCHITECTURE SUMMARY</a:t>
            </a:r>
          </a:p>
        </p:txBody>
      </p:sp>
      <p:grpSp>
        <p:nvGrpSpPr>
          <p:cNvPr id="6" name="Group 6"/>
          <p:cNvGrpSpPr/>
          <p:nvPr/>
        </p:nvGrpSpPr>
        <p:grpSpPr>
          <a:xfrm>
            <a:off x="8061659" y="3411268"/>
            <a:ext cx="9172951" cy="1231494"/>
            <a:chOff x="0" y="0"/>
            <a:chExt cx="2275912" cy="305547"/>
          </a:xfrm>
        </p:grpSpPr>
        <p:sp>
          <p:nvSpPr>
            <p:cNvPr id="7" name="Freeform 7"/>
            <p:cNvSpPr/>
            <p:nvPr/>
          </p:nvSpPr>
          <p:spPr>
            <a:xfrm>
              <a:off x="0" y="0"/>
              <a:ext cx="2275912" cy="305547"/>
            </a:xfrm>
            <a:custGeom>
              <a:avLst/>
              <a:gdLst/>
              <a:ahLst/>
              <a:cxnLst/>
              <a:rect l="l" t="t" r="r" b="b"/>
              <a:pathLst>
                <a:path w="2275912" h="305547">
                  <a:moveTo>
                    <a:pt x="0" y="0"/>
                  </a:moveTo>
                  <a:lnTo>
                    <a:pt x="2275912" y="0"/>
                  </a:lnTo>
                  <a:lnTo>
                    <a:pt x="2275912" y="305547"/>
                  </a:lnTo>
                  <a:lnTo>
                    <a:pt x="0" y="305547"/>
                  </a:lnTo>
                  <a:close/>
                </a:path>
              </a:pathLst>
            </a:custGeom>
            <a:solidFill>
              <a:srgbClr val="324370"/>
            </a:solidFill>
          </p:spPr>
        </p:sp>
        <p:sp>
          <p:nvSpPr>
            <p:cNvPr id="8" name="TextBox 8"/>
            <p:cNvSpPr txBox="1"/>
            <p:nvPr/>
          </p:nvSpPr>
          <p:spPr>
            <a:xfrm>
              <a:off x="0" y="-38100"/>
              <a:ext cx="2275912" cy="343647"/>
            </a:xfrm>
            <a:prstGeom prst="rect">
              <a:avLst/>
            </a:prstGeom>
          </p:spPr>
          <p:txBody>
            <a:bodyPr lIns="42129" tIns="42129" rIns="42129" bIns="42129" rtlCol="0" anchor="ctr"/>
            <a:lstStyle/>
            <a:p>
              <a:pPr marL="0" lvl="0" indent="0" algn="ctr">
                <a:lnSpc>
                  <a:spcPts val="2659"/>
                </a:lnSpc>
              </a:pPr>
              <a:endParaRPr/>
            </a:p>
          </p:txBody>
        </p:sp>
      </p:grpSp>
      <p:sp>
        <p:nvSpPr>
          <p:cNvPr id="9" name="TextBox 9"/>
          <p:cNvSpPr txBox="1"/>
          <p:nvPr/>
        </p:nvSpPr>
        <p:spPr>
          <a:xfrm>
            <a:off x="8061659" y="3653663"/>
            <a:ext cx="9197641" cy="638429"/>
          </a:xfrm>
          <a:prstGeom prst="rect">
            <a:avLst/>
          </a:prstGeom>
        </p:spPr>
        <p:txBody>
          <a:bodyPr lIns="0" tIns="0" rIns="0" bIns="0" rtlCol="0" anchor="t">
            <a:spAutoFit/>
          </a:bodyPr>
          <a:lstStyle/>
          <a:p>
            <a:pPr marL="0" lvl="0" indent="0" algn="ctr">
              <a:lnSpc>
                <a:spcPts val="4885"/>
              </a:lnSpc>
            </a:pPr>
            <a:r>
              <a:rPr lang="en-US" sz="4885" b="1">
                <a:solidFill>
                  <a:srgbClr val="FFFFFF"/>
                </a:solidFill>
                <a:latin typeface="Montserrat Ultra-Bold"/>
                <a:ea typeface="Montserrat Ultra-Bold"/>
                <a:cs typeface="Montserrat Ultra-Bold"/>
                <a:sym typeface="Montserrat Ultra-Bold"/>
              </a:rPr>
              <a:t>MCP: GOVERNED &amp; SECURE</a:t>
            </a:r>
          </a:p>
        </p:txBody>
      </p:sp>
      <p:grpSp>
        <p:nvGrpSpPr>
          <p:cNvPr id="10" name="Group 10"/>
          <p:cNvGrpSpPr/>
          <p:nvPr/>
        </p:nvGrpSpPr>
        <p:grpSpPr>
          <a:xfrm>
            <a:off x="11284513" y="6664461"/>
            <a:ext cx="2748902" cy="2593839"/>
            <a:chOff x="0" y="0"/>
            <a:chExt cx="682033" cy="643561"/>
          </a:xfrm>
        </p:grpSpPr>
        <p:sp>
          <p:nvSpPr>
            <p:cNvPr id="11" name="Freeform 11"/>
            <p:cNvSpPr/>
            <p:nvPr/>
          </p:nvSpPr>
          <p:spPr>
            <a:xfrm>
              <a:off x="0" y="0"/>
              <a:ext cx="682033" cy="643561"/>
            </a:xfrm>
            <a:custGeom>
              <a:avLst/>
              <a:gdLst/>
              <a:ahLst/>
              <a:cxnLst/>
              <a:rect l="l" t="t" r="r" b="b"/>
              <a:pathLst>
                <a:path w="682033" h="643561">
                  <a:moveTo>
                    <a:pt x="0" y="0"/>
                  </a:moveTo>
                  <a:lnTo>
                    <a:pt x="682033" y="0"/>
                  </a:lnTo>
                  <a:lnTo>
                    <a:pt x="682033" y="643561"/>
                  </a:lnTo>
                  <a:lnTo>
                    <a:pt x="0" y="643561"/>
                  </a:lnTo>
                  <a:close/>
                </a:path>
              </a:pathLst>
            </a:custGeom>
            <a:solidFill>
              <a:srgbClr val="546791"/>
            </a:solidFill>
          </p:spPr>
        </p:sp>
        <p:sp>
          <p:nvSpPr>
            <p:cNvPr id="12" name="TextBox 12"/>
            <p:cNvSpPr txBox="1"/>
            <p:nvPr/>
          </p:nvSpPr>
          <p:spPr>
            <a:xfrm>
              <a:off x="0" y="-38100"/>
              <a:ext cx="682033" cy="681661"/>
            </a:xfrm>
            <a:prstGeom prst="rect">
              <a:avLst/>
            </a:prstGeom>
          </p:spPr>
          <p:txBody>
            <a:bodyPr lIns="42129" tIns="42129" rIns="42129" bIns="42129" rtlCol="0" anchor="ctr"/>
            <a:lstStyle/>
            <a:p>
              <a:pPr marL="0" lvl="0" indent="0" algn="ctr">
                <a:lnSpc>
                  <a:spcPts val="2659"/>
                </a:lnSpc>
              </a:pPr>
              <a:endParaRPr/>
            </a:p>
          </p:txBody>
        </p:sp>
      </p:grpSp>
      <p:sp>
        <p:nvSpPr>
          <p:cNvPr id="13" name="TextBox 13"/>
          <p:cNvSpPr txBox="1"/>
          <p:nvPr/>
        </p:nvSpPr>
        <p:spPr>
          <a:xfrm>
            <a:off x="12197235" y="7022744"/>
            <a:ext cx="923458" cy="484674"/>
          </a:xfrm>
          <a:prstGeom prst="rect">
            <a:avLst/>
          </a:prstGeom>
        </p:spPr>
        <p:txBody>
          <a:bodyPr lIns="0" tIns="0" rIns="0" bIns="0" rtlCol="0" anchor="t">
            <a:spAutoFit/>
          </a:bodyPr>
          <a:lstStyle/>
          <a:p>
            <a:pPr marL="0" lvl="0" indent="0" algn="ctr">
              <a:lnSpc>
                <a:spcPts val="3686"/>
              </a:lnSpc>
            </a:pPr>
            <a:r>
              <a:rPr lang="en-US" sz="3686" b="1">
                <a:solidFill>
                  <a:srgbClr val="FFFFFF"/>
                </a:solidFill>
                <a:latin typeface="Montserrat Ultra-Bold"/>
                <a:ea typeface="Montserrat Ultra-Bold"/>
                <a:cs typeface="Montserrat Ultra-Bold"/>
                <a:sym typeface="Montserrat Ultra-Bold"/>
              </a:rPr>
              <a:t>2</a:t>
            </a:r>
          </a:p>
        </p:txBody>
      </p:sp>
      <p:sp>
        <p:nvSpPr>
          <p:cNvPr id="14" name="TextBox 14"/>
          <p:cNvSpPr txBox="1"/>
          <p:nvPr/>
        </p:nvSpPr>
        <p:spPr>
          <a:xfrm>
            <a:off x="11615682" y="7652261"/>
            <a:ext cx="2086564" cy="1030864"/>
          </a:xfrm>
          <a:prstGeom prst="rect">
            <a:avLst/>
          </a:prstGeom>
        </p:spPr>
        <p:txBody>
          <a:bodyPr lIns="0" tIns="0" rIns="0" bIns="0" rtlCol="0" anchor="t">
            <a:spAutoFit/>
          </a:bodyPr>
          <a:lstStyle/>
          <a:p>
            <a:pPr marL="0" lvl="0" indent="0" algn="ctr">
              <a:lnSpc>
                <a:spcPts val="1679"/>
              </a:lnSpc>
            </a:pPr>
            <a:r>
              <a:rPr lang="en-US" sz="1199">
                <a:solidFill>
                  <a:srgbClr val="FFFFFF"/>
                </a:solidFill>
                <a:latin typeface="Montserrat"/>
                <a:ea typeface="Montserrat"/>
                <a:cs typeface="Montserrat"/>
                <a:sym typeface="Montserrat"/>
              </a:rPr>
              <a:t>The .NET MCP server is the governance boundary: it validates requests, enforces authorization, builds safe SQL</a:t>
            </a:r>
          </a:p>
        </p:txBody>
      </p:sp>
      <p:grpSp>
        <p:nvGrpSpPr>
          <p:cNvPr id="15" name="Group 15"/>
          <p:cNvGrpSpPr/>
          <p:nvPr/>
        </p:nvGrpSpPr>
        <p:grpSpPr>
          <a:xfrm>
            <a:off x="14510398" y="6664461"/>
            <a:ext cx="2748902" cy="2593839"/>
            <a:chOff x="0" y="0"/>
            <a:chExt cx="682033" cy="643561"/>
          </a:xfrm>
        </p:grpSpPr>
        <p:sp>
          <p:nvSpPr>
            <p:cNvPr id="16" name="Freeform 16"/>
            <p:cNvSpPr/>
            <p:nvPr/>
          </p:nvSpPr>
          <p:spPr>
            <a:xfrm>
              <a:off x="0" y="0"/>
              <a:ext cx="682033" cy="643561"/>
            </a:xfrm>
            <a:custGeom>
              <a:avLst/>
              <a:gdLst/>
              <a:ahLst/>
              <a:cxnLst/>
              <a:rect l="l" t="t" r="r" b="b"/>
              <a:pathLst>
                <a:path w="682033" h="643561">
                  <a:moveTo>
                    <a:pt x="0" y="0"/>
                  </a:moveTo>
                  <a:lnTo>
                    <a:pt x="682033" y="0"/>
                  </a:lnTo>
                  <a:lnTo>
                    <a:pt x="682033" y="643561"/>
                  </a:lnTo>
                  <a:lnTo>
                    <a:pt x="0" y="643561"/>
                  </a:lnTo>
                  <a:close/>
                </a:path>
              </a:pathLst>
            </a:custGeom>
            <a:solidFill>
              <a:srgbClr val="334368"/>
            </a:solidFill>
          </p:spPr>
        </p:sp>
        <p:sp>
          <p:nvSpPr>
            <p:cNvPr id="17" name="TextBox 17"/>
            <p:cNvSpPr txBox="1"/>
            <p:nvPr/>
          </p:nvSpPr>
          <p:spPr>
            <a:xfrm>
              <a:off x="0" y="-38100"/>
              <a:ext cx="682033" cy="681661"/>
            </a:xfrm>
            <a:prstGeom prst="rect">
              <a:avLst/>
            </a:prstGeom>
          </p:spPr>
          <p:txBody>
            <a:bodyPr lIns="42129" tIns="42129" rIns="42129" bIns="42129" rtlCol="0" anchor="ctr"/>
            <a:lstStyle/>
            <a:p>
              <a:pPr marL="0" lvl="0" indent="0" algn="ctr">
                <a:lnSpc>
                  <a:spcPts val="2659"/>
                </a:lnSpc>
              </a:pPr>
              <a:endParaRPr/>
            </a:p>
          </p:txBody>
        </p:sp>
      </p:grpSp>
      <p:sp>
        <p:nvSpPr>
          <p:cNvPr id="18" name="TextBox 18"/>
          <p:cNvSpPr txBox="1"/>
          <p:nvPr/>
        </p:nvSpPr>
        <p:spPr>
          <a:xfrm>
            <a:off x="15423120" y="7022744"/>
            <a:ext cx="923458" cy="484674"/>
          </a:xfrm>
          <a:prstGeom prst="rect">
            <a:avLst/>
          </a:prstGeom>
        </p:spPr>
        <p:txBody>
          <a:bodyPr lIns="0" tIns="0" rIns="0" bIns="0" rtlCol="0" anchor="t">
            <a:spAutoFit/>
          </a:bodyPr>
          <a:lstStyle/>
          <a:p>
            <a:pPr marL="0" lvl="0" indent="0" algn="ctr">
              <a:lnSpc>
                <a:spcPts val="3686"/>
              </a:lnSpc>
            </a:pPr>
            <a:r>
              <a:rPr lang="en-US" sz="3686" b="1">
                <a:solidFill>
                  <a:srgbClr val="FFFFFF"/>
                </a:solidFill>
                <a:latin typeface="Montserrat Ultra-Bold"/>
                <a:ea typeface="Montserrat Ultra-Bold"/>
                <a:cs typeface="Montserrat Ultra-Bold"/>
                <a:sym typeface="Montserrat Ultra-Bold"/>
              </a:rPr>
              <a:t>3</a:t>
            </a:r>
          </a:p>
        </p:txBody>
      </p:sp>
      <p:sp>
        <p:nvSpPr>
          <p:cNvPr id="19" name="TextBox 19"/>
          <p:cNvSpPr txBox="1"/>
          <p:nvPr/>
        </p:nvSpPr>
        <p:spPr>
          <a:xfrm>
            <a:off x="14841567" y="7652261"/>
            <a:ext cx="2086564" cy="1447781"/>
          </a:xfrm>
          <a:prstGeom prst="rect">
            <a:avLst/>
          </a:prstGeom>
        </p:spPr>
        <p:txBody>
          <a:bodyPr lIns="0" tIns="0" rIns="0" bIns="0" rtlCol="0" anchor="t">
            <a:spAutoFit/>
          </a:bodyPr>
          <a:lstStyle/>
          <a:p>
            <a:pPr marL="0" lvl="0" indent="0" algn="ctr">
              <a:lnSpc>
                <a:spcPts val="1679"/>
              </a:lnSpc>
            </a:pPr>
            <a:r>
              <a:rPr lang="en-US" sz="1199">
                <a:solidFill>
                  <a:srgbClr val="FFFFFF"/>
                </a:solidFill>
                <a:latin typeface="Montserrat"/>
                <a:ea typeface="Montserrat"/>
                <a:cs typeface="Montserrat"/>
                <a:sym typeface="Montserrat"/>
              </a:rPr>
              <a:t>The safest AI-native data application design is not “AI runs SQL,” but “AI calls secure, purpose-built tools that operate on trusted data.”</a:t>
            </a:r>
          </a:p>
          <a:p>
            <a:pPr marL="0" lvl="0" indent="0" algn="ctr">
              <a:lnSpc>
                <a:spcPts val="1679"/>
              </a:lnSpc>
            </a:pPr>
            <a:endParaRPr lang="en-US" sz="1199">
              <a:solidFill>
                <a:srgbClr val="FFFFFF"/>
              </a:solidFill>
              <a:latin typeface="Montserrat"/>
              <a:ea typeface="Montserrat"/>
              <a:cs typeface="Montserrat"/>
              <a:sym typeface="Montserrat"/>
            </a:endParaRPr>
          </a:p>
        </p:txBody>
      </p:sp>
      <p:grpSp>
        <p:nvGrpSpPr>
          <p:cNvPr id="20" name="Group 20"/>
          <p:cNvGrpSpPr/>
          <p:nvPr/>
        </p:nvGrpSpPr>
        <p:grpSpPr>
          <a:xfrm>
            <a:off x="8061659" y="6664461"/>
            <a:ext cx="2748902" cy="2593839"/>
            <a:chOff x="0" y="0"/>
            <a:chExt cx="682033" cy="643561"/>
          </a:xfrm>
        </p:grpSpPr>
        <p:sp>
          <p:nvSpPr>
            <p:cNvPr id="21" name="Freeform 21"/>
            <p:cNvSpPr/>
            <p:nvPr/>
          </p:nvSpPr>
          <p:spPr>
            <a:xfrm>
              <a:off x="0" y="0"/>
              <a:ext cx="682033" cy="643561"/>
            </a:xfrm>
            <a:custGeom>
              <a:avLst/>
              <a:gdLst/>
              <a:ahLst/>
              <a:cxnLst/>
              <a:rect l="l" t="t" r="r" b="b"/>
              <a:pathLst>
                <a:path w="682033" h="643561">
                  <a:moveTo>
                    <a:pt x="0" y="0"/>
                  </a:moveTo>
                  <a:lnTo>
                    <a:pt x="682033" y="0"/>
                  </a:lnTo>
                  <a:lnTo>
                    <a:pt x="682033" y="643561"/>
                  </a:lnTo>
                  <a:lnTo>
                    <a:pt x="0" y="643561"/>
                  </a:lnTo>
                  <a:close/>
                </a:path>
              </a:pathLst>
            </a:custGeom>
            <a:solidFill>
              <a:srgbClr val="8093BB"/>
            </a:solidFill>
          </p:spPr>
        </p:sp>
        <p:sp>
          <p:nvSpPr>
            <p:cNvPr id="22" name="TextBox 22"/>
            <p:cNvSpPr txBox="1"/>
            <p:nvPr/>
          </p:nvSpPr>
          <p:spPr>
            <a:xfrm>
              <a:off x="0" y="-38100"/>
              <a:ext cx="682033" cy="681661"/>
            </a:xfrm>
            <a:prstGeom prst="rect">
              <a:avLst/>
            </a:prstGeom>
          </p:spPr>
          <p:txBody>
            <a:bodyPr lIns="42129" tIns="42129" rIns="42129" bIns="42129" rtlCol="0" anchor="ctr"/>
            <a:lstStyle/>
            <a:p>
              <a:pPr marL="0" lvl="0" indent="0" algn="ctr">
                <a:lnSpc>
                  <a:spcPts val="2659"/>
                </a:lnSpc>
              </a:pPr>
              <a:endParaRPr/>
            </a:p>
          </p:txBody>
        </p:sp>
      </p:grpSp>
      <p:sp>
        <p:nvSpPr>
          <p:cNvPr id="23" name="TextBox 23"/>
          <p:cNvSpPr txBox="1"/>
          <p:nvPr/>
        </p:nvSpPr>
        <p:spPr>
          <a:xfrm>
            <a:off x="8974381" y="7022744"/>
            <a:ext cx="923458" cy="484674"/>
          </a:xfrm>
          <a:prstGeom prst="rect">
            <a:avLst/>
          </a:prstGeom>
        </p:spPr>
        <p:txBody>
          <a:bodyPr lIns="0" tIns="0" rIns="0" bIns="0" rtlCol="0" anchor="t">
            <a:spAutoFit/>
          </a:bodyPr>
          <a:lstStyle/>
          <a:p>
            <a:pPr marL="0" lvl="0" indent="0" algn="ctr">
              <a:lnSpc>
                <a:spcPts val="3686"/>
              </a:lnSpc>
            </a:pPr>
            <a:r>
              <a:rPr lang="en-US" sz="3686" b="1">
                <a:solidFill>
                  <a:srgbClr val="FFFFFF"/>
                </a:solidFill>
                <a:latin typeface="Montserrat Ultra-Bold"/>
                <a:ea typeface="Montserrat Ultra-Bold"/>
                <a:cs typeface="Montserrat Ultra-Bold"/>
                <a:sym typeface="Montserrat Ultra-Bold"/>
              </a:rPr>
              <a:t>1</a:t>
            </a:r>
          </a:p>
        </p:txBody>
      </p:sp>
      <p:sp>
        <p:nvSpPr>
          <p:cNvPr id="24" name="TextBox 24"/>
          <p:cNvSpPr txBox="1"/>
          <p:nvPr/>
        </p:nvSpPr>
        <p:spPr>
          <a:xfrm>
            <a:off x="8392828" y="7652261"/>
            <a:ext cx="2086564" cy="1030864"/>
          </a:xfrm>
          <a:prstGeom prst="rect">
            <a:avLst/>
          </a:prstGeom>
        </p:spPr>
        <p:txBody>
          <a:bodyPr lIns="0" tIns="0" rIns="0" bIns="0" rtlCol="0" anchor="t">
            <a:spAutoFit/>
          </a:bodyPr>
          <a:lstStyle/>
          <a:p>
            <a:pPr marL="0" lvl="0" indent="0" algn="ctr">
              <a:lnSpc>
                <a:spcPts val="1679"/>
              </a:lnSpc>
            </a:pPr>
            <a:r>
              <a:rPr lang="en-US" sz="1199">
                <a:solidFill>
                  <a:srgbClr val="FFFFFF"/>
                </a:solidFill>
                <a:latin typeface="Montserrat"/>
                <a:ea typeface="Montserrat"/>
                <a:cs typeface="Montserrat"/>
                <a:sym typeface="Montserrat"/>
              </a:rPr>
              <a:t>MCP does not make the database intelligent by itself; it provides a controlled way for AI applications to access</a:t>
            </a:r>
          </a:p>
        </p:txBody>
      </p:sp>
      <p:sp>
        <p:nvSpPr>
          <p:cNvPr id="25" name="TextBox 25"/>
          <p:cNvSpPr txBox="1"/>
          <p:nvPr/>
        </p:nvSpPr>
        <p:spPr>
          <a:xfrm>
            <a:off x="15764299" y="723900"/>
            <a:ext cx="1476375" cy="609600"/>
          </a:xfrm>
          <a:prstGeom prst="rect">
            <a:avLst/>
          </a:prstGeom>
        </p:spPr>
        <p:txBody>
          <a:bodyPr lIns="0" tIns="0" rIns="0" bIns="0" rtlCol="0" anchor="t">
            <a:spAutoFit/>
          </a:bodyPr>
          <a:lstStyle/>
          <a:p>
            <a:pPr marL="0" lvl="0" indent="0" algn="ctr">
              <a:lnSpc>
                <a:spcPts val="4509"/>
              </a:lnSpc>
              <a:spcBef>
                <a:spcPct val="0"/>
              </a:spcBef>
            </a:pPr>
            <a:r>
              <a:rPr lang="en-US" sz="4509" b="1" u="none" strike="noStrike">
                <a:solidFill>
                  <a:srgbClr val="8093BB"/>
                </a:solidFill>
                <a:latin typeface="Montserrat Bold"/>
                <a:ea typeface="Montserrat Bold"/>
                <a:cs typeface="Montserrat Bold"/>
                <a:sym typeface="Montserrat Bold"/>
              </a:rPr>
              <a:t>34</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59" b="-9259"/>
            </a:stretch>
          </a:blipFill>
        </p:spPr>
      </p:sp>
      <p:sp>
        <p:nvSpPr>
          <p:cNvPr id="3" name="Freeform 3"/>
          <p:cNvSpPr/>
          <p:nvPr/>
        </p:nvSpPr>
        <p:spPr>
          <a:xfrm>
            <a:off x="-580528" y="5143500"/>
            <a:ext cx="6374432" cy="5431548"/>
          </a:xfrm>
          <a:custGeom>
            <a:avLst/>
            <a:gdLst/>
            <a:ahLst/>
            <a:cxnLst/>
            <a:rect l="l" t="t" r="r" b="b"/>
            <a:pathLst>
              <a:path w="6374432" h="5431548">
                <a:moveTo>
                  <a:pt x="0" y="0"/>
                </a:moveTo>
                <a:lnTo>
                  <a:pt x="6374432" y="0"/>
                </a:lnTo>
                <a:lnTo>
                  <a:pt x="6374432" y="5431548"/>
                </a:lnTo>
                <a:lnTo>
                  <a:pt x="0" y="5431548"/>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4" name="Freeform 4"/>
          <p:cNvSpPr/>
          <p:nvPr/>
        </p:nvSpPr>
        <p:spPr>
          <a:xfrm flipH="1" flipV="1">
            <a:off x="12275902" y="-805572"/>
            <a:ext cx="6374432" cy="5431548"/>
          </a:xfrm>
          <a:custGeom>
            <a:avLst/>
            <a:gdLst/>
            <a:ahLst/>
            <a:cxnLst/>
            <a:rect l="l" t="t" r="r" b="b"/>
            <a:pathLst>
              <a:path w="6374432" h="5431548">
                <a:moveTo>
                  <a:pt x="6374432" y="5431548"/>
                </a:moveTo>
                <a:lnTo>
                  <a:pt x="0" y="5431548"/>
                </a:lnTo>
                <a:lnTo>
                  <a:pt x="0" y="0"/>
                </a:lnTo>
                <a:lnTo>
                  <a:pt x="6374432" y="0"/>
                </a:lnTo>
                <a:lnTo>
                  <a:pt x="6374432" y="5431548"/>
                </a:lnTo>
                <a:close/>
              </a:path>
            </a:pathLst>
          </a:custGeom>
          <a:blipFill>
            <a:blip>
              <a:extLst>
                <a:ext uri="{96DAC541-7B7A-43D3-8B79-37D633B846F1}">
                  <asvg:svgBlip xmlns:asvg="http://schemas.microsoft.com/office/drawing/2016/SVG/main" r:embed="rId3"/>
                </a:ext>
              </a:extLst>
            </a:blip>
            <a:stretch>
              <a:fillRect/>
            </a:stretch>
          </a:blipFill>
        </p:spPr>
      </p:sp>
      <p:sp>
        <p:nvSpPr>
          <p:cNvPr id="5" name="Freeform 5"/>
          <p:cNvSpPr/>
          <p:nvPr/>
        </p:nvSpPr>
        <p:spPr>
          <a:xfrm rot="5400000" flipH="1" flipV="1">
            <a:off x="15923080" y="-1557401"/>
            <a:ext cx="3461576" cy="4114800"/>
          </a:xfrm>
          <a:custGeom>
            <a:avLst/>
            <a:gdLst/>
            <a:ahLst/>
            <a:cxnLst/>
            <a:rect l="l" t="t" r="r" b="b"/>
            <a:pathLst>
              <a:path w="3461576" h="4114800">
                <a:moveTo>
                  <a:pt x="3461576" y="4114800"/>
                </a:moveTo>
                <a:lnTo>
                  <a:pt x="0" y="4114800"/>
                </a:lnTo>
                <a:lnTo>
                  <a:pt x="0" y="0"/>
                </a:lnTo>
                <a:lnTo>
                  <a:pt x="3461576" y="0"/>
                </a:lnTo>
                <a:lnTo>
                  <a:pt x="3461576" y="4114800"/>
                </a:lnTo>
                <a:close/>
              </a:path>
            </a:pathLst>
          </a:custGeom>
          <a:blipFill>
            <a:blip>
              <a:extLst>
                <a:ext uri="{96DAC541-7B7A-43D3-8B79-37D633B846F1}">
                  <asvg:svgBlip xmlns:asvg="http://schemas.microsoft.com/office/drawing/2016/SVG/main" r:embed="rId4"/>
                </a:ext>
              </a:extLst>
            </a:blip>
            <a:stretch>
              <a:fillRect/>
            </a:stretch>
          </a:blipFill>
        </p:spPr>
      </p:sp>
      <p:sp>
        <p:nvSpPr>
          <p:cNvPr id="6" name="Freeform 6"/>
          <p:cNvSpPr/>
          <p:nvPr/>
        </p:nvSpPr>
        <p:spPr>
          <a:xfrm rot="5400000">
            <a:off x="-1076725" y="7532662"/>
            <a:ext cx="3461576" cy="4114800"/>
          </a:xfrm>
          <a:custGeom>
            <a:avLst/>
            <a:gdLst/>
            <a:ahLst/>
            <a:cxnLst/>
            <a:rect l="l" t="t" r="r" b="b"/>
            <a:pathLst>
              <a:path w="3461576" h="4114800">
                <a:moveTo>
                  <a:pt x="0" y="0"/>
                </a:moveTo>
                <a:lnTo>
                  <a:pt x="3461576" y="0"/>
                </a:lnTo>
                <a:lnTo>
                  <a:pt x="3461576" y="4114800"/>
                </a:lnTo>
                <a:lnTo>
                  <a:pt x="0" y="4114800"/>
                </a:lnTo>
                <a:lnTo>
                  <a:pt x="0" y="0"/>
                </a:lnTo>
                <a:close/>
              </a:path>
            </a:pathLst>
          </a:custGeom>
          <a:blipFill>
            <a:blip>
              <a:extLst>
                <a:ext uri="{96DAC541-7B7A-43D3-8B79-37D633B846F1}">
                  <asvg:svgBlip xmlns:asvg="http://schemas.microsoft.com/office/drawing/2016/SVG/main" r:embed="rId4"/>
                </a:ext>
              </a:extLst>
            </a:blip>
            <a:stretch>
              <a:fillRect/>
            </a:stretch>
          </a:blipFill>
        </p:spPr>
      </p:sp>
      <p:sp>
        <p:nvSpPr>
          <p:cNvPr id="7" name="Freeform 7"/>
          <p:cNvSpPr/>
          <p:nvPr/>
        </p:nvSpPr>
        <p:spPr>
          <a:xfrm flipV="1">
            <a:off x="-1939298" y="-147198"/>
            <a:ext cx="5186723" cy="4114800"/>
          </a:xfrm>
          <a:custGeom>
            <a:avLst/>
            <a:gdLst/>
            <a:ahLst/>
            <a:cxnLst/>
            <a:rect l="l" t="t" r="r" b="b"/>
            <a:pathLst>
              <a:path w="5186723" h="4114800">
                <a:moveTo>
                  <a:pt x="0" y="4114800"/>
                </a:moveTo>
                <a:lnTo>
                  <a:pt x="5186722" y="4114800"/>
                </a:lnTo>
                <a:lnTo>
                  <a:pt x="5186722" y="0"/>
                </a:lnTo>
                <a:lnTo>
                  <a:pt x="0" y="0"/>
                </a:lnTo>
                <a:lnTo>
                  <a:pt x="0" y="4114800"/>
                </a:lnTo>
                <a:close/>
              </a:path>
            </a:pathLst>
          </a:custGeom>
          <a:blipFill>
            <a:blip>
              <a:extLst>
                <a:ext uri="{96DAC541-7B7A-43D3-8B79-37D633B846F1}">
                  <asvg:svgBlip xmlns:asvg="http://schemas.microsoft.com/office/drawing/2016/SVG/main" r:embed="rId5"/>
                </a:ext>
              </a:extLst>
            </a:blip>
            <a:stretch>
              <a:fillRect/>
            </a:stretch>
          </a:blipFill>
        </p:spPr>
      </p:sp>
      <p:sp>
        <p:nvSpPr>
          <p:cNvPr id="8" name="TextBox 8"/>
          <p:cNvSpPr txBox="1"/>
          <p:nvPr/>
        </p:nvSpPr>
        <p:spPr>
          <a:xfrm>
            <a:off x="1786995" y="4321109"/>
            <a:ext cx="14714010" cy="1761874"/>
          </a:xfrm>
          <a:prstGeom prst="rect">
            <a:avLst/>
          </a:prstGeom>
        </p:spPr>
        <p:txBody>
          <a:bodyPr lIns="0" tIns="0" rIns="0" bIns="0" rtlCol="0" anchor="t">
            <a:spAutoFit/>
          </a:bodyPr>
          <a:lstStyle/>
          <a:p>
            <a:pPr marL="0" lvl="0" indent="0" algn="ctr">
              <a:lnSpc>
                <a:spcPts val="6753"/>
              </a:lnSpc>
            </a:pPr>
            <a:r>
              <a:rPr lang="en-US" sz="6753" b="1">
                <a:solidFill>
                  <a:srgbClr val="324370"/>
                </a:solidFill>
                <a:latin typeface="Montserrat Ultra-Bold"/>
                <a:ea typeface="Montserrat Ultra-Bold"/>
                <a:cs typeface="Montserrat Ultra-Bold"/>
                <a:sym typeface="Montserrat Ultra-Bold"/>
              </a:rPr>
              <a:t>THANK YOU</a:t>
            </a:r>
          </a:p>
          <a:p>
            <a:pPr marL="0" lvl="0" indent="0" algn="ctr">
              <a:lnSpc>
                <a:spcPts val="6753"/>
              </a:lnSpc>
            </a:pPr>
            <a:r>
              <a:rPr lang="en-US" sz="6753" b="1">
                <a:solidFill>
                  <a:srgbClr val="324370"/>
                </a:solidFill>
                <a:latin typeface="Montserrat Ultra-Bold"/>
                <a:ea typeface="Montserrat Ultra-Bold"/>
                <a:cs typeface="Montserrat Ultra-Bold"/>
                <a:sym typeface="Montserrat Ultra-Bold"/>
              </a:rPr>
              <a:t>FOR ATTENDING!</a:t>
            </a:r>
          </a:p>
        </p:txBody>
      </p:sp>
      <p:sp>
        <p:nvSpPr>
          <p:cNvPr id="9" name="TextBox 9"/>
          <p:cNvSpPr txBox="1"/>
          <p:nvPr/>
        </p:nvSpPr>
        <p:spPr>
          <a:xfrm>
            <a:off x="5368405" y="7205980"/>
            <a:ext cx="7551191" cy="2052320"/>
          </a:xfrm>
          <a:prstGeom prst="rect">
            <a:avLst/>
          </a:prstGeom>
        </p:spPr>
        <p:txBody>
          <a:bodyPr lIns="0" tIns="0" rIns="0" bIns="0" rtlCol="0" anchor="t">
            <a:spAutoFit/>
          </a:bodyPr>
          <a:lstStyle/>
          <a:p>
            <a:pPr marL="0" lvl="0" indent="0" algn="ctr">
              <a:lnSpc>
                <a:spcPts val="2379"/>
              </a:lnSpc>
            </a:pPr>
            <a:r>
              <a:rPr lang="en-US" sz="1699" b="1">
                <a:solidFill>
                  <a:srgbClr val="334368"/>
                </a:solidFill>
                <a:latin typeface="Montserrat Bold"/>
                <a:ea typeface="Montserrat Bold"/>
                <a:cs typeface="Montserrat Bold"/>
                <a:sym typeface="Montserrat Bold"/>
              </a:rPr>
              <a:t>Nabaraj Ghimire</a:t>
            </a:r>
          </a:p>
          <a:p>
            <a:pPr marL="0" lvl="0" indent="0" algn="ctr">
              <a:lnSpc>
                <a:spcPts val="2379"/>
              </a:lnSpc>
            </a:pPr>
            <a:r>
              <a:rPr lang="en-US" sz="1699" b="1">
                <a:solidFill>
                  <a:srgbClr val="334368"/>
                </a:solidFill>
                <a:latin typeface="Montserrat Bold"/>
                <a:ea typeface="Montserrat Bold"/>
                <a:cs typeface="Montserrat Bold"/>
                <a:sym typeface="Montserrat Bold"/>
              </a:rPr>
              <a:t>Principal Software Engineer, SELISE Group</a:t>
            </a:r>
          </a:p>
          <a:p>
            <a:pPr marL="0" lvl="0" indent="0" algn="ctr">
              <a:lnSpc>
                <a:spcPts val="2379"/>
              </a:lnSpc>
            </a:pPr>
            <a:endParaRPr lang="en-US" sz="1699" b="1">
              <a:solidFill>
                <a:srgbClr val="334368"/>
              </a:solidFill>
              <a:latin typeface="Montserrat Bold"/>
              <a:ea typeface="Montserrat Bold"/>
              <a:cs typeface="Montserrat Bold"/>
              <a:sym typeface="Montserrat Bold"/>
            </a:endParaRPr>
          </a:p>
          <a:p>
            <a:pPr marL="0" lvl="0" indent="0" algn="ctr">
              <a:lnSpc>
                <a:spcPts val="2379"/>
              </a:lnSpc>
            </a:pPr>
            <a:r>
              <a:rPr lang="en-US" sz="1699" b="1">
                <a:solidFill>
                  <a:srgbClr val="334368"/>
                </a:solidFill>
                <a:latin typeface="Montserrat Bold"/>
                <a:ea typeface="Montserrat Bold"/>
                <a:cs typeface="Montserrat Bold"/>
                <a:sym typeface="Montserrat Bold"/>
              </a:rPr>
              <a:t>GitHub: https://github.com/Nabaraj222</a:t>
            </a:r>
          </a:p>
          <a:p>
            <a:pPr marL="0" lvl="0" indent="0" algn="ctr">
              <a:lnSpc>
                <a:spcPts val="2379"/>
              </a:lnSpc>
            </a:pPr>
            <a:endParaRPr lang="en-US" sz="1699" b="1">
              <a:solidFill>
                <a:srgbClr val="334368"/>
              </a:solidFill>
              <a:latin typeface="Montserrat Bold"/>
              <a:ea typeface="Montserrat Bold"/>
              <a:cs typeface="Montserrat Bold"/>
              <a:sym typeface="Montserrat Bold"/>
            </a:endParaRPr>
          </a:p>
          <a:p>
            <a:pPr marL="0" lvl="0" indent="0" algn="ctr">
              <a:lnSpc>
                <a:spcPts val="2379"/>
              </a:lnSpc>
            </a:pPr>
            <a:r>
              <a:rPr lang="en-US" sz="1699" b="1">
                <a:solidFill>
                  <a:srgbClr val="334368"/>
                </a:solidFill>
                <a:latin typeface="Montserrat Bold"/>
                <a:ea typeface="Montserrat Bold"/>
                <a:cs typeface="Montserrat Bold"/>
                <a:sym typeface="Montserrat Bold"/>
              </a:rPr>
              <a:t>LinkedIn: </a:t>
            </a:r>
            <a:r>
              <a:rPr lang="en-US" sz="1699" b="1" u="sng">
                <a:solidFill>
                  <a:srgbClr val="334368"/>
                </a:solidFill>
                <a:latin typeface="Montserrat Bold"/>
                <a:ea typeface="Montserrat Bold"/>
                <a:cs typeface="Montserrat Bold"/>
                <a:sym typeface="Montserrat Bold"/>
                <a:hlinkClick r:id="rId6" tooltip="https://np.linkedin.com/in/nabaraj-ghimire"/>
              </a:rPr>
              <a:t>https://np.linkedin.com/in/nabaraj-ghimire</a:t>
            </a:r>
          </a:p>
          <a:p>
            <a:pPr marL="0" lvl="0" indent="0" algn="ctr">
              <a:lnSpc>
                <a:spcPts val="2379"/>
              </a:lnSpc>
            </a:pPr>
            <a:endParaRPr lang="en-US" sz="1699" b="1" u="sng">
              <a:solidFill>
                <a:srgbClr val="334368"/>
              </a:solidFill>
              <a:latin typeface="Montserrat Bold"/>
              <a:ea typeface="Montserrat Bold"/>
              <a:cs typeface="Montserrat Bold"/>
              <a:sym typeface="Montserrat Bold"/>
              <a:hlinkClick r:id="rId6" tooltip="https://np.linkedin.com/in/nabaraj-ghimire"/>
            </a:endParaRPr>
          </a:p>
        </p:txBody>
      </p:sp>
      <p:sp>
        <p:nvSpPr>
          <p:cNvPr id="10" name="Freeform 10"/>
          <p:cNvSpPr/>
          <p:nvPr/>
        </p:nvSpPr>
        <p:spPr>
          <a:xfrm flipH="1">
            <a:off x="14665939" y="6826231"/>
            <a:ext cx="5186723" cy="4114800"/>
          </a:xfrm>
          <a:custGeom>
            <a:avLst/>
            <a:gdLst/>
            <a:ahLst/>
            <a:cxnLst/>
            <a:rect l="l" t="t" r="r" b="b"/>
            <a:pathLst>
              <a:path w="5186723" h="4114800">
                <a:moveTo>
                  <a:pt x="5186722" y="0"/>
                </a:moveTo>
                <a:lnTo>
                  <a:pt x="0" y="0"/>
                </a:lnTo>
                <a:lnTo>
                  <a:pt x="0" y="4114800"/>
                </a:lnTo>
                <a:lnTo>
                  <a:pt x="5186722" y="4114800"/>
                </a:lnTo>
                <a:lnTo>
                  <a:pt x="5186722" y="0"/>
                </a:lnTo>
                <a:close/>
              </a:path>
            </a:pathLst>
          </a:custGeom>
          <a:blipFill>
            <a:blip>
              <a:extLst>
                <a:ext uri="{96DAC541-7B7A-43D3-8B79-37D633B846F1}">
                  <asvg:svgBlip xmlns:asvg="http://schemas.microsoft.com/office/drawing/2016/SVG/main" r:embed="rId5"/>
                </a:ext>
              </a:extLst>
            </a:blip>
            <a:stretch>
              <a:fillRect/>
            </a:stretch>
          </a:blipFill>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13</TotalTime>
  <Words>2970</Words>
  <Application>Microsoft Office PowerPoint</Application>
  <PresentationFormat>Custom</PresentationFormat>
  <Paragraphs>306</Paragraphs>
  <Slides>35</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35</vt:i4>
      </vt:variant>
    </vt:vector>
  </HeadingPairs>
  <TitlesOfParts>
    <vt:vector size="42" baseType="lpstr">
      <vt:lpstr>Montserrat</vt:lpstr>
      <vt:lpstr>Montserrat Bold</vt:lpstr>
      <vt:lpstr>Calibri</vt:lpstr>
      <vt:lpstr>Montserrat Ultra-Bold</vt:lpstr>
      <vt:lpstr>Open Sans Bold</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AI-Native Data with SQL MCP Presentation</dc:title>
  <cp:lastModifiedBy>Apil Lamsal</cp:lastModifiedBy>
  <cp:revision>3</cp:revision>
  <dcterms:created xsi:type="dcterms:W3CDTF">2006-08-16T00:00:00Z</dcterms:created>
  <dcterms:modified xsi:type="dcterms:W3CDTF">2026-06-14T05:12:48Z</dcterms:modified>
  <dc:identifier>DAHMeJBW_sc</dc:identifier>
</cp:coreProperties>
</file>
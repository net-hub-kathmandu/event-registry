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5" r:id="rId23"/>
    <p:sldId id="274" r:id="rId24"/>
    <p:sldId id="283" r:id="rId25"/>
    <p:sldId id="276" r:id="rId26"/>
    <p:sldId id="277" r:id="rId27"/>
    <p:sldId id="278" r:id="rId28"/>
    <p:sldId id="279" r:id="rId29"/>
    <p:sldId id="280" r:id="rId30"/>
    <p:sldId id="281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greet the Microsoft MVP Nepal Chapter. Say the talk is about a platform shift from request-response APIs to goal-driven, agentic software. Emphasize that APIs are not disappearing; they become the tools agents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in 45–60 seconds. Keep it humble and practical. Connect your background in .NET/Web APIs with the topic of agents.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agenda. Tell the audience this is not a deep ML session. It is a software architecture session about how apps are evolving.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familiar model: frontend calls API, API applies business logic, database stores state. This is still reliable and central.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practical example: users do not want to call the order status API; they want to know why the order is delayed and what to do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APIs expose capabilities, but agents compose those capabilities toward an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agentic UI does not mean every app becomes a chatbot. Hybrid UI is the realistic future.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APIs perform operations; agents compose operations into workflows. Mention business rules must remain in backend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context in simple language: the system knows the current conversation, user role, documents, previous choices, and the business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autonomy levels. A good agent does not do everything. It acts safely depending on risk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agent simply. A chatbot talks. An agent can use tools and complete tasks. But the backend and governance still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analogy: API is a service counter, agent is an assistant who knows which counters to visit. The agent still uses APIs.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this relatable. The user does not want to operate the app; the user wants dinner. That is the agentic shift.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users express an outcome. The agent reasons over external data and constraints.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financial agents need strict authorization. Suggesting is one thing; transferring money requires strong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careful: say healthcare agents should assist, not replace doctors. Safety and responsibility are critical.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GitHub Copilot-like workflows. Explain that developers become reviewers, architects, and decision makers.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golden rule: do not bypass the backend. Agents call tools, tools call APIs, APIs enforce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practical usage: wrap existing .NET APIs as tool functions, ground with enterprise knowledge, add evaluation and tracing, and keep security and approval boundaries. This makes agents production-ready instead of demo-only.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Microsoft Build 2026 at a high level: modern developer platforms now focus on agents, trust, observability, and security. Mention Foundry as the enterprise platform layer for model choice, agent service, tools, evaluation, observability, and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practical usage: wrap existing .NET APIs as tool functions, ground with enterprise knowledge, add evaluation and tracing, and keep security and approval boundaries. This makes agents production-ready instead of demo-only.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developers not to panic. Existing backend and cloud skills are still useful. The new layer is agent design and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risk categories. Every agent action should be traceable, controllable, and testable.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junior developer analogy: limited access first, review work, then increase responsibility when trust is earned.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goal is not to replace every screen with chat. The goal is to use the best interaction for each 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ties to your .NET background. Mention that the demo can be built by wrapping existing APIs as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strong. Repeat the most important line: agents do not replace APIs; agents use APIs as tools. Thank the audience and invite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-91440"/>
            <a:ext cx="4389120" cy="2011680"/>
          </a:xfrm>
          <a:prstGeom prst="arc">
            <a:avLst/>
          </a:prstGeom>
          <a:noFill/>
          <a:ln w="13970">
            <a:solidFill>
              <a:srgbClr val="DDEBFF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45720"/>
            <a:ext cx="3840480" cy="1874520"/>
          </a:xfrm>
          <a:prstGeom prst="arc">
            <a:avLst/>
          </a:prstGeom>
          <a:noFill/>
          <a:ln w="12700">
            <a:solidFill>
              <a:srgbClr val="E8DDFF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274320"/>
            <a:ext cx="73152" cy="73152"/>
          </a:xfrm>
          <a:prstGeom prst="rect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20272" y="402336"/>
            <a:ext cx="73152" cy="73152"/>
          </a:xfrm>
          <a:prstGeom prst="rect">
            <a:avLst/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1440" y="566928"/>
            <a:ext cx="73152" cy="73152"/>
          </a:xfrm>
          <a:prstGeom prst="rect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82528" y="621792"/>
            <a:ext cx="73152" cy="73152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559552"/>
            <a:ext cx="12191695" cy="16459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5166360"/>
            <a:ext cx="2560320" cy="128016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5074920"/>
            <a:ext cx="2834640" cy="1371600"/>
          </a:xfrm>
          <a:prstGeom prst="arc">
            <a:avLst/>
          </a:prstGeom>
          <a:noFill/>
          <a:ln w="15240">
            <a:solidFill>
              <a:srgbClr val="EDE9FE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11480"/>
            <a:ext cx="402336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77824" y="411480"/>
            <a:ext cx="402336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207008" y="411480"/>
            <a:ext cx="402336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6B6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536192" y="411480"/>
            <a:ext cx="402336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EC48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865376" y="411480"/>
            <a:ext cx="402336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94360" y="868680"/>
            <a:ext cx="5943600" cy="32918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Shipping: Microsoft Build 2026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4360" y="1207008"/>
            <a:ext cx="4572000" cy="30175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80B3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 localhost: Kathmandu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94360" y="1627632"/>
            <a:ext cx="356616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05379" y="1627632"/>
            <a:ext cx="1355141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1874520"/>
            <a:ext cx="7543800" cy="141732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80B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Beyond Web APIs:</a:t>
            </a:r>
            <a:endParaRPr lang="en-US" sz="3300" dirty="0"/>
          </a:p>
          <a:p>
            <a:pPr marL="0" indent="0" algn="l">
              <a:buNone/>
            </a:pPr>
            <a:r>
              <a:rPr lang="en-US" sz="3300" b="1" dirty="0">
                <a:solidFill>
                  <a:srgbClr val="080B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Rise of AI Agents in Modern Software Development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594360" y="3355848"/>
            <a:ext cx="630936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94360" y="3986784"/>
            <a:ext cx="658368" cy="658368"/>
          </a:xfrm>
          <a:prstGeom prst="ellipse">
            <a:avLst/>
          </a:prstGeom>
          <a:solidFill>
            <a:srgbClr val="F5F3FF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" y="4151376"/>
            <a:ext cx="329184" cy="24688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89888" y="4005072"/>
            <a:ext cx="3108960" cy="34747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Farhad Rakib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389888" y="4370832"/>
            <a:ext cx="3108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Manager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863840" y="283464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01000" y="2999232"/>
            <a:ext cx="411480" cy="41148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74152" y="3063494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/>
              <a:t>14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549640" y="3017520"/>
            <a:ext cx="274320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14th June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549640" y="3419856"/>
            <a:ext cx="274320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12:00 - 5:00 PM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8549640" y="3730752"/>
            <a:ext cx="274320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8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Maitri Holdings Services Pvt. Ltd.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8549640" y="4041648"/>
            <a:ext cx="274320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Pulchowk, Lalitpur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594360" y="5230368"/>
            <a:ext cx="896112" cy="329184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5285232"/>
            <a:ext cx="896112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90000" lnSpcReduction="1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1645920" y="5230368"/>
            <a:ext cx="896112" cy="329184"/>
          </a:xfrm>
          <a:prstGeom prst="roundRect">
            <a:avLst>
              <a:gd name="adj" fmla="val 11111"/>
            </a:avLst>
          </a:prstGeom>
          <a:solidFill>
            <a:srgbClr val="F5F3FF"/>
          </a:solidFill>
          <a:ln w="10160">
            <a:solidFill>
              <a:srgbClr val="DDD6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45920" y="5285232"/>
            <a:ext cx="896112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90000" lnSpcReduction="1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2697480" y="5230368"/>
            <a:ext cx="896112" cy="329184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97480" y="5285232"/>
            <a:ext cx="896112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90000" lnSpcReduction="1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Foundry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3749040" y="5230368"/>
            <a:ext cx="896112" cy="329184"/>
          </a:xfrm>
          <a:prstGeom prst="roundRect">
            <a:avLst>
              <a:gd name="adj" fmla="val 11111"/>
            </a:avLst>
          </a:prstGeom>
          <a:solidFill>
            <a:srgbClr val="F5F3FF"/>
          </a:solidFill>
          <a:ln w="10160">
            <a:solidFill>
              <a:srgbClr val="DDD6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49040" y="5285232"/>
            <a:ext cx="896112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90000" lnSpcReduction="1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411480" y="6291072"/>
            <a:ext cx="113842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889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6345936"/>
            <a:ext cx="102870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Organized by .NET Hub Kathmandu • Supported by Microsoft &amp; Global AI Community • Venue Partner: Maitri • Community Partner: NepalCloud Professionals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11109960" y="6336792"/>
            <a:ext cx="4572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44" name="Text 25"/>
          <p:cNvSpPr/>
          <p:nvPr/>
        </p:nvSpPr>
        <p:spPr>
          <a:xfrm>
            <a:off x="1390015" y="4663440"/>
            <a:ext cx="393192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Selise Group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-91440"/>
            <a:ext cx="4389120" cy="2011680"/>
          </a:xfrm>
          <a:prstGeom prst="arc">
            <a:avLst/>
          </a:prstGeom>
          <a:noFill/>
          <a:ln w="13970">
            <a:solidFill>
              <a:srgbClr val="DDEBFF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45720"/>
            <a:ext cx="3840480" cy="1874520"/>
          </a:xfrm>
          <a:prstGeom prst="arc">
            <a:avLst/>
          </a:prstGeom>
          <a:noFill/>
          <a:ln w="12700">
            <a:solidFill>
              <a:srgbClr val="E8DDFF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274320"/>
            <a:ext cx="73152" cy="73152"/>
          </a:xfrm>
          <a:prstGeom prst="rect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20272" y="402336"/>
            <a:ext cx="73152" cy="73152"/>
          </a:xfrm>
          <a:prstGeom prst="rect">
            <a:avLst/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1440" y="566928"/>
            <a:ext cx="73152" cy="73152"/>
          </a:xfrm>
          <a:prstGeom prst="rect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82528" y="621792"/>
            <a:ext cx="73152" cy="73152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559552"/>
            <a:ext cx="12191695" cy="16459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5166360"/>
            <a:ext cx="2560320" cy="128016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5074920"/>
            <a:ext cx="2834640" cy="1371600"/>
          </a:xfrm>
          <a:prstGeom prst="arc">
            <a:avLst/>
          </a:prstGeom>
          <a:noFill/>
          <a:ln w="15240">
            <a:solidFill>
              <a:srgbClr val="EDE9FE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</a:t>
            </a:r>
            <a:endParaRPr lang="en-US" sz="1365" dirty="0"/>
          </a:p>
        </p:txBody>
      </p:sp>
      <p:sp>
        <p:nvSpPr>
          <p:cNvPr id="12" name="Text 10"/>
          <p:cNvSpPr/>
          <p:nvPr/>
        </p:nvSpPr>
        <p:spPr>
          <a:xfrm>
            <a:off x="556870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</a:t>
            </a:r>
            <a:endParaRPr lang="en-US" sz="1365" dirty="0"/>
          </a:p>
        </p:txBody>
      </p:sp>
      <p:sp>
        <p:nvSpPr>
          <p:cNvPr id="13" name="Text 11"/>
          <p:cNvSpPr/>
          <p:nvPr/>
        </p:nvSpPr>
        <p:spPr>
          <a:xfrm>
            <a:off x="729691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06B6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</a:t>
            </a:r>
            <a:endParaRPr lang="en-US" sz="1365" dirty="0"/>
          </a:p>
        </p:txBody>
      </p:sp>
      <p:sp>
        <p:nvSpPr>
          <p:cNvPr id="14" name="Text 12"/>
          <p:cNvSpPr/>
          <p:nvPr/>
        </p:nvSpPr>
        <p:spPr>
          <a:xfrm>
            <a:off x="902513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EC48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</a:t>
            </a:r>
            <a:endParaRPr lang="en-US" sz="1365" dirty="0"/>
          </a:p>
        </p:txBody>
      </p:sp>
      <p:sp>
        <p:nvSpPr>
          <p:cNvPr id="15" name="Text 13"/>
          <p:cNvSpPr/>
          <p:nvPr/>
        </p:nvSpPr>
        <p:spPr>
          <a:xfrm>
            <a:off x="1075334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sz="1365" dirty="0"/>
          </a:p>
        </p:txBody>
      </p:sp>
      <p:sp>
        <p:nvSpPr>
          <p:cNvPr id="16" name="Text 14"/>
          <p:cNvSpPr/>
          <p:nvPr/>
        </p:nvSpPr>
        <p:spPr>
          <a:xfrm>
            <a:off x="1417320" y="146304"/>
            <a:ext cx="731520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Microsoft Build 2026  //  localhost: Kathmandu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4048" y="576072"/>
            <a:ext cx="493776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576072"/>
            <a:ext cx="1609344" cy="0"/>
          </a:xfrm>
          <a:prstGeom prst="line">
            <a:avLst/>
          </a:prstGeom>
          <a:noFill/>
          <a:ln w="17780">
            <a:solidFill>
              <a:srgbClr val="EC48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6291072"/>
            <a:ext cx="113842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889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345936"/>
            <a:ext cx="102870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Organized by .NET Hub Kathmandu • Supported by Microsoft &amp; Global AI Community • Venue Partner: Maitri • Community Partner: NepalCloud Professionals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109960" y="6336792"/>
            <a:ext cx="4572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841248"/>
            <a:ext cx="804672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80B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About Me</a:t>
            </a:r>
            <a:endParaRPr lang="en-US" sz="3100" dirty="0"/>
          </a:p>
        </p:txBody>
      </p:sp>
      <p:sp>
        <p:nvSpPr>
          <p:cNvPr id="23" name="Text 21"/>
          <p:cNvSpPr/>
          <p:nvPr/>
        </p:nvSpPr>
        <p:spPr>
          <a:xfrm>
            <a:off x="612648" y="1399032"/>
            <a:ext cx="8229600" cy="3657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introduction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49808" y="1965960"/>
            <a:ext cx="1051560" cy="1051560"/>
          </a:xfrm>
          <a:prstGeom prst="ellipse">
            <a:avLst/>
          </a:prstGeom>
          <a:solidFill>
            <a:srgbClr val="F5F3FF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8408" y="2267712"/>
            <a:ext cx="594360" cy="31089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2057400" y="1938528"/>
            <a:ext cx="3840480" cy="41148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lnSpcReduction="20000"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Farhad Rakib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2057400" y="2377440"/>
            <a:ext cx="393192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Manager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31520" y="306324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68680" y="3227832"/>
            <a:ext cx="411480" cy="41148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" y="3300984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900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417320" y="3246120"/>
            <a:ext cx="448056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Background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417320" y="3648456"/>
            <a:ext cx="44805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10+ years in software engineering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417320" y="3959352"/>
            <a:ext cx="44805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Mostly .NET ecosystem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417320" y="4270248"/>
            <a:ext cx="44805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Backend architecture, cloud, AI, and developer productivity</a:t>
            </a:r>
            <a:endParaRPr lang="en-US" sz="1500" dirty="0">
              <a:solidFill>
                <a:srgbClr val="101828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400800" y="2148840"/>
            <a:ext cx="502920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537960" y="2313432"/>
            <a:ext cx="411480" cy="41148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11112" y="2386584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★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086600" y="2331720"/>
            <a:ext cx="411480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 care about this topic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7086600" y="2734056"/>
            <a:ext cx="4114800" cy="189280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developers, we already know APIs. The next opportunity is learning how AI agents can use those APIs to complete real business workflows safely.</a:t>
            </a:r>
            <a:endParaRPr lang="en-US" sz="1750" dirty="0"/>
          </a:p>
        </p:txBody>
      </p:sp>
      <p:sp>
        <p:nvSpPr>
          <p:cNvPr id="40" name="Text 25"/>
          <p:cNvSpPr/>
          <p:nvPr/>
        </p:nvSpPr>
        <p:spPr>
          <a:xfrm>
            <a:off x="2057400" y="2617470"/>
            <a:ext cx="393192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Selise Group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-91440"/>
            <a:ext cx="4389120" cy="2011680"/>
          </a:xfrm>
          <a:prstGeom prst="arc">
            <a:avLst/>
          </a:prstGeom>
          <a:noFill/>
          <a:ln w="13970">
            <a:solidFill>
              <a:srgbClr val="DDEBFF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45720"/>
            <a:ext cx="3840480" cy="1874520"/>
          </a:xfrm>
          <a:prstGeom prst="arc">
            <a:avLst/>
          </a:prstGeom>
          <a:noFill/>
          <a:ln w="12700">
            <a:solidFill>
              <a:srgbClr val="E8DDFF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274320"/>
            <a:ext cx="73152" cy="73152"/>
          </a:xfrm>
          <a:prstGeom prst="rect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20272" y="402336"/>
            <a:ext cx="73152" cy="73152"/>
          </a:xfrm>
          <a:prstGeom prst="rect">
            <a:avLst/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1440" y="566928"/>
            <a:ext cx="73152" cy="73152"/>
          </a:xfrm>
          <a:prstGeom prst="rect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82528" y="621792"/>
            <a:ext cx="73152" cy="73152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559552"/>
            <a:ext cx="12191695" cy="16459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5166360"/>
            <a:ext cx="2560320" cy="128016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5074920"/>
            <a:ext cx="2834640" cy="1371600"/>
          </a:xfrm>
          <a:prstGeom prst="arc">
            <a:avLst/>
          </a:prstGeom>
          <a:noFill/>
          <a:ln w="15240">
            <a:solidFill>
              <a:srgbClr val="EDE9FE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</a:t>
            </a:r>
            <a:endParaRPr lang="en-US" sz="1365" dirty="0"/>
          </a:p>
        </p:txBody>
      </p:sp>
      <p:sp>
        <p:nvSpPr>
          <p:cNvPr id="12" name="Text 10"/>
          <p:cNvSpPr/>
          <p:nvPr/>
        </p:nvSpPr>
        <p:spPr>
          <a:xfrm>
            <a:off x="556870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</a:t>
            </a:r>
            <a:endParaRPr lang="en-US" sz="1365" dirty="0"/>
          </a:p>
        </p:txBody>
      </p:sp>
      <p:sp>
        <p:nvSpPr>
          <p:cNvPr id="13" name="Text 11"/>
          <p:cNvSpPr/>
          <p:nvPr/>
        </p:nvSpPr>
        <p:spPr>
          <a:xfrm>
            <a:off x="729691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06B6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</a:t>
            </a:r>
            <a:endParaRPr lang="en-US" sz="1365" dirty="0"/>
          </a:p>
        </p:txBody>
      </p:sp>
      <p:sp>
        <p:nvSpPr>
          <p:cNvPr id="14" name="Text 12"/>
          <p:cNvSpPr/>
          <p:nvPr/>
        </p:nvSpPr>
        <p:spPr>
          <a:xfrm>
            <a:off x="902513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EC48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</a:t>
            </a:r>
            <a:endParaRPr lang="en-US" sz="1365" dirty="0"/>
          </a:p>
        </p:txBody>
      </p:sp>
      <p:sp>
        <p:nvSpPr>
          <p:cNvPr id="15" name="Text 13"/>
          <p:cNvSpPr/>
          <p:nvPr/>
        </p:nvSpPr>
        <p:spPr>
          <a:xfrm>
            <a:off x="1075334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sz="1365" dirty="0"/>
          </a:p>
        </p:txBody>
      </p:sp>
      <p:sp>
        <p:nvSpPr>
          <p:cNvPr id="16" name="Text 14"/>
          <p:cNvSpPr/>
          <p:nvPr/>
        </p:nvSpPr>
        <p:spPr>
          <a:xfrm>
            <a:off x="1417320" y="146304"/>
            <a:ext cx="731520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Build 2026  //  localhost: Kathmandu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4048" y="576072"/>
            <a:ext cx="493776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576072"/>
            <a:ext cx="1609344" cy="0"/>
          </a:xfrm>
          <a:prstGeom prst="line">
            <a:avLst/>
          </a:prstGeom>
          <a:noFill/>
          <a:ln w="17780">
            <a:solidFill>
              <a:srgbClr val="EC48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6291072"/>
            <a:ext cx="113842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889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345936"/>
            <a:ext cx="102870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Organized by .NET Hub Kathmandu • Supported by Microsoft &amp; Global AI Community • Venue Partner: Maitri • Community Partner: NepalCloud Professionals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109960" y="6336792"/>
            <a:ext cx="4572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841248"/>
            <a:ext cx="804672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80B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Will Learn Today</a:t>
            </a:r>
            <a:endParaRPr lang="en-US" sz="3100" dirty="0"/>
          </a:p>
        </p:txBody>
      </p:sp>
      <p:sp>
        <p:nvSpPr>
          <p:cNvPr id="23" name="Text 21"/>
          <p:cNvSpPr/>
          <p:nvPr/>
        </p:nvSpPr>
        <p:spPr>
          <a:xfrm>
            <a:off x="612648" y="1399032"/>
            <a:ext cx="8229600" cy="3657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49808" y="1892808"/>
            <a:ext cx="420624" cy="420624"/>
          </a:xfrm>
          <a:prstGeom prst="ellipse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" y="1984248"/>
            <a:ext cx="201168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17320" y="1874520"/>
            <a:ext cx="21945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APIs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57600" y="1892808"/>
            <a:ext cx="685800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APIs changed modern software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749808" y="2560320"/>
            <a:ext cx="420624" cy="420624"/>
          </a:xfrm>
          <a:prstGeom prst="ellipse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" y="2651760"/>
            <a:ext cx="201168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417320" y="2542032"/>
            <a:ext cx="21945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Limits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657600" y="2560320"/>
            <a:ext cx="685800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API-driven UX becomes manual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749808" y="3227832"/>
            <a:ext cx="420624" cy="420624"/>
          </a:xfrm>
          <a:prstGeom prst="ellipse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9536" y="3319272"/>
            <a:ext cx="201168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417320" y="3209544"/>
            <a:ext cx="21945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3657600" y="3227832"/>
            <a:ext cx="685800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agents are and how they use tools</a:t>
            </a:r>
            <a:endParaRPr lang="en-US" sz="1900" dirty="0"/>
          </a:p>
        </p:txBody>
      </p:sp>
      <p:sp>
        <p:nvSpPr>
          <p:cNvPr id="36" name="Shape 34"/>
          <p:cNvSpPr/>
          <p:nvPr/>
        </p:nvSpPr>
        <p:spPr>
          <a:xfrm>
            <a:off x="749808" y="3895344"/>
            <a:ext cx="420624" cy="420624"/>
          </a:xfrm>
          <a:prstGeom prst="ellipse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9536" y="3986784"/>
            <a:ext cx="201168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417320" y="3877056"/>
            <a:ext cx="21945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3657600" y="3895344"/>
            <a:ext cx="685800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Food delivery, ride sharing, banking, healthcare</a:t>
            </a:r>
            <a:endParaRPr lang="en-US" sz="1900" dirty="0"/>
          </a:p>
        </p:txBody>
      </p:sp>
      <p:sp>
        <p:nvSpPr>
          <p:cNvPr id="40" name="Shape 38"/>
          <p:cNvSpPr/>
          <p:nvPr/>
        </p:nvSpPr>
        <p:spPr>
          <a:xfrm>
            <a:off x="749808" y="4562856"/>
            <a:ext cx="420624" cy="420624"/>
          </a:xfrm>
          <a:prstGeom prst="ellipse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9536" y="4654296"/>
            <a:ext cx="201168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417320" y="4544568"/>
            <a:ext cx="21945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3657600" y="4562856"/>
            <a:ext cx="685800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developers build safely with Foundry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-91440"/>
            <a:ext cx="4389120" cy="2011680"/>
          </a:xfrm>
          <a:prstGeom prst="arc">
            <a:avLst/>
          </a:prstGeom>
          <a:noFill/>
          <a:ln w="13970">
            <a:solidFill>
              <a:srgbClr val="DDEBFF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45720"/>
            <a:ext cx="3840480" cy="1874520"/>
          </a:xfrm>
          <a:prstGeom prst="arc">
            <a:avLst/>
          </a:prstGeom>
          <a:noFill/>
          <a:ln w="12700">
            <a:solidFill>
              <a:srgbClr val="E8DDFF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274320"/>
            <a:ext cx="73152" cy="73152"/>
          </a:xfrm>
          <a:prstGeom prst="rect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20272" y="402336"/>
            <a:ext cx="73152" cy="73152"/>
          </a:xfrm>
          <a:prstGeom prst="rect">
            <a:avLst/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1440" y="566928"/>
            <a:ext cx="73152" cy="73152"/>
          </a:xfrm>
          <a:prstGeom prst="rect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82528" y="621792"/>
            <a:ext cx="73152" cy="73152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559552"/>
            <a:ext cx="12191695" cy="16459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5166360"/>
            <a:ext cx="2560320" cy="128016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5074920"/>
            <a:ext cx="2834640" cy="1371600"/>
          </a:xfrm>
          <a:prstGeom prst="arc">
            <a:avLst/>
          </a:prstGeom>
          <a:noFill/>
          <a:ln w="15240">
            <a:solidFill>
              <a:srgbClr val="EDE9FE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</a:t>
            </a:r>
            <a:endParaRPr lang="en-US" sz="1365" dirty="0"/>
          </a:p>
        </p:txBody>
      </p:sp>
      <p:sp>
        <p:nvSpPr>
          <p:cNvPr id="12" name="Text 10"/>
          <p:cNvSpPr/>
          <p:nvPr/>
        </p:nvSpPr>
        <p:spPr>
          <a:xfrm>
            <a:off x="556870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</a:t>
            </a:r>
            <a:endParaRPr lang="en-US" sz="1365" dirty="0"/>
          </a:p>
        </p:txBody>
      </p:sp>
      <p:sp>
        <p:nvSpPr>
          <p:cNvPr id="13" name="Text 11"/>
          <p:cNvSpPr/>
          <p:nvPr/>
        </p:nvSpPr>
        <p:spPr>
          <a:xfrm>
            <a:off x="729691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06B6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</a:t>
            </a:r>
            <a:endParaRPr lang="en-US" sz="1365" dirty="0"/>
          </a:p>
        </p:txBody>
      </p:sp>
      <p:sp>
        <p:nvSpPr>
          <p:cNvPr id="14" name="Text 12"/>
          <p:cNvSpPr/>
          <p:nvPr/>
        </p:nvSpPr>
        <p:spPr>
          <a:xfrm>
            <a:off x="902513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EC48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</a:t>
            </a:r>
            <a:endParaRPr lang="en-US" sz="1365" dirty="0"/>
          </a:p>
        </p:txBody>
      </p:sp>
      <p:sp>
        <p:nvSpPr>
          <p:cNvPr id="15" name="Text 13"/>
          <p:cNvSpPr/>
          <p:nvPr/>
        </p:nvSpPr>
        <p:spPr>
          <a:xfrm>
            <a:off x="1075334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sz="1365" dirty="0"/>
          </a:p>
        </p:txBody>
      </p:sp>
      <p:sp>
        <p:nvSpPr>
          <p:cNvPr id="16" name="Text 14"/>
          <p:cNvSpPr/>
          <p:nvPr/>
        </p:nvSpPr>
        <p:spPr>
          <a:xfrm>
            <a:off x="1417320" y="146304"/>
            <a:ext cx="731520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Build 2026  //  localhost: Kathmandu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4048" y="576072"/>
            <a:ext cx="493776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576072"/>
            <a:ext cx="1609344" cy="0"/>
          </a:xfrm>
          <a:prstGeom prst="line">
            <a:avLst/>
          </a:prstGeom>
          <a:noFill/>
          <a:ln w="17780">
            <a:solidFill>
              <a:srgbClr val="EC48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6291072"/>
            <a:ext cx="113842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889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345936"/>
            <a:ext cx="102870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Organized by .NET Hub Kathmandu • Supported by Microsoft &amp; Global AI Community • Venue Partner: Maitri • Community Partner: NepalCloud Professionals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109960" y="6336792"/>
            <a:ext cx="4572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841248"/>
            <a:ext cx="804672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80B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Web API Era</a:t>
            </a:r>
            <a:endParaRPr lang="en-US" sz="3100" dirty="0"/>
          </a:p>
        </p:txBody>
      </p:sp>
      <p:sp>
        <p:nvSpPr>
          <p:cNvPr id="23" name="Text 21"/>
          <p:cNvSpPr/>
          <p:nvPr/>
        </p:nvSpPr>
        <p:spPr>
          <a:xfrm>
            <a:off x="612648" y="1399032"/>
            <a:ext cx="8229600" cy="3657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backbone of modern application development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77240" y="2148840"/>
            <a:ext cx="3063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4400" y="2313432"/>
            <a:ext cx="411480" cy="41148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2386584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63040" y="2331720"/>
            <a:ext cx="214884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463040" y="2734056"/>
            <a:ext cx="2148840" cy="125272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Buttons, forms, screens, mobile apps, web apps</a:t>
            </a:r>
            <a:endParaRPr lang="en-US" sz="1750" dirty="0"/>
          </a:p>
        </p:txBody>
      </p:sp>
      <p:sp>
        <p:nvSpPr>
          <p:cNvPr id="29" name="Shape 27"/>
          <p:cNvSpPr/>
          <p:nvPr/>
        </p:nvSpPr>
        <p:spPr>
          <a:xfrm>
            <a:off x="3931920" y="2788920"/>
            <a:ext cx="411480" cy="457200"/>
          </a:xfrm>
          <a:prstGeom prst="chevron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2148840"/>
            <a:ext cx="3063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313432"/>
            <a:ext cx="411480" cy="41148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82312" y="2386584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257800" y="2331720"/>
            <a:ext cx="214884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API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257800" y="2734056"/>
            <a:ext cx="2148840" cy="125272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Receives request, validates input, executes business logic</a:t>
            </a:r>
            <a:endParaRPr lang="en-US" sz="1750" dirty="0"/>
          </a:p>
        </p:txBody>
      </p:sp>
      <p:sp>
        <p:nvSpPr>
          <p:cNvPr id="35" name="Shape 33"/>
          <p:cNvSpPr/>
          <p:nvPr/>
        </p:nvSpPr>
        <p:spPr>
          <a:xfrm>
            <a:off x="7726680" y="2788920"/>
            <a:ext cx="411480" cy="457200"/>
          </a:xfrm>
          <a:prstGeom prst="chevron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66760" y="2148840"/>
            <a:ext cx="3063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503920" y="2313432"/>
            <a:ext cx="411480" cy="41148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77072" y="2386584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052560" y="2331720"/>
            <a:ext cx="214884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+ Services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9052560" y="2734056"/>
            <a:ext cx="2148840" cy="125272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Database, payments, notifications, external systems</a:t>
            </a:r>
            <a:endParaRPr lang="en-US" sz="1750" dirty="0"/>
          </a:p>
        </p:txBody>
      </p:sp>
      <p:sp>
        <p:nvSpPr>
          <p:cNvPr id="41" name="Text 39"/>
          <p:cNvSpPr/>
          <p:nvPr/>
        </p:nvSpPr>
        <p:spPr>
          <a:xfrm>
            <a:off x="868680" y="4663440"/>
            <a:ext cx="7955280" cy="34747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Still reliable. Still scalable. Still central.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-91440"/>
            <a:ext cx="4389120" cy="2011680"/>
          </a:xfrm>
          <a:prstGeom prst="arc">
            <a:avLst/>
          </a:prstGeom>
          <a:noFill/>
          <a:ln w="13970">
            <a:solidFill>
              <a:srgbClr val="DDEBFF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45720"/>
            <a:ext cx="3840480" cy="1874520"/>
          </a:xfrm>
          <a:prstGeom prst="arc">
            <a:avLst/>
          </a:prstGeom>
          <a:noFill/>
          <a:ln w="12700">
            <a:solidFill>
              <a:srgbClr val="E8DDFF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274320"/>
            <a:ext cx="73152" cy="73152"/>
          </a:xfrm>
          <a:prstGeom prst="rect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20272" y="402336"/>
            <a:ext cx="73152" cy="73152"/>
          </a:xfrm>
          <a:prstGeom prst="rect">
            <a:avLst/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1440" y="566928"/>
            <a:ext cx="73152" cy="73152"/>
          </a:xfrm>
          <a:prstGeom prst="rect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82528" y="621792"/>
            <a:ext cx="73152" cy="73152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559552"/>
            <a:ext cx="12191695" cy="16459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5166360"/>
            <a:ext cx="2560320" cy="128016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5074920"/>
            <a:ext cx="2834640" cy="1371600"/>
          </a:xfrm>
          <a:prstGeom prst="arc">
            <a:avLst/>
          </a:prstGeom>
          <a:noFill/>
          <a:ln w="15240">
            <a:solidFill>
              <a:srgbClr val="EDE9FE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</a:t>
            </a:r>
            <a:endParaRPr lang="en-US" sz="1365" dirty="0"/>
          </a:p>
        </p:txBody>
      </p:sp>
      <p:sp>
        <p:nvSpPr>
          <p:cNvPr id="12" name="Text 10"/>
          <p:cNvSpPr/>
          <p:nvPr/>
        </p:nvSpPr>
        <p:spPr>
          <a:xfrm>
            <a:off x="556870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</a:t>
            </a:r>
            <a:endParaRPr lang="en-US" sz="1365" dirty="0"/>
          </a:p>
        </p:txBody>
      </p:sp>
      <p:sp>
        <p:nvSpPr>
          <p:cNvPr id="13" name="Text 11"/>
          <p:cNvSpPr/>
          <p:nvPr/>
        </p:nvSpPr>
        <p:spPr>
          <a:xfrm>
            <a:off x="729691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06B6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</a:t>
            </a:r>
            <a:endParaRPr lang="en-US" sz="1365" dirty="0"/>
          </a:p>
        </p:txBody>
      </p:sp>
      <p:sp>
        <p:nvSpPr>
          <p:cNvPr id="14" name="Text 12"/>
          <p:cNvSpPr/>
          <p:nvPr/>
        </p:nvSpPr>
        <p:spPr>
          <a:xfrm>
            <a:off x="902513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EC48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</a:t>
            </a:r>
            <a:endParaRPr lang="en-US" sz="1365" dirty="0"/>
          </a:p>
        </p:txBody>
      </p:sp>
      <p:sp>
        <p:nvSpPr>
          <p:cNvPr id="15" name="Text 13"/>
          <p:cNvSpPr/>
          <p:nvPr/>
        </p:nvSpPr>
        <p:spPr>
          <a:xfrm>
            <a:off x="1075334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sz="1365" dirty="0"/>
          </a:p>
        </p:txBody>
      </p:sp>
      <p:sp>
        <p:nvSpPr>
          <p:cNvPr id="16" name="Text 14"/>
          <p:cNvSpPr/>
          <p:nvPr/>
        </p:nvSpPr>
        <p:spPr>
          <a:xfrm>
            <a:off x="1417320" y="146304"/>
            <a:ext cx="731520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Build 2026  //  localhost: Kathmandu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4048" y="576072"/>
            <a:ext cx="493776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576072"/>
            <a:ext cx="1609344" cy="0"/>
          </a:xfrm>
          <a:prstGeom prst="line">
            <a:avLst/>
          </a:prstGeom>
          <a:noFill/>
          <a:ln w="17780">
            <a:solidFill>
              <a:srgbClr val="EC48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6291072"/>
            <a:ext cx="113842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889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345936"/>
            <a:ext cx="102870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Organized by .NET Hub Kathmandu • Supported by Microsoft &amp; Global AI Community • Venue Partner: Maitri • Community Partner: NepalCloud Professionals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109960" y="6336792"/>
            <a:ext cx="4572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841248"/>
            <a:ext cx="804672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80B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Limit of API-Only Thinking</a:t>
            </a:r>
            <a:endParaRPr lang="en-US" sz="3100" dirty="0"/>
          </a:p>
        </p:txBody>
      </p:sp>
      <p:sp>
        <p:nvSpPr>
          <p:cNvPr id="23" name="Text 21"/>
          <p:cNvSpPr/>
          <p:nvPr/>
        </p:nvSpPr>
        <p:spPr>
          <a:xfrm>
            <a:off x="612648" y="1399032"/>
            <a:ext cx="8229600" cy="3657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APIs are powerful — but users still do manual orchestration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77240" y="1874520"/>
            <a:ext cx="548640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4400" y="2039112"/>
            <a:ext cx="411480" cy="411480"/>
          </a:xfrm>
          <a:prstGeom prst="ellipse">
            <a:avLst/>
          </a:prstGeom>
          <a:solidFill>
            <a:srgbClr val="FEF2F2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2112264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63040" y="2057400"/>
            <a:ext cx="457200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burden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463040" y="2459736"/>
            <a:ext cx="457200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User must know which screen to open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463040" y="2770632"/>
            <a:ext cx="457200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User must choose filters and actions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463040" y="3081528"/>
            <a:ext cx="457200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Workflow is predefined by developers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463040" y="3392424"/>
            <a:ext cx="457200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Complex work becomes many clicks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6537960" y="2057400"/>
            <a:ext cx="48920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675120" y="2221992"/>
            <a:ext cx="411480" cy="41148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48272" y="2295144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223760" y="2240280"/>
            <a:ext cx="397764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223760" y="2642616"/>
            <a:ext cx="3977640" cy="143560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knows the data, but not always the user’s intent.</a:t>
            </a:r>
            <a:endParaRPr lang="en-US" sz="1750" dirty="0"/>
          </a:p>
        </p:txBody>
      </p:sp>
      <p:sp>
        <p:nvSpPr>
          <p:cNvPr id="37" name="Text 35"/>
          <p:cNvSpPr/>
          <p:nvPr/>
        </p:nvSpPr>
        <p:spPr>
          <a:xfrm>
            <a:off x="6720840" y="4407408"/>
            <a:ext cx="4297680" cy="53035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users do not want to call the order-status API; they want to know why the order is delayed and what to do next.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-91440"/>
            <a:ext cx="4389120" cy="2011680"/>
          </a:xfrm>
          <a:prstGeom prst="arc">
            <a:avLst/>
          </a:prstGeom>
          <a:noFill/>
          <a:ln w="13970">
            <a:solidFill>
              <a:srgbClr val="DDEBFF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45720"/>
            <a:ext cx="3840480" cy="1874520"/>
          </a:xfrm>
          <a:prstGeom prst="arc">
            <a:avLst/>
          </a:prstGeom>
          <a:noFill/>
          <a:ln w="12700">
            <a:solidFill>
              <a:srgbClr val="E8DDFF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274320"/>
            <a:ext cx="73152" cy="73152"/>
          </a:xfrm>
          <a:prstGeom prst="rect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20272" y="402336"/>
            <a:ext cx="73152" cy="73152"/>
          </a:xfrm>
          <a:prstGeom prst="rect">
            <a:avLst/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1440" y="566928"/>
            <a:ext cx="73152" cy="73152"/>
          </a:xfrm>
          <a:prstGeom prst="rect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82528" y="621792"/>
            <a:ext cx="73152" cy="73152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559552"/>
            <a:ext cx="12191695" cy="16459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5166360"/>
            <a:ext cx="2560320" cy="128016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5074920"/>
            <a:ext cx="2834640" cy="1371600"/>
          </a:xfrm>
          <a:prstGeom prst="arc">
            <a:avLst/>
          </a:prstGeom>
          <a:noFill/>
          <a:ln w="15240">
            <a:solidFill>
              <a:srgbClr val="EDE9FE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</a:t>
            </a:r>
            <a:endParaRPr lang="en-US" sz="1365" dirty="0"/>
          </a:p>
        </p:txBody>
      </p:sp>
      <p:sp>
        <p:nvSpPr>
          <p:cNvPr id="12" name="Text 10"/>
          <p:cNvSpPr/>
          <p:nvPr/>
        </p:nvSpPr>
        <p:spPr>
          <a:xfrm>
            <a:off x="556870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</a:t>
            </a:r>
            <a:endParaRPr lang="en-US" sz="1365" dirty="0"/>
          </a:p>
        </p:txBody>
      </p:sp>
      <p:sp>
        <p:nvSpPr>
          <p:cNvPr id="13" name="Text 11"/>
          <p:cNvSpPr/>
          <p:nvPr/>
        </p:nvSpPr>
        <p:spPr>
          <a:xfrm>
            <a:off x="729691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06B6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</a:t>
            </a:r>
            <a:endParaRPr lang="en-US" sz="1365" dirty="0"/>
          </a:p>
        </p:txBody>
      </p:sp>
      <p:sp>
        <p:nvSpPr>
          <p:cNvPr id="14" name="Text 12"/>
          <p:cNvSpPr/>
          <p:nvPr/>
        </p:nvSpPr>
        <p:spPr>
          <a:xfrm>
            <a:off x="902513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EC48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</a:t>
            </a:r>
            <a:endParaRPr lang="en-US" sz="1365" dirty="0"/>
          </a:p>
        </p:txBody>
      </p:sp>
      <p:sp>
        <p:nvSpPr>
          <p:cNvPr id="15" name="Text 13"/>
          <p:cNvSpPr/>
          <p:nvPr/>
        </p:nvSpPr>
        <p:spPr>
          <a:xfrm>
            <a:off x="1075334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sz="1365" dirty="0"/>
          </a:p>
        </p:txBody>
      </p:sp>
      <p:sp>
        <p:nvSpPr>
          <p:cNvPr id="16" name="Text 14"/>
          <p:cNvSpPr/>
          <p:nvPr/>
        </p:nvSpPr>
        <p:spPr>
          <a:xfrm>
            <a:off x="1417320" y="146304"/>
            <a:ext cx="731520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Build 2026  //  localhost: Kathmandu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4048" y="576072"/>
            <a:ext cx="493776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576072"/>
            <a:ext cx="1609344" cy="0"/>
          </a:xfrm>
          <a:prstGeom prst="line">
            <a:avLst/>
          </a:prstGeom>
          <a:noFill/>
          <a:ln w="17780">
            <a:solidFill>
              <a:srgbClr val="EC48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6291072"/>
            <a:ext cx="113842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889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345936"/>
            <a:ext cx="102870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Organized by .NET Hub Kathmandu • Supported by Microsoft &amp; Global AI Community • Venue Partner: Maitri • Community Partner: NepalCloud Professionals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109960" y="6336792"/>
            <a:ext cx="4572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841248"/>
            <a:ext cx="804672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80B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Shift 1: From Endpoints to Outcomes</a:t>
            </a:r>
            <a:endParaRPr lang="en-US" sz="3100" dirty="0"/>
          </a:p>
        </p:txBody>
      </p:sp>
      <p:sp>
        <p:nvSpPr>
          <p:cNvPr id="23" name="Text 21"/>
          <p:cNvSpPr/>
          <p:nvPr/>
        </p:nvSpPr>
        <p:spPr>
          <a:xfrm>
            <a:off x="612648" y="1399032"/>
            <a:ext cx="8229600" cy="3657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user asks for the result, not the route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85800" y="1874520"/>
            <a:ext cx="5166360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5025" y="2016125"/>
            <a:ext cx="582295" cy="45783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2317" y="2112264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71600" y="2057400"/>
            <a:ext cx="425196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Endpoint mindset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371600" y="2459736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GET /orders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371600" y="2770632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POST /payments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371600" y="3081528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PUT /status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371600" y="3392424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SEND /notification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6339078" y="1844675"/>
            <a:ext cx="5166360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64935" y="1932940"/>
            <a:ext cx="582295" cy="44577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2016125"/>
            <a:ext cx="475615" cy="301625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013448" y="1976120"/>
            <a:ext cx="425196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Outcome mindset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013448" y="2459736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“Find delayed orders and notify affected customers.”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7013448" y="2894457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agent chooses the needed tools.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-91440"/>
            <a:ext cx="4389120" cy="2011680"/>
          </a:xfrm>
          <a:prstGeom prst="arc">
            <a:avLst/>
          </a:prstGeom>
          <a:noFill/>
          <a:ln w="13970">
            <a:solidFill>
              <a:srgbClr val="DDEBFF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45720"/>
            <a:ext cx="3840480" cy="1874520"/>
          </a:xfrm>
          <a:prstGeom prst="arc">
            <a:avLst/>
          </a:prstGeom>
          <a:noFill/>
          <a:ln w="12700">
            <a:solidFill>
              <a:srgbClr val="E8DDFF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274320"/>
            <a:ext cx="73152" cy="73152"/>
          </a:xfrm>
          <a:prstGeom prst="rect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20272" y="402336"/>
            <a:ext cx="73152" cy="73152"/>
          </a:xfrm>
          <a:prstGeom prst="rect">
            <a:avLst/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1440" y="566928"/>
            <a:ext cx="73152" cy="73152"/>
          </a:xfrm>
          <a:prstGeom prst="rect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82528" y="621792"/>
            <a:ext cx="73152" cy="73152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559552"/>
            <a:ext cx="12191695" cy="16459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5166360"/>
            <a:ext cx="2560320" cy="128016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5074920"/>
            <a:ext cx="2834640" cy="1371600"/>
          </a:xfrm>
          <a:prstGeom prst="arc">
            <a:avLst/>
          </a:prstGeom>
          <a:noFill/>
          <a:ln w="15240">
            <a:solidFill>
              <a:srgbClr val="EDE9FE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</a:t>
            </a:r>
            <a:endParaRPr lang="en-US" sz="1365" dirty="0"/>
          </a:p>
        </p:txBody>
      </p:sp>
      <p:sp>
        <p:nvSpPr>
          <p:cNvPr id="12" name="Text 10"/>
          <p:cNvSpPr/>
          <p:nvPr/>
        </p:nvSpPr>
        <p:spPr>
          <a:xfrm>
            <a:off x="556870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</a:t>
            </a:r>
            <a:endParaRPr lang="en-US" sz="1365" dirty="0"/>
          </a:p>
        </p:txBody>
      </p:sp>
      <p:sp>
        <p:nvSpPr>
          <p:cNvPr id="13" name="Text 11"/>
          <p:cNvSpPr/>
          <p:nvPr/>
        </p:nvSpPr>
        <p:spPr>
          <a:xfrm>
            <a:off x="729691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06B6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</a:t>
            </a:r>
            <a:endParaRPr lang="en-US" sz="1365" dirty="0"/>
          </a:p>
        </p:txBody>
      </p:sp>
      <p:sp>
        <p:nvSpPr>
          <p:cNvPr id="14" name="Text 12"/>
          <p:cNvSpPr/>
          <p:nvPr/>
        </p:nvSpPr>
        <p:spPr>
          <a:xfrm>
            <a:off x="902513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EC48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</a:t>
            </a:r>
            <a:endParaRPr lang="en-US" sz="1365" dirty="0"/>
          </a:p>
        </p:txBody>
      </p:sp>
      <p:sp>
        <p:nvSpPr>
          <p:cNvPr id="15" name="Text 13"/>
          <p:cNvSpPr/>
          <p:nvPr/>
        </p:nvSpPr>
        <p:spPr>
          <a:xfrm>
            <a:off x="1075334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sz="1365" dirty="0"/>
          </a:p>
        </p:txBody>
      </p:sp>
      <p:sp>
        <p:nvSpPr>
          <p:cNvPr id="16" name="Text 14"/>
          <p:cNvSpPr/>
          <p:nvPr/>
        </p:nvSpPr>
        <p:spPr>
          <a:xfrm>
            <a:off x="1417320" y="146304"/>
            <a:ext cx="731520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Build 2026  //  localhost: Kathmandu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4048" y="576072"/>
            <a:ext cx="493776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576072"/>
            <a:ext cx="1609344" cy="0"/>
          </a:xfrm>
          <a:prstGeom prst="line">
            <a:avLst/>
          </a:prstGeom>
          <a:noFill/>
          <a:ln w="17780">
            <a:solidFill>
              <a:srgbClr val="EC48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6291072"/>
            <a:ext cx="113842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889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345936"/>
            <a:ext cx="102870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Organized by .NET Hub Kathmandu • Supported by Microsoft &amp; Global AI Community • Venue Partner: Maitri • Community Partner: NepalCloud Professionals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109960" y="6336792"/>
            <a:ext cx="4572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841248"/>
            <a:ext cx="804672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80B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Shift 2: From Forms to Conversations</a:t>
            </a:r>
            <a:endParaRPr lang="en-US" sz="3100" dirty="0"/>
          </a:p>
        </p:txBody>
      </p:sp>
      <p:sp>
        <p:nvSpPr>
          <p:cNvPr id="23" name="Text 21"/>
          <p:cNvSpPr/>
          <p:nvPr/>
        </p:nvSpPr>
        <p:spPr>
          <a:xfrm>
            <a:off x="612648" y="1399032"/>
            <a:ext cx="8229600" cy="3657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 language becomes a new control surface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77240" y="1874520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4400" y="2039112"/>
            <a:ext cx="411480" cy="41148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2112264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63040" y="2057400"/>
            <a:ext cx="406908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Forms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463040" y="2459736"/>
            <a:ext cx="4069080" cy="42976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Great for structured input</a:t>
            </a:r>
            <a:endParaRPr lang="en-US" sz="1750" dirty="0"/>
          </a:p>
        </p:txBody>
      </p:sp>
      <p:sp>
        <p:nvSpPr>
          <p:cNvPr id="29" name="Shape 27"/>
          <p:cNvSpPr/>
          <p:nvPr/>
        </p:nvSpPr>
        <p:spPr>
          <a:xfrm>
            <a:off x="6263640" y="1874520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2039112"/>
            <a:ext cx="411480" cy="41148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73952" y="2112264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49440" y="2057400"/>
            <a:ext cx="406908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949440" y="2459736"/>
            <a:ext cx="4069080" cy="42976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when the path is unknown</a:t>
            </a:r>
            <a:endParaRPr lang="en-US" sz="1750" dirty="0"/>
          </a:p>
        </p:txBody>
      </p:sp>
      <p:sp>
        <p:nvSpPr>
          <p:cNvPr id="34" name="Shape 32"/>
          <p:cNvSpPr/>
          <p:nvPr/>
        </p:nvSpPr>
        <p:spPr>
          <a:xfrm>
            <a:off x="777240" y="3291840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14400" y="3456432"/>
            <a:ext cx="411480" cy="41148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7552" y="3529584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463040" y="3474720"/>
            <a:ext cx="406908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1463040" y="3877056"/>
            <a:ext cx="4069080" cy="42976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Helpful in mobile and field operations</a:t>
            </a:r>
            <a:endParaRPr lang="en-US" sz="1750" dirty="0"/>
          </a:p>
        </p:txBody>
      </p:sp>
      <p:sp>
        <p:nvSpPr>
          <p:cNvPr id="39" name="Shape 37"/>
          <p:cNvSpPr/>
          <p:nvPr/>
        </p:nvSpPr>
        <p:spPr>
          <a:xfrm>
            <a:off x="6263640" y="3291840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00800" y="3456432"/>
            <a:ext cx="411480" cy="41148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73952" y="3529584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949440" y="3474720"/>
            <a:ext cx="406908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UX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6949440" y="3877056"/>
            <a:ext cx="4069080" cy="42976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Buttons + forms + search + chat + agents</a:t>
            </a:r>
            <a:endParaRPr lang="en-US" sz="1750" dirty="0"/>
          </a:p>
        </p:txBody>
      </p:sp>
      <p:sp>
        <p:nvSpPr>
          <p:cNvPr id="44" name="Text 42"/>
          <p:cNvSpPr/>
          <p:nvPr/>
        </p:nvSpPr>
        <p:spPr>
          <a:xfrm>
            <a:off x="914400" y="4956048"/>
            <a:ext cx="10058400" cy="38404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“Book me a ride that reaches the airport by 8 PM with low delay risk.”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-91440"/>
            <a:ext cx="4389120" cy="2011680"/>
          </a:xfrm>
          <a:prstGeom prst="arc">
            <a:avLst/>
          </a:prstGeom>
          <a:noFill/>
          <a:ln w="13970">
            <a:solidFill>
              <a:srgbClr val="DDEBFF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45720"/>
            <a:ext cx="3840480" cy="1874520"/>
          </a:xfrm>
          <a:prstGeom prst="arc">
            <a:avLst/>
          </a:prstGeom>
          <a:noFill/>
          <a:ln w="12700">
            <a:solidFill>
              <a:srgbClr val="E8DDFF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274320"/>
            <a:ext cx="73152" cy="73152"/>
          </a:xfrm>
          <a:prstGeom prst="rect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20272" y="402336"/>
            <a:ext cx="73152" cy="73152"/>
          </a:xfrm>
          <a:prstGeom prst="rect">
            <a:avLst/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1440" y="566928"/>
            <a:ext cx="73152" cy="73152"/>
          </a:xfrm>
          <a:prstGeom prst="rect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82528" y="621792"/>
            <a:ext cx="73152" cy="73152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559552"/>
            <a:ext cx="12191695" cy="16459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5166360"/>
            <a:ext cx="2560320" cy="128016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5074920"/>
            <a:ext cx="2834640" cy="1371600"/>
          </a:xfrm>
          <a:prstGeom prst="arc">
            <a:avLst/>
          </a:prstGeom>
          <a:noFill/>
          <a:ln w="15240">
            <a:solidFill>
              <a:srgbClr val="EDE9FE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</a:t>
            </a:r>
            <a:endParaRPr lang="en-US" sz="1365" dirty="0"/>
          </a:p>
        </p:txBody>
      </p:sp>
      <p:sp>
        <p:nvSpPr>
          <p:cNvPr id="12" name="Text 10"/>
          <p:cNvSpPr/>
          <p:nvPr/>
        </p:nvSpPr>
        <p:spPr>
          <a:xfrm>
            <a:off x="556870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</a:t>
            </a:r>
            <a:endParaRPr lang="en-US" sz="1365" dirty="0"/>
          </a:p>
        </p:txBody>
      </p:sp>
      <p:sp>
        <p:nvSpPr>
          <p:cNvPr id="13" name="Text 11"/>
          <p:cNvSpPr/>
          <p:nvPr/>
        </p:nvSpPr>
        <p:spPr>
          <a:xfrm>
            <a:off x="729691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06B6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</a:t>
            </a:r>
            <a:endParaRPr lang="en-US" sz="1365" dirty="0"/>
          </a:p>
        </p:txBody>
      </p:sp>
      <p:sp>
        <p:nvSpPr>
          <p:cNvPr id="14" name="Text 12"/>
          <p:cNvSpPr/>
          <p:nvPr/>
        </p:nvSpPr>
        <p:spPr>
          <a:xfrm>
            <a:off x="902513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EC48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</a:t>
            </a:r>
            <a:endParaRPr lang="en-US" sz="1365" dirty="0"/>
          </a:p>
        </p:txBody>
      </p:sp>
      <p:sp>
        <p:nvSpPr>
          <p:cNvPr id="15" name="Text 13"/>
          <p:cNvSpPr/>
          <p:nvPr/>
        </p:nvSpPr>
        <p:spPr>
          <a:xfrm>
            <a:off x="1075334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sz="1365" dirty="0"/>
          </a:p>
        </p:txBody>
      </p:sp>
      <p:sp>
        <p:nvSpPr>
          <p:cNvPr id="16" name="Text 14"/>
          <p:cNvSpPr/>
          <p:nvPr/>
        </p:nvSpPr>
        <p:spPr>
          <a:xfrm>
            <a:off x="1417320" y="146304"/>
            <a:ext cx="731520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Build 2026  //  localhost: Kathmandu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4048" y="576072"/>
            <a:ext cx="493776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576072"/>
            <a:ext cx="1609344" cy="0"/>
          </a:xfrm>
          <a:prstGeom prst="line">
            <a:avLst/>
          </a:prstGeom>
          <a:noFill/>
          <a:ln w="17780">
            <a:solidFill>
              <a:srgbClr val="EC48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6291072"/>
            <a:ext cx="113842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889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345936"/>
            <a:ext cx="102870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Organized by .NET Hub Kathmandu • Supported by Microsoft &amp; Global AI Community • Venue Partner: Maitri • Community Partner: NepalCloud Professionals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109960" y="6336792"/>
            <a:ext cx="4572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841248"/>
            <a:ext cx="804672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80B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Shift 3: From CRUD to Composed Workflows</a:t>
            </a:r>
            <a:endParaRPr lang="en-US" sz="3100" dirty="0"/>
          </a:p>
        </p:txBody>
      </p:sp>
      <p:sp>
        <p:nvSpPr>
          <p:cNvPr id="23" name="Text 21"/>
          <p:cNvSpPr/>
          <p:nvPr/>
        </p:nvSpPr>
        <p:spPr>
          <a:xfrm>
            <a:off x="612648" y="1554607"/>
            <a:ext cx="8229600" cy="3657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connect multiple operations into one business task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77240" y="1993392"/>
            <a:ext cx="315468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4400" y="2157984"/>
            <a:ext cx="411480" cy="41148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2231136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63040" y="2176272"/>
            <a:ext cx="224028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463040" y="2578608"/>
            <a:ext cx="224028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Create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463040" y="2889504"/>
            <a:ext cx="224028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Read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463040" y="3200400"/>
            <a:ext cx="224028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Update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463040" y="3511296"/>
            <a:ext cx="224028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Delete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3794760" y="3063240"/>
            <a:ext cx="384048" cy="438912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99432" y="1993392"/>
            <a:ext cx="315468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36592" y="2157984"/>
            <a:ext cx="411480" cy="41148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9744" y="2231136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285232" y="2176272"/>
            <a:ext cx="224028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285232" y="2578608"/>
            <a:ext cx="224028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Search customer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5285232" y="2889504"/>
            <a:ext cx="224028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Find due orders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5285232" y="3200400"/>
            <a:ext cx="224028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Calculate balance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5285232" y="3511296"/>
            <a:ext cx="224028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Apply rule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7616952" y="3063240"/>
            <a:ext cx="384048" cy="438912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421624" y="1993392"/>
            <a:ext cx="315468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558784" y="2157984"/>
            <a:ext cx="411480" cy="41148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31936" y="2231136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9107424" y="2176272"/>
            <a:ext cx="224028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task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9107424" y="2770378"/>
            <a:ext cx="224028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“Settle this customer’s due”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9107424" y="3283204"/>
            <a:ext cx="224028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“Prepare a receipt summary”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-91440"/>
            <a:ext cx="4389120" cy="2011680"/>
          </a:xfrm>
          <a:prstGeom prst="arc">
            <a:avLst/>
          </a:prstGeom>
          <a:noFill/>
          <a:ln w="13970">
            <a:solidFill>
              <a:srgbClr val="DDEBFF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45720"/>
            <a:ext cx="3840480" cy="1874520"/>
          </a:xfrm>
          <a:prstGeom prst="arc">
            <a:avLst/>
          </a:prstGeom>
          <a:noFill/>
          <a:ln w="12700">
            <a:solidFill>
              <a:srgbClr val="E8DDFF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274320"/>
            <a:ext cx="73152" cy="73152"/>
          </a:xfrm>
          <a:prstGeom prst="rect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20272" y="402336"/>
            <a:ext cx="73152" cy="73152"/>
          </a:xfrm>
          <a:prstGeom prst="rect">
            <a:avLst/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1440" y="566928"/>
            <a:ext cx="73152" cy="73152"/>
          </a:xfrm>
          <a:prstGeom prst="rect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82528" y="621792"/>
            <a:ext cx="73152" cy="73152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559552"/>
            <a:ext cx="12191695" cy="16459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5166360"/>
            <a:ext cx="2560320" cy="128016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5074920"/>
            <a:ext cx="2834640" cy="1371600"/>
          </a:xfrm>
          <a:prstGeom prst="arc">
            <a:avLst/>
          </a:prstGeom>
          <a:noFill/>
          <a:ln w="15240">
            <a:solidFill>
              <a:srgbClr val="EDE9FE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</a:t>
            </a:r>
            <a:endParaRPr lang="en-US" sz="1365" dirty="0"/>
          </a:p>
        </p:txBody>
      </p:sp>
      <p:sp>
        <p:nvSpPr>
          <p:cNvPr id="12" name="Text 10"/>
          <p:cNvSpPr/>
          <p:nvPr/>
        </p:nvSpPr>
        <p:spPr>
          <a:xfrm>
            <a:off x="556870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</a:t>
            </a:r>
            <a:endParaRPr lang="en-US" sz="1365" dirty="0"/>
          </a:p>
        </p:txBody>
      </p:sp>
      <p:sp>
        <p:nvSpPr>
          <p:cNvPr id="13" name="Text 11"/>
          <p:cNvSpPr/>
          <p:nvPr/>
        </p:nvSpPr>
        <p:spPr>
          <a:xfrm>
            <a:off x="729691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06B6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</a:t>
            </a:r>
            <a:endParaRPr lang="en-US" sz="1365" dirty="0"/>
          </a:p>
        </p:txBody>
      </p:sp>
      <p:sp>
        <p:nvSpPr>
          <p:cNvPr id="14" name="Text 12"/>
          <p:cNvSpPr/>
          <p:nvPr/>
        </p:nvSpPr>
        <p:spPr>
          <a:xfrm>
            <a:off x="902513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EC48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</a:t>
            </a:r>
            <a:endParaRPr lang="en-US" sz="1365" dirty="0"/>
          </a:p>
        </p:txBody>
      </p:sp>
      <p:sp>
        <p:nvSpPr>
          <p:cNvPr id="15" name="Text 13"/>
          <p:cNvSpPr/>
          <p:nvPr/>
        </p:nvSpPr>
        <p:spPr>
          <a:xfrm>
            <a:off x="1075334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sz="1365" dirty="0"/>
          </a:p>
        </p:txBody>
      </p:sp>
      <p:sp>
        <p:nvSpPr>
          <p:cNvPr id="16" name="Text 14"/>
          <p:cNvSpPr/>
          <p:nvPr/>
        </p:nvSpPr>
        <p:spPr>
          <a:xfrm>
            <a:off x="1417320" y="146304"/>
            <a:ext cx="731520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Build 2026  //  localhost: Kathmandu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4048" y="576072"/>
            <a:ext cx="493776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576072"/>
            <a:ext cx="1609344" cy="0"/>
          </a:xfrm>
          <a:prstGeom prst="line">
            <a:avLst/>
          </a:prstGeom>
          <a:noFill/>
          <a:ln w="17780">
            <a:solidFill>
              <a:srgbClr val="EC48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6291072"/>
            <a:ext cx="113842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889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345936"/>
            <a:ext cx="102870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Organized by .NET Hub Kathmandu • Supported by Microsoft &amp; Global AI Community • Venue Partner: Maitri • Community Partner: NepalCloud Professionals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109960" y="6336792"/>
            <a:ext cx="4572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841248"/>
            <a:ext cx="804672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80B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Shift 4: From Stateless Calls to Context</a:t>
            </a:r>
            <a:endParaRPr lang="en-US" sz="3100" dirty="0"/>
          </a:p>
        </p:txBody>
      </p:sp>
      <p:sp>
        <p:nvSpPr>
          <p:cNvPr id="23" name="Text 21"/>
          <p:cNvSpPr/>
          <p:nvPr/>
        </p:nvSpPr>
        <p:spPr>
          <a:xfrm>
            <a:off x="612648" y="1399032"/>
            <a:ext cx="8229600" cy="3657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remembers the task, the user, and the business situation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77240" y="1874520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4400" y="2039112"/>
            <a:ext cx="411480" cy="41148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2112264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63040" y="2057400"/>
            <a:ext cx="406908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API call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463040" y="2459736"/>
            <a:ext cx="4069080" cy="42976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request is mostly independent</a:t>
            </a:r>
            <a:endParaRPr lang="en-US" sz="1750" dirty="0"/>
          </a:p>
        </p:txBody>
      </p:sp>
      <p:sp>
        <p:nvSpPr>
          <p:cNvPr id="29" name="Shape 27"/>
          <p:cNvSpPr/>
          <p:nvPr/>
        </p:nvSpPr>
        <p:spPr>
          <a:xfrm>
            <a:off x="6263640" y="1874520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2039112"/>
            <a:ext cx="411480" cy="41148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73952" y="2112264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49440" y="2057400"/>
            <a:ext cx="406908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app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949440" y="2459736"/>
            <a:ext cx="4069080" cy="42976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Keeps task context across steps</a:t>
            </a:r>
            <a:endParaRPr lang="en-US" sz="1750" dirty="0"/>
          </a:p>
        </p:txBody>
      </p:sp>
      <p:sp>
        <p:nvSpPr>
          <p:cNvPr id="34" name="Shape 32"/>
          <p:cNvSpPr/>
          <p:nvPr/>
        </p:nvSpPr>
        <p:spPr>
          <a:xfrm>
            <a:off x="777240" y="3291840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14400" y="3456432"/>
            <a:ext cx="411480" cy="41148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7552" y="3529584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463040" y="3474720"/>
            <a:ext cx="406908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knowledge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1463040" y="3877056"/>
            <a:ext cx="4069080" cy="42976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documents, roles, preferences, and process state</a:t>
            </a:r>
            <a:endParaRPr lang="en-US" sz="1750" dirty="0"/>
          </a:p>
        </p:txBody>
      </p:sp>
      <p:sp>
        <p:nvSpPr>
          <p:cNvPr id="39" name="Shape 37"/>
          <p:cNvSpPr/>
          <p:nvPr/>
        </p:nvSpPr>
        <p:spPr>
          <a:xfrm>
            <a:off x="6263640" y="3291840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00800" y="3456432"/>
            <a:ext cx="411480" cy="41148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73952" y="3529584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949440" y="3474720"/>
            <a:ext cx="406908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boundary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6949440" y="3877056"/>
            <a:ext cx="4069080" cy="42976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strict permission and data controls</a:t>
            </a:r>
            <a:endParaRPr lang="en-US" sz="1750" dirty="0"/>
          </a:p>
        </p:txBody>
      </p:sp>
      <p:sp>
        <p:nvSpPr>
          <p:cNvPr id="44" name="Text 42"/>
          <p:cNvSpPr/>
          <p:nvPr/>
        </p:nvSpPr>
        <p:spPr>
          <a:xfrm>
            <a:off x="1280160" y="4974336"/>
            <a:ext cx="9601200" cy="34747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idea: Context turns raw APIs into intelligent assistance.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-91440"/>
            <a:ext cx="4389120" cy="2011680"/>
          </a:xfrm>
          <a:prstGeom prst="arc">
            <a:avLst/>
          </a:prstGeom>
          <a:noFill/>
          <a:ln w="13970">
            <a:solidFill>
              <a:srgbClr val="DDEBFF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45720"/>
            <a:ext cx="3840480" cy="1874520"/>
          </a:xfrm>
          <a:prstGeom prst="arc">
            <a:avLst/>
          </a:prstGeom>
          <a:noFill/>
          <a:ln w="12700">
            <a:solidFill>
              <a:srgbClr val="E8DDFF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274320"/>
            <a:ext cx="73152" cy="73152"/>
          </a:xfrm>
          <a:prstGeom prst="rect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20272" y="402336"/>
            <a:ext cx="73152" cy="73152"/>
          </a:xfrm>
          <a:prstGeom prst="rect">
            <a:avLst/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1440" y="566928"/>
            <a:ext cx="73152" cy="73152"/>
          </a:xfrm>
          <a:prstGeom prst="rect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82528" y="621792"/>
            <a:ext cx="73152" cy="73152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559552"/>
            <a:ext cx="12191695" cy="16459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5166360"/>
            <a:ext cx="2560320" cy="128016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5074920"/>
            <a:ext cx="2834640" cy="1371600"/>
          </a:xfrm>
          <a:prstGeom prst="arc">
            <a:avLst/>
          </a:prstGeom>
          <a:noFill/>
          <a:ln w="15240">
            <a:solidFill>
              <a:srgbClr val="EDE9FE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</a:t>
            </a:r>
            <a:endParaRPr lang="en-US" sz="1365" dirty="0"/>
          </a:p>
        </p:txBody>
      </p:sp>
      <p:sp>
        <p:nvSpPr>
          <p:cNvPr id="12" name="Text 10"/>
          <p:cNvSpPr/>
          <p:nvPr/>
        </p:nvSpPr>
        <p:spPr>
          <a:xfrm>
            <a:off x="556870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</a:t>
            </a:r>
            <a:endParaRPr lang="en-US" sz="1365" dirty="0"/>
          </a:p>
        </p:txBody>
      </p:sp>
      <p:sp>
        <p:nvSpPr>
          <p:cNvPr id="13" name="Text 11"/>
          <p:cNvSpPr/>
          <p:nvPr/>
        </p:nvSpPr>
        <p:spPr>
          <a:xfrm>
            <a:off x="729691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06B6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</a:t>
            </a:r>
            <a:endParaRPr lang="en-US" sz="1365" dirty="0"/>
          </a:p>
        </p:txBody>
      </p:sp>
      <p:sp>
        <p:nvSpPr>
          <p:cNvPr id="14" name="Text 12"/>
          <p:cNvSpPr/>
          <p:nvPr/>
        </p:nvSpPr>
        <p:spPr>
          <a:xfrm>
            <a:off x="902513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EC48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</a:t>
            </a:r>
            <a:endParaRPr lang="en-US" sz="1365" dirty="0"/>
          </a:p>
        </p:txBody>
      </p:sp>
      <p:sp>
        <p:nvSpPr>
          <p:cNvPr id="15" name="Text 13"/>
          <p:cNvSpPr/>
          <p:nvPr/>
        </p:nvSpPr>
        <p:spPr>
          <a:xfrm>
            <a:off x="1075334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sz="1365" dirty="0"/>
          </a:p>
        </p:txBody>
      </p:sp>
      <p:sp>
        <p:nvSpPr>
          <p:cNvPr id="16" name="Text 14"/>
          <p:cNvSpPr/>
          <p:nvPr/>
        </p:nvSpPr>
        <p:spPr>
          <a:xfrm>
            <a:off x="1417320" y="146304"/>
            <a:ext cx="731520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Build 2026  //  localhost: Kathmandu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4048" y="576072"/>
            <a:ext cx="493776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576072"/>
            <a:ext cx="1609344" cy="0"/>
          </a:xfrm>
          <a:prstGeom prst="line">
            <a:avLst/>
          </a:prstGeom>
          <a:noFill/>
          <a:ln w="17780">
            <a:solidFill>
              <a:srgbClr val="EC48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6291072"/>
            <a:ext cx="113842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889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345936"/>
            <a:ext cx="102870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Organized by .NET Hub Kathmandu • Supported by Microsoft &amp; Global AI Community • Venue Partner: Maitri • Community Partner: NepalCloud Professionals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109960" y="6336792"/>
            <a:ext cx="4572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841248"/>
            <a:ext cx="804672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80B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Shift 5: From Manual Control to Guarded Autonomy</a:t>
            </a:r>
            <a:endParaRPr lang="en-US" sz="3100" dirty="0"/>
          </a:p>
        </p:txBody>
      </p:sp>
      <p:sp>
        <p:nvSpPr>
          <p:cNvPr id="23" name="Text 21"/>
          <p:cNvSpPr/>
          <p:nvPr/>
        </p:nvSpPr>
        <p:spPr>
          <a:xfrm>
            <a:off x="612648" y="1538732"/>
            <a:ext cx="8229600" cy="3657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can act — but only inside controlled boundaries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77240" y="2103120"/>
            <a:ext cx="31546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3970">
            <a:solidFill>
              <a:srgbClr val="DCFCE7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4400" y="2267712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2340864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63040" y="2286000"/>
            <a:ext cx="224028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463040" y="2688336"/>
            <a:ext cx="2240280" cy="180136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Low-risk actions: recommend, summarize, draft</a:t>
            </a:r>
            <a:endParaRPr lang="en-US" sz="1750" dirty="0"/>
          </a:p>
        </p:txBody>
      </p:sp>
      <p:sp>
        <p:nvSpPr>
          <p:cNvPr id="29" name="Shape 27"/>
          <p:cNvSpPr/>
          <p:nvPr/>
        </p:nvSpPr>
        <p:spPr>
          <a:xfrm>
            <a:off x="4610862" y="2103120"/>
            <a:ext cx="31546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3970">
            <a:solidFill>
              <a:srgbClr val="FEF3C7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36592" y="2267712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9744" y="2340864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285232" y="2286000"/>
            <a:ext cx="224028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Approval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285232" y="2688336"/>
            <a:ext cx="2240280" cy="180136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Medium-risk actions: place order, send message, update record</a:t>
            </a:r>
            <a:endParaRPr lang="en-US" sz="1750" dirty="0"/>
          </a:p>
        </p:txBody>
      </p:sp>
      <p:sp>
        <p:nvSpPr>
          <p:cNvPr id="34" name="Shape 32"/>
          <p:cNvSpPr/>
          <p:nvPr/>
        </p:nvSpPr>
        <p:spPr>
          <a:xfrm>
            <a:off x="8421624" y="2103120"/>
            <a:ext cx="31546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3970">
            <a:solidFill>
              <a:srgbClr val="FEE2E2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558784" y="2267712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31936" y="2340864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107424" y="2286000"/>
            <a:ext cx="224028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 / Escalate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9107424" y="2688336"/>
            <a:ext cx="2240280" cy="180136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High-risk actions: payments, medical decisions, large financial changes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-91440"/>
            <a:ext cx="4389120" cy="2011680"/>
          </a:xfrm>
          <a:prstGeom prst="arc">
            <a:avLst/>
          </a:prstGeom>
          <a:noFill/>
          <a:ln w="13970">
            <a:solidFill>
              <a:srgbClr val="DDEBFF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45720"/>
            <a:ext cx="3840480" cy="1874520"/>
          </a:xfrm>
          <a:prstGeom prst="arc">
            <a:avLst/>
          </a:prstGeom>
          <a:noFill/>
          <a:ln w="12700">
            <a:solidFill>
              <a:srgbClr val="E8DDFF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274320"/>
            <a:ext cx="73152" cy="73152"/>
          </a:xfrm>
          <a:prstGeom prst="rect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20272" y="402336"/>
            <a:ext cx="73152" cy="73152"/>
          </a:xfrm>
          <a:prstGeom prst="rect">
            <a:avLst/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1440" y="566928"/>
            <a:ext cx="73152" cy="73152"/>
          </a:xfrm>
          <a:prstGeom prst="rect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82528" y="621792"/>
            <a:ext cx="73152" cy="73152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559552"/>
            <a:ext cx="12191695" cy="16459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5166360"/>
            <a:ext cx="2560320" cy="128016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5074920"/>
            <a:ext cx="2834640" cy="1371600"/>
          </a:xfrm>
          <a:prstGeom prst="arc">
            <a:avLst/>
          </a:prstGeom>
          <a:noFill/>
          <a:ln w="15240">
            <a:solidFill>
              <a:srgbClr val="EDE9FE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</a:t>
            </a:r>
            <a:endParaRPr lang="en-US" sz="1365" dirty="0"/>
          </a:p>
        </p:txBody>
      </p:sp>
      <p:sp>
        <p:nvSpPr>
          <p:cNvPr id="12" name="Text 10"/>
          <p:cNvSpPr/>
          <p:nvPr/>
        </p:nvSpPr>
        <p:spPr>
          <a:xfrm>
            <a:off x="556870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</a:t>
            </a:r>
            <a:endParaRPr lang="en-US" sz="1365" dirty="0"/>
          </a:p>
        </p:txBody>
      </p:sp>
      <p:sp>
        <p:nvSpPr>
          <p:cNvPr id="13" name="Text 11"/>
          <p:cNvSpPr/>
          <p:nvPr/>
        </p:nvSpPr>
        <p:spPr>
          <a:xfrm>
            <a:off x="729691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06B6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</a:t>
            </a:r>
            <a:endParaRPr lang="en-US" sz="1365" dirty="0"/>
          </a:p>
        </p:txBody>
      </p:sp>
      <p:sp>
        <p:nvSpPr>
          <p:cNvPr id="14" name="Text 12"/>
          <p:cNvSpPr/>
          <p:nvPr/>
        </p:nvSpPr>
        <p:spPr>
          <a:xfrm>
            <a:off x="902513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EC48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</a:t>
            </a:r>
            <a:endParaRPr lang="en-US" sz="1365" dirty="0"/>
          </a:p>
        </p:txBody>
      </p:sp>
      <p:sp>
        <p:nvSpPr>
          <p:cNvPr id="15" name="Text 13"/>
          <p:cNvSpPr/>
          <p:nvPr/>
        </p:nvSpPr>
        <p:spPr>
          <a:xfrm>
            <a:off x="1075334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sz="1365" dirty="0"/>
          </a:p>
        </p:txBody>
      </p:sp>
      <p:sp>
        <p:nvSpPr>
          <p:cNvPr id="16" name="Text 14"/>
          <p:cNvSpPr/>
          <p:nvPr/>
        </p:nvSpPr>
        <p:spPr>
          <a:xfrm>
            <a:off x="1417320" y="146304"/>
            <a:ext cx="731520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Build 2026  //  localhost: Kathmandu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4048" y="576072"/>
            <a:ext cx="493776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576072"/>
            <a:ext cx="1609344" cy="0"/>
          </a:xfrm>
          <a:prstGeom prst="line">
            <a:avLst/>
          </a:prstGeom>
          <a:noFill/>
          <a:ln w="17780">
            <a:solidFill>
              <a:srgbClr val="EC48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6291072"/>
            <a:ext cx="113842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889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345936"/>
            <a:ext cx="102870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Organized by .NET Hub Kathmandu • Supported by Microsoft &amp; Global AI Community • Venue Partner: Maitri • Community Partner: NepalCloud Professionals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109960" y="6336792"/>
            <a:ext cx="4572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841248"/>
            <a:ext cx="804672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80B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an AI Agent?</a:t>
            </a:r>
            <a:endParaRPr lang="en-US" sz="3100" dirty="0"/>
          </a:p>
        </p:txBody>
      </p:sp>
      <p:sp>
        <p:nvSpPr>
          <p:cNvPr id="23" name="Text 21"/>
          <p:cNvSpPr/>
          <p:nvPr/>
        </p:nvSpPr>
        <p:spPr>
          <a:xfrm>
            <a:off x="612648" y="1399032"/>
            <a:ext cx="8229600" cy="3657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than a chatbot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77240" y="1828800"/>
            <a:ext cx="10789920" cy="5029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+ Instructions + Tools + Context + Safety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1280160" y="2487168"/>
            <a:ext cx="9601200" cy="38404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agent understands a goal, plans steps, uses tools, and returns an outcome.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14400" y="3657600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3840480"/>
            <a:ext cx="1600200" cy="21945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542032" y="3977640"/>
            <a:ext cx="475488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063240" y="3657600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63240" y="3840480"/>
            <a:ext cx="1600200" cy="21945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690872" y="3977640"/>
            <a:ext cx="475488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212080" y="3657600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3840480"/>
            <a:ext cx="1600200" cy="21945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39712" y="3977640"/>
            <a:ext cx="475488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360920" y="3657600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60920" y="3840480"/>
            <a:ext cx="1600200" cy="21945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988552" y="3977640"/>
            <a:ext cx="475488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509760" y="3657600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09760" y="3840480"/>
            <a:ext cx="1600200" cy="21945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-91440"/>
            <a:ext cx="4389120" cy="2011680"/>
          </a:xfrm>
          <a:prstGeom prst="arc">
            <a:avLst/>
          </a:prstGeom>
          <a:noFill/>
          <a:ln w="13970">
            <a:solidFill>
              <a:srgbClr val="DDEBFF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45720"/>
            <a:ext cx="3840480" cy="1874520"/>
          </a:xfrm>
          <a:prstGeom prst="arc">
            <a:avLst/>
          </a:prstGeom>
          <a:noFill/>
          <a:ln w="12700">
            <a:solidFill>
              <a:srgbClr val="E8DDFF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274320"/>
            <a:ext cx="73152" cy="73152"/>
          </a:xfrm>
          <a:prstGeom prst="rect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20272" y="402336"/>
            <a:ext cx="73152" cy="73152"/>
          </a:xfrm>
          <a:prstGeom prst="rect">
            <a:avLst/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1440" y="566928"/>
            <a:ext cx="73152" cy="73152"/>
          </a:xfrm>
          <a:prstGeom prst="rect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82528" y="621792"/>
            <a:ext cx="73152" cy="73152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559552"/>
            <a:ext cx="12191695" cy="16459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5166360"/>
            <a:ext cx="2560320" cy="128016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5074920"/>
            <a:ext cx="2834640" cy="1371600"/>
          </a:xfrm>
          <a:prstGeom prst="arc">
            <a:avLst/>
          </a:prstGeom>
          <a:noFill/>
          <a:ln w="15240">
            <a:solidFill>
              <a:srgbClr val="EDE9FE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</a:t>
            </a:r>
            <a:endParaRPr lang="en-US" sz="1365" dirty="0"/>
          </a:p>
        </p:txBody>
      </p:sp>
      <p:sp>
        <p:nvSpPr>
          <p:cNvPr id="12" name="Text 10"/>
          <p:cNvSpPr/>
          <p:nvPr/>
        </p:nvSpPr>
        <p:spPr>
          <a:xfrm>
            <a:off x="556870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</a:t>
            </a:r>
            <a:endParaRPr lang="en-US" sz="1365" dirty="0"/>
          </a:p>
        </p:txBody>
      </p:sp>
      <p:sp>
        <p:nvSpPr>
          <p:cNvPr id="13" name="Text 11"/>
          <p:cNvSpPr/>
          <p:nvPr/>
        </p:nvSpPr>
        <p:spPr>
          <a:xfrm>
            <a:off x="729691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06B6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</a:t>
            </a:r>
            <a:endParaRPr lang="en-US" sz="1365" dirty="0"/>
          </a:p>
        </p:txBody>
      </p:sp>
      <p:sp>
        <p:nvSpPr>
          <p:cNvPr id="14" name="Text 12"/>
          <p:cNvSpPr/>
          <p:nvPr/>
        </p:nvSpPr>
        <p:spPr>
          <a:xfrm>
            <a:off x="902513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EC48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</a:t>
            </a:r>
            <a:endParaRPr lang="en-US" sz="1365" dirty="0"/>
          </a:p>
        </p:txBody>
      </p:sp>
      <p:sp>
        <p:nvSpPr>
          <p:cNvPr id="15" name="Text 13"/>
          <p:cNvSpPr/>
          <p:nvPr/>
        </p:nvSpPr>
        <p:spPr>
          <a:xfrm>
            <a:off x="1075334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sz="1365" dirty="0"/>
          </a:p>
        </p:txBody>
      </p:sp>
      <p:sp>
        <p:nvSpPr>
          <p:cNvPr id="16" name="Text 14"/>
          <p:cNvSpPr/>
          <p:nvPr/>
        </p:nvSpPr>
        <p:spPr>
          <a:xfrm>
            <a:off x="1417320" y="146304"/>
            <a:ext cx="731520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Build 2026  //  localhost: Kathmandu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4048" y="576072"/>
            <a:ext cx="493776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576072"/>
            <a:ext cx="1609344" cy="0"/>
          </a:xfrm>
          <a:prstGeom prst="line">
            <a:avLst/>
          </a:prstGeom>
          <a:noFill/>
          <a:ln w="17780">
            <a:solidFill>
              <a:srgbClr val="EC48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6291072"/>
            <a:ext cx="113842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889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345936"/>
            <a:ext cx="102870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Organized by .NET Hub Kathmandu • Supported by Microsoft &amp; Global AI Community • Venue Partner: Maitri • Community Partner: NepalCloud Professionals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109960" y="6336792"/>
            <a:ext cx="4572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841248"/>
            <a:ext cx="804672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80B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 API vs AI Agent</a:t>
            </a:r>
            <a:endParaRPr lang="en-US" sz="3100" dirty="0"/>
          </a:p>
        </p:txBody>
      </p:sp>
      <p:sp>
        <p:nvSpPr>
          <p:cNvPr id="23" name="Text 21"/>
          <p:cNvSpPr/>
          <p:nvPr/>
        </p:nvSpPr>
        <p:spPr>
          <a:xfrm>
            <a:off x="612648" y="1399032"/>
            <a:ext cx="8229600" cy="3657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roles, same software ecosystem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85800" y="1874520"/>
            <a:ext cx="5166360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1919605"/>
            <a:ext cx="534670" cy="53086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197" y="2057654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71600" y="2057400"/>
            <a:ext cx="425196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Web API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371600" y="2459736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Needs exact request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371600" y="2770632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Executes one operation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371600" y="3081528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Fixed workflow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371600" y="3392424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Returns data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371600" y="3703320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Developer controls every path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6327648" y="1874520"/>
            <a:ext cx="5166360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64808" y="2039112"/>
            <a:ext cx="411480" cy="41148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2112264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013448" y="2057400"/>
            <a:ext cx="425196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Agent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013448" y="2459736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Understands intent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7013448" y="2770632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Handles multi-step tasks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7013448" y="3081528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Plans dynamically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7013448" y="3392424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complete actions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7013448" y="3703320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Developer defines tools + boundaries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-91440"/>
            <a:ext cx="4389120" cy="2011680"/>
          </a:xfrm>
          <a:prstGeom prst="arc">
            <a:avLst/>
          </a:prstGeom>
          <a:noFill/>
          <a:ln w="13970">
            <a:solidFill>
              <a:srgbClr val="DDEBFF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45720"/>
            <a:ext cx="3840480" cy="1874520"/>
          </a:xfrm>
          <a:prstGeom prst="arc">
            <a:avLst/>
          </a:prstGeom>
          <a:noFill/>
          <a:ln w="12700">
            <a:solidFill>
              <a:srgbClr val="E8DDFF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274320"/>
            <a:ext cx="73152" cy="73152"/>
          </a:xfrm>
          <a:prstGeom prst="rect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20272" y="402336"/>
            <a:ext cx="73152" cy="73152"/>
          </a:xfrm>
          <a:prstGeom prst="rect">
            <a:avLst/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1440" y="566928"/>
            <a:ext cx="73152" cy="73152"/>
          </a:xfrm>
          <a:prstGeom prst="rect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82528" y="621792"/>
            <a:ext cx="73152" cy="73152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559552"/>
            <a:ext cx="12191695" cy="16459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5166360"/>
            <a:ext cx="2560320" cy="128016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5074920"/>
            <a:ext cx="2834640" cy="1371600"/>
          </a:xfrm>
          <a:prstGeom prst="arc">
            <a:avLst/>
          </a:prstGeom>
          <a:noFill/>
          <a:ln w="15240">
            <a:solidFill>
              <a:srgbClr val="EDE9FE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</a:t>
            </a:r>
            <a:endParaRPr lang="en-US" sz="1365" dirty="0"/>
          </a:p>
        </p:txBody>
      </p:sp>
      <p:sp>
        <p:nvSpPr>
          <p:cNvPr id="12" name="Text 10"/>
          <p:cNvSpPr/>
          <p:nvPr/>
        </p:nvSpPr>
        <p:spPr>
          <a:xfrm>
            <a:off x="556870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</a:t>
            </a:r>
            <a:endParaRPr lang="en-US" sz="1365" dirty="0"/>
          </a:p>
        </p:txBody>
      </p:sp>
      <p:sp>
        <p:nvSpPr>
          <p:cNvPr id="13" name="Text 11"/>
          <p:cNvSpPr/>
          <p:nvPr/>
        </p:nvSpPr>
        <p:spPr>
          <a:xfrm>
            <a:off x="729691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06B6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</a:t>
            </a:r>
            <a:endParaRPr lang="en-US" sz="1365" dirty="0"/>
          </a:p>
        </p:txBody>
      </p:sp>
      <p:sp>
        <p:nvSpPr>
          <p:cNvPr id="14" name="Text 12"/>
          <p:cNvSpPr/>
          <p:nvPr/>
        </p:nvSpPr>
        <p:spPr>
          <a:xfrm>
            <a:off x="902513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EC48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</a:t>
            </a:r>
            <a:endParaRPr lang="en-US" sz="1365" dirty="0"/>
          </a:p>
        </p:txBody>
      </p:sp>
      <p:sp>
        <p:nvSpPr>
          <p:cNvPr id="15" name="Text 13"/>
          <p:cNvSpPr/>
          <p:nvPr/>
        </p:nvSpPr>
        <p:spPr>
          <a:xfrm>
            <a:off x="1075334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sz="1365" dirty="0"/>
          </a:p>
        </p:txBody>
      </p:sp>
      <p:sp>
        <p:nvSpPr>
          <p:cNvPr id="16" name="Text 14"/>
          <p:cNvSpPr/>
          <p:nvPr/>
        </p:nvSpPr>
        <p:spPr>
          <a:xfrm>
            <a:off x="1417320" y="146304"/>
            <a:ext cx="731520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Build 2026  //  localhost: Kathmandu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4048" y="576072"/>
            <a:ext cx="493776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576072"/>
            <a:ext cx="1609344" cy="0"/>
          </a:xfrm>
          <a:prstGeom prst="line">
            <a:avLst/>
          </a:prstGeom>
          <a:noFill/>
          <a:ln w="17780">
            <a:solidFill>
              <a:srgbClr val="EC48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6291072"/>
            <a:ext cx="113842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889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357366"/>
            <a:ext cx="102870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Organized by .NET Hub Kathmandu • Supported by Microsoft &amp; Global AI Community • Venue Partner: Maitri • Community Partner: NepalCloud Professionals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109960" y="6336792"/>
            <a:ext cx="4572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841248"/>
            <a:ext cx="804672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80B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Real-Life Example: Food Delivery</a:t>
            </a:r>
            <a:endParaRPr lang="en-US" sz="3100" dirty="0"/>
          </a:p>
        </p:txBody>
      </p:sp>
      <p:sp>
        <p:nvSpPr>
          <p:cNvPr id="23" name="Text 21"/>
          <p:cNvSpPr/>
          <p:nvPr/>
        </p:nvSpPr>
        <p:spPr>
          <a:xfrm>
            <a:off x="612648" y="1399032"/>
            <a:ext cx="8229600" cy="3657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browsing menus to goal-driven ordering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85800" y="1885950"/>
            <a:ext cx="5166360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1947545"/>
            <a:ext cx="594360" cy="50292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5985" y="2020570"/>
            <a:ext cx="499745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577340" y="2057400"/>
            <a:ext cx="425196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flow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371600" y="2459736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Open app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371600" y="2770632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Search restaurant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371600" y="3081528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rating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371600" y="3392424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Check delivery time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371600" y="3703320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Apply coupon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371600" y="4014216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Place order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6327648" y="1874520"/>
            <a:ext cx="5166360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64808" y="2039112"/>
            <a:ext cx="411480" cy="41148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37960" y="2112264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013448" y="2057400"/>
            <a:ext cx="425196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flow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7013448" y="2657856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“Order something spicy under 500 taka that arrives within 30 minutes.”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7013448" y="3232277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Agent checks preference, budget, delivery time, coupons, and asks confirmation.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-91440"/>
            <a:ext cx="4389120" cy="2011680"/>
          </a:xfrm>
          <a:prstGeom prst="arc">
            <a:avLst/>
          </a:prstGeom>
          <a:noFill/>
          <a:ln w="13970">
            <a:solidFill>
              <a:srgbClr val="DDEBFF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45720"/>
            <a:ext cx="3840480" cy="1874520"/>
          </a:xfrm>
          <a:prstGeom prst="arc">
            <a:avLst/>
          </a:prstGeom>
          <a:noFill/>
          <a:ln w="12700">
            <a:solidFill>
              <a:srgbClr val="E8DDFF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274320"/>
            <a:ext cx="73152" cy="73152"/>
          </a:xfrm>
          <a:prstGeom prst="rect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20272" y="402336"/>
            <a:ext cx="73152" cy="73152"/>
          </a:xfrm>
          <a:prstGeom prst="rect">
            <a:avLst/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1440" y="566928"/>
            <a:ext cx="73152" cy="73152"/>
          </a:xfrm>
          <a:prstGeom prst="rect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82528" y="621792"/>
            <a:ext cx="73152" cy="73152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559552"/>
            <a:ext cx="12191695" cy="16459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5166360"/>
            <a:ext cx="2560320" cy="128016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5074920"/>
            <a:ext cx="2834640" cy="1371600"/>
          </a:xfrm>
          <a:prstGeom prst="arc">
            <a:avLst/>
          </a:prstGeom>
          <a:noFill/>
          <a:ln w="15240">
            <a:solidFill>
              <a:srgbClr val="EDE9FE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</a:t>
            </a:r>
            <a:endParaRPr lang="en-US" sz="1365" dirty="0"/>
          </a:p>
        </p:txBody>
      </p:sp>
      <p:sp>
        <p:nvSpPr>
          <p:cNvPr id="12" name="Text 10"/>
          <p:cNvSpPr/>
          <p:nvPr/>
        </p:nvSpPr>
        <p:spPr>
          <a:xfrm>
            <a:off x="556870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</a:t>
            </a:r>
            <a:endParaRPr lang="en-US" sz="1365" dirty="0"/>
          </a:p>
        </p:txBody>
      </p:sp>
      <p:sp>
        <p:nvSpPr>
          <p:cNvPr id="13" name="Text 11"/>
          <p:cNvSpPr/>
          <p:nvPr/>
        </p:nvSpPr>
        <p:spPr>
          <a:xfrm>
            <a:off x="729691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06B6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</a:t>
            </a:r>
            <a:endParaRPr lang="en-US" sz="1365" dirty="0"/>
          </a:p>
        </p:txBody>
      </p:sp>
      <p:sp>
        <p:nvSpPr>
          <p:cNvPr id="14" name="Text 12"/>
          <p:cNvSpPr/>
          <p:nvPr/>
        </p:nvSpPr>
        <p:spPr>
          <a:xfrm>
            <a:off x="902513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EC48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</a:t>
            </a:r>
            <a:endParaRPr lang="en-US" sz="1365" dirty="0"/>
          </a:p>
        </p:txBody>
      </p:sp>
      <p:sp>
        <p:nvSpPr>
          <p:cNvPr id="15" name="Text 13"/>
          <p:cNvSpPr/>
          <p:nvPr/>
        </p:nvSpPr>
        <p:spPr>
          <a:xfrm>
            <a:off x="1075334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sz="1365" dirty="0"/>
          </a:p>
        </p:txBody>
      </p:sp>
      <p:sp>
        <p:nvSpPr>
          <p:cNvPr id="16" name="Text 14"/>
          <p:cNvSpPr/>
          <p:nvPr/>
        </p:nvSpPr>
        <p:spPr>
          <a:xfrm>
            <a:off x="1417320" y="146304"/>
            <a:ext cx="731520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Build 2026  //  localhost: Kathmandu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4048" y="576072"/>
            <a:ext cx="493776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576072"/>
            <a:ext cx="1609344" cy="0"/>
          </a:xfrm>
          <a:prstGeom prst="line">
            <a:avLst/>
          </a:prstGeom>
          <a:noFill/>
          <a:ln w="17780">
            <a:solidFill>
              <a:srgbClr val="EC48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6291072"/>
            <a:ext cx="113842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889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345936"/>
            <a:ext cx="102870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Organized by .NET Hub Kathmandu • Supported by Microsoft &amp; Global AI Community • Venue Partner: Maitri • Community Partner: NepalCloud Professionals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109960" y="6336792"/>
            <a:ext cx="4572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841248"/>
            <a:ext cx="804672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80B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Real-Life Example: Ride Sharing</a:t>
            </a:r>
            <a:endParaRPr lang="en-US" sz="3100" dirty="0"/>
          </a:p>
        </p:txBody>
      </p:sp>
      <p:sp>
        <p:nvSpPr>
          <p:cNvPr id="23" name="Text 21"/>
          <p:cNvSpPr/>
          <p:nvPr/>
        </p:nvSpPr>
        <p:spPr>
          <a:xfrm>
            <a:off x="612648" y="1399032"/>
            <a:ext cx="8229600" cy="3657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not booking a car — it is arriving on time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85800" y="1874520"/>
            <a:ext cx="5166360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2038985"/>
            <a:ext cx="548640" cy="4318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5985" y="2085975"/>
            <a:ext cx="389890" cy="254635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600200" y="2057400"/>
            <a:ext cx="425196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ride app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371600" y="2459736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Enter pickup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371600" y="2770632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Enter destination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371600" y="3081528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Choose ride type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371600" y="3392424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Check price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371600" y="3703320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Confirm ride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6327648" y="1874520"/>
            <a:ext cx="5166360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64808" y="2039112"/>
            <a:ext cx="411480" cy="41148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2112264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013448" y="2057400"/>
            <a:ext cx="425196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ride app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013448" y="2628011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“I need to reach the airport by 8 PM with the lowest risk of delay.”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7013448" y="3172587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Agent checks traffic, buffer time, ride options, and suggests when to leave.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-91440"/>
            <a:ext cx="4389120" cy="2011680"/>
          </a:xfrm>
          <a:prstGeom prst="arc">
            <a:avLst/>
          </a:prstGeom>
          <a:noFill/>
          <a:ln w="13970">
            <a:solidFill>
              <a:srgbClr val="DDEBFF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45720"/>
            <a:ext cx="3840480" cy="1874520"/>
          </a:xfrm>
          <a:prstGeom prst="arc">
            <a:avLst/>
          </a:prstGeom>
          <a:noFill/>
          <a:ln w="12700">
            <a:solidFill>
              <a:srgbClr val="E8DDFF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274320"/>
            <a:ext cx="73152" cy="73152"/>
          </a:xfrm>
          <a:prstGeom prst="rect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20272" y="402336"/>
            <a:ext cx="73152" cy="73152"/>
          </a:xfrm>
          <a:prstGeom prst="rect">
            <a:avLst/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1440" y="566928"/>
            <a:ext cx="73152" cy="73152"/>
          </a:xfrm>
          <a:prstGeom prst="rect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82528" y="621792"/>
            <a:ext cx="73152" cy="73152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559552"/>
            <a:ext cx="12191695" cy="16459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5166360"/>
            <a:ext cx="2560320" cy="128016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5074920"/>
            <a:ext cx="2834640" cy="1371600"/>
          </a:xfrm>
          <a:prstGeom prst="arc">
            <a:avLst/>
          </a:prstGeom>
          <a:noFill/>
          <a:ln w="15240">
            <a:solidFill>
              <a:srgbClr val="EDE9FE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</a:t>
            </a:r>
            <a:endParaRPr lang="en-US" sz="1365" dirty="0"/>
          </a:p>
        </p:txBody>
      </p:sp>
      <p:sp>
        <p:nvSpPr>
          <p:cNvPr id="12" name="Text 10"/>
          <p:cNvSpPr/>
          <p:nvPr/>
        </p:nvSpPr>
        <p:spPr>
          <a:xfrm>
            <a:off x="556870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</a:t>
            </a:r>
            <a:endParaRPr lang="en-US" sz="1365" dirty="0"/>
          </a:p>
        </p:txBody>
      </p:sp>
      <p:sp>
        <p:nvSpPr>
          <p:cNvPr id="13" name="Text 11"/>
          <p:cNvSpPr/>
          <p:nvPr/>
        </p:nvSpPr>
        <p:spPr>
          <a:xfrm>
            <a:off x="729691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06B6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</a:t>
            </a:r>
            <a:endParaRPr lang="en-US" sz="1365" dirty="0"/>
          </a:p>
        </p:txBody>
      </p:sp>
      <p:sp>
        <p:nvSpPr>
          <p:cNvPr id="14" name="Text 12"/>
          <p:cNvSpPr/>
          <p:nvPr/>
        </p:nvSpPr>
        <p:spPr>
          <a:xfrm>
            <a:off x="902513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EC48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</a:t>
            </a:r>
            <a:endParaRPr lang="en-US" sz="1365" dirty="0"/>
          </a:p>
        </p:txBody>
      </p:sp>
      <p:sp>
        <p:nvSpPr>
          <p:cNvPr id="15" name="Text 13"/>
          <p:cNvSpPr/>
          <p:nvPr/>
        </p:nvSpPr>
        <p:spPr>
          <a:xfrm>
            <a:off x="1075334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sz="1365" dirty="0"/>
          </a:p>
        </p:txBody>
      </p:sp>
      <p:sp>
        <p:nvSpPr>
          <p:cNvPr id="16" name="Text 14"/>
          <p:cNvSpPr/>
          <p:nvPr/>
        </p:nvSpPr>
        <p:spPr>
          <a:xfrm>
            <a:off x="1417320" y="146304"/>
            <a:ext cx="731520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Build 2026  //  localhost: Kathmandu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4048" y="576072"/>
            <a:ext cx="493776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576072"/>
            <a:ext cx="1609344" cy="0"/>
          </a:xfrm>
          <a:prstGeom prst="line">
            <a:avLst/>
          </a:prstGeom>
          <a:noFill/>
          <a:ln w="17780">
            <a:solidFill>
              <a:srgbClr val="EC48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6291072"/>
            <a:ext cx="113842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889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345936"/>
            <a:ext cx="102870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Organized by .NET Hub Kathmandu • Supported by Microsoft &amp; Global AI Community • Venue Partner: Maitri • Community Partner: NepalCloud Professionals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109960" y="6336792"/>
            <a:ext cx="4572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841248"/>
            <a:ext cx="804672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80B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Real-Life Example: Banking</a:t>
            </a:r>
            <a:endParaRPr lang="en-US" sz="3100" dirty="0"/>
          </a:p>
        </p:txBody>
      </p:sp>
      <p:sp>
        <p:nvSpPr>
          <p:cNvPr id="23" name="Text 21"/>
          <p:cNvSpPr/>
          <p:nvPr/>
        </p:nvSpPr>
        <p:spPr>
          <a:xfrm>
            <a:off x="612648" y="1399032"/>
            <a:ext cx="8229600" cy="3657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showing data to supporting decisions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85800" y="1874520"/>
            <a:ext cx="5166360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1959610"/>
            <a:ext cx="615950" cy="49085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2335" y="2038985"/>
            <a:ext cx="389890" cy="2413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6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577340" y="2057400"/>
            <a:ext cx="425196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Banking today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371600" y="2459736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Balance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371600" y="2770632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Transactions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371600" y="3081528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Credit card bill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371600" y="3392424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Monthly statement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371600" y="3703320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Savings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6327648" y="1874520"/>
            <a:ext cx="5166360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64808" y="2039112"/>
            <a:ext cx="411480" cy="41148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2112264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013448" y="2057400"/>
            <a:ext cx="425196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banking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013448" y="2657856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“Can I afford to spend 20,000 taka this month?”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7013448" y="3232277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Agent checks income, bills, recurring expenses, and upcoming commitments.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-91440"/>
            <a:ext cx="4389120" cy="2011680"/>
          </a:xfrm>
          <a:prstGeom prst="arc">
            <a:avLst/>
          </a:prstGeom>
          <a:noFill/>
          <a:ln w="13970">
            <a:solidFill>
              <a:srgbClr val="DDEBFF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45720"/>
            <a:ext cx="3840480" cy="1874520"/>
          </a:xfrm>
          <a:prstGeom prst="arc">
            <a:avLst/>
          </a:prstGeom>
          <a:noFill/>
          <a:ln w="12700">
            <a:solidFill>
              <a:srgbClr val="E8DDFF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274320"/>
            <a:ext cx="73152" cy="73152"/>
          </a:xfrm>
          <a:prstGeom prst="rect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20272" y="402336"/>
            <a:ext cx="73152" cy="73152"/>
          </a:xfrm>
          <a:prstGeom prst="rect">
            <a:avLst/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1440" y="566928"/>
            <a:ext cx="73152" cy="73152"/>
          </a:xfrm>
          <a:prstGeom prst="rect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82528" y="621792"/>
            <a:ext cx="73152" cy="73152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559552"/>
            <a:ext cx="12191695" cy="16459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5166360"/>
            <a:ext cx="2560320" cy="128016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5074920"/>
            <a:ext cx="2834640" cy="1371600"/>
          </a:xfrm>
          <a:prstGeom prst="arc">
            <a:avLst/>
          </a:prstGeom>
          <a:noFill/>
          <a:ln w="15240">
            <a:solidFill>
              <a:srgbClr val="EDE9FE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</a:t>
            </a:r>
            <a:endParaRPr lang="en-US" sz="1365" dirty="0"/>
          </a:p>
        </p:txBody>
      </p:sp>
      <p:sp>
        <p:nvSpPr>
          <p:cNvPr id="12" name="Text 10"/>
          <p:cNvSpPr/>
          <p:nvPr/>
        </p:nvSpPr>
        <p:spPr>
          <a:xfrm>
            <a:off x="556870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</a:t>
            </a:r>
            <a:endParaRPr lang="en-US" sz="1365" dirty="0"/>
          </a:p>
        </p:txBody>
      </p:sp>
      <p:sp>
        <p:nvSpPr>
          <p:cNvPr id="13" name="Text 11"/>
          <p:cNvSpPr/>
          <p:nvPr/>
        </p:nvSpPr>
        <p:spPr>
          <a:xfrm>
            <a:off x="729691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06B6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</a:t>
            </a:r>
            <a:endParaRPr lang="en-US" sz="1365" dirty="0"/>
          </a:p>
        </p:txBody>
      </p:sp>
      <p:sp>
        <p:nvSpPr>
          <p:cNvPr id="14" name="Text 12"/>
          <p:cNvSpPr/>
          <p:nvPr/>
        </p:nvSpPr>
        <p:spPr>
          <a:xfrm>
            <a:off x="902513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EC48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</a:t>
            </a:r>
            <a:endParaRPr lang="en-US" sz="1365" dirty="0"/>
          </a:p>
        </p:txBody>
      </p:sp>
      <p:sp>
        <p:nvSpPr>
          <p:cNvPr id="15" name="Text 13"/>
          <p:cNvSpPr/>
          <p:nvPr/>
        </p:nvSpPr>
        <p:spPr>
          <a:xfrm>
            <a:off x="1075334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sz="1365" dirty="0"/>
          </a:p>
        </p:txBody>
      </p:sp>
      <p:sp>
        <p:nvSpPr>
          <p:cNvPr id="16" name="Text 14"/>
          <p:cNvSpPr/>
          <p:nvPr/>
        </p:nvSpPr>
        <p:spPr>
          <a:xfrm>
            <a:off x="1417320" y="146304"/>
            <a:ext cx="731520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Build 2026  //  localhost: Kathmandu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4048" y="576072"/>
            <a:ext cx="493776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576072"/>
            <a:ext cx="1609344" cy="0"/>
          </a:xfrm>
          <a:prstGeom prst="line">
            <a:avLst/>
          </a:prstGeom>
          <a:noFill/>
          <a:ln w="17780">
            <a:solidFill>
              <a:srgbClr val="EC48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6291072"/>
            <a:ext cx="113842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889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345936"/>
            <a:ext cx="102870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Organized by .NET Hub Kathmandu • Supported by Microsoft &amp; Global AI Community • Venue Partner: Maitri • Community Partner: NepalCloud Professionals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109960" y="6336792"/>
            <a:ext cx="4572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841248"/>
            <a:ext cx="804672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80B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Real-Life Example: Healthcare</a:t>
            </a:r>
            <a:endParaRPr lang="en-US" sz="3100" dirty="0"/>
          </a:p>
        </p:txBody>
      </p:sp>
      <p:sp>
        <p:nvSpPr>
          <p:cNvPr id="23" name="Text 21"/>
          <p:cNvSpPr/>
          <p:nvPr/>
        </p:nvSpPr>
        <p:spPr>
          <a:xfrm>
            <a:off x="612648" y="1399032"/>
            <a:ext cx="8229600" cy="3657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value, high responsibility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85800" y="1874520"/>
            <a:ext cx="5166360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2012315"/>
            <a:ext cx="484505" cy="43815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2112264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6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71600" y="2057400"/>
            <a:ext cx="425196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healthcare app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371600" y="2459736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Book doctor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371600" y="2770632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Upload reports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371600" y="3081528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Read prescription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371600" y="3392424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Schedule follow-up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6327648" y="1874520"/>
            <a:ext cx="5166360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64808" y="2039112"/>
            <a:ext cx="411480" cy="41148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2112264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013448" y="2057400"/>
            <a:ext cx="425196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healthcare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013448" y="2587371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“Help me prepare for my doctor consultation.”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7013448" y="3283077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Agent summarizes reports, lists symptoms, prepares questions, and creates follow-up reminders.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-91440"/>
            <a:ext cx="4389120" cy="2011680"/>
          </a:xfrm>
          <a:prstGeom prst="arc">
            <a:avLst/>
          </a:prstGeom>
          <a:noFill/>
          <a:ln w="13970">
            <a:solidFill>
              <a:srgbClr val="DDEBFF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45720"/>
            <a:ext cx="3840480" cy="1874520"/>
          </a:xfrm>
          <a:prstGeom prst="arc">
            <a:avLst/>
          </a:prstGeom>
          <a:noFill/>
          <a:ln w="12700">
            <a:solidFill>
              <a:srgbClr val="E8DDFF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274320"/>
            <a:ext cx="73152" cy="73152"/>
          </a:xfrm>
          <a:prstGeom prst="rect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20272" y="402336"/>
            <a:ext cx="73152" cy="73152"/>
          </a:xfrm>
          <a:prstGeom prst="rect">
            <a:avLst/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1440" y="566928"/>
            <a:ext cx="73152" cy="73152"/>
          </a:xfrm>
          <a:prstGeom prst="rect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82528" y="621792"/>
            <a:ext cx="73152" cy="73152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559552"/>
            <a:ext cx="12191695" cy="16459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5166360"/>
            <a:ext cx="2560320" cy="128016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5074920"/>
            <a:ext cx="2834640" cy="1371600"/>
          </a:xfrm>
          <a:prstGeom prst="arc">
            <a:avLst/>
          </a:prstGeom>
          <a:noFill/>
          <a:ln w="15240">
            <a:solidFill>
              <a:srgbClr val="EDE9FE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</a:t>
            </a:r>
            <a:endParaRPr lang="en-US" sz="1365" dirty="0"/>
          </a:p>
        </p:txBody>
      </p:sp>
      <p:sp>
        <p:nvSpPr>
          <p:cNvPr id="12" name="Text 10"/>
          <p:cNvSpPr/>
          <p:nvPr/>
        </p:nvSpPr>
        <p:spPr>
          <a:xfrm>
            <a:off x="556870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</a:t>
            </a:r>
            <a:endParaRPr lang="en-US" sz="1365" dirty="0"/>
          </a:p>
        </p:txBody>
      </p:sp>
      <p:sp>
        <p:nvSpPr>
          <p:cNvPr id="13" name="Text 11"/>
          <p:cNvSpPr/>
          <p:nvPr/>
        </p:nvSpPr>
        <p:spPr>
          <a:xfrm>
            <a:off x="729691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06B6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</a:t>
            </a:r>
            <a:endParaRPr lang="en-US" sz="1365" dirty="0"/>
          </a:p>
        </p:txBody>
      </p:sp>
      <p:sp>
        <p:nvSpPr>
          <p:cNvPr id="14" name="Text 12"/>
          <p:cNvSpPr/>
          <p:nvPr/>
        </p:nvSpPr>
        <p:spPr>
          <a:xfrm>
            <a:off x="902513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EC48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</a:t>
            </a:r>
            <a:endParaRPr lang="en-US" sz="1365" dirty="0"/>
          </a:p>
        </p:txBody>
      </p:sp>
      <p:sp>
        <p:nvSpPr>
          <p:cNvPr id="15" name="Text 13"/>
          <p:cNvSpPr/>
          <p:nvPr/>
        </p:nvSpPr>
        <p:spPr>
          <a:xfrm>
            <a:off x="1075334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sz="1365" dirty="0"/>
          </a:p>
        </p:txBody>
      </p:sp>
      <p:sp>
        <p:nvSpPr>
          <p:cNvPr id="16" name="Text 14"/>
          <p:cNvSpPr/>
          <p:nvPr/>
        </p:nvSpPr>
        <p:spPr>
          <a:xfrm>
            <a:off x="1417320" y="146304"/>
            <a:ext cx="731520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Microsoft Build 2026  //  localhost: Kathmandu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4048" y="576072"/>
            <a:ext cx="493776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576072"/>
            <a:ext cx="1609344" cy="0"/>
          </a:xfrm>
          <a:prstGeom prst="line">
            <a:avLst/>
          </a:prstGeom>
          <a:noFill/>
          <a:ln w="17780">
            <a:solidFill>
              <a:srgbClr val="EC48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6291072"/>
            <a:ext cx="113842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889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345936"/>
            <a:ext cx="102870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Organized by .NET Hub Kathmandu • Supported by Microsoft &amp; Global AI Community • Venue Partner: Maitri • Community Partner: NepalCloud Professionals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109960" y="6336792"/>
            <a:ext cx="4572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841248"/>
            <a:ext cx="804672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80B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Developer Example: AI Coding Agent</a:t>
            </a:r>
            <a:endParaRPr lang="en-US" sz="3100" dirty="0"/>
          </a:p>
        </p:txBody>
      </p:sp>
      <p:sp>
        <p:nvSpPr>
          <p:cNvPr id="23" name="Text 21"/>
          <p:cNvSpPr/>
          <p:nvPr/>
        </p:nvSpPr>
        <p:spPr>
          <a:xfrm>
            <a:off x="612648" y="1399032"/>
            <a:ext cx="8229600" cy="3657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autocomplete to task execution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85800" y="1874520"/>
            <a:ext cx="5166360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2038985"/>
            <a:ext cx="462915" cy="4318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5985" y="2057400"/>
            <a:ext cx="338455" cy="28321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71600" y="2057400"/>
            <a:ext cx="425196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developer workflow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371600" y="2459736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Read ticket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371600" y="2770632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Search codebase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371600" y="3081528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Find files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371600" y="3392424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Understand logic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371600" y="3703320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Write code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371600" y="4014216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Run tests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371600" y="4325112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Create PR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6327648" y="1874520"/>
            <a:ext cx="5166360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64808" y="2039112"/>
            <a:ext cx="411480" cy="41148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2112264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013448" y="2057400"/>
            <a:ext cx="425196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developer workflow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7013448" y="2587371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“Implement this ticket and explain affected files.”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7013448" y="3369437"/>
            <a:ext cx="4251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Agent reads requirement, searches codebase, plans changes, edits files, runs tests, and explains output.</a:t>
            </a:r>
            <a:endParaRPr lang="en-US" sz="1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-91440"/>
            <a:ext cx="4389120" cy="2011680"/>
          </a:xfrm>
          <a:prstGeom prst="arc">
            <a:avLst/>
          </a:prstGeom>
          <a:noFill/>
          <a:ln w="13970">
            <a:solidFill>
              <a:srgbClr val="DDEBFF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45720"/>
            <a:ext cx="3840480" cy="1874520"/>
          </a:xfrm>
          <a:prstGeom prst="arc">
            <a:avLst/>
          </a:prstGeom>
          <a:noFill/>
          <a:ln w="12700">
            <a:solidFill>
              <a:srgbClr val="E8DDFF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274320"/>
            <a:ext cx="73152" cy="73152"/>
          </a:xfrm>
          <a:prstGeom prst="rect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20272" y="402336"/>
            <a:ext cx="73152" cy="73152"/>
          </a:xfrm>
          <a:prstGeom prst="rect">
            <a:avLst/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1440" y="566928"/>
            <a:ext cx="73152" cy="73152"/>
          </a:xfrm>
          <a:prstGeom prst="rect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82528" y="621792"/>
            <a:ext cx="73152" cy="73152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559552"/>
            <a:ext cx="12191695" cy="16459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5166360"/>
            <a:ext cx="2560320" cy="128016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5074920"/>
            <a:ext cx="2834640" cy="1371600"/>
          </a:xfrm>
          <a:prstGeom prst="arc">
            <a:avLst/>
          </a:prstGeom>
          <a:noFill/>
          <a:ln w="15240">
            <a:solidFill>
              <a:srgbClr val="EDE9FE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</a:t>
            </a:r>
            <a:endParaRPr lang="en-US" sz="1365" dirty="0"/>
          </a:p>
        </p:txBody>
      </p:sp>
      <p:sp>
        <p:nvSpPr>
          <p:cNvPr id="12" name="Text 10"/>
          <p:cNvSpPr/>
          <p:nvPr/>
        </p:nvSpPr>
        <p:spPr>
          <a:xfrm>
            <a:off x="556870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</a:t>
            </a:r>
            <a:endParaRPr lang="en-US" sz="1365" dirty="0"/>
          </a:p>
        </p:txBody>
      </p:sp>
      <p:sp>
        <p:nvSpPr>
          <p:cNvPr id="13" name="Text 11"/>
          <p:cNvSpPr/>
          <p:nvPr/>
        </p:nvSpPr>
        <p:spPr>
          <a:xfrm>
            <a:off x="729691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06B6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</a:t>
            </a:r>
            <a:endParaRPr lang="en-US" sz="1365" dirty="0"/>
          </a:p>
        </p:txBody>
      </p:sp>
      <p:sp>
        <p:nvSpPr>
          <p:cNvPr id="14" name="Text 12"/>
          <p:cNvSpPr/>
          <p:nvPr/>
        </p:nvSpPr>
        <p:spPr>
          <a:xfrm>
            <a:off x="902513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EC48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</a:t>
            </a:r>
            <a:endParaRPr lang="en-US" sz="1365" dirty="0"/>
          </a:p>
        </p:txBody>
      </p:sp>
      <p:sp>
        <p:nvSpPr>
          <p:cNvPr id="15" name="Text 13"/>
          <p:cNvSpPr/>
          <p:nvPr/>
        </p:nvSpPr>
        <p:spPr>
          <a:xfrm>
            <a:off x="1075334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sz="1365" dirty="0"/>
          </a:p>
        </p:txBody>
      </p:sp>
      <p:sp>
        <p:nvSpPr>
          <p:cNvPr id="16" name="Text 14"/>
          <p:cNvSpPr/>
          <p:nvPr/>
        </p:nvSpPr>
        <p:spPr>
          <a:xfrm>
            <a:off x="1417320" y="146304"/>
            <a:ext cx="731520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Microsoft Build 2026  //  localhost: Kathmandu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4048" y="576072"/>
            <a:ext cx="493776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576072"/>
            <a:ext cx="1609344" cy="0"/>
          </a:xfrm>
          <a:prstGeom prst="line">
            <a:avLst/>
          </a:prstGeom>
          <a:noFill/>
          <a:ln w="17780">
            <a:solidFill>
              <a:srgbClr val="EC48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6291072"/>
            <a:ext cx="113842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889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345936"/>
            <a:ext cx="102870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Organized by .NET Hub Kathmandu • Supported by Microsoft &amp; Global AI Community • Venue Partner: Maitri • Community Partner: NepalCloud Professionals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109960" y="6336792"/>
            <a:ext cx="4572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841248"/>
            <a:ext cx="804672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80B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Basic Agentic Architecture</a:t>
            </a:r>
            <a:endParaRPr lang="en-US" sz="3100" dirty="0"/>
          </a:p>
        </p:txBody>
      </p:sp>
      <p:sp>
        <p:nvSpPr>
          <p:cNvPr id="23" name="Text 21"/>
          <p:cNvSpPr/>
          <p:nvPr/>
        </p:nvSpPr>
        <p:spPr>
          <a:xfrm>
            <a:off x="612648" y="1399032"/>
            <a:ext cx="8229600" cy="3657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sit above APIs; APIs remain the source of truth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94360" y="2103120"/>
            <a:ext cx="18745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2267712"/>
            <a:ext cx="411480" cy="41148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2340864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80160" y="2286000"/>
            <a:ext cx="96012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280160" y="2688336"/>
            <a:ext cx="960120" cy="116128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 language</a:t>
            </a:r>
            <a:endParaRPr lang="en-US" sz="1750" dirty="0"/>
          </a:p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</a:t>
            </a:r>
            <a:endParaRPr lang="en-US" sz="1750" dirty="0"/>
          </a:p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</a:t>
            </a:r>
            <a:endParaRPr lang="en-US" sz="1750" dirty="0"/>
          </a:p>
        </p:txBody>
      </p:sp>
      <p:sp>
        <p:nvSpPr>
          <p:cNvPr id="29" name="Shape 27"/>
          <p:cNvSpPr/>
          <p:nvPr/>
        </p:nvSpPr>
        <p:spPr>
          <a:xfrm>
            <a:off x="2496312" y="2761488"/>
            <a:ext cx="292608" cy="411480"/>
          </a:xfrm>
          <a:prstGeom prst="chevron">
            <a:avLst/>
          </a:prstGeom>
          <a:solidFill>
            <a:srgbClr val="2563EB">
              <a:alpha val="8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26080" y="2103120"/>
            <a:ext cx="18745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063240" y="2267712"/>
            <a:ext cx="411480" cy="41148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36392" y="2340864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611880" y="2286000"/>
            <a:ext cx="96012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9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Agent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611880" y="2761361"/>
            <a:ext cx="960120" cy="116128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Plans</a:t>
            </a:r>
            <a:endParaRPr lang="en-US" sz="1750" dirty="0"/>
          </a:p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Reasons</a:t>
            </a:r>
            <a:endParaRPr lang="en-US" sz="1750" dirty="0"/>
          </a:p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Chooses tool</a:t>
            </a:r>
            <a:endParaRPr lang="en-US" sz="1750" dirty="0"/>
          </a:p>
        </p:txBody>
      </p:sp>
      <p:sp>
        <p:nvSpPr>
          <p:cNvPr id="35" name="Shape 33"/>
          <p:cNvSpPr/>
          <p:nvPr/>
        </p:nvSpPr>
        <p:spPr>
          <a:xfrm>
            <a:off x="4828032" y="2761488"/>
            <a:ext cx="292608" cy="411480"/>
          </a:xfrm>
          <a:prstGeom prst="chevron">
            <a:avLst/>
          </a:prstGeom>
          <a:solidFill>
            <a:srgbClr val="2563EB">
              <a:alpha val="8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57800" y="2103120"/>
            <a:ext cx="18745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394960" y="2267712"/>
            <a:ext cx="411480" cy="41148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68112" y="2340864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5943600" y="2286000"/>
            <a:ext cx="96012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5806440" y="2688590"/>
            <a:ext cx="1200150" cy="1161415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Functions</a:t>
            </a:r>
            <a:endParaRPr lang="en-US" sz="1750" dirty="0"/>
          </a:p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Connectors</a:t>
            </a:r>
            <a:endParaRPr lang="en-US" sz="1750" dirty="0"/>
          </a:p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clients</a:t>
            </a:r>
            <a:endParaRPr lang="en-US" sz="1750" dirty="0"/>
          </a:p>
        </p:txBody>
      </p:sp>
      <p:sp>
        <p:nvSpPr>
          <p:cNvPr id="41" name="Shape 39"/>
          <p:cNvSpPr/>
          <p:nvPr/>
        </p:nvSpPr>
        <p:spPr>
          <a:xfrm>
            <a:off x="7159752" y="2761488"/>
            <a:ext cx="292608" cy="411480"/>
          </a:xfrm>
          <a:prstGeom prst="chevron">
            <a:avLst/>
          </a:prstGeom>
          <a:solidFill>
            <a:srgbClr val="2563EB">
              <a:alpha val="8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89520" y="2103120"/>
            <a:ext cx="18745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726680" y="2267712"/>
            <a:ext cx="411480" cy="41148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99832" y="2340864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8275320" y="2286000"/>
            <a:ext cx="96012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APIs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8275320" y="2816225"/>
            <a:ext cx="1184275" cy="1161415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</a:t>
            </a:r>
            <a:endParaRPr lang="en-US" sz="1750" dirty="0"/>
          </a:p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750" dirty="0"/>
          </a:p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rules</a:t>
            </a:r>
            <a:endParaRPr lang="en-US" sz="1750" dirty="0"/>
          </a:p>
        </p:txBody>
      </p:sp>
      <p:sp>
        <p:nvSpPr>
          <p:cNvPr id="47" name="Shape 45"/>
          <p:cNvSpPr/>
          <p:nvPr/>
        </p:nvSpPr>
        <p:spPr>
          <a:xfrm>
            <a:off x="9491472" y="2761488"/>
            <a:ext cx="292608" cy="411480"/>
          </a:xfrm>
          <a:prstGeom prst="chevron">
            <a:avLst/>
          </a:prstGeom>
          <a:solidFill>
            <a:srgbClr val="2563EB">
              <a:alpha val="8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921240" y="2103120"/>
            <a:ext cx="18745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0058400" y="2267712"/>
            <a:ext cx="411480" cy="41148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131552" y="2340864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10607040" y="2286000"/>
            <a:ext cx="96012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10607040" y="2688336"/>
            <a:ext cx="960120" cy="116128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</a:t>
            </a:r>
            <a:endParaRPr lang="en-US" sz="1750" dirty="0"/>
          </a:p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Files</a:t>
            </a:r>
            <a:endParaRPr lang="en-US" sz="1750" dirty="0"/>
          </a:p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systems</a:t>
            </a:r>
            <a:endParaRPr lang="en-US" sz="1750" dirty="0"/>
          </a:p>
        </p:txBody>
      </p:sp>
      <p:sp>
        <p:nvSpPr>
          <p:cNvPr id="53" name="Text 51"/>
          <p:cNvSpPr/>
          <p:nvPr/>
        </p:nvSpPr>
        <p:spPr>
          <a:xfrm>
            <a:off x="777240" y="4892040"/>
            <a:ext cx="10607040" cy="38404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Golden rule: do not bypass the backend. Agents call tools; tools call APIs; APIs enforce rules.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-91440"/>
            <a:ext cx="4389120" cy="2011680"/>
          </a:xfrm>
          <a:prstGeom prst="arc">
            <a:avLst/>
          </a:prstGeom>
          <a:noFill/>
          <a:ln w="13970">
            <a:solidFill>
              <a:srgbClr val="DDEBFF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45720"/>
            <a:ext cx="3840480" cy="1874520"/>
          </a:xfrm>
          <a:prstGeom prst="arc">
            <a:avLst/>
          </a:prstGeom>
          <a:noFill/>
          <a:ln w="12700">
            <a:solidFill>
              <a:srgbClr val="E8DDFF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274320"/>
            <a:ext cx="73152" cy="73152"/>
          </a:xfrm>
          <a:prstGeom prst="rect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20272" y="402336"/>
            <a:ext cx="73152" cy="73152"/>
          </a:xfrm>
          <a:prstGeom prst="rect">
            <a:avLst/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1440" y="566928"/>
            <a:ext cx="73152" cy="73152"/>
          </a:xfrm>
          <a:prstGeom prst="rect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82528" y="621792"/>
            <a:ext cx="73152" cy="73152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559552"/>
            <a:ext cx="12191695" cy="16459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5166360"/>
            <a:ext cx="2560320" cy="128016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5074920"/>
            <a:ext cx="2834640" cy="1371600"/>
          </a:xfrm>
          <a:prstGeom prst="arc">
            <a:avLst/>
          </a:prstGeom>
          <a:noFill/>
          <a:ln w="15240">
            <a:solidFill>
              <a:srgbClr val="EDE9FE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</a:t>
            </a:r>
            <a:endParaRPr lang="en-US" sz="1365" dirty="0"/>
          </a:p>
        </p:txBody>
      </p:sp>
      <p:sp>
        <p:nvSpPr>
          <p:cNvPr id="12" name="Text 10"/>
          <p:cNvSpPr/>
          <p:nvPr/>
        </p:nvSpPr>
        <p:spPr>
          <a:xfrm>
            <a:off x="556870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</a:t>
            </a:r>
            <a:endParaRPr lang="en-US" sz="1365" dirty="0"/>
          </a:p>
        </p:txBody>
      </p:sp>
      <p:sp>
        <p:nvSpPr>
          <p:cNvPr id="13" name="Text 11"/>
          <p:cNvSpPr/>
          <p:nvPr/>
        </p:nvSpPr>
        <p:spPr>
          <a:xfrm>
            <a:off x="729691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06B6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</a:t>
            </a:r>
            <a:endParaRPr lang="en-US" sz="1365" dirty="0"/>
          </a:p>
        </p:txBody>
      </p:sp>
      <p:sp>
        <p:nvSpPr>
          <p:cNvPr id="14" name="Text 12"/>
          <p:cNvSpPr/>
          <p:nvPr/>
        </p:nvSpPr>
        <p:spPr>
          <a:xfrm>
            <a:off x="902513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EC48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</a:t>
            </a:r>
            <a:endParaRPr lang="en-US" sz="1365" dirty="0"/>
          </a:p>
        </p:txBody>
      </p:sp>
      <p:sp>
        <p:nvSpPr>
          <p:cNvPr id="15" name="Text 13"/>
          <p:cNvSpPr/>
          <p:nvPr/>
        </p:nvSpPr>
        <p:spPr>
          <a:xfrm>
            <a:off x="1075334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sz="1365" dirty="0"/>
          </a:p>
        </p:txBody>
      </p:sp>
      <p:sp>
        <p:nvSpPr>
          <p:cNvPr id="16" name="Text 14"/>
          <p:cNvSpPr/>
          <p:nvPr/>
        </p:nvSpPr>
        <p:spPr>
          <a:xfrm>
            <a:off x="1417320" y="146304"/>
            <a:ext cx="731520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Microsoft Build 2026  //  localhost: Kathmandu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4048" y="576072"/>
            <a:ext cx="493776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576072"/>
            <a:ext cx="1609344" cy="0"/>
          </a:xfrm>
          <a:prstGeom prst="line">
            <a:avLst/>
          </a:prstGeom>
          <a:noFill/>
          <a:ln w="17780">
            <a:solidFill>
              <a:srgbClr val="EC48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6291072"/>
            <a:ext cx="113842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889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345936"/>
            <a:ext cx="102870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Organized by .NET Hub Kathmandu • Supported by Microsoft &amp; Global AI Community • Venue Partner: Maitri • Community Partner: NepalCloud Professionals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109960" y="6336792"/>
            <a:ext cx="4572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841248"/>
            <a:ext cx="804672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90000"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80B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Azure AI Foundry for Agentic API Development</a:t>
            </a:r>
            <a:endParaRPr lang="en-US" sz="3100" dirty="0"/>
          </a:p>
        </p:txBody>
      </p:sp>
      <p:sp>
        <p:nvSpPr>
          <p:cNvPr id="23" name="Text 21"/>
          <p:cNvSpPr/>
          <p:nvPr/>
        </p:nvSpPr>
        <p:spPr>
          <a:xfrm>
            <a:off x="612648" y="1573022"/>
            <a:ext cx="8229600" cy="3657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Web APIs into secure, observable, enterprise-ready agentic systems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80160" y="2148840"/>
            <a:ext cx="301752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Foundry?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280160" y="2610231"/>
            <a:ext cx="3017520" cy="52120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Azure platform for enterprise AI apps: models, agents, knowledge, evaluation, and governance.</a:t>
            </a:r>
            <a:endParaRPr lang="en-US" sz="1500" dirty="0">
              <a:solidFill>
                <a:srgbClr val="101828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937760" y="2340610"/>
            <a:ext cx="4224020" cy="187515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83480" y="2469007"/>
            <a:ext cx="411480" cy="41148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47742" y="2652014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⚙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495290" y="2432050"/>
            <a:ext cx="301752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use it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495290" y="2823210"/>
            <a:ext cx="3313430" cy="292735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9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Expose .NET APIs astools/functions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5506720" y="3131947"/>
            <a:ext cx="301752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Ground agents with RAG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5495290" y="3461258"/>
            <a:ext cx="301752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Orchestrate approvals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5495290" y="3754374"/>
            <a:ext cx="301752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9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Monitor traces, cost, and safety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7863840" y="4490085"/>
            <a:ext cx="3931920" cy="174752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909560" y="4617847"/>
            <a:ext cx="411480" cy="411480"/>
          </a:xfrm>
          <a:prstGeom prst="ellipse">
            <a:avLst/>
          </a:prstGeom>
          <a:solidFill>
            <a:srgbClr val="ECFDF5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64297" y="4732274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900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375650" y="4640580"/>
            <a:ext cx="301752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Benefits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1280160" y="5202936"/>
            <a:ext cx="3017520" cy="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>
            <a:lvl1pPr algn="l"/>
          </a:lstStyle>
          <a:p>
            <a:pPr marL="0" indent="0" algn="l">
              <a:buNone/>
            </a:pPr>
            <a:endParaRPr lang="en-US" sz="1750" dirty="0"/>
          </a:p>
        </p:txBody>
      </p:sp>
      <p:sp>
        <p:nvSpPr>
          <p:cNvPr id="42" name="Text 40"/>
          <p:cNvSpPr/>
          <p:nvPr/>
        </p:nvSpPr>
        <p:spPr>
          <a:xfrm>
            <a:off x="4937760" y="1572768"/>
            <a:ext cx="667512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lnSpcReduction="20000"/>
          </a:bodyPr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4938014" y="2185670"/>
            <a:ext cx="1307592" cy="40233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6684264" y="2148840"/>
            <a:ext cx="1307592" cy="40233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8604504" y="2148840"/>
            <a:ext cx="1993392" cy="40233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5129784" y="3754120"/>
            <a:ext cx="1307592" cy="61264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6821424" y="3566160"/>
            <a:ext cx="1307592" cy="61264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8513064" y="3566160"/>
            <a:ext cx="1307592" cy="61264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10204704" y="3566160"/>
            <a:ext cx="1307592" cy="61264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endParaRPr lang="en-US" sz="1350" dirty="0"/>
          </a:p>
        </p:txBody>
      </p:sp>
      <p:sp>
        <p:nvSpPr>
          <p:cNvPr id="58" name="Text 56"/>
          <p:cNvSpPr/>
          <p:nvPr/>
        </p:nvSpPr>
        <p:spPr>
          <a:xfrm>
            <a:off x="5541264" y="5029200"/>
            <a:ext cx="1901952" cy="5486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endParaRPr lang="en-US" sz="1350" dirty="0"/>
          </a:p>
        </p:txBody>
      </p:sp>
      <p:sp>
        <p:nvSpPr>
          <p:cNvPr id="60" name="Text 58"/>
          <p:cNvSpPr/>
          <p:nvPr/>
        </p:nvSpPr>
        <p:spPr>
          <a:xfrm>
            <a:off x="8238490" y="5029200"/>
            <a:ext cx="2724785" cy="1040765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171450" indent="-171450" algn="l">
              <a:buFont typeface="Arial" panose="020B0704020202020204" pitchFamily="34" charset="0"/>
              <a:buChar char="•"/>
            </a:pPr>
            <a:r>
              <a:rPr lang="en-US" sz="16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  <a:sym typeface="+mn-ea"/>
              </a:rPr>
              <a:t>Faster delivery  </a:t>
            </a:r>
            <a:endParaRPr lang="en-US" sz="1600" dirty="0">
              <a:solidFill>
                <a:srgbClr val="101828"/>
              </a:solidFill>
              <a:latin typeface="Aptos" pitchFamily="34" charset="0"/>
              <a:ea typeface="Aptos" pitchFamily="34" charset="-122"/>
              <a:cs typeface="Aptos" pitchFamily="34" charset="-120"/>
              <a:sym typeface="+mn-ea"/>
            </a:endParaRPr>
          </a:p>
          <a:p>
            <a:pPr marL="171450" indent="-171450" algn="l">
              <a:buFont typeface="Arial" panose="020B0704020202020204" pitchFamily="34" charset="0"/>
              <a:buChar char="•"/>
            </a:pPr>
            <a:r>
              <a:rPr lang="en-US" sz="16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  <a:sym typeface="+mn-ea"/>
              </a:rPr>
              <a:t>safer rollout </a:t>
            </a:r>
            <a:endParaRPr lang="en-US" sz="1600" dirty="0">
              <a:solidFill>
                <a:srgbClr val="101828"/>
              </a:solidFill>
              <a:latin typeface="Aptos" pitchFamily="34" charset="0"/>
              <a:ea typeface="Aptos" pitchFamily="34" charset="-122"/>
              <a:cs typeface="Aptos" pitchFamily="34" charset="-120"/>
              <a:sym typeface="+mn-ea"/>
            </a:endParaRPr>
          </a:p>
          <a:p>
            <a:pPr marL="171450" indent="-171450" algn="l">
              <a:buFont typeface="Arial" panose="020B0704020202020204" pitchFamily="34" charset="0"/>
              <a:buChar char="•"/>
            </a:pPr>
            <a:r>
              <a:rPr lang="en-US" sz="16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  <a:sym typeface="+mn-ea"/>
              </a:rPr>
              <a:t>better debugging  </a:t>
            </a:r>
            <a:endParaRPr lang="en-US" sz="1600" dirty="0">
              <a:solidFill>
                <a:srgbClr val="101828"/>
              </a:solidFill>
              <a:latin typeface="Aptos" pitchFamily="34" charset="0"/>
              <a:ea typeface="Aptos" pitchFamily="34" charset="-122"/>
              <a:cs typeface="Aptos" pitchFamily="34" charset="-120"/>
              <a:sym typeface="+mn-ea"/>
            </a:endParaRPr>
          </a:p>
          <a:p>
            <a:pPr marL="171450" indent="-171450" algn="l">
              <a:buFont typeface="Arial" panose="020B0704020202020204" pitchFamily="34" charset="0"/>
              <a:buChar char="•"/>
            </a:pPr>
            <a:r>
              <a:rPr lang="en-US" sz="16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  <a:sym typeface="+mn-ea"/>
              </a:rPr>
              <a:t>model flexibility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-91440"/>
            <a:ext cx="4389120" cy="2011680"/>
          </a:xfrm>
          <a:prstGeom prst="arc">
            <a:avLst/>
          </a:prstGeom>
          <a:noFill/>
          <a:ln w="13970">
            <a:solidFill>
              <a:srgbClr val="DDEBFF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45720"/>
            <a:ext cx="3840480" cy="1874520"/>
          </a:xfrm>
          <a:prstGeom prst="arc">
            <a:avLst/>
          </a:prstGeom>
          <a:noFill/>
          <a:ln w="12700">
            <a:solidFill>
              <a:srgbClr val="E8DDFF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274320"/>
            <a:ext cx="73152" cy="73152"/>
          </a:xfrm>
          <a:prstGeom prst="rect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20272" y="402336"/>
            <a:ext cx="73152" cy="73152"/>
          </a:xfrm>
          <a:prstGeom prst="rect">
            <a:avLst/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1440" y="566928"/>
            <a:ext cx="73152" cy="73152"/>
          </a:xfrm>
          <a:prstGeom prst="rect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82528" y="621792"/>
            <a:ext cx="73152" cy="73152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559552"/>
            <a:ext cx="12191695" cy="16459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5166360"/>
            <a:ext cx="2560320" cy="128016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5074920"/>
            <a:ext cx="2834640" cy="1371600"/>
          </a:xfrm>
          <a:prstGeom prst="arc">
            <a:avLst/>
          </a:prstGeom>
          <a:noFill/>
          <a:ln w="15240">
            <a:solidFill>
              <a:srgbClr val="EDE9FE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</a:t>
            </a:r>
            <a:endParaRPr lang="en-US" sz="1365" dirty="0"/>
          </a:p>
        </p:txBody>
      </p:sp>
      <p:sp>
        <p:nvSpPr>
          <p:cNvPr id="12" name="Text 10"/>
          <p:cNvSpPr/>
          <p:nvPr/>
        </p:nvSpPr>
        <p:spPr>
          <a:xfrm>
            <a:off x="556870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</a:t>
            </a:r>
            <a:endParaRPr lang="en-US" sz="1365" dirty="0"/>
          </a:p>
        </p:txBody>
      </p:sp>
      <p:sp>
        <p:nvSpPr>
          <p:cNvPr id="13" name="Text 11"/>
          <p:cNvSpPr/>
          <p:nvPr/>
        </p:nvSpPr>
        <p:spPr>
          <a:xfrm>
            <a:off x="729691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06B6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</a:t>
            </a:r>
            <a:endParaRPr lang="en-US" sz="1365" dirty="0"/>
          </a:p>
        </p:txBody>
      </p:sp>
      <p:sp>
        <p:nvSpPr>
          <p:cNvPr id="14" name="Text 12"/>
          <p:cNvSpPr/>
          <p:nvPr/>
        </p:nvSpPr>
        <p:spPr>
          <a:xfrm>
            <a:off x="902513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EC48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</a:t>
            </a:r>
            <a:endParaRPr lang="en-US" sz="1365" dirty="0"/>
          </a:p>
        </p:txBody>
      </p:sp>
      <p:sp>
        <p:nvSpPr>
          <p:cNvPr id="15" name="Text 13"/>
          <p:cNvSpPr/>
          <p:nvPr/>
        </p:nvSpPr>
        <p:spPr>
          <a:xfrm>
            <a:off x="1075334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sz="1365" dirty="0"/>
          </a:p>
        </p:txBody>
      </p:sp>
      <p:sp>
        <p:nvSpPr>
          <p:cNvPr id="16" name="Text 14"/>
          <p:cNvSpPr/>
          <p:nvPr/>
        </p:nvSpPr>
        <p:spPr>
          <a:xfrm>
            <a:off x="1417320" y="146304"/>
            <a:ext cx="731520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Microsoft Build 2026  //  localhost: Kathmandu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4048" y="576072"/>
            <a:ext cx="493776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576072"/>
            <a:ext cx="1609344" cy="0"/>
          </a:xfrm>
          <a:prstGeom prst="line">
            <a:avLst/>
          </a:prstGeom>
          <a:noFill/>
          <a:ln w="17780">
            <a:solidFill>
              <a:srgbClr val="EC48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6291072"/>
            <a:ext cx="113842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889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345936"/>
            <a:ext cx="102870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Organized by .NET Hub Kathmandu • Supported by Microsoft &amp; Global AI Community • Venue Partner: Maitri • Community Partner: NepalCloud Professionals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109960" y="6336792"/>
            <a:ext cx="4572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2775" y="694563"/>
            <a:ext cx="804672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80B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Microsoft Foundry Fits</a:t>
            </a:r>
            <a:endParaRPr lang="en-US" sz="3100" dirty="0"/>
          </a:p>
        </p:txBody>
      </p:sp>
      <p:sp>
        <p:nvSpPr>
          <p:cNvPr id="23" name="Text 21"/>
          <p:cNvSpPr/>
          <p:nvPr/>
        </p:nvSpPr>
        <p:spPr>
          <a:xfrm>
            <a:off x="612648" y="1261872"/>
            <a:ext cx="8229600" cy="3657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Build, deploy, evaluate, observe, and govern AI apps and agents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85800" y="1737360"/>
            <a:ext cx="5094605" cy="116967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1901952"/>
            <a:ext cx="411480" cy="41148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1975104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71600" y="1920240"/>
            <a:ext cx="416052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catalog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371600" y="2322576"/>
            <a:ext cx="4160520" cy="29260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and deploy models from Microsoft, OpenAI, Meta, and more.</a:t>
            </a:r>
            <a:endParaRPr lang="en-US" sz="1750" dirty="0"/>
          </a:p>
        </p:txBody>
      </p:sp>
      <p:sp>
        <p:nvSpPr>
          <p:cNvPr id="29" name="Shape 27"/>
          <p:cNvSpPr/>
          <p:nvPr/>
        </p:nvSpPr>
        <p:spPr>
          <a:xfrm>
            <a:off x="6172200" y="1737360"/>
            <a:ext cx="5076825" cy="114173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9360" y="1901952"/>
            <a:ext cx="411480" cy="41148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82512" y="1975104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858000" y="1920240"/>
            <a:ext cx="416052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Service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858000" y="2322576"/>
            <a:ext cx="4160520" cy="29260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Managed platform for building, deploying, and scaling agents.</a:t>
            </a:r>
            <a:endParaRPr lang="en-US" sz="1750" dirty="0"/>
          </a:p>
        </p:txBody>
      </p:sp>
      <p:sp>
        <p:nvSpPr>
          <p:cNvPr id="34" name="Shape 32"/>
          <p:cNvSpPr/>
          <p:nvPr/>
        </p:nvSpPr>
        <p:spPr>
          <a:xfrm>
            <a:off x="685800" y="2971800"/>
            <a:ext cx="5090160" cy="116967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22960" y="3136392"/>
            <a:ext cx="411480" cy="41148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6112" y="3209544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371600" y="3154680"/>
            <a:ext cx="416052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&amp; connectors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1371600" y="3557016"/>
            <a:ext cx="4160520" cy="29260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built-in tools and custom functions to existing APIs.</a:t>
            </a:r>
            <a:endParaRPr lang="en-US" sz="1750" dirty="0"/>
          </a:p>
        </p:txBody>
      </p:sp>
      <p:sp>
        <p:nvSpPr>
          <p:cNvPr id="39" name="Shape 37"/>
          <p:cNvSpPr/>
          <p:nvPr/>
        </p:nvSpPr>
        <p:spPr>
          <a:xfrm>
            <a:off x="6172200" y="2971800"/>
            <a:ext cx="5070475" cy="1169035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309360" y="3136392"/>
            <a:ext cx="411480" cy="41148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82512" y="3209544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858000" y="3154680"/>
            <a:ext cx="416052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6858000" y="3557016"/>
            <a:ext cx="4160520" cy="29260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quality, safety, and agent behavior before production.</a:t>
            </a:r>
            <a:endParaRPr lang="en-US" sz="1750" dirty="0"/>
          </a:p>
        </p:txBody>
      </p:sp>
      <p:sp>
        <p:nvSpPr>
          <p:cNvPr id="44" name="Shape 42"/>
          <p:cNvSpPr/>
          <p:nvPr/>
        </p:nvSpPr>
        <p:spPr>
          <a:xfrm>
            <a:off x="685800" y="4389120"/>
            <a:ext cx="5125085" cy="116967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22960" y="4370832"/>
            <a:ext cx="411480" cy="41148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96112" y="4443984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1371600" y="4389120"/>
            <a:ext cx="416052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Observability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1371600" y="4791456"/>
            <a:ext cx="4160520" cy="29260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prompts, tool calls, retrieval, latency, and failures.</a:t>
            </a:r>
            <a:endParaRPr lang="en-US" sz="1750" dirty="0"/>
          </a:p>
        </p:txBody>
      </p:sp>
      <p:sp>
        <p:nvSpPr>
          <p:cNvPr id="49" name="Shape 47"/>
          <p:cNvSpPr/>
          <p:nvPr/>
        </p:nvSpPr>
        <p:spPr>
          <a:xfrm>
            <a:off x="6172200" y="4368165"/>
            <a:ext cx="5074920" cy="11912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309360" y="4370832"/>
            <a:ext cx="411480" cy="41148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82512" y="4443984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6858000" y="4389120"/>
            <a:ext cx="416052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&amp; governance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6858000" y="4791456"/>
            <a:ext cx="4160520" cy="29260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RBAC, policies, permissions, and enterprise controls.</a:t>
            </a:r>
            <a:endParaRPr lang="en-US" sz="1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-91440"/>
            <a:ext cx="4389120" cy="2011680"/>
          </a:xfrm>
          <a:prstGeom prst="arc">
            <a:avLst/>
          </a:prstGeom>
          <a:noFill/>
          <a:ln w="13970">
            <a:solidFill>
              <a:srgbClr val="DDEBFF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45720"/>
            <a:ext cx="3840480" cy="1874520"/>
          </a:xfrm>
          <a:prstGeom prst="arc">
            <a:avLst/>
          </a:prstGeom>
          <a:noFill/>
          <a:ln w="12700">
            <a:solidFill>
              <a:srgbClr val="E8DDFF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274320"/>
            <a:ext cx="73152" cy="73152"/>
          </a:xfrm>
          <a:prstGeom prst="rect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20272" y="402336"/>
            <a:ext cx="73152" cy="73152"/>
          </a:xfrm>
          <a:prstGeom prst="rect">
            <a:avLst/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1440" y="566928"/>
            <a:ext cx="73152" cy="73152"/>
          </a:xfrm>
          <a:prstGeom prst="rect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82528" y="621792"/>
            <a:ext cx="73152" cy="73152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559552"/>
            <a:ext cx="12191695" cy="16459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5166360"/>
            <a:ext cx="2560320" cy="128016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5074920"/>
            <a:ext cx="2834640" cy="1371600"/>
          </a:xfrm>
          <a:prstGeom prst="arc">
            <a:avLst/>
          </a:prstGeom>
          <a:noFill/>
          <a:ln w="15240">
            <a:solidFill>
              <a:srgbClr val="EDE9FE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</a:t>
            </a:r>
            <a:endParaRPr lang="en-US" sz="1365" dirty="0"/>
          </a:p>
        </p:txBody>
      </p:sp>
      <p:sp>
        <p:nvSpPr>
          <p:cNvPr id="12" name="Text 10"/>
          <p:cNvSpPr/>
          <p:nvPr/>
        </p:nvSpPr>
        <p:spPr>
          <a:xfrm>
            <a:off x="556870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</a:t>
            </a:r>
            <a:endParaRPr lang="en-US" sz="1365" dirty="0"/>
          </a:p>
        </p:txBody>
      </p:sp>
      <p:sp>
        <p:nvSpPr>
          <p:cNvPr id="13" name="Text 11"/>
          <p:cNvSpPr/>
          <p:nvPr/>
        </p:nvSpPr>
        <p:spPr>
          <a:xfrm>
            <a:off x="729691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06B6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</a:t>
            </a:r>
            <a:endParaRPr lang="en-US" sz="1365" dirty="0"/>
          </a:p>
        </p:txBody>
      </p:sp>
      <p:sp>
        <p:nvSpPr>
          <p:cNvPr id="14" name="Text 12"/>
          <p:cNvSpPr/>
          <p:nvPr/>
        </p:nvSpPr>
        <p:spPr>
          <a:xfrm>
            <a:off x="902513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EC48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</a:t>
            </a:r>
            <a:endParaRPr lang="en-US" sz="1365" dirty="0"/>
          </a:p>
        </p:txBody>
      </p:sp>
      <p:sp>
        <p:nvSpPr>
          <p:cNvPr id="15" name="Text 13"/>
          <p:cNvSpPr/>
          <p:nvPr/>
        </p:nvSpPr>
        <p:spPr>
          <a:xfrm>
            <a:off x="1075334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sz="1365" dirty="0"/>
          </a:p>
        </p:txBody>
      </p:sp>
      <p:sp>
        <p:nvSpPr>
          <p:cNvPr id="16" name="Text 14"/>
          <p:cNvSpPr/>
          <p:nvPr/>
        </p:nvSpPr>
        <p:spPr>
          <a:xfrm>
            <a:off x="1417320" y="146304"/>
            <a:ext cx="731520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Build 2026  //  localhost: Kathmandu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4048" y="576072"/>
            <a:ext cx="493776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576072"/>
            <a:ext cx="1609344" cy="0"/>
          </a:xfrm>
          <a:prstGeom prst="line">
            <a:avLst/>
          </a:prstGeom>
          <a:noFill/>
          <a:ln w="17780">
            <a:solidFill>
              <a:srgbClr val="EC48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6291072"/>
            <a:ext cx="113842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889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345936"/>
            <a:ext cx="102870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Organized by .NET Hub Kathmandu • Supported by Microsoft &amp; Global AI Community • Venue Partner: Maitri • Community Partner: NepalCloud Professionals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109960" y="6336792"/>
            <a:ext cx="4572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841248"/>
            <a:ext cx="804672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90000"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80B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Azure AI Foundry for Agentic API Development</a:t>
            </a:r>
            <a:endParaRPr lang="en-US" sz="3100" dirty="0"/>
          </a:p>
        </p:txBody>
      </p:sp>
      <p:sp>
        <p:nvSpPr>
          <p:cNvPr id="23" name="Text 21"/>
          <p:cNvSpPr/>
          <p:nvPr/>
        </p:nvSpPr>
        <p:spPr>
          <a:xfrm>
            <a:off x="612648" y="1643507"/>
            <a:ext cx="8229600" cy="3657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Web APIs into secure, observable, enterprise-ready agentic systems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80160" y="1783080"/>
            <a:ext cx="301752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280160" y="2185416"/>
            <a:ext cx="3017520" cy="52120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1280160" y="3154680"/>
            <a:ext cx="301752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280160" y="3557016"/>
            <a:ext cx="301752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280160" y="3867912"/>
            <a:ext cx="301752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280160" y="4178808"/>
            <a:ext cx="301752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1280160" y="4489704"/>
            <a:ext cx="301752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280160" y="4800600"/>
            <a:ext cx="301752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182880" y="3969385"/>
            <a:ext cx="4114800" cy="1325245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API Architecture with Azure AI Foundry</a:t>
            </a:r>
            <a:endParaRPr lang="en-US" sz="2200" dirty="0"/>
          </a:p>
        </p:txBody>
      </p:sp>
      <p:sp>
        <p:nvSpPr>
          <p:cNvPr id="43" name="Shape 41"/>
          <p:cNvSpPr/>
          <p:nvPr/>
        </p:nvSpPr>
        <p:spPr>
          <a:xfrm>
            <a:off x="5011420" y="2907665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65014" y="3026410"/>
            <a:ext cx="1307592" cy="40233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User/App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7027545" y="2907665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27799" y="3026410"/>
            <a:ext cx="1307592" cy="40233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UI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8947785" y="2907665"/>
            <a:ext cx="21031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3970">
            <a:solidFill>
              <a:srgbClr val="EC489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934704" y="3026410"/>
            <a:ext cx="1993392" cy="40233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Foundry Agent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5074920" y="384937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20894" y="3876675"/>
            <a:ext cx="1307592" cy="61264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Functions</a:t>
            </a:r>
            <a:endParaRPr lang="en-US" sz="1350" dirty="0"/>
          </a:p>
        </p:txBody>
      </p:sp>
      <p:sp>
        <p:nvSpPr>
          <p:cNvPr id="51" name="Shape 49"/>
          <p:cNvSpPr/>
          <p:nvPr/>
        </p:nvSpPr>
        <p:spPr>
          <a:xfrm>
            <a:off x="6766560" y="3867785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21424" y="4013835"/>
            <a:ext cx="1307592" cy="61264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</a:t>
            </a:r>
            <a:endParaRPr lang="en-US" sz="1350" dirty="0"/>
          </a:p>
        </p:txBody>
      </p:sp>
      <p:sp>
        <p:nvSpPr>
          <p:cNvPr id="53" name="Shape 51"/>
          <p:cNvSpPr/>
          <p:nvPr/>
        </p:nvSpPr>
        <p:spPr>
          <a:xfrm>
            <a:off x="8458200" y="3876675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3970">
            <a:solidFill>
              <a:srgbClr val="06B6D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513699" y="3858895"/>
            <a:ext cx="1307592" cy="61264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 +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</a:t>
            </a:r>
            <a:endParaRPr lang="en-US" sz="1350" dirty="0"/>
          </a:p>
        </p:txBody>
      </p:sp>
      <p:sp>
        <p:nvSpPr>
          <p:cNvPr id="55" name="Shape 53"/>
          <p:cNvSpPr/>
          <p:nvPr/>
        </p:nvSpPr>
        <p:spPr>
          <a:xfrm>
            <a:off x="10149840" y="3876675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3970">
            <a:solidFill>
              <a:srgbClr val="EC489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204704" y="3969385"/>
            <a:ext cx="1307592" cy="61264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5486400" y="5294630"/>
            <a:ext cx="20116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41264" y="5367020"/>
            <a:ext cx="1901952" cy="5486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.NET APIs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 • Rules</a:t>
            </a:r>
            <a:endParaRPr lang="en-US" sz="1350" dirty="0"/>
          </a:p>
        </p:txBody>
      </p:sp>
      <p:sp>
        <p:nvSpPr>
          <p:cNvPr id="59" name="Shape 57"/>
          <p:cNvSpPr/>
          <p:nvPr/>
        </p:nvSpPr>
        <p:spPr>
          <a:xfrm>
            <a:off x="8183880" y="5294630"/>
            <a:ext cx="28346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202549" y="5367020"/>
            <a:ext cx="2724912" cy="5486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Logic + Data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 • SaaS • External APIs</a:t>
            </a:r>
            <a:endParaRPr lang="en-US" sz="1350" dirty="0"/>
          </a:p>
        </p:txBody>
      </p:sp>
      <p:sp>
        <p:nvSpPr>
          <p:cNvPr id="61" name="Shape 59"/>
          <p:cNvSpPr/>
          <p:nvPr/>
        </p:nvSpPr>
        <p:spPr>
          <a:xfrm>
            <a:off x="6492240" y="3227959"/>
            <a:ext cx="41148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8444865" y="3154934"/>
            <a:ext cx="50292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9050655" y="3429000"/>
            <a:ext cx="211455" cy="459740"/>
          </a:xfrm>
          <a:prstGeom prst="line">
            <a:avLst/>
          </a:prstGeom>
          <a:noFill/>
          <a:ln w="1778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10204450" y="3474720"/>
            <a:ext cx="598170" cy="426085"/>
          </a:xfrm>
          <a:prstGeom prst="line">
            <a:avLst/>
          </a:prstGeom>
          <a:noFill/>
          <a:ln w="17780">
            <a:solidFill>
              <a:srgbClr val="EC4899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6047740" y="4582160"/>
            <a:ext cx="718820" cy="713105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7927340" y="4627245"/>
            <a:ext cx="718185" cy="668020"/>
          </a:xfrm>
          <a:prstGeom prst="line">
            <a:avLst/>
          </a:prstGeom>
          <a:noFill/>
          <a:ln w="1778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9376410" y="4653915"/>
            <a:ext cx="316230" cy="694055"/>
          </a:xfrm>
          <a:prstGeom prst="line">
            <a:avLst/>
          </a:prstGeom>
          <a:noFill/>
          <a:ln w="1778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10501630" y="4644390"/>
            <a:ext cx="457835" cy="650875"/>
          </a:xfrm>
          <a:prstGeom prst="line">
            <a:avLst/>
          </a:prstGeom>
          <a:noFill/>
          <a:ln w="17780">
            <a:solidFill>
              <a:srgbClr val="EC4899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7516495" y="5641086"/>
            <a:ext cx="68580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4" name="Shape 62"/>
          <p:cNvSpPr/>
          <p:nvPr/>
        </p:nvSpPr>
        <p:spPr>
          <a:xfrm flipH="1">
            <a:off x="5920105" y="3493770"/>
            <a:ext cx="1771015" cy="320675"/>
          </a:xfrm>
          <a:prstGeom prst="line">
            <a:avLst/>
          </a:prstGeom>
          <a:noFill/>
          <a:ln w="1778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25" name="Shape 62"/>
          <p:cNvSpPr/>
          <p:nvPr/>
        </p:nvSpPr>
        <p:spPr>
          <a:xfrm>
            <a:off x="7721600" y="3493770"/>
            <a:ext cx="635" cy="415290"/>
          </a:xfrm>
          <a:prstGeom prst="line">
            <a:avLst/>
          </a:prstGeom>
          <a:noFill/>
          <a:ln w="17780">
            <a:solidFill>
              <a:srgbClr val="8B5CF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-91440"/>
            <a:ext cx="4389120" cy="2011680"/>
          </a:xfrm>
          <a:prstGeom prst="arc">
            <a:avLst/>
          </a:prstGeom>
          <a:noFill/>
          <a:ln w="13970">
            <a:solidFill>
              <a:srgbClr val="DDEBFF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45720"/>
            <a:ext cx="3840480" cy="1874520"/>
          </a:xfrm>
          <a:prstGeom prst="arc">
            <a:avLst/>
          </a:prstGeom>
          <a:noFill/>
          <a:ln w="12700">
            <a:solidFill>
              <a:srgbClr val="E8DDFF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274320"/>
            <a:ext cx="73152" cy="73152"/>
          </a:xfrm>
          <a:prstGeom prst="rect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20272" y="402336"/>
            <a:ext cx="73152" cy="73152"/>
          </a:xfrm>
          <a:prstGeom prst="rect">
            <a:avLst/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1440" y="566928"/>
            <a:ext cx="73152" cy="73152"/>
          </a:xfrm>
          <a:prstGeom prst="rect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82528" y="621792"/>
            <a:ext cx="73152" cy="73152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5166360"/>
            <a:ext cx="2560320" cy="128016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5074920"/>
            <a:ext cx="2834640" cy="1371600"/>
          </a:xfrm>
          <a:prstGeom prst="arc">
            <a:avLst/>
          </a:prstGeom>
          <a:noFill/>
          <a:ln w="15240">
            <a:solidFill>
              <a:srgbClr val="EDE9FE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</a:t>
            </a:r>
            <a:endParaRPr lang="en-US" sz="1365" dirty="0"/>
          </a:p>
        </p:txBody>
      </p:sp>
      <p:sp>
        <p:nvSpPr>
          <p:cNvPr id="12" name="Text 10"/>
          <p:cNvSpPr/>
          <p:nvPr/>
        </p:nvSpPr>
        <p:spPr>
          <a:xfrm>
            <a:off x="556870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</a:t>
            </a:r>
            <a:endParaRPr lang="en-US" sz="1365" dirty="0"/>
          </a:p>
        </p:txBody>
      </p:sp>
      <p:sp>
        <p:nvSpPr>
          <p:cNvPr id="13" name="Text 11"/>
          <p:cNvSpPr/>
          <p:nvPr/>
        </p:nvSpPr>
        <p:spPr>
          <a:xfrm>
            <a:off x="729691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06B6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</a:t>
            </a:r>
            <a:endParaRPr lang="en-US" sz="1365" dirty="0"/>
          </a:p>
        </p:txBody>
      </p:sp>
      <p:sp>
        <p:nvSpPr>
          <p:cNvPr id="14" name="Text 12"/>
          <p:cNvSpPr/>
          <p:nvPr/>
        </p:nvSpPr>
        <p:spPr>
          <a:xfrm>
            <a:off x="902513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EC48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</a:t>
            </a:r>
            <a:endParaRPr lang="en-US" sz="1365" dirty="0"/>
          </a:p>
        </p:txBody>
      </p:sp>
      <p:sp>
        <p:nvSpPr>
          <p:cNvPr id="15" name="Text 13"/>
          <p:cNvSpPr/>
          <p:nvPr/>
        </p:nvSpPr>
        <p:spPr>
          <a:xfrm>
            <a:off x="1075334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sz="1365" dirty="0"/>
          </a:p>
        </p:txBody>
      </p:sp>
      <p:sp>
        <p:nvSpPr>
          <p:cNvPr id="16" name="Text 14"/>
          <p:cNvSpPr/>
          <p:nvPr/>
        </p:nvSpPr>
        <p:spPr>
          <a:xfrm>
            <a:off x="1417320" y="146304"/>
            <a:ext cx="731520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Build 2026  //  localhost: Kathmandu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4048" y="576072"/>
            <a:ext cx="493776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576072"/>
            <a:ext cx="1609344" cy="0"/>
          </a:xfrm>
          <a:prstGeom prst="line">
            <a:avLst/>
          </a:prstGeom>
          <a:noFill/>
          <a:ln w="17780">
            <a:solidFill>
              <a:srgbClr val="EC48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6291072"/>
            <a:ext cx="113842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889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345936"/>
            <a:ext cx="102870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Organized by .NET Hub Kathmandu • Supported by Microsoft &amp; Global AI Community • Venue Partner: Maitri • Community Partner: NepalCloud Professionals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109960" y="6336792"/>
            <a:ext cx="4572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841248"/>
            <a:ext cx="804672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80B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Developers Need to Learn</a:t>
            </a:r>
            <a:endParaRPr lang="en-US" sz="3100" dirty="0"/>
          </a:p>
        </p:txBody>
      </p:sp>
      <p:sp>
        <p:nvSpPr>
          <p:cNvPr id="23" name="Text 21"/>
          <p:cNvSpPr/>
          <p:nvPr/>
        </p:nvSpPr>
        <p:spPr>
          <a:xfrm>
            <a:off x="612648" y="1399032"/>
            <a:ext cx="8229600" cy="3657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software is still software engineering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77240" y="1783080"/>
            <a:ext cx="10652760" cy="685800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4400" y="1947672"/>
            <a:ext cx="411480" cy="41148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2020824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63040" y="1856105"/>
            <a:ext cx="973836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and instruction design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463040" y="2176272"/>
            <a:ext cx="9738360" cy="192024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backend and cloud skills still matter.</a:t>
            </a:r>
            <a:endParaRPr lang="en-US" sz="1750" dirty="0"/>
          </a:p>
        </p:txBody>
      </p:sp>
      <p:sp>
        <p:nvSpPr>
          <p:cNvPr id="29" name="Shape 27"/>
          <p:cNvSpPr/>
          <p:nvPr/>
        </p:nvSpPr>
        <p:spPr>
          <a:xfrm>
            <a:off x="777240" y="2487295"/>
            <a:ext cx="10652760" cy="685165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14400" y="2651760"/>
            <a:ext cx="411480" cy="41148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7552" y="2724912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463040" y="2560193"/>
            <a:ext cx="973836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 calling and tool design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463040" y="2880360"/>
            <a:ext cx="9738360" cy="192024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backend and cloud skills still matter.</a:t>
            </a:r>
            <a:endParaRPr lang="en-US" sz="1750" dirty="0"/>
          </a:p>
        </p:txBody>
      </p:sp>
      <p:sp>
        <p:nvSpPr>
          <p:cNvPr id="34" name="Shape 32"/>
          <p:cNvSpPr/>
          <p:nvPr/>
        </p:nvSpPr>
        <p:spPr>
          <a:xfrm>
            <a:off x="777240" y="3244215"/>
            <a:ext cx="10652760" cy="726440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14400" y="3355848"/>
            <a:ext cx="411480" cy="41148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7552" y="3429000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463040" y="3191256"/>
            <a:ext cx="973836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and knowledge grounding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1463040" y="3511423"/>
            <a:ext cx="9738360" cy="192024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backend and cloud skills still matter.</a:t>
            </a:r>
            <a:endParaRPr lang="en-US" sz="1750" dirty="0"/>
          </a:p>
        </p:txBody>
      </p:sp>
      <p:sp>
        <p:nvSpPr>
          <p:cNvPr id="39" name="Shape 37"/>
          <p:cNvSpPr/>
          <p:nvPr/>
        </p:nvSpPr>
        <p:spPr>
          <a:xfrm>
            <a:off x="777240" y="4133215"/>
            <a:ext cx="10652760" cy="749300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41070" y="4288536"/>
            <a:ext cx="411480" cy="41148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12317" y="4361688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463040" y="4160774"/>
            <a:ext cx="973836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security and permission boundaries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1463040" y="4480306"/>
            <a:ext cx="9738360" cy="192024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backend and cloud skills still matter.</a:t>
            </a:r>
            <a:endParaRPr lang="en-US" sz="1750" dirty="0"/>
          </a:p>
        </p:txBody>
      </p:sp>
      <p:sp>
        <p:nvSpPr>
          <p:cNvPr id="44" name="Shape 42"/>
          <p:cNvSpPr/>
          <p:nvPr/>
        </p:nvSpPr>
        <p:spPr>
          <a:xfrm>
            <a:off x="777875" y="5074920"/>
            <a:ext cx="10743565" cy="911860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914400" y="5265039"/>
            <a:ext cx="411480" cy="41148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87552" y="5355971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1463040" y="5175377"/>
            <a:ext cx="973836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Evaluation, observability, and approval flows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1463040" y="5584571"/>
            <a:ext cx="9738360" cy="192024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backend and cloud skills still matter.</a:t>
            </a:r>
            <a:endParaRPr lang="en-US" sz="1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-91440"/>
            <a:ext cx="4389120" cy="2011680"/>
          </a:xfrm>
          <a:prstGeom prst="arc">
            <a:avLst/>
          </a:prstGeom>
          <a:noFill/>
          <a:ln w="13970">
            <a:solidFill>
              <a:srgbClr val="DDEBFF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45720"/>
            <a:ext cx="3840480" cy="1874520"/>
          </a:xfrm>
          <a:prstGeom prst="arc">
            <a:avLst/>
          </a:prstGeom>
          <a:noFill/>
          <a:ln w="12700">
            <a:solidFill>
              <a:srgbClr val="E8DDFF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274320"/>
            <a:ext cx="73152" cy="73152"/>
          </a:xfrm>
          <a:prstGeom prst="rect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20272" y="402336"/>
            <a:ext cx="73152" cy="73152"/>
          </a:xfrm>
          <a:prstGeom prst="rect">
            <a:avLst/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1440" y="566928"/>
            <a:ext cx="73152" cy="73152"/>
          </a:xfrm>
          <a:prstGeom prst="rect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82528" y="621792"/>
            <a:ext cx="73152" cy="73152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559552"/>
            <a:ext cx="12191695" cy="16459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5166360"/>
            <a:ext cx="2560320" cy="128016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5074920"/>
            <a:ext cx="2834640" cy="1371600"/>
          </a:xfrm>
          <a:prstGeom prst="arc">
            <a:avLst/>
          </a:prstGeom>
          <a:noFill/>
          <a:ln w="15240">
            <a:solidFill>
              <a:srgbClr val="EDE9FE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</a:t>
            </a:r>
            <a:endParaRPr lang="en-US" sz="1365" dirty="0"/>
          </a:p>
        </p:txBody>
      </p:sp>
      <p:sp>
        <p:nvSpPr>
          <p:cNvPr id="12" name="Text 10"/>
          <p:cNvSpPr/>
          <p:nvPr/>
        </p:nvSpPr>
        <p:spPr>
          <a:xfrm>
            <a:off x="556870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</a:t>
            </a:r>
            <a:endParaRPr lang="en-US" sz="1365" dirty="0"/>
          </a:p>
        </p:txBody>
      </p:sp>
      <p:sp>
        <p:nvSpPr>
          <p:cNvPr id="13" name="Text 11"/>
          <p:cNvSpPr/>
          <p:nvPr/>
        </p:nvSpPr>
        <p:spPr>
          <a:xfrm>
            <a:off x="729691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06B6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</a:t>
            </a:r>
            <a:endParaRPr lang="en-US" sz="1365" dirty="0"/>
          </a:p>
        </p:txBody>
      </p:sp>
      <p:sp>
        <p:nvSpPr>
          <p:cNvPr id="14" name="Text 12"/>
          <p:cNvSpPr/>
          <p:nvPr/>
        </p:nvSpPr>
        <p:spPr>
          <a:xfrm>
            <a:off x="902513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EC48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</a:t>
            </a:r>
            <a:endParaRPr lang="en-US" sz="1365" dirty="0"/>
          </a:p>
        </p:txBody>
      </p:sp>
      <p:sp>
        <p:nvSpPr>
          <p:cNvPr id="15" name="Text 13"/>
          <p:cNvSpPr/>
          <p:nvPr/>
        </p:nvSpPr>
        <p:spPr>
          <a:xfrm>
            <a:off x="1075334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sz="1365" dirty="0"/>
          </a:p>
        </p:txBody>
      </p:sp>
      <p:sp>
        <p:nvSpPr>
          <p:cNvPr id="16" name="Text 14"/>
          <p:cNvSpPr/>
          <p:nvPr/>
        </p:nvSpPr>
        <p:spPr>
          <a:xfrm>
            <a:off x="1417320" y="146304"/>
            <a:ext cx="731520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Build 2026  //  localhost: Kathmandu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4048" y="576072"/>
            <a:ext cx="493776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576072"/>
            <a:ext cx="1609344" cy="0"/>
          </a:xfrm>
          <a:prstGeom prst="line">
            <a:avLst/>
          </a:prstGeom>
          <a:noFill/>
          <a:ln w="17780">
            <a:solidFill>
              <a:srgbClr val="EC48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6291072"/>
            <a:ext cx="113842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889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345936"/>
            <a:ext cx="102870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Organized by .NET Hub Kathmandu • Supported by Microsoft &amp; Global AI Community • Venue Partner: Maitri • Community Partner: NepalCloud Professionals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109960" y="6336792"/>
            <a:ext cx="4572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841248"/>
            <a:ext cx="804672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80B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 and Challenges</a:t>
            </a:r>
            <a:endParaRPr lang="en-US" sz="3100" dirty="0"/>
          </a:p>
        </p:txBody>
      </p:sp>
      <p:sp>
        <p:nvSpPr>
          <p:cNvPr id="23" name="Text 21"/>
          <p:cNvSpPr/>
          <p:nvPr/>
        </p:nvSpPr>
        <p:spPr>
          <a:xfrm>
            <a:off x="612648" y="1399032"/>
            <a:ext cx="8229600" cy="3657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Powerful systems need strong guardrails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77240" y="1938528"/>
            <a:ext cx="315468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4400" y="2103120"/>
            <a:ext cx="411480" cy="41148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2176272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63040" y="2121408"/>
            <a:ext cx="224028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risks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463040" y="2523744"/>
            <a:ext cx="224028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Wrong answer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463040" y="2834640"/>
            <a:ext cx="224028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Hallucination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463040" y="3145536"/>
            <a:ext cx="224028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Poor tool selection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463040" y="3456432"/>
            <a:ext cx="224028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Incomplete context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4599432" y="1938528"/>
            <a:ext cx="315468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36592" y="2103120"/>
            <a:ext cx="411480" cy="41148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9744" y="2176272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285232" y="2121408"/>
            <a:ext cx="224028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risks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285232" y="2523744"/>
            <a:ext cx="224028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Prompt injection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5285232" y="2834640"/>
            <a:ext cx="224028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Data leakage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5285232" y="3145536"/>
            <a:ext cx="224028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Unauthorized action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5285232" y="3456432"/>
            <a:ext cx="224028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Over-permissioned tools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8421624" y="1938528"/>
            <a:ext cx="315468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558784" y="2103120"/>
            <a:ext cx="411480" cy="41148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31936" y="2176272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9107424" y="2121408"/>
            <a:ext cx="224028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risks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9107424" y="2523744"/>
            <a:ext cx="224028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High cost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9107424" y="2834640"/>
            <a:ext cx="224028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Hard testing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9107424" y="3145536"/>
            <a:ext cx="224028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Poor tracing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9107424" y="3456432"/>
            <a:ext cx="224028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Trust issues</a:t>
            </a:r>
            <a:endParaRPr lang="en-US" sz="16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-91440"/>
            <a:ext cx="4389120" cy="2011680"/>
          </a:xfrm>
          <a:prstGeom prst="arc">
            <a:avLst/>
          </a:prstGeom>
          <a:noFill/>
          <a:ln w="13970">
            <a:solidFill>
              <a:srgbClr val="DDEBFF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45720"/>
            <a:ext cx="3840480" cy="1874520"/>
          </a:xfrm>
          <a:prstGeom prst="arc">
            <a:avLst/>
          </a:prstGeom>
          <a:noFill/>
          <a:ln w="12700">
            <a:solidFill>
              <a:srgbClr val="E8DDFF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274320"/>
            <a:ext cx="73152" cy="73152"/>
          </a:xfrm>
          <a:prstGeom prst="rect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20272" y="402336"/>
            <a:ext cx="73152" cy="73152"/>
          </a:xfrm>
          <a:prstGeom prst="rect">
            <a:avLst/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1440" y="566928"/>
            <a:ext cx="73152" cy="73152"/>
          </a:xfrm>
          <a:prstGeom prst="rect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82528" y="621792"/>
            <a:ext cx="73152" cy="73152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559552"/>
            <a:ext cx="12191695" cy="16459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5166360"/>
            <a:ext cx="2560320" cy="128016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5074920"/>
            <a:ext cx="2834640" cy="1371600"/>
          </a:xfrm>
          <a:prstGeom prst="arc">
            <a:avLst/>
          </a:prstGeom>
          <a:noFill/>
          <a:ln w="15240">
            <a:solidFill>
              <a:srgbClr val="EDE9FE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</a:t>
            </a:r>
            <a:endParaRPr lang="en-US" sz="1365" dirty="0"/>
          </a:p>
        </p:txBody>
      </p:sp>
      <p:sp>
        <p:nvSpPr>
          <p:cNvPr id="12" name="Text 10"/>
          <p:cNvSpPr/>
          <p:nvPr/>
        </p:nvSpPr>
        <p:spPr>
          <a:xfrm>
            <a:off x="556870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</a:t>
            </a:r>
            <a:endParaRPr lang="en-US" sz="1365" dirty="0"/>
          </a:p>
        </p:txBody>
      </p:sp>
      <p:sp>
        <p:nvSpPr>
          <p:cNvPr id="13" name="Text 11"/>
          <p:cNvSpPr/>
          <p:nvPr/>
        </p:nvSpPr>
        <p:spPr>
          <a:xfrm>
            <a:off x="729691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06B6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</a:t>
            </a:r>
            <a:endParaRPr lang="en-US" sz="1365" dirty="0"/>
          </a:p>
        </p:txBody>
      </p:sp>
      <p:sp>
        <p:nvSpPr>
          <p:cNvPr id="14" name="Text 12"/>
          <p:cNvSpPr/>
          <p:nvPr/>
        </p:nvSpPr>
        <p:spPr>
          <a:xfrm>
            <a:off x="902513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EC48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</a:t>
            </a:r>
            <a:endParaRPr lang="en-US" sz="1365" dirty="0"/>
          </a:p>
        </p:txBody>
      </p:sp>
      <p:sp>
        <p:nvSpPr>
          <p:cNvPr id="15" name="Text 13"/>
          <p:cNvSpPr/>
          <p:nvPr/>
        </p:nvSpPr>
        <p:spPr>
          <a:xfrm>
            <a:off x="1075334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sz="1365" dirty="0"/>
          </a:p>
        </p:txBody>
      </p:sp>
      <p:sp>
        <p:nvSpPr>
          <p:cNvPr id="16" name="Text 14"/>
          <p:cNvSpPr/>
          <p:nvPr/>
        </p:nvSpPr>
        <p:spPr>
          <a:xfrm>
            <a:off x="1417320" y="146304"/>
            <a:ext cx="731520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Build 2026  //  localhost: Kathmandu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4048" y="576072"/>
            <a:ext cx="493776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576072"/>
            <a:ext cx="1609344" cy="0"/>
          </a:xfrm>
          <a:prstGeom prst="line">
            <a:avLst/>
          </a:prstGeom>
          <a:noFill/>
          <a:ln w="17780">
            <a:solidFill>
              <a:srgbClr val="EC48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6291072"/>
            <a:ext cx="113842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889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345936"/>
            <a:ext cx="102870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Organized by .NET Hub Kathmandu • Supported by Microsoft &amp; Global AI Community • Venue Partner: Maitri • Community Partner: NepalCloud Professionals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109960" y="6336792"/>
            <a:ext cx="4572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841248"/>
            <a:ext cx="804672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80B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Good Agent Design Principles</a:t>
            </a:r>
            <a:endParaRPr lang="en-US" sz="3100" dirty="0"/>
          </a:p>
        </p:txBody>
      </p:sp>
      <p:sp>
        <p:nvSpPr>
          <p:cNvPr id="23" name="Text 21"/>
          <p:cNvSpPr/>
          <p:nvPr/>
        </p:nvSpPr>
        <p:spPr>
          <a:xfrm>
            <a:off x="612648" y="1399032"/>
            <a:ext cx="8229600" cy="3657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is an architecture concern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77240" y="1700784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4400" y="1865376"/>
            <a:ext cx="411480" cy="41148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1938528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63040" y="1883664"/>
            <a:ext cx="416052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Goal-aware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463040" y="2286000"/>
            <a:ext cx="4160520" cy="10972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knows what task it is solving</a:t>
            </a:r>
            <a:endParaRPr lang="en-US" sz="1750" dirty="0"/>
          </a:p>
        </p:txBody>
      </p:sp>
      <p:sp>
        <p:nvSpPr>
          <p:cNvPr id="29" name="Shape 27"/>
          <p:cNvSpPr/>
          <p:nvPr/>
        </p:nvSpPr>
        <p:spPr>
          <a:xfrm>
            <a:off x="6263640" y="1700784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1865376"/>
            <a:ext cx="411480" cy="41148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73952" y="1938528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49440" y="1883664"/>
            <a:ext cx="416052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Tool-limited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949440" y="2286000"/>
            <a:ext cx="4160520" cy="10972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only approved tools</a:t>
            </a:r>
            <a:endParaRPr lang="en-US" sz="1750" dirty="0"/>
          </a:p>
        </p:txBody>
      </p:sp>
      <p:sp>
        <p:nvSpPr>
          <p:cNvPr id="34" name="Shape 32"/>
          <p:cNvSpPr/>
          <p:nvPr/>
        </p:nvSpPr>
        <p:spPr>
          <a:xfrm>
            <a:off x="777240" y="2779776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14400" y="2944368"/>
            <a:ext cx="411480" cy="41148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7552" y="3017520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463040" y="2962656"/>
            <a:ext cx="416052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Permission-controlled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1463040" y="3364992"/>
            <a:ext cx="4160520" cy="10972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respects identity and roles</a:t>
            </a:r>
            <a:endParaRPr lang="en-US" sz="1750" dirty="0"/>
          </a:p>
        </p:txBody>
      </p:sp>
      <p:sp>
        <p:nvSpPr>
          <p:cNvPr id="39" name="Shape 37"/>
          <p:cNvSpPr/>
          <p:nvPr/>
        </p:nvSpPr>
        <p:spPr>
          <a:xfrm>
            <a:off x="6263640" y="2779776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00800" y="2944368"/>
            <a:ext cx="411480" cy="41148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73952" y="3017520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949440" y="2962656"/>
            <a:ext cx="416052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Observable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6949440" y="3364992"/>
            <a:ext cx="4160520" cy="10972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 decisions and tool calls</a:t>
            </a:r>
            <a:endParaRPr lang="en-US" sz="1750" dirty="0"/>
          </a:p>
        </p:txBody>
      </p:sp>
      <p:sp>
        <p:nvSpPr>
          <p:cNvPr id="44" name="Shape 42"/>
          <p:cNvSpPr/>
          <p:nvPr/>
        </p:nvSpPr>
        <p:spPr>
          <a:xfrm>
            <a:off x="777240" y="3858768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914400" y="4023360"/>
            <a:ext cx="411480" cy="41148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87552" y="4096512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1463040" y="4041648"/>
            <a:ext cx="416052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Explainable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1463040" y="4443984"/>
            <a:ext cx="4160520" cy="10972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summarize why it acted</a:t>
            </a:r>
            <a:endParaRPr lang="en-US" sz="1750" dirty="0"/>
          </a:p>
        </p:txBody>
      </p:sp>
      <p:sp>
        <p:nvSpPr>
          <p:cNvPr id="49" name="Shape 47"/>
          <p:cNvSpPr/>
          <p:nvPr/>
        </p:nvSpPr>
        <p:spPr>
          <a:xfrm>
            <a:off x="6263640" y="3858768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400800" y="4023360"/>
            <a:ext cx="411480" cy="41148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73952" y="4096512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6949440" y="4041648"/>
            <a:ext cx="416052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Human-supervised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6949440" y="4443984"/>
            <a:ext cx="4160520" cy="10972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asks approval for risky actions</a:t>
            </a:r>
            <a:endParaRPr lang="en-US" sz="1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-91440"/>
            <a:ext cx="4389120" cy="2011680"/>
          </a:xfrm>
          <a:prstGeom prst="arc">
            <a:avLst/>
          </a:prstGeom>
          <a:noFill/>
          <a:ln w="13970">
            <a:solidFill>
              <a:srgbClr val="DDEBFF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45720"/>
            <a:ext cx="3840480" cy="1874520"/>
          </a:xfrm>
          <a:prstGeom prst="arc">
            <a:avLst/>
          </a:prstGeom>
          <a:noFill/>
          <a:ln w="12700">
            <a:solidFill>
              <a:srgbClr val="E8DDFF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274320"/>
            <a:ext cx="73152" cy="73152"/>
          </a:xfrm>
          <a:prstGeom prst="rect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20272" y="402336"/>
            <a:ext cx="73152" cy="73152"/>
          </a:xfrm>
          <a:prstGeom prst="rect">
            <a:avLst/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1440" y="566928"/>
            <a:ext cx="73152" cy="73152"/>
          </a:xfrm>
          <a:prstGeom prst="rect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82528" y="621792"/>
            <a:ext cx="73152" cy="73152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559552"/>
            <a:ext cx="12191695" cy="16459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5166360"/>
            <a:ext cx="2560320" cy="128016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5074920"/>
            <a:ext cx="2834640" cy="1371600"/>
          </a:xfrm>
          <a:prstGeom prst="arc">
            <a:avLst/>
          </a:prstGeom>
          <a:noFill/>
          <a:ln w="15240">
            <a:solidFill>
              <a:srgbClr val="EDE9FE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</a:t>
            </a:r>
            <a:endParaRPr lang="en-US" sz="1365" dirty="0"/>
          </a:p>
        </p:txBody>
      </p:sp>
      <p:sp>
        <p:nvSpPr>
          <p:cNvPr id="12" name="Text 10"/>
          <p:cNvSpPr/>
          <p:nvPr/>
        </p:nvSpPr>
        <p:spPr>
          <a:xfrm>
            <a:off x="556870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</a:t>
            </a:r>
            <a:endParaRPr lang="en-US" sz="1365" dirty="0"/>
          </a:p>
        </p:txBody>
      </p:sp>
      <p:sp>
        <p:nvSpPr>
          <p:cNvPr id="13" name="Text 11"/>
          <p:cNvSpPr/>
          <p:nvPr/>
        </p:nvSpPr>
        <p:spPr>
          <a:xfrm>
            <a:off x="729691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06B6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</a:t>
            </a:r>
            <a:endParaRPr lang="en-US" sz="1365" dirty="0"/>
          </a:p>
        </p:txBody>
      </p:sp>
      <p:sp>
        <p:nvSpPr>
          <p:cNvPr id="14" name="Text 12"/>
          <p:cNvSpPr/>
          <p:nvPr/>
        </p:nvSpPr>
        <p:spPr>
          <a:xfrm>
            <a:off x="902513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EC48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</a:t>
            </a:r>
            <a:endParaRPr lang="en-US" sz="1365" dirty="0"/>
          </a:p>
        </p:txBody>
      </p:sp>
      <p:sp>
        <p:nvSpPr>
          <p:cNvPr id="15" name="Text 13"/>
          <p:cNvSpPr/>
          <p:nvPr/>
        </p:nvSpPr>
        <p:spPr>
          <a:xfrm>
            <a:off x="1075334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sz="1365" dirty="0"/>
          </a:p>
        </p:txBody>
      </p:sp>
      <p:sp>
        <p:nvSpPr>
          <p:cNvPr id="16" name="Text 14"/>
          <p:cNvSpPr/>
          <p:nvPr/>
        </p:nvSpPr>
        <p:spPr>
          <a:xfrm>
            <a:off x="1417320" y="146304"/>
            <a:ext cx="731520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Microsoft Build 2026  //  localhost: Kathmandu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4048" y="576072"/>
            <a:ext cx="493776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576072"/>
            <a:ext cx="1609344" cy="0"/>
          </a:xfrm>
          <a:prstGeom prst="line">
            <a:avLst/>
          </a:prstGeom>
          <a:noFill/>
          <a:ln w="17780">
            <a:solidFill>
              <a:srgbClr val="EC48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6291072"/>
            <a:ext cx="113842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889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345936"/>
            <a:ext cx="102870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Organized by .NET Hub Kathmandu • Supported by Microsoft &amp; Global AI Community • Venue Partner: Maitri • Community Partner: NepalCloud Professionals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109960" y="6336792"/>
            <a:ext cx="4572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841248"/>
            <a:ext cx="804672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80B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Evolution of Application Experience</a:t>
            </a:r>
            <a:endParaRPr lang="en-US" sz="3100" dirty="0"/>
          </a:p>
        </p:txBody>
      </p:sp>
      <p:sp>
        <p:nvSpPr>
          <p:cNvPr id="23" name="Text 21"/>
          <p:cNvSpPr/>
          <p:nvPr/>
        </p:nvSpPr>
        <p:spPr>
          <a:xfrm>
            <a:off x="612648" y="1399032"/>
            <a:ext cx="8229600" cy="3657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future is hybrid — not only chat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77240" y="2121408"/>
            <a:ext cx="23317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4400" y="2286000"/>
            <a:ext cx="411480" cy="41148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2359152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63040" y="2304288"/>
            <a:ext cx="141732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UI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463040" y="2706624"/>
            <a:ext cx="1417320" cy="143560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Buttons</a:t>
            </a:r>
            <a:endParaRPr lang="en-US" sz="1750" dirty="0"/>
          </a:p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Menus</a:t>
            </a:r>
            <a:endParaRPr lang="en-US" sz="1750" dirty="0"/>
          </a:p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Forms</a:t>
            </a:r>
            <a:endParaRPr lang="en-US" sz="1750" dirty="0"/>
          </a:p>
        </p:txBody>
      </p:sp>
      <p:sp>
        <p:nvSpPr>
          <p:cNvPr id="29" name="Shape 27"/>
          <p:cNvSpPr/>
          <p:nvPr/>
        </p:nvSpPr>
        <p:spPr>
          <a:xfrm>
            <a:off x="3593592" y="2121408"/>
            <a:ext cx="23317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730752" y="2286000"/>
            <a:ext cx="411480" cy="41148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03904" y="2359152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279392" y="2304288"/>
            <a:ext cx="141732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UI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279392" y="2706624"/>
            <a:ext cx="1417320" cy="143560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data</a:t>
            </a:r>
            <a:endParaRPr lang="en-US" sz="1750" dirty="0"/>
          </a:p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results</a:t>
            </a:r>
            <a:endParaRPr lang="en-US" sz="1750" dirty="0"/>
          </a:p>
        </p:txBody>
      </p:sp>
      <p:sp>
        <p:nvSpPr>
          <p:cNvPr id="34" name="Shape 32"/>
          <p:cNvSpPr/>
          <p:nvPr/>
        </p:nvSpPr>
        <p:spPr>
          <a:xfrm>
            <a:off x="6409944" y="2121408"/>
            <a:ext cx="23317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47104" y="2286000"/>
            <a:ext cx="411480" cy="41148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0256" y="2359152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095744" y="2304288"/>
            <a:ext cx="141732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UI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7095744" y="2706624"/>
            <a:ext cx="1417320" cy="143560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questions</a:t>
            </a:r>
            <a:endParaRPr lang="en-US" sz="1750" dirty="0"/>
          </a:p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Clarify intent</a:t>
            </a:r>
            <a:endParaRPr lang="en-US" sz="1750" dirty="0"/>
          </a:p>
        </p:txBody>
      </p:sp>
      <p:sp>
        <p:nvSpPr>
          <p:cNvPr id="39" name="Shape 37"/>
          <p:cNvSpPr/>
          <p:nvPr/>
        </p:nvSpPr>
        <p:spPr>
          <a:xfrm>
            <a:off x="9226296" y="2121408"/>
            <a:ext cx="23317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3970">
            <a:solidFill>
              <a:srgbClr val="DCEBFF"/>
            </a:solidFill>
            <a:prstDash val="solid"/>
          </a:ln>
          <a:effectLst>
            <a:outerShdw blurRad="19050" dist="50800" dir="2700000" algn="bl" rotWithShape="0">
              <a:srgbClr val="DDEBFF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363456" y="2286000"/>
            <a:ext cx="411480" cy="41148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436608" y="2359152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9912096" y="2304288"/>
            <a:ext cx="141732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UI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9912096" y="2706624"/>
            <a:ext cx="1417320" cy="143560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750" dirty="0"/>
          </a:p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tools</a:t>
            </a:r>
            <a:endParaRPr lang="en-US" sz="1750" dirty="0"/>
          </a:p>
          <a:p>
            <a:pPr marL="0" indent="0" algn="l">
              <a:buNone/>
            </a:pPr>
            <a:r>
              <a:rPr lang="en-US" sz="17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 safely</a:t>
            </a:r>
            <a:endParaRPr lang="en-US" sz="1750" dirty="0"/>
          </a:p>
        </p:txBody>
      </p:sp>
      <p:sp>
        <p:nvSpPr>
          <p:cNvPr id="44" name="Text 42"/>
          <p:cNvSpPr/>
          <p:nvPr/>
        </p:nvSpPr>
        <p:spPr>
          <a:xfrm>
            <a:off x="1097280" y="4892040"/>
            <a:ext cx="9966960" cy="38404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UX: the best apps combine all interaction modes.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-91440"/>
            <a:ext cx="4389120" cy="2011680"/>
          </a:xfrm>
          <a:prstGeom prst="arc">
            <a:avLst/>
          </a:prstGeom>
          <a:noFill/>
          <a:ln w="13970">
            <a:solidFill>
              <a:srgbClr val="DDEBFF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45720"/>
            <a:ext cx="3840480" cy="1874520"/>
          </a:xfrm>
          <a:prstGeom prst="arc">
            <a:avLst/>
          </a:prstGeom>
          <a:noFill/>
          <a:ln w="12700">
            <a:solidFill>
              <a:srgbClr val="E8DDFF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274320"/>
            <a:ext cx="73152" cy="73152"/>
          </a:xfrm>
          <a:prstGeom prst="rect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20272" y="402336"/>
            <a:ext cx="73152" cy="73152"/>
          </a:xfrm>
          <a:prstGeom prst="rect">
            <a:avLst/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1440" y="566928"/>
            <a:ext cx="73152" cy="73152"/>
          </a:xfrm>
          <a:prstGeom prst="rect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82528" y="621792"/>
            <a:ext cx="73152" cy="73152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559552"/>
            <a:ext cx="12191695" cy="16459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5166360"/>
            <a:ext cx="2560320" cy="128016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5074920"/>
            <a:ext cx="2834640" cy="1371600"/>
          </a:xfrm>
          <a:prstGeom prst="arc">
            <a:avLst/>
          </a:prstGeom>
          <a:noFill/>
          <a:ln w="15240">
            <a:solidFill>
              <a:srgbClr val="EDE9FE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</a:t>
            </a:r>
            <a:endParaRPr lang="en-US" sz="1365" dirty="0"/>
          </a:p>
        </p:txBody>
      </p:sp>
      <p:sp>
        <p:nvSpPr>
          <p:cNvPr id="12" name="Text 10"/>
          <p:cNvSpPr/>
          <p:nvPr/>
        </p:nvSpPr>
        <p:spPr>
          <a:xfrm>
            <a:off x="556870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</a:t>
            </a:r>
            <a:endParaRPr lang="en-US" sz="1365" dirty="0"/>
          </a:p>
        </p:txBody>
      </p:sp>
      <p:sp>
        <p:nvSpPr>
          <p:cNvPr id="13" name="Text 11"/>
          <p:cNvSpPr/>
          <p:nvPr/>
        </p:nvSpPr>
        <p:spPr>
          <a:xfrm>
            <a:off x="729691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06B6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</a:t>
            </a:r>
            <a:endParaRPr lang="en-US" sz="1365" dirty="0"/>
          </a:p>
        </p:txBody>
      </p:sp>
      <p:sp>
        <p:nvSpPr>
          <p:cNvPr id="14" name="Text 12"/>
          <p:cNvSpPr/>
          <p:nvPr/>
        </p:nvSpPr>
        <p:spPr>
          <a:xfrm>
            <a:off x="902513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EC48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</a:t>
            </a:r>
            <a:endParaRPr lang="en-US" sz="1365" dirty="0"/>
          </a:p>
        </p:txBody>
      </p:sp>
      <p:sp>
        <p:nvSpPr>
          <p:cNvPr id="15" name="Text 13"/>
          <p:cNvSpPr/>
          <p:nvPr/>
        </p:nvSpPr>
        <p:spPr>
          <a:xfrm>
            <a:off x="1075334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sz="1365" dirty="0"/>
          </a:p>
        </p:txBody>
      </p:sp>
      <p:sp>
        <p:nvSpPr>
          <p:cNvPr id="16" name="Text 14"/>
          <p:cNvSpPr/>
          <p:nvPr/>
        </p:nvSpPr>
        <p:spPr>
          <a:xfrm>
            <a:off x="1417320" y="146304"/>
            <a:ext cx="731520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Build 2026  //  localhost: Kathmandu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4048" y="576072"/>
            <a:ext cx="493776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576072"/>
            <a:ext cx="1609344" cy="0"/>
          </a:xfrm>
          <a:prstGeom prst="line">
            <a:avLst/>
          </a:prstGeom>
          <a:noFill/>
          <a:ln w="17780">
            <a:solidFill>
              <a:srgbClr val="EC48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6291072"/>
            <a:ext cx="113842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889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345936"/>
            <a:ext cx="102870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Organized by .NET Hub Kathmandu • Supported by Microsoft &amp; Global AI Community • Venue Partner: Maitri • Community Partner: NepalCloud Professionals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109960" y="6336792"/>
            <a:ext cx="4572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841248"/>
            <a:ext cx="804672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80B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sym typeface="+mn-ea"/>
              </a:rPr>
              <a:t>Evolution of Application Experience</a:t>
            </a:r>
            <a:endParaRPr lang="en-US" sz="3100" dirty="0"/>
          </a:p>
        </p:txBody>
      </p:sp>
      <p:sp>
        <p:nvSpPr>
          <p:cNvPr id="23" name="Text 21"/>
          <p:cNvSpPr/>
          <p:nvPr/>
        </p:nvSpPr>
        <p:spPr>
          <a:xfrm>
            <a:off x="612648" y="1399032"/>
            <a:ext cx="8229600" cy="3657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your existing APIs to an agent workflow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68350" y="1920240"/>
            <a:ext cx="10698480" cy="41148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request: “Find all pending orders for this customer and prepare a settlement summary.”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713232" y="2880360"/>
            <a:ext cx="1508760" cy="6858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" y="3063240"/>
            <a:ext cx="1362456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customer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2267712" y="2999232"/>
            <a:ext cx="256032" cy="393192"/>
          </a:xfrm>
          <a:prstGeom prst="chevron">
            <a:avLst/>
          </a:prstGeom>
          <a:solidFill>
            <a:srgbClr val="2563EB">
              <a:alpha val="7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15184" y="2880360"/>
            <a:ext cx="1508760" cy="68580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88336" y="3063240"/>
            <a:ext cx="1362456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Fetch pending orders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169664" y="2999232"/>
            <a:ext cx="256032" cy="393192"/>
          </a:xfrm>
          <a:prstGeom prst="chevron">
            <a:avLst/>
          </a:prstGeom>
          <a:solidFill>
            <a:srgbClr val="2563EB">
              <a:alpha val="7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17136" y="2880360"/>
            <a:ext cx="1508760" cy="6858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90288" y="3063240"/>
            <a:ext cx="1362456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 total due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071616" y="2999232"/>
            <a:ext cx="256032" cy="393192"/>
          </a:xfrm>
          <a:prstGeom prst="chevron">
            <a:avLst/>
          </a:prstGeom>
          <a:solidFill>
            <a:srgbClr val="2563EB">
              <a:alpha val="7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19088" y="2880360"/>
            <a:ext cx="1508760" cy="68580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3063240"/>
            <a:ext cx="1362456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due rules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7973568" y="2999232"/>
            <a:ext cx="256032" cy="393192"/>
          </a:xfrm>
          <a:prstGeom prst="chevron">
            <a:avLst/>
          </a:prstGeom>
          <a:solidFill>
            <a:srgbClr val="2563EB">
              <a:alpha val="7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21040" y="2880360"/>
            <a:ext cx="1508760" cy="6858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94192" y="3063240"/>
            <a:ext cx="1362456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summary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9875520" y="2999232"/>
            <a:ext cx="256032" cy="393192"/>
          </a:xfrm>
          <a:prstGeom prst="chevron">
            <a:avLst/>
          </a:prstGeom>
          <a:solidFill>
            <a:srgbClr val="2563EB">
              <a:alpha val="7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222992" y="2880360"/>
            <a:ext cx="1508760" cy="68580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296144" y="3063240"/>
            <a:ext cx="1362456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confirmation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1188720" y="4892040"/>
            <a:ext cx="9784080" cy="38404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point: ask confirmation before settlement or payment update.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-91440"/>
            <a:ext cx="4389120" cy="2011680"/>
          </a:xfrm>
          <a:prstGeom prst="arc">
            <a:avLst/>
          </a:prstGeom>
          <a:noFill/>
          <a:ln w="13970">
            <a:solidFill>
              <a:srgbClr val="DDEBFF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45720"/>
            <a:ext cx="3840480" cy="1874520"/>
          </a:xfrm>
          <a:prstGeom prst="arc">
            <a:avLst/>
          </a:prstGeom>
          <a:noFill/>
          <a:ln w="12700">
            <a:solidFill>
              <a:srgbClr val="E8DDFF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274320"/>
            <a:ext cx="73152" cy="73152"/>
          </a:xfrm>
          <a:prstGeom prst="rect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20272" y="402336"/>
            <a:ext cx="73152" cy="73152"/>
          </a:xfrm>
          <a:prstGeom prst="rect">
            <a:avLst/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1440" y="566928"/>
            <a:ext cx="73152" cy="73152"/>
          </a:xfrm>
          <a:prstGeom prst="rect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82528" y="621792"/>
            <a:ext cx="73152" cy="73152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559552"/>
            <a:ext cx="12191695" cy="16459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5166360"/>
            <a:ext cx="2560320" cy="128016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5074920"/>
            <a:ext cx="2834640" cy="1371600"/>
          </a:xfrm>
          <a:prstGeom prst="arc">
            <a:avLst/>
          </a:prstGeom>
          <a:noFill/>
          <a:ln w="15240">
            <a:solidFill>
              <a:srgbClr val="EDE9FE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</a:t>
            </a:r>
            <a:endParaRPr lang="en-US" sz="1365" dirty="0"/>
          </a:p>
        </p:txBody>
      </p:sp>
      <p:sp>
        <p:nvSpPr>
          <p:cNvPr id="12" name="Text 10"/>
          <p:cNvSpPr/>
          <p:nvPr/>
        </p:nvSpPr>
        <p:spPr>
          <a:xfrm>
            <a:off x="556870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</a:t>
            </a:r>
            <a:endParaRPr lang="en-US" sz="1365" dirty="0"/>
          </a:p>
        </p:txBody>
      </p:sp>
      <p:sp>
        <p:nvSpPr>
          <p:cNvPr id="13" name="Text 11"/>
          <p:cNvSpPr/>
          <p:nvPr/>
        </p:nvSpPr>
        <p:spPr>
          <a:xfrm>
            <a:off x="729691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06B6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</a:t>
            </a:r>
            <a:endParaRPr lang="en-US" sz="1365" dirty="0"/>
          </a:p>
        </p:txBody>
      </p:sp>
      <p:sp>
        <p:nvSpPr>
          <p:cNvPr id="14" name="Text 12"/>
          <p:cNvSpPr/>
          <p:nvPr/>
        </p:nvSpPr>
        <p:spPr>
          <a:xfrm>
            <a:off x="902513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EC48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</a:t>
            </a:r>
            <a:endParaRPr lang="en-US" sz="1365" dirty="0"/>
          </a:p>
        </p:txBody>
      </p:sp>
      <p:sp>
        <p:nvSpPr>
          <p:cNvPr id="15" name="Text 13"/>
          <p:cNvSpPr/>
          <p:nvPr/>
        </p:nvSpPr>
        <p:spPr>
          <a:xfrm>
            <a:off x="1075334" y="201168"/>
            <a:ext cx="211226" cy="2208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5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sz="1365" dirty="0"/>
          </a:p>
        </p:txBody>
      </p:sp>
      <p:sp>
        <p:nvSpPr>
          <p:cNvPr id="16" name="Text 14"/>
          <p:cNvSpPr/>
          <p:nvPr/>
        </p:nvSpPr>
        <p:spPr>
          <a:xfrm>
            <a:off x="1417320" y="146304"/>
            <a:ext cx="731520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Build 2026  //  localhost: Kathmandu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4048" y="576072"/>
            <a:ext cx="493776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576072"/>
            <a:ext cx="1609344" cy="0"/>
          </a:xfrm>
          <a:prstGeom prst="line">
            <a:avLst/>
          </a:prstGeom>
          <a:noFill/>
          <a:ln w="17780">
            <a:solidFill>
              <a:srgbClr val="EC48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6291072"/>
            <a:ext cx="113842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889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345936"/>
            <a:ext cx="102870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Organized by .NET Hub Kathmandu • Supported by Microsoft &amp; Global AI Community • Venue Partner: Maitri • Community Partner: NepalCloud Professionals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109960" y="6336792"/>
            <a:ext cx="4572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841248"/>
            <a:ext cx="804672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80B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Message</a:t>
            </a:r>
            <a:endParaRPr lang="en-US" sz="3100" dirty="0"/>
          </a:p>
        </p:txBody>
      </p:sp>
      <p:sp>
        <p:nvSpPr>
          <p:cNvPr id="23" name="Text 21"/>
          <p:cNvSpPr/>
          <p:nvPr/>
        </p:nvSpPr>
        <p:spPr>
          <a:xfrm>
            <a:off x="612648" y="1399032"/>
            <a:ext cx="8229600" cy="3657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Beyond Web APIs does not mean without Web APIs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68680" y="2331720"/>
            <a:ext cx="10607040" cy="7772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080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APIs + AI Models + Tools + Context + Security + Observability</a:t>
            </a:r>
            <a:endParaRPr lang="en-US" sz="3100" dirty="0"/>
          </a:p>
        </p:txBody>
      </p:sp>
      <p:sp>
        <p:nvSpPr>
          <p:cNvPr id="25" name="Text 23"/>
          <p:cNvSpPr/>
          <p:nvPr/>
        </p:nvSpPr>
        <p:spPr>
          <a:xfrm>
            <a:off x="1463040" y="3246120"/>
            <a:ext cx="9235440" cy="41148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is the shape of modern agentic software development.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3383280" y="4279392"/>
            <a:ext cx="5394960" cy="53035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  •  Q&amp;A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14381</Words>
  <Application>WPS Sheets</Application>
  <PresentationFormat>On-screen Show (16:9)</PresentationFormat>
  <Paragraphs>1222</Paragraphs>
  <Slides>27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48" baseType="lpstr">
      <vt:lpstr>Arial</vt:lpstr>
      <vt:lpstr>SimSun</vt:lpstr>
      <vt:lpstr>Wingdings</vt:lpstr>
      <vt:lpstr>Aptos Display</vt:lpstr>
      <vt:lpstr>Helvetica Neue</vt:lpstr>
      <vt:lpstr>Aptos Display</vt:lpstr>
      <vt:lpstr>Aptos Display</vt:lpstr>
      <vt:lpstr>Aptos</vt:lpstr>
      <vt:lpstr>Aptos</vt:lpstr>
      <vt:lpstr>Aptos</vt:lpstr>
      <vt:lpstr>Aptos Mono</vt:lpstr>
      <vt:lpstr>Aptos Mono</vt:lpstr>
      <vt:lpstr>Aptos Mono</vt:lpstr>
      <vt:lpstr>Microsoft YaHei</vt:lpstr>
      <vt:lpstr>汉仪旗黑</vt:lpstr>
      <vt:lpstr>Arial Unicode MS</vt:lpstr>
      <vt:lpstr>宋体-简</vt:lpstr>
      <vt:lpstr>Apple Color Emoji</vt:lpstr>
      <vt:lpstr>Calibri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 MVP Nepal Chapter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Web APIs: The Rise of AI Agents in Modern Software Development</dc:title>
  <dc:creator>OpenAI</dc:creator>
  <dc:subject>Beyond Web APIs: The Rise of AI Agents in Modern Software Development</dc:subject>
  <cp:lastModifiedBy>farhadrakib</cp:lastModifiedBy>
  <cp:revision>62</cp:revision>
  <dcterms:created xsi:type="dcterms:W3CDTF">2026-06-16T14:07:35Z</dcterms:created>
  <dcterms:modified xsi:type="dcterms:W3CDTF">2026-06-16T14:07:35Z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1033-12.1.25897.25897</vt:lpwstr>
  </property>
  <property fmtid="{D5CDD505-2E9C-101B-9397-08002B2CF9AE}" pid="3" name="ICV">
    <vt:lpwstr>EDD13770D25957F84B742D6AE657A4BE_43</vt:lpwstr>
  </property>
</Properties>
</file>
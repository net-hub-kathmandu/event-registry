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6858000" cx="12192000"/>
  <p:notesSz cx="6858000" cy="9144000"/>
  <p:embeddedFontLst>
    <p:embeddedFont>
      <p:font typeface="Play"/>
      <p:regular r:id="rId37"/>
      <p:bold r:id="rId38"/>
    </p:embeddedFont>
    <p:embeddedFont>
      <p:font typeface="Robot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i9Qm34UxrQ6km3dzl09ZdvI7/x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20" Type="http://schemas.openxmlformats.org/officeDocument/2006/relationships/slide" Target="slides/slide16.xml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43" Type="http://customschemas.google.com/relationships/presentationmetadata" Target="meta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Play-regular.fntdata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Roboto-regular.fntdata"/><Relationship Id="rId16" Type="http://schemas.openxmlformats.org/officeDocument/2006/relationships/slide" Target="slides/slide12.xml"/><Relationship Id="rId38" Type="http://schemas.openxmlformats.org/officeDocument/2006/relationships/font" Target="fonts/Play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NP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eeb42196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eeeb42196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eeb421965_0_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eeb421965_0_1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eeeb421965_0_1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eeb421965_0_4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eeb421965_0_4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eeeb421965_0_4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eeb421965_0_3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eeb421965_0_3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eeeb421965_0_3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eeb421965_0_2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eeb421965_0_2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eeeb421965_0_2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eeb421965_0_2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eeb421965_0_2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eeeb421965_0_2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eeb421965_0_2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eeb421965_0_2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eeeb421965_0_2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eeb421965_0_2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eeeb421965_0_2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eeb421965_0_2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eeeb421965_0_2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eeb421965_0_3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eeeb421965_0_3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eeb421965_0_3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eeeb421965_0_3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eeb421965_0_3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eeeb421965_0_3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eeb421965_0_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eeeb421965_0_1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eeeb421965_0_1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eeb421965_0_1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eeeb421965_0_1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eeeb421965_0_1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eeb421965_0_1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eeeb421965_0_1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eeeb421965_0_1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eeb421965_0_2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eeeb421965_0_2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eeeb421965_0_2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eeb421965_0_2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eeeb421965_0_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eeeb421965_0_2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eeb421965_0_2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eeeb421965_0_2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eeeb421965_0_2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eeb421965_0_3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eeeb421965_0_3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eeeb421965_0_3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eeb421965_0_2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eeeb421965_0_2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eeeb421965_0_2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eeb421965_0_2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eeeb421965_0_2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eeeb421965_0_2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eeb421965_0_2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eeeb421965_0_2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eeeb421965_0_2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eeb421965_0_3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eeeb421965_0_3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eeeb421965_0_3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eeeb421965_0_3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eeeb421965_0_3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eeeb421965_0_3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P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heatsheetseries.owasp.org/cheatsheets/DotNet_Security_Cheat_Sheet.html" TargetMode="External"/><Relationship Id="rId4" Type="http://schemas.openxmlformats.org/officeDocument/2006/relationships/hyperlink" Target="https://cheatsheetseries.owasp.org/cheatsheets/Password_Storage_Cheat_Sheet.html" TargetMode="External"/><Relationship Id="rId5" Type="http://schemas.openxmlformats.org/officeDocument/2006/relationships/hyperlink" Target="https://cheatsheetseries.owasp.org/cheatsheets/Session_Management_Cheat_Sheet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ithub.com/NuGetPackageExplorer/NuGetPackageExplorer" TargetMode="External"/><Relationship Id="rId4" Type="http://schemas.openxmlformats.org/officeDocument/2006/relationships/hyperlink" Target="https://www.meziantou.net/faster-and-safer-nuget-restore-using-source-mapping-and-lock-files.htm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28.png"/><Relationship Id="rId6" Type="http://schemas.openxmlformats.org/officeDocument/2006/relationships/image" Target="../media/image20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2477099"/>
            <a:ext cx="9144000" cy="190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Breaking and Securing .NET Applications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eeb421965_0_0"/>
          <p:cNvSpPr txBox="1"/>
          <p:nvPr>
            <p:ph idx="1" type="body"/>
          </p:nvPr>
        </p:nvSpPr>
        <p:spPr>
          <a:xfrm>
            <a:off x="412200" y="1098775"/>
            <a:ext cx="10568400" cy="54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NP" sz="2000">
                <a:latin typeface="Roboto"/>
                <a:ea typeface="Roboto"/>
                <a:cs typeface="Roboto"/>
                <a:sym typeface="Roboto"/>
              </a:rPr>
              <a:t>Cybersecurity Engineer at Cedar Gate Technologies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NP" sz="2000">
                <a:latin typeface="Roboto"/>
                <a:ea typeface="Roboto"/>
                <a:cs typeface="Roboto"/>
                <a:sym typeface="Roboto"/>
              </a:rPr>
              <a:t>Occasional bug bounty hunte</a:t>
            </a:r>
            <a:r>
              <a:rPr lang="en-NP" sz="2000">
                <a:latin typeface="Roboto"/>
                <a:ea typeface="Roboto"/>
                <a:cs typeface="Roboto"/>
                <a:sym typeface="Roboto"/>
              </a:rPr>
              <a:t>r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NP" sz="2000">
                <a:latin typeface="Roboto"/>
                <a:ea typeface="Roboto"/>
                <a:cs typeface="Roboto"/>
                <a:sym typeface="Roboto"/>
              </a:rPr>
              <a:t>Reported bugs and rewarded by: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-NP" sz="2000">
                <a:latin typeface="Roboto"/>
                <a:ea typeface="Roboto"/>
                <a:cs typeface="Roboto"/>
                <a:sym typeface="Roboto"/>
              </a:rPr>
              <a:t>Facebook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-NP" sz="2000">
                <a:latin typeface="Roboto"/>
                <a:ea typeface="Roboto"/>
                <a:cs typeface="Roboto"/>
                <a:sym typeface="Roboto"/>
              </a:rPr>
              <a:t>Google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-NP" sz="2000">
                <a:latin typeface="Roboto"/>
                <a:ea typeface="Roboto"/>
                <a:cs typeface="Roboto"/>
                <a:sym typeface="Roboto"/>
              </a:rPr>
              <a:t>Microsoft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-NP" sz="2000">
                <a:latin typeface="Roboto"/>
                <a:ea typeface="Roboto"/>
                <a:cs typeface="Roboto"/>
                <a:sym typeface="Roboto"/>
              </a:rPr>
              <a:t>AWS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11430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NP" sz="2000">
                <a:latin typeface="Roboto"/>
                <a:ea typeface="Roboto"/>
                <a:cs typeface="Roboto"/>
                <a:sym typeface="Roboto"/>
              </a:rPr>
              <a:t>Zero Day Flaws in couple of systems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-NP" sz="2000">
                <a:latin typeface="Roboto"/>
                <a:ea typeface="Roboto"/>
                <a:cs typeface="Roboto"/>
                <a:sym typeface="Roboto"/>
              </a:rPr>
              <a:t>CVE-2020-10596 - Opencart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-NP" sz="2000">
                <a:latin typeface="Roboto"/>
                <a:ea typeface="Roboto"/>
                <a:cs typeface="Roboto"/>
                <a:sym typeface="Roboto"/>
              </a:rPr>
              <a:t>CVE-2020-18723 - Mdaemon Webmail Service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-NP" sz="2000">
                <a:latin typeface="Roboto"/>
                <a:ea typeface="Roboto"/>
                <a:cs typeface="Roboto"/>
                <a:sym typeface="Roboto"/>
              </a:rPr>
              <a:t>CVE-2020-18724 - Mdaemon Webmail Service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-NP" sz="2000">
                <a:latin typeface="Roboto"/>
                <a:ea typeface="Roboto"/>
                <a:cs typeface="Roboto"/>
                <a:sym typeface="Roboto"/>
              </a:rPr>
              <a:t>CVE-2021-46065 - Zoho ManageEngine ServiceDesk Plus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-NP" sz="2000">
                <a:latin typeface="Roboto"/>
                <a:ea typeface="Roboto"/>
                <a:cs typeface="Roboto"/>
                <a:sym typeface="Roboto"/>
              </a:rPr>
              <a:t>CVE-2024-2301 - HP Printers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1143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g3eeeb421965_0_0"/>
          <p:cNvSpPr txBox="1"/>
          <p:nvPr>
            <p:ph type="title"/>
          </p:nvPr>
        </p:nvSpPr>
        <p:spPr>
          <a:xfrm>
            <a:off x="412205" y="211150"/>
            <a:ext cx="5656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NP" sz="2800">
                <a:latin typeface="Roboto"/>
                <a:ea typeface="Roboto"/>
                <a:cs typeface="Roboto"/>
                <a:sym typeface="Roboto"/>
              </a:rPr>
              <a:t>Kailash Bohara</a:t>
            </a:r>
            <a:endParaRPr sz="2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eeb421965_0_176"/>
          <p:cNvSpPr txBox="1"/>
          <p:nvPr>
            <p:ph type="title"/>
          </p:nvPr>
        </p:nvSpPr>
        <p:spPr>
          <a:xfrm>
            <a:off x="407050" y="14955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3200">
                <a:latin typeface="Roboto"/>
                <a:ea typeface="Roboto"/>
                <a:cs typeface="Roboto"/>
                <a:sym typeface="Roboto"/>
              </a:rPr>
              <a:t>Agenda of Session</a:t>
            </a:r>
            <a:endParaRPr sz="3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g3eeeb421965_0_176"/>
          <p:cNvSpPr txBox="1"/>
          <p:nvPr>
            <p:ph idx="1" type="body"/>
          </p:nvPr>
        </p:nvSpPr>
        <p:spPr>
          <a:xfrm>
            <a:off x="487900" y="1892975"/>
            <a:ext cx="10515600" cy="206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Font typeface="Roboto"/>
              <a:buChar char="•"/>
            </a:pPr>
            <a:r>
              <a:rPr lang="en-NP" sz="2200">
                <a:latin typeface="Roboto"/>
                <a:ea typeface="Roboto"/>
                <a:cs typeface="Roboto"/>
                <a:sym typeface="Roboto"/>
              </a:rPr>
              <a:t>Introduction to </a:t>
            </a:r>
            <a:r>
              <a:rPr lang="en-NP" sz="2200">
                <a:latin typeface="Roboto"/>
                <a:ea typeface="Roboto"/>
                <a:cs typeface="Roboto"/>
                <a:sym typeface="Roboto"/>
              </a:rPr>
              <a:t>OWASP Standard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•"/>
            </a:pPr>
            <a:r>
              <a:rPr lang="en-NP" sz="2200">
                <a:latin typeface="Roboto"/>
                <a:ea typeface="Roboto"/>
                <a:cs typeface="Roboto"/>
                <a:sym typeface="Roboto"/>
              </a:rPr>
              <a:t>Common misconfigurations in .NET applications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•"/>
            </a:pPr>
            <a:r>
              <a:rPr lang="en-NP" sz="2200">
                <a:latin typeface="Roboto"/>
                <a:ea typeface="Roboto"/>
                <a:cs typeface="Roboto"/>
                <a:sym typeface="Roboto"/>
              </a:rPr>
              <a:t>Supply Chain Risks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•"/>
            </a:pPr>
            <a:r>
              <a:rPr lang="en-NP" sz="2200">
                <a:latin typeface="Roboto"/>
                <a:ea typeface="Roboto"/>
                <a:cs typeface="Roboto"/>
                <a:sym typeface="Roboto"/>
              </a:rPr>
              <a:t>Secure File Upload Practices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eeb421965_0_407"/>
          <p:cNvSpPr txBox="1"/>
          <p:nvPr>
            <p:ph type="title"/>
          </p:nvPr>
        </p:nvSpPr>
        <p:spPr>
          <a:xfrm>
            <a:off x="407050" y="14955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3200">
                <a:latin typeface="Roboto"/>
                <a:ea typeface="Roboto"/>
                <a:cs typeface="Roboto"/>
                <a:sym typeface="Roboto"/>
              </a:rPr>
              <a:t>Application Security Scanning</a:t>
            </a:r>
            <a:endParaRPr sz="3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g3eeeb421965_0_407"/>
          <p:cNvSpPr txBox="1"/>
          <p:nvPr>
            <p:ph idx="1" type="body"/>
          </p:nvPr>
        </p:nvSpPr>
        <p:spPr>
          <a:xfrm>
            <a:off x="487900" y="1892975"/>
            <a:ext cx="10515600" cy="206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Font typeface="Roboto"/>
              <a:buChar char="•"/>
            </a:pPr>
            <a:r>
              <a:rPr lang="en-NP" sz="2200">
                <a:latin typeface="Roboto"/>
                <a:ea typeface="Roboto"/>
                <a:cs typeface="Roboto"/>
                <a:sym typeface="Roboto"/>
              </a:rPr>
              <a:t>SAST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•"/>
            </a:pPr>
            <a:r>
              <a:rPr lang="en-NP" sz="2200">
                <a:latin typeface="Roboto"/>
                <a:ea typeface="Roboto"/>
                <a:cs typeface="Roboto"/>
                <a:sym typeface="Roboto"/>
              </a:rPr>
              <a:t>DAST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•"/>
            </a:pPr>
            <a:r>
              <a:rPr lang="en-NP" sz="2200">
                <a:latin typeface="Roboto"/>
                <a:ea typeface="Roboto"/>
                <a:cs typeface="Roboto"/>
                <a:sym typeface="Roboto"/>
              </a:rPr>
              <a:t>SCA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•"/>
            </a:pPr>
            <a:r>
              <a:rPr lang="en-NP" sz="2200">
                <a:latin typeface="Roboto"/>
                <a:ea typeface="Roboto"/>
                <a:cs typeface="Roboto"/>
                <a:sym typeface="Roboto"/>
              </a:rPr>
              <a:t>And others..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NP" u="sng">
                <a:latin typeface="Roboto"/>
                <a:ea typeface="Roboto"/>
                <a:cs typeface="Roboto"/>
                <a:sym typeface="Roboto"/>
              </a:rPr>
              <a:t>OWASP Top 10</a:t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75025"/>
            <a:ext cx="12191999" cy="3585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b="9861" l="0" r="0" t="5869"/>
          <a:stretch/>
        </p:blipFill>
        <p:spPr>
          <a:xfrm>
            <a:off x="126206" y="115193"/>
            <a:ext cx="11939588" cy="662761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/>
          <p:nvPr/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3eeeb421965_0_3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0"/>
            <a:ext cx="12039601" cy="677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eeeb421965_0_369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1200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501350" y="243875"/>
            <a:ext cx="105156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NP" sz="3800">
                <a:latin typeface="Roboto"/>
                <a:ea typeface="Roboto"/>
                <a:cs typeface="Roboto"/>
                <a:sym typeface="Roboto"/>
              </a:rPr>
              <a:t>OWASP Resources for .NET Security </a:t>
            </a:r>
            <a:endParaRPr sz="3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5"/>
          <p:cNvSpPr txBox="1"/>
          <p:nvPr>
            <p:ph idx="1" type="body"/>
          </p:nvPr>
        </p:nvSpPr>
        <p:spPr>
          <a:xfrm>
            <a:off x="501350" y="1475300"/>
            <a:ext cx="10515600" cy="43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None/>
            </a:pPr>
            <a:r>
              <a:rPr lang="en-NP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DotNet Security Cheat Sheet - </a:t>
            </a:r>
            <a:r>
              <a:rPr lang="en-NP" sz="24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https://cheatsheetseries.owasp.org/cheatsheets/DotNet_Security_Cheat_Sheet.html</a:t>
            </a:r>
            <a:r>
              <a:rPr lang="en-NP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sz="24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5800"/>
              </a:spcBef>
              <a:spcAft>
                <a:spcPts val="0"/>
              </a:spcAft>
              <a:buClr>
                <a:schemeClr val="dk1"/>
              </a:buClr>
              <a:buSzPct val="45833"/>
              <a:buNone/>
            </a:pPr>
            <a:r>
              <a:rPr lang="en-NP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Password Storage Cheat Sheet - </a:t>
            </a:r>
            <a:r>
              <a:rPr lang="en-NP" sz="24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https://cheatsheetseries.owasp.org/cheatsheets/Password_Storage_Cheat_Sheet.html</a:t>
            </a:r>
            <a:r>
              <a:rPr lang="en-NP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sz="46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5800"/>
              </a:spcBef>
              <a:spcAft>
                <a:spcPts val="0"/>
              </a:spcAft>
              <a:buClr>
                <a:schemeClr val="dk1"/>
              </a:buClr>
              <a:buSzPct val="45833"/>
              <a:buNone/>
            </a:pPr>
            <a:r>
              <a:rPr lang="en-NP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Session Management Cheat Sheet</a:t>
            </a:r>
            <a:r>
              <a:rPr lang="en-NP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- </a:t>
            </a:r>
            <a:r>
              <a:rPr lang="en-NP" sz="24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https://cheatsheetseries.owasp.org/cheatsheets/Session_Management_Cheat_Sheet.html</a:t>
            </a:r>
            <a:r>
              <a:rPr lang="en-NP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sz="24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5800"/>
              </a:spcBef>
              <a:spcAft>
                <a:spcPts val="5800"/>
              </a:spcAft>
              <a:buClr>
                <a:schemeClr val="dk1"/>
              </a:buClr>
              <a:buSzPct val="45833"/>
              <a:buNone/>
            </a:pPr>
            <a:r>
              <a:t/>
            </a:r>
            <a:endParaRPr sz="24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eeb421965_0_261"/>
          <p:cNvSpPr txBox="1"/>
          <p:nvPr>
            <p:ph type="title"/>
          </p:nvPr>
        </p:nvSpPr>
        <p:spPr>
          <a:xfrm>
            <a:off x="3492475" y="2766150"/>
            <a:ext cx="4995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Security Headers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eeb421965_0_267"/>
          <p:cNvSpPr txBox="1"/>
          <p:nvPr>
            <p:ph type="title"/>
          </p:nvPr>
        </p:nvSpPr>
        <p:spPr>
          <a:xfrm>
            <a:off x="838200" y="365125"/>
            <a:ext cx="10515600" cy="591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3000">
                <a:latin typeface="Roboto"/>
                <a:ea typeface="Roboto"/>
                <a:cs typeface="Roboto"/>
                <a:sym typeface="Roboto"/>
              </a:rPr>
              <a:t>Security Headers</a:t>
            </a:r>
            <a:endParaRPr sz="3000"/>
          </a:p>
        </p:txBody>
      </p:sp>
      <p:sp>
        <p:nvSpPr>
          <p:cNvPr id="147" name="Google Shape;147;g3eeeb421965_0_267"/>
          <p:cNvSpPr txBox="1"/>
          <p:nvPr>
            <p:ph idx="1" type="body"/>
          </p:nvPr>
        </p:nvSpPr>
        <p:spPr>
          <a:xfrm>
            <a:off x="838200" y="956725"/>
            <a:ext cx="9859800" cy="2950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just">
              <a:spcBef>
                <a:spcPts val="1000"/>
              </a:spcBef>
              <a:spcAft>
                <a:spcPts val="0"/>
              </a:spcAft>
              <a:buSzPts val="2200"/>
              <a:buFont typeface="Roboto"/>
              <a:buChar char="•"/>
            </a:pPr>
            <a:r>
              <a:rPr lang="en-NP" sz="2200">
                <a:highlight>
                  <a:srgbClr val="FAFBFC"/>
                </a:highlight>
                <a:latin typeface="Roboto"/>
                <a:ea typeface="Roboto"/>
                <a:cs typeface="Roboto"/>
                <a:sym typeface="Roboto"/>
              </a:rPr>
              <a:t>Security headers are directives utilized by web applications to configure the security defenses of web browsers. </a:t>
            </a:r>
            <a:endParaRPr sz="2200">
              <a:highlight>
                <a:srgbClr val="FAFB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highlight>
                <a:srgbClr val="FAFB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just">
              <a:spcBef>
                <a:spcPts val="1000"/>
              </a:spcBef>
              <a:spcAft>
                <a:spcPts val="0"/>
              </a:spcAft>
              <a:buSzPts val="2200"/>
              <a:buFont typeface="Roboto"/>
              <a:buChar char="•"/>
            </a:pPr>
            <a:r>
              <a:rPr lang="en-NP" sz="2200">
                <a:highlight>
                  <a:srgbClr val="FAFBFC"/>
                </a:highlight>
                <a:latin typeface="Roboto"/>
                <a:ea typeface="Roboto"/>
                <a:cs typeface="Roboto"/>
                <a:sym typeface="Roboto"/>
              </a:rPr>
              <a:t>Browsers can make it more difficult to exploit client-side vulnerabilities such as Cross-Site Scripting and Clickjacking.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3eeeb421965_0_2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8150" y="179400"/>
            <a:ext cx="6811402" cy="3498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eeeb421965_0_2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6925" y="3772575"/>
            <a:ext cx="8773852" cy="286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8"/>
          <p:cNvPicPr preferRelativeResize="0"/>
          <p:nvPr/>
        </p:nvPicPr>
        <p:blipFill rotWithShape="1">
          <a:blip r:embed="rId3">
            <a:alphaModFix/>
          </a:blip>
          <a:srcRect b="-1" l="3170" r="6145" t="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 txBox="1"/>
          <p:nvPr>
            <p:ph type="title"/>
          </p:nvPr>
        </p:nvSpPr>
        <p:spPr>
          <a:xfrm>
            <a:off x="838200" y="365125"/>
            <a:ext cx="10515600" cy="9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Software </a:t>
            </a:r>
            <a:r>
              <a:rPr lang="en-NP">
                <a:latin typeface="Roboto"/>
                <a:ea typeface="Roboto"/>
                <a:cs typeface="Roboto"/>
                <a:sym typeface="Roboto"/>
              </a:rPr>
              <a:t>Supply Chain Risks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450" y="2160050"/>
            <a:ext cx="8376299" cy="339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eeb421965_0_290"/>
          <p:cNvSpPr txBox="1"/>
          <p:nvPr>
            <p:ph type="title"/>
          </p:nvPr>
        </p:nvSpPr>
        <p:spPr>
          <a:xfrm>
            <a:off x="204950" y="257350"/>
            <a:ext cx="10515600" cy="9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Software Supply Chain Risks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2" name="Google Shape;172;g3eeeb421965_0_2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5350" y="1472063"/>
            <a:ext cx="8403251" cy="418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eeb421965_0_299"/>
          <p:cNvSpPr txBox="1"/>
          <p:nvPr>
            <p:ph type="title"/>
          </p:nvPr>
        </p:nvSpPr>
        <p:spPr>
          <a:xfrm>
            <a:off x="204950" y="257350"/>
            <a:ext cx="10515600" cy="9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Software Supply Chain Risks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8" name="Google Shape;178;g3eeeb421965_0_2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950" y="4914775"/>
            <a:ext cx="6070914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eeeb421965_0_2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2825" y="2957975"/>
            <a:ext cx="5099174" cy="339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eeeb421965_0_2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475" y="3146600"/>
            <a:ext cx="5848350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eeeb421965_0_2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6950" y="1432726"/>
            <a:ext cx="9383526" cy="138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 txBox="1"/>
          <p:nvPr>
            <p:ph type="title"/>
          </p:nvPr>
        </p:nvSpPr>
        <p:spPr>
          <a:xfrm>
            <a:off x="838200" y="365125"/>
            <a:ext cx="105156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3200">
                <a:latin typeface="Roboto"/>
                <a:ea typeface="Roboto"/>
                <a:cs typeface="Roboto"/>
                <a:sym typeface="Roboto"/>
              </a:rPr>
              <a:t>Software Supply Chain Risks Threats</a:t>
            </a:r>
            <a:endParaRPr sz="3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11"/>
          <p:cNvSpPr txBox="1"/>
          <p:nvPr>
            <p:ph idx="1" type="body"/>
          </p:nvPr>
        </p:nvSpPr>
        <p:spPr>
          <a:xfrm>
            <a:off x="757375" y="1192375"/>
            <a:ext cx="105156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•"/>
            </a:pPr>
            <a:r>
              <a:rPr lang="en-NP" sz="2100">
                <a:latin typeface="Roboto"/>
                <a:ea typeface="Roboto"/>
                <a:cs typeface="Roboto"/>
                <a:sym typeface="Roboto"/>
              </a:rPr>
              <a:t>Typosquatting in Packages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100">
                <a:latin typeface="Roboto"/>
                <a:ea typeface="Roboto"/>
                <a:cs typeface="Roboto"/>
                <a:sym typeface="Roboto"/>
              </a:rPr>
              <a:t>A malicious person can create a package with a similar name to a popular package. For example, </a:t>
            </a:r>
            <a:r>
              <a:rPr b="1" lang="en-NP" sz="2100">
                <a:latin typeface="Roboto"/>
                <a:ea typeface="Roboto"/>
                <a:cs typeface="Roboto"/>
                <a:sym typeface="Roboto"/>
              </a:rPr>
              <a:t>Newtonsoft.Json can be replaced by Newtomsoft.Json or Newtomsoft-Json</a:t>
            </a:r>
            <a:endParaRPr b="1" sz="21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•"/>
            </a:pPr>
            <a:r>
              <a:rPr lang="en-NP" sz="2100">
                <a:latin typeface="Roboto"/>
                <a:ea typeface="Roboto"/>
                <a:cs typeface="Roboto"/>
                <a:sym typeface="Roboto"/>
              </a:rPr>
              <a:t>Compromising maintainer Account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•"/>
            </a:pPr>
            <a:r>
              <a:rPr lang="en-NP" sz="2100">
                <a:latin typeface="Roboto"/>
                <a:ea typeface="Roboto"/>
                <a:cs typeface="Roboto"/>
                <a:sym typeface="Roboto"/>
              </a:rPr>
              <a:t>Approving PR in Github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•"/>
            </a:pPr>
            <a:r>
              <a:rPr lang="en-NP" sz="2100">
                <a:latin typeface="Roboto"/>
                <a:ea typeface="Roboto"/>
                <a:cs typeface="Roboto"/>
                <a:sym typeface="Roboto"/>
              </a:rPr>
              <a:t>No Practices of SCA scan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•"/>
            </a:pPr>
            <a:r>
              <a:rPr lang="en-NP" sz="2100">
                <a:latin typeface="Roboto"/>
                <a:ea typeface="Roboto"/>
                <a:cs typeface="Roboto"/>
                <a:sym typeface="Roboto"/>
              </a:rPr>
              <a:t>Unaware of used packages, libraries and open source codes.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•"/>
            </a:pPr>
            <a:r>
              <a:rPr lang="en-NP" sz="2100">
                <a:latin typeface="Roboto"/>
                <a:ea typeface="Roboto"/>
                <a:cs typeface="Roboto"/>
                <a:sym typeface="Roboto"/>
              </a:rPr>
              <a:t>Lack of Security testing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•"/>
            </a:pPr>
            <a:r>
              <a:rPr lang="en-NP" sz="2100">
                <a:latin typeface="Roboto"/>
                <a:ea typeface="Roboto"/>
                <a:cs typeface="Roboto"/>
                <a:sym typeface="Roboto"/>
              </a:rPr>
              <a:t>Missing concept software inventory or SCA (Software Component Analysis)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•"/>
            </a:pPr>
            <a:r>
              <a:rPr lang="en-NP" sz="2100">
                <a:latin typeface="Roboto"/>
                <a:ea typeface="Roboto"/>
                <a:cs typeface="Roboto"/>
                <a:sym typeface="Roboto"/>
              </a:rPr>
              <a:t>Missing software bill of materials (SBOM)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eeb421965_0_324"/>
          <p:cNvSpPr txBox="1"/>
          <p:nvPr>
            <p:ph type="title"/>
          </p:nvPr>
        </p:nvSpPr>
        <p:spPr>
          <a:xfrm>
            <a:off x="838200" y="365125"/>
            <a:ext cx="105156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What is SBOM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g3eeeb421965_0_324"/>
          <p:cNvSpPr txBox="1"/>
          <p:nvPr>
            <p:ph idx="1" type="body"/>
          </p:nvPr>
        </p:nvSpPr>
        <p:spPr>
          <a:xfrm>
            <a:off x="434000" y="1906475"/>
            <a:ext cx="3823500" cy="2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•"/>
            </a:pPr>
            <a:r>
              <a:rPr lang="en-NP" sz="2100">
                <a:latin typeface="Roboto"/>
                <a:ea typeface="Roboto"/>
                <a:cs typeface="Roboto"/>
                <a:sym typeface="Roboto"/>
              </a:rPr>
              <a:t>A collection of all the components, libraries and software dependency that is used in a software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•"/>
            </a:pPr>
            <a:r>
              <a:rPr lang="en-NP" sz="2100">
                <a:latin typeface="Roboto"/>
                <a:ea typeface="Roboto"/>
                <a:cs typeface="Roboto"/>
                <a:sym typeface="Roboto"/>
              </a:rPr>
              <a:t>Gives visibility of used components in our softwares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4" name="Google Shape;194;g3eeeb421965_0_3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4775" y="2096663"/>
            <a:ext cx="7306326" cy="3277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eeb421965_0_330"/>
          <p:cNvSpPr txBox="1"/>
          <p:nvPr>
            <p:ph type="title"/>
          </p:nvPr>
        </p:nvSpPr>
        <p:spPr>
          <a:xfrm>
            <a:off x="380100" y="324725"/>
            <a:ext cx="105156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SBOM Formats/Standards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0" name="Google Shape;200;g3eeeb421965_0_3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0300" y="1221413"/>
            <a:ext cx="4372851" cy="441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eeeb421965_0_3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9075" y="1221424"/>
            <a:ext cx="3386400" cy="429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eeeb421965_0_330"/>
          <p:cNvSpPr txBox="1"/>
          <p:nvPr/>
        </p:nvSpPr>
        <p:spPr>
          <a:xfrm>
            <a:off x="2074900" y="5807050"/>
            <a:ext cx="173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000"/>
              <a:t>Cyclone DX</a:t>
            </a:r>
            <a:endParaRPr sz="2000"/>
          </a:p>
        </p:txBody>
      </p:sp>
      <p:sp>
        <p:nvSpPr>
          <p:cNvPr id="203" name="Google Shape;203;g3eeeb421965_0_330"/>
          <p:cNvSpPr txBox="1"/>
          <p:nvPr/>
        </p:nvSpPr>
        <p:spPr>
          <a:xfrm>
            <a:off x="7716725" y="5750575"/>
            <a:ext cx="3611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000"/>
              <a:t>Software Package Data Exchange (SPDX)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eeb421965_0_344"/>
          <p:cNvSpPr txBox="1"/>
          <p:nvPr>
            <p:ph type="title"/>
          </p:nvPr>
        </p:nvSpPr>
        <p:spPr>
          <a:xfrm>
            <a:off x="380100" y="324725"/>
            <a:ext cx="105156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Scanning Tools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g3eeeb421965_0_344"/>
          <p:cNvSpPr txBox="1"/>
          <p:nvPr/>
        </p:nvSpPr>
        <p:spPr>
          <a:xfrm>
            <a:off x="471575" y="1495550"/>
            <a:ext cx="4608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000"/>
              <a:t>Kubeclarity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000"/>
              <a:t>Anchor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000"/>
              <a:t>Clair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000"/>
              <a:t>Dagda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000"/>
              <a:t>Snyk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000"/>
              <a:t>Black Duck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000"/>
              <a:t>Veracode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000"/>
              <a:t>And more….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210" name="Google Shape;210;g3eeeb421965_0_3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3875" y="1122450"/>
            <a:ext cx="6807625" cy="4293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 txBox="1"/>
          <p:nvPr>
            <p:ph type="title"/>
          </p:nvPr>
        </p:nvSpPr>
        <p:spPr>
          <a:xfrm>
            <a:off x="568725" y="2708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Defending </a:t>
            </a:r>
            <a:r>
              <a:rPr lang="en-NP">
                <a:latin typeface="Roboto"/>
                <a:ea typeface="Roboto"/>
                <a:cs typeface="Roboto"/>
                <a:sym typeface="Roboto"/>
              </a:rPr>
              <a:t>Supply Chain Risks</a:t>
            </a:r>
            <a:br>
              <a:rPr lang="en-NP">
                <a:latin typeface="Roboto"/>
                <a:ea typeface="Roboto"/>
                <a:cs typeface="Roboto"/>
                <a:sym typeface="Roboto"/>
              </a:rPr>
            </a:br>
            <a:r>
              <a:rPr lang="en-NP" sz="200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A03-2025: Software Supply Chain Failures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9"/>
          <p:cNvSpPr txBox="1"/>
          <p:nvPr>
            <p:ph idx="1" type="body"/>
          </p:nvPr>
        </p:nvSpPr>
        <p:spPr>
          <a:xfrm>
            <a:off x="838200" y="1825625"/>
            <a:ext cx="10856700" cy="45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Edit the .csproj or other package version location (Directory.Packages.props) with a newer version containing a security fix.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</a:pPr>
            <a:r>
              <a:rPr i="1" lang="en-NP">
                <a:latin typeface="Roboto"/>
                <a:ea typeface="Roboto"/>
                <a:cs typeface="Roboto"/>
                <a:sym typeface="Roboto"/>
              </a:rPr>
              <a:t>dotnet restore</a:t>
            </a:r>
            <a:r>
              <a:rPr lang="en-NP">
                <a:latin typeface="Roboto"/>
                <a:ea typeface="Roboto"/>
                <a:cs typeface="Roboto"/>
                <a:sym typeface="Roboto"/>
              </a:rPr>
              <a:t> - runs a security audit 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Run the </a:t>
            </a:r>
            <a:r>
              <a:rPr i="1" lang="en-NP">
                <a:latin typeface="Roboto"/>
                <a:ea typeface="Roboto"/>
                <a:cs typeface="Roboto"/>
                <a:sym typeface="Roboto"/>
              </a:rPr>
              <a:t>dotnet package update --vulnerable</a:t>
            </a:r>
            <a:r>
              <a:rPr lang="en-NP">
                <a:latin typeface="Roboto"/>
                <a:ea typeface="Roboto"/>
                <a:cs typeface="Roboto"/>
                <a:sym typeface="Roboto"/>
              </a:rPr>
              <a:t> command to update all vulnerable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2100" lvl="0" marL="228600" rtl="0" algn="l"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•"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Check the content of the NuGet package before installing it using a tool such as </a:t>
            </a:r>
            <a:r>
              <a:rPr lang="en-NP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NuGet Package Explorer</a:t>
            </a:r>
            <a:endParaRPr u="sng">
              <a:latin typeface="Roboto"/>
              <a:ea typeface="Roboto"/>
              <a:cs typeface="Roboto"/>
              <a:sym typeface="Roboto"/>
            </a:endParaRPr>
          </a:p>
          <a:p>
            <a:pPr indent="-292100" lvl="0" marL="228600" rtl="0" algn="l">
              <a:spcBef>
                <a:spcPts val="1000"/>
              </a:spcBef>
              <a:spcAft>
                <a:spcPts val="0"/>
              </a:spcAft>
              <a:buSzPts val="2800"/>
              <a:buFont typeface="Roboto"/>
              <a:buChar char="•"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Use a </a:t>
            </a:r>
            <a:r>
              <a:rPr lang="en-NP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lock file</a:t>
            </a:r>
            <a:r>
              <a:rPr lang="en-NP">
                <a:latin typeface="Roboto"/>
                <a:ea typeface="Roboto"/>
                <a:cs typeface="Roboto"/>
                <a:sym typeface="Roboto"/>
              </a:rPr>
              <a:t> to prevent using a different version of the package than the one you validated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eeb421965_0_190"/>
          <p:cNvSpPr txBox="1"/>
          <p:nvPr>
            <p:ph type="title"/>
          </p:nvPr>
        </p:nvSpPr>
        <p:spPr>
          <a:xfrm>
            <a:off x="3887700" y="3059100"/>
            <a:ext cx="5651400" cy="739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File Upload Security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eeb421965_0_197"/>
          <p:cNvSpPr txBox="1"/>
          <p:nvPr>
            <p:ph type="title"/>
          </p:nvPr>
        </p:nvSpPr>
        <p:spPr>
          <a:xfrm>
            <a:off x="838200" y="176500"/>
            <a:ext cx="10515600" cy="739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File Upload Risks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9" name="Google Shape;229;g3eeeb421965_0_1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65125"/>
            <a:ext cx="5830774" cy="4862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3eeeb421965_0_1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5900" y="1365125"/>
            <a:ext cx="6126149" cy="477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eeb421965_0_182"/>
          <p:cNvSpPr txBox="1"/>
          <p:nvPr>
            <p:ph type="title"/>
          </p:nvPr>
        </p:nvSpPr>
        <p:spPr>
          <a:xfrm>
            <a:off x="363775" y="176500"/>
            <a:ext cx="10129200" cy="874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File Upload Best Practices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g3eeeb421965_0_182"/>
          <p:cNvSpPr txBox="1"/>
          <p:nvPr/>
        </p:nvSpPr>
        <p:spPr>
          <a:xfrm>
            <a:off x="202100" y="983550"/>
            <a:ext cx="10725000" cy="43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NP" sz="2600">
                <a:solidFill>
                  <a:schemeClr val="dk1"/>
                </a:solidFill>
              </a:rPr>
              <a:t>Accept only required file extensions.</a:t>
            </a:r>
            <a:br>
              <a:rPr lang="en-NP" sz="2600">
                <a:solidFill>
                  <a:schemeClr val="dk1"/>
                </a:solidFill>
              </a:rPr>
            </a:br>
            <a:r>
              <a:rPr lang="en-NP" sz="2600">
                <a:solidFill>
                  <a:schemeClr val="dk1"/>
                </a:solidFill>
              </a:rPr>
              <a:t>Examples:</a:t>
            </a:r>
            <a:endParaRPr sz="2600">
              <a:solidFill>
                <a:schemeClr val="dk1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i="1" lang="en-NP" sz="2600">
                <a:solidFill>
                  <a:schemeClr val="dk1"/>
                </a:solidFill>
              </a:rPr>
              <a:t>(.png, .jpeg) - For images</a:t>
            </a:r>
            <a:endParaRPr i="1" sz="2600">
              <a:solidFill>
                <a:schemeClr val="dk1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i="1" lang="en-NP" sz="2600">
                <a:solidFill>
                  <a:schemeClr val="dk1"/>
                </a:solidFill>
              </a:rPr>
              <a:t>.pdf, .csv - For Documents</a:t>
            </a:r>
            <a:endParaRPr i="1"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NP" sz="2600">
                <a:solidFill>
                  <a:schemeClr val="dk1"/>
                </a:solidFill>
              </a:rPr>
              <a:t>Also check for Double extensions</a:t>
            </a:r>
            <a:endParaRPr sz="2600">
              <a:solidFill>
                <a:schemeClr val="dk1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NP" sz="2600">
                <a:solidFill>
                  <a:schemeClr val="dk1"/>
                </a:solidFill>
              </a:rPr>
              <a:t>photo.php.png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NP" sz="2600">
                <a:solidFill>
                  <a:schemeClr val="dk1"/>
                </a:solidFill>
              </a:rPr>
              <a:t>Check for file extension case:</a:t>
            </a:r>
            <a:endParaRPr sz="2600">
              <a:solidFill>
                <a:schemeClr val="dk1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NP" sz="2600">
                <a:solidFill>
                  <a:schemeClr val="dk1"/>
                </a:solidFill>
              </a:rPr>
              <a:t>photo.aSp</a:t>
            </a:r>
            <a:endParaRPr sz="2600">
              <a:solidFill>
                <a:schemeClr val="dk1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NP" sz="2600">
                <a:solidFill>
                  <a:schemeClr val="dk1"/>
                </a:solidFill>
              </a:rPr>
              <a:t>photo</a:t>
            </a:r>
            <a:r>
              <a:rPr lang="en-NP" sz="2600">
                <a:solidFill>
                  <a:schemeClr val="dk1"/>
                </a:solidFill>
              </a:rPr>
              <a:t>.aSpx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600">
                <a:solidFill>
                  <a:schemeClr val="dk1"/>
                </a:solidFill>
              </a:rPr>
              <a:t> </a:t>
            </a:r>
            <a:endParaRPr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eeb421965_0_235"/>
          <p:cNvSpPr txBox="1"/>
          <p:nvPr>
            <p:ph type="title"/>
          </p:nvPr>
        </p:nvSpPr>
        <p:spPr>
          <a:xfrm>
            <a:off x="363775" y="176500"/>
            <a:ext cx="10129200" cy="874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File Upload Best Practices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g3eeeb421965_0_235"/>
          <p:cNvSpPr txBox="1"/>
          <p:nvPr/>
        </p:nvSpPr>
        <p:spPr>
          <a:xfrm>
            <a:off x="202100" y="983550"/>
            <a:ext cx="5551200" cy="18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NP" sz="2600">
                <a:solidFill>
                  <a:schemeClr val="dk1"/>
                </a:solidFill>
              </a:rPr>
              <a:t>Accept only required file types.</a:t>
            </a:r>
            <a:br>
              <a:rPr lang="en-NP" sz="2600">
                <a:solidFill>
                  <a:schemeClr val="dk1"/>
                </a:solidFill>
              </a:rPr>
            </a:br>
            <a:r>
              <a:rPr lang="en-NP" sz="2600">
                <a:solidFill>
                  <a:schemeClr val="dk1"/>
                </a:solidFill>
              </a:rPr>
              <a:t>Examples:</a:t>
            </a:r>
            <a:endParaRPr sz="2600">
              <a:solidFill>
                <a:schemeClr val="dk1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i="1" lang="en-NP" sz="2600">
                <a:solidFill>
                  <a:schemeClr val="dk1"/>
                </a:solidFill>
              </a:rPr>
              <a:t>(.png, .jpeg) - For images</a:t>
            </a:r>
            <a:endParaRPr i="1" sz="2600">
              <a:solidFill>
                <a:schemeClr val="dk1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i="1" lang="en-NP" sz="2600">
                <a:solidFill>
                  <a:schemeClr val="dk1"/>
                </a:solidFill>
              </a:rPr>
              <a:t>.pdf, .csv - For Documents</a:t>
            </a:r>
            <a:endParaRPr i="1" sz="2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600">
                <a:solidFill>
                  <a:schemeClr val="dk1"/>
                </a:solidFill>
              </a:rPr>
              <a:t> </a:t>
            </a:r>
            <a:endParaRPr sz="2600">
              <a:solidFill>
                <a:schemeClr val="dk1"/>
              </a:solidFill>
            </a:endParaRPr>
          </a:p>
        </p:txBody>
      </p:sp>
      <p:pic>
        <p:nvPicPr>
          <p:cNvPr id="245" name="Google Shape;245;g3eeeb421965_0_2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7163" y="2815950"/>
            <a:ext cx="8149274" cy="385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eeb421965_0_204"/>
          <p:cNvSpPr txBox="1"/>
          <p:nvPr>
            <p:ph type="title"/>
          </p:nvPr>
        </p:nvSpPr>
        <p:spPr>
          <a:xfrm>
            <a:off x="363775" y="176500"/>
            <a:ext cx="10129200" cy="874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File Upload Best Practices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g3eeeb421965_0_204"/>
          <p:cNvSpPr txBox="1"/>
          <p:nvPr/>
        </p:nvSpPr>
        <p:spPr>
          <a:xfrm>
            <a:off x="592825" y="1306925"/>
            <a:ext cx="10940400" cy="3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800">
                <a:solidFill>
                  <a:schemeClr val="dk1"/>
                </a:solidFill>
              </a:rPr>
              <a:t>Always </a:t>
            </a:r>
            <a:r>
              <a:rPr lang="en-NP" sz="2800">
                <a:solidFill>
                  <a:schemeClr val="dk1"/>
                </a:solidFill>
              </a:rPr>
              <a:t>Set file upload size limits.</a:t>
            </a:r>
            <a:endParaRPr sz="2800"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NP" sz="2800">
                <a:solidFill>
                  <a:schemeClr val="dk1"/>
                </a:solidFill>
              </a:rPr>
              <a:t>Prevents application level DOS while rendering the file.</a:t>
            </a:r>
            <a:endParaRPr sz="2800"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NP" sz="2800">
                <a:solidFill>
                  <a:schemeClr val="dk1"/>
                </a:solidFill>
              </a:rPr>
              <a:t>Saves Resource utilization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800">
                <a:solidFill>
                  <a:schemeClr val="dk1"/>
                </a:solidFill>
              </a:rPr>
              <a:t> 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eeb421965_0_210"/>
          <p:cNvSpPr txBox="1"/>
          <p:nvPr>
            <p:ph type="title"/>
          </p:nvPr>
        </p:nvSpPr>
        <p:spPr>
          <a:xfrm>
            <a:off x="363775" y="176500"/>
            <a:ext cx="10129200" cy="874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File Upload Best Practices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g3eeeb421965_0_210"/>
          <p:cNvSpPr txBox="1"/>
          <p:nvPr/>
        </p:nvSpPr>
        <p:spPr>
          <a:xfrm>
            <a:off x="202100" y="1051000"/>
            <a:ext cx="118431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200">
                <a:solidFill>
                  <a:schemeClr val="dk1"/>
                </a:solidFill>
              </a:rPr>
              <a:t>Checking file extension only is not enough, also check for Magic Bytes type.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200">
                <a:solidFill>
                  <a:schemeClr val="dk1"/>
                </a:solidFill>
              </a:rPr>
              <a:t> 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260" name="Google Shape;260;g3eeeb421965_0_2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025" y="1711125"/>
            <a:ext cx="9304950" cy="488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eeb421965_0_386"/>
          <p:cNvSpPr txBox="1"/>
          <p:nvPr>
            <p:ph type="title"/>
          </p:nvPr>
        </p:nvSpPr>
        <p:spPr>
          <a:xfrm>
            <a:off x="363775" y="176500"/>
            <a:ext cx="10129200" cy="874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File Upload Best Practices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g3eeeb421965_0_386"/>
          <p:cNvSpPr txBox="1"/>
          <p:nvPr/>
        </p:nvSpPr>
        <p:spPr>
          <a:xfrm>
            <a:off x="202100" y="1051000"/>
            <a:ext cx="118431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200">
                <a:solidFill>
                  <a:schemeClr val="dk1"/>
                </a:solidFill>
              </a:rPr>
              <a:t>Checking file extension only is not enough, also check for Magic Bytes type.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200">
                <a:solidFill>
                  <a:schemeClr val="dk1"/>
                </a:solidFill>
              </a:rPr>
              <a:t> 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268" name="Google Shape;268;g3eeeb421965_0_3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075" y="1769225"/>
            <a:ext cx="10583850" cy="46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eeb421965_0_246"/>
          <p:cNvSpPr txBox="1"/>
          <p:nvPr>
            <p:ph type="title"/>
          </p:nvPr>
        </p:nvSpPr>
        <p:spPr>
          <a:xfrm>
            <a:off x="363775" y="176500"/>
            <a:ext cx="10129200" cy="874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File Upload Best Practices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g3eeeb421965_0_246"/>
          <p:cNvSpPr txBox="1"/>
          <p:nvPr/>
        </p:nvSpPr>
        <p:spPr>
          <a:xfrm>
            <a:off x="202100" y="1051000"/>
            <a:ext cx="11843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000">
                <a:solidFill>
                  <a:schemeClr val="dk1"/>
                </a:solidFill>
                <a:highlight>
                  <a:srgbClr val="FFFFFF"/>
                </a:highlight>
              </a:rPr>
              <a:t>Validate files using Magic Bytes. They are unique to each file type.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276" name="Google Shape;276;g3eeeb421965_0_2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7775" y="1769325"/>
            <a:ext cx="9723616" cy="47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eeb421965_0_222"/>
          <p:cNvSpPr txBox="1"/>
          <p:nvPr>
            <p:ph type="title"/>
          </p:nvPr>
        </p:nvSpPr>
        <p:spPr>
          <a:xfrm>
            <a:off x="363775" y="176500"/>
            <a:ext cx="10129200" cy="874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File Upload Best Practices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g3eeeb421965_0_222"/>
          <p:cNvSpPr txBox="1"/>
          <p:nvPr/>
        </p:nvSpPr>
        <p:spPr>
          <a:xfrm>
            <a:off x="437175" y="1051000"/>
            <a:ext cx="4350000" cy="5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NP" sz="2200">
                <a:solidFill>
                  <a:schemeClr val="dk1"/>
                </a:solidFill>
              </a:rPr>
              <a:t>Never store filename with original names.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NP" sz="2200">
                <a:solidFill>
                  <a:schemeClr val="dk1"/>
                </a:solidFill>
              </a:rPr>
              <a:t>Use GUID/UUID for unguessable file names.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000">
                <a:solidFill>
                  <a:schemeClr val="dk1"/>
                </a:solidFill>
              </a:rPr>
              <a:t>Example: </a:t>
            </a:r>
            <a:r>
              <a:rPr i="1" lang="en-NP" sz="2000">
                <a:solidFill>
                  <a:schemeClr val="dk1"/>
                </a:solidFill>
              </a:rPr>
              <a:t>455548b4-1ebb-48ab-af64-edb20ad4e22c.xslx</a:t>
            </a:r>
            <a:endParaRPr i="1" sz="2000">
              <a:solidFill>
                <a:schemeClr val="dk1"/>
              </a:solidFill>
            </a:endParaRPr>
          </a:p>
        </p:txBody>
      </p:sp>
      <p:pic>
        <p:nvPicPr>
          <p:cNvPr id="284" name="Google Shape;284;g3eeeb421965_0_2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0425" y="885875"/>
            <a:ext cx="7100023" cy="5086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eeb421965_0_228"/>
          <p:cNvSpPr txBox="1"/>
          <p:nvPr>
            <p:ph type="title"/>
          </p:nvPr>
        </p:nvSpPr>
        <p:spPr>
          <a:xfrm>
            <a:off x="363775" y="176500"/>
            <a:ext cx="10129200" cy="874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File Upload Best Practices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" name="Google Shape;291;g3eeeb421965_0_228"/>
          <p:cNvSpPr txBox="1"/>
          <p:nvPr/>
        </p:nvSpPr>
        <p:spPr>
          <a:xfrm>
            <a:off x="309875" y="1158700"/>
            <a:ext cx="6090000" cy="3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200">
                <a:solidFill>
                  <a:schemeClr val="dk1"/>
                </a:solidFill>
              </a:rPr>
              <a:t>Validate filenames for any XSS or path traversal payloads.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 sz="2500">
                <a:solidFill>
                  <a:schemeClr val="dk1"/>
                </a:solidFill>
              </a:rPr>
              <a:t> Examples: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NP" sz="2100">
                <a:solidFill>
                  <a:schemeClr val="dk1"/>
                </a:solidFill>
              </a:rPr>
              <a:t>&lt;script&gt;alert(document.cookie)&lt;/script&gt;.png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NP" sz="2100">
                <a:solidFill>
                  <a:schemeClr val="dk1"/>
                </a:solidFill>
              </a:rPr>
              <a:t>../../../../test.png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NP" sz="2100">
                <a:solidFill>
                  <a:schemeClr val="dk1"/>
                </a:solidFill>
              </a:rPr>
              <a:t>'waitfor delay '00:00:10'--.png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NP" sz="2100">
                <a:solidFill>
                  <a:schemeClr val="dk1"/>
                </a:solidFill>
              </a:rPr>
              <a:t>‘sleep(10)'.jpg</a:t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292" name="Google Shape;292;g3eeeb421965_0_2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9875" y="1899725"/>
            <a:ext cx="5762174" cy="38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eeb421965_0_394"/>
          <p:cNvSpPr txBox="1"/>
          <p:nvPr>
            <p:ph type="title"/>
          </p:nvPr>
        </p:nvSpPr>
        <p:spPr>
          <a:xfrm>
            <a:off x="258850" y="0"/>
            <a:ext cx="10515600" cy="525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NP"/>
              <a:t>Resources</a:t>
            </a:r>
            <a:endParaRPr b="1"/>
          </a:p>
        </p:txBody>
      </p:sp>
      <p:pic>
        <p:nvPicPr>
          <p:cNvPr id="299" name="Google Shape;299;g3eeeb421965_0_3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50" y="1378475"/>
            <a:ext cx="3701023" cy="132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g3eeeb421965_0_3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9150" y="1540150"/>
            <a:ext cx="3350700" cy="16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g3eeeb421965_0_3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5900" y="3361575"/>
            <a:ext cx="3229449" cy="187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g3eeeb421965_0_3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2074" y="3441412"/>
            <a:ext cx="2771324" cy="155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g3eeeb421965_0_39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90225" y="5382625"/>
            <a:ext cx="5751411" cy="132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3eeeb421965_0_39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76275" y="1667075"/>
            <a:ext cx="4101845" cy="155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eeeb421965_0_379"/>
          <p:cNvSpPr txBox="1"/>
          <p:nvPr>
            <p:ph type="title"/>
          </p:nvPr>
        </p:nvSpPr>
        <p:spPr>
          <a:xfrm>
            <a:off x="4408650" y="2766150"/>
            <a:ext cx="35541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P">
                <a:latin typeface="Roboto"/>
                <a:ea typeface="Roboto"/>
                <a:cs typeface="Roboto"/>
                <a:sym typeface="Roboto"/>
              </a:rPr>
              <a:t>Questions?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2026-06-10T09:39:12Z</dcterms:created>
  <dc:creator>Bohara, Kailash</dc:creator>
</cp:coreProperties>
</file>
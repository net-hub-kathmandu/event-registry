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7"/>
    <p:sldId id="262" r:id="rId8"/>
    <p:sldId id="263" r:id="rId9"/>
    <p:sldId id="264" r:id="rId10"/>
    <p:sldId id="266" r:id="rId17"/>
    <p:sldId id="267" r:id="rId18"/>
    <p:sldId id="268" r:id="rId19"/>
    <p:sldId id="265" r:id="rId11"/>
    <p:sldId id="269" r:id="rId20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474720" cy="5070348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274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C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Days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9728" y="6217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AC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Days  ·  Kathmandu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4592" y="2468880"/>
            <a:ext cx="1280160" cy="34747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" y="24688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13:30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" y="2944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Bishal Tim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" y="33101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/ Umbraco Developer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" y="3566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C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@Usome  ·  Kathmandu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49040" y="6400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749040" y="1572768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4A7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Production</a:t>
            </a:r>
            <a:endParaRPr lang="en-US" sz="5200" dirty="0"/>
          </a:p>
        </p:txBody>
      </p:sp>
      <p:sp>
        <p:nvSpPr>
          <p:cNvPr id="15" name="Shape 13"/>
          <p:cNvSpPr/>
          <p:nvPr/>
        </p:nvSpPr>
        <p:spPr>
          <a:xfrm>
            <a:off x="3749040" y="2651760"/>
            <a:ext cx="5029200" cy="36576"/>
          </a:xfrm>
          <a:prstGeom prst="rect">
            <a:avLst/>
          </a:prstGeom>
          <a:solidFill>
            <a:srgbClr val="C8D4F0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7889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 with GitHub Copilot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749040" y="3383280"/>
            <a:ext cx="2286000" cy="347472"/>
          </a:xfrm>
          <a:prstGeom prst="rect">
            <a:avLst/>
          </a:prstGeom>
          <a:solidFill>
            <a:srgbClr val="1A3D8F"/>
          </a:solidFill>
          <a:ln w="12700">
            <a:solidFill>
              <a:srgbClr val="4A72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3383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MCP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3383280"/>
            <a:ext cx="2286000" cy="347472"/>
          </a:xfrm>
          <a:prstGeom prst="rect">
            <a:avLst/>
          </a:prstGeom>
          <a:solidFill>
            <a:srgbClr val="1A3D8F"/>
          </a:solidFill>
          <a:ln w="12700">
            <a:solidFill>
              <a:srgbClr val="4A72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3383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Umbraco MCP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49040" y="3886200"/>
            <a:ext cx="2286000" cy="347472"/>
          </a:xfrm>
          <a:prstGeom prst="rect">
            <a:avLst/>
          </a:prstGeom>
          <a:solidFill>
            <a:srgbClr val="1A3D8F"/>
          </a:solidFill>
          <a:ln w="12700">
            <a:solidFill>
              <a:srgbClr val="4A72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3886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MCP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3D8F"/>
          </a:solidFill>
          <a:ln w="12700">
            <a:solidFill>
              <a:srgbClr val="1A3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4F0"/>
                </a:solidFill>
              </a:rPr>
              <a:t>April 26, 2026  ·  Presidential Business School  ·  .NET Hub Kathmandu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 ·  Talk  +  Live Demo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777240" cy="502920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7043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280160" y="11704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83080" y="115214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Vibe Coding?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783080" y="143560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Karpathy's concept — letting AI write while you steer the direction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8412480" cy="13716"/>
          </a:xfrm>
          <a:prstGeom prst="rect">
            <a:avLst/>
          </a:prstGeom>
          <a:solidFill>
            <a:srgbClr val="C8D4F0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38528"/>
            <a:ext cx="777240" cy="502920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3852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280160" y="19385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83080" y="19202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Stack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783080" y="2203704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+ Umbraco + Browser — your 3 MCPs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51176"/>
            <a:ext cx="8412480" cy="13716"/>
          </a:xfrm>
          <a:prstGeom prst="rect">
            <a:avLst/>
          </a:prstGeom>
          <a:solidFill>
            <a:srgbClr val="C8D4F0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06624"/>
            <a:ext cx="777240" cy="50292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06624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280160" y="270662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83080" y="268833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783080" y="297180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Copilot build a real feature from a ticket end-to-end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319272"/>
            <a:ext cx="8412480" cy="13716"/>
          </a:xfrm>
          <a:prstGeom prst="rect">
            <a:avLst/>
          </a:prstGeom>
          <a:solidFill>
            <a:srgbClr val="C8D4F0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474720"/>
            <a:ext cx="777240" cy="502920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747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280160" y="34747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34564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to Production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783080" y="3739896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best practices &amp; reviews that make AI output production-ready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087368"/>
            <a:ext cx="8412480" cy="13716"/>
          </a:xfrm>
          <a:prstGeom prst="rect">
            <a:avLst/>
          </a:prstGeom>
          <a:solidFill>
            <a:srgbClr val="C8D4F0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242816"/>
            <a:ext cx="777240" cy="502920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24281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280160" y="42428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783080" y="422452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783080" y="450799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questions answered — things attendees typically wonder about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Vibe Coding to Production  ·  Bishal Tim  ·  GitHub Copilot Dev Days Kathmandu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Vibe Coding?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1051560"/>
          </a:xfrm>
          <a:prstGeom prst="rect">
            <a:avLst/>
          </a:prstGeom>
          <a:solidFill>
            <a:srgbClr val="142E6E"/>
          </a:solidFill>
          <a:ln w="12700">
            <a:solidFill>
              <a:srgbClr val="4A72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64008" cy="105156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41248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4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style of software development where you describe what you want in natural language and let an AI model write, iterate, and refine the code — while you focus on steering the outcome, not writing syntax.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819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Popularised in 2025, vibe coding shifts the developer role from author to director.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2651760" cy="2743200"/>
          </a:xfrm>
          <a:prstGeom prst="rect">
            <a:avLst/>
          </a:prstGeom>
          <a:solidFill>
            <a:srgbClr val="0D1B3E"/>
          </a:solidFill>
          <a:ln w="12700">
            <a:solidFill>
              <a:srgbClr val="214BA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29968"/>
            <a:ext cx="2651760" cy="54864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21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2920" y="2724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First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intent in plain English. Copilot writes the code, you review and steer.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82112" y="2029968"/>
            <a:ext cx="2651760" cy="2743200"/>
          </a:xfrm>
          <a:prstGeom prst="rect">
            <a:avLst/>
          </a:prstGeom>
          <a:solidFill>
            <a:srgbClr val="0D1B3E"/>
          </a:solidFill>
          <a:ln w="12700">
            <a:solidFill>
              <a:srgbClr val="214BA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2029968"/>
            <a:ext cx="2651760" cy="54864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2112" y="2121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🔁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319272" y="2724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Iteration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9272" y="315468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Accept, reject, tweak in seconds. Ship features in hours, not days.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98464" y="2029968"/>
            <a:ext cx="2651760" cy="2743200"/>
          </a:xfrm>
          <a:prstGeom prst="rect">
            <a:avLst/>
          </a:prstGeom>
          <a:solidFill>
            <a:srgbClr val="0D1B3E"/>
          </a:solidFill>
          <a:ln w="12700">
            <a:solidFill>
              <a:srgbClr val="FF6B2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98464" y="2029968"/>
            <a:ext cx="2651760" cy="5486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98464" y="2121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35624" y="2724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Everything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35624" y="315468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copilot-instructions.md + .mcp.json are your secret weapons. Better context = better output.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Vibe Coding to Production  ·  Bishal Tim  ·  GitHub Copilot Dev Days Kathmandu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B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Stack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MCP servers wired into GitHub Copilot Agent Mode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64008" cy="1691640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Azure DevOps MCP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536192"/>
            <a:ext cx="3749040" cy="274320"/>
          </a:xfrm>
          <a:prstGeom prst="rect">
            <a:avLst/>
          </a:prstGeom>
          <a:solidFill>
            <a:srgbClr val="E8EEF9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4B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@azure-devops/mcp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tickets, read &amp; explain acceptance criteria, create new tickets, update status — without leaving VS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64008" cy="1691640"/>
          </a:xfrm>
          <a:prstGeom prst="rect">
            <a:avLst/>
          </a:prstGeom>
          <a:solidFill>
            <a:srgbClr val="4A72C8"/>
          </a:solidFill>
          <a:ln w="12700">
            <a:solidFill>
              <a:srgbClr val="4A72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63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Umbraco MCP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3749040" cy="274320"/>
          </a:xfrm>
          <a:prstGeom prst="rect">
            <a:avLst/>
          </a:prstGeom>
          <a:solidFill>
            <a:srgbClr val="E8EEF9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4B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@umbraco-cms/mcp-dev@latest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&amp; create Document Types, media, content — talks to the live Management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10058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005840"/>
            <a:ext cx="64008" cy="169164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143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Browser MCP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83480" y="1536192"/>
            <a:ext cx="3749040" cy="274320"/>
          </a:xfrm>
          <a:prstGeom prst="rect">
            <a:avLst/>
          </a:prstGeom>
          <a:solidFill>
            <a:srgbClr val="E8EEF9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14B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@browsermcp/mcp@latest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83480" y="1920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localhost, screenshot backoffice &amp; frontend, verify changes visually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Vibe Coding to Production  ·  Bishal Tim  ·  GitHub Copilot Dev Days Kathmandu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4B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3D8F"/>
          </a:solidFill>
          <a:ln w="12700">
            <a:solidFill>
              <a:srgbClr val="1A3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A3D8F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38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</a:rPr>
              <a:t>Live Demo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438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4F0"/>
                </a:solidFill>
                <a:latin typeface="Calibri" pitchFamily="34" charset="0"/>
              </a:rPr>
              <a:t>Building a real feature with GitHub Copilot + 3 MCPs</a:t>
            </a:r>
          </a:p>
        </p:txBody>
      </p:sp>
      <p:sp>
        <p:nvSpPr>
          <p:cNvPr id="6" name="Text Desc"/>
          <p:cNvSpPr/>
          <p:nvPr/>
        </p:nvSpPr>
        <p:spPr>
          <a:xfrm>
            <a:off x="365760" y="2240280"/>
            <a:ext cx="4389600" cy="18288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</a:rPr>
              <a:t>What you will see: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C8D4F0"/>
                </a:solidFill>
                <a:latin typeface="Calibri" pitchFamily="34" charset="0"/>
              </a:rPr>
              <a:t>Copilot reads a ticket from Azure DevOps using the ADO MCP, interprets the requirements in plain language, then scaffolds the code changes automatically.</a:t>
            </a:r>
          </a:p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C8D4F0"/>
                </a:solidFill>
                <a:latin typeface="Calibri" pitchFamily="34" charset="0"/>
              </a:rPr>
              <a:t>The Umbraco MCP lets Copilot talk directly to the CMS — creating content types and updating the backoffice without manual steps.</a:t>
            </a:r>
          </a:p>
          <a:p>
            <a:pPr indent="0" marL="0">
              <a:buNone/>
            </a:pPr>
            <a:r>
              <a:rPr lang="en-US" sz="800" dirty="0">
                <a:solidFill>
                  <a:srgbClr val="C8D4F0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1050" dirty="0">
                <a:solidFill>
                  <a:srgbClr val="C8D4F0"/>
                </a:solidFill>
                <a:latin typeface="Calibri" pitchFamily="34" charset="0"/>
              </a:rPr>
              <a:t>Browser MCP navigates to localhost, screenshots the result, and visually confirms the feature rendered correctly — closing the loop.</a:t>
            </a:r>
          </a:p>
        </p:txBody>
      </p:sp>
      <p:sp>
        <p:nvSpPr>
          <p:cNvPr id="40" name="Box1Bg"/>
          <p:cNvSpPr/>
          <p:nvPr/>
        </p:nvSpPr>
        <p:spPr>
          <a:xfrm>
            <a:off x="4938840" y="530000"/>
            <a:ext cx="3840000" cy="440000"/>
          </a:xfrm>
          <a:prstGeom prst="rect">
            <a:avLst/>
          </a:prstGeom>
          <a:solidFill>
            <a:srgbClr val="1A3D8F"/>
          </a:solidFill>
          <a:ln w="19050">
            <a:solidFill>
              <a:srgbClr val="4A72C8"/>
            </a:solidFill>
            <a:prstDash val="solid"/>
          </a:ln>
        </p:spPr>
      </p:sp>
      <p:sp>
        <p:nvSpPr>
          <p:cNvPr id="41" name="Box1Label"/>
          <p:cNvSpPr/>
          <p:nvPr/>
        </p:nvSpPr>
        <p:spPr>
          <a:xfrm>
            <a:off x="4938840" y="530000"/>
            <a:ext cx="3840000" cy="44000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1  Read Ticket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AACAFF"/>
                </a:solidFill>
                <a:latin typeface="Calibri" pitchFamily="34" charset="0"/>
              </a:rPr>
              <a:t>ADO MCP fetches requirements</a:t>
            </a:r>
          </a:p>
        </p:txBody>
      </p:sp>
      <p:sp>
        <p:nvSpPr>
          <p:cNvPr id="42" name="Arr1"/>
          <p:cNvSpPr/>
          <p:nvPr/>
        </p:nvSpPr>
        <p:spPr>
          <a:xfrm>
            <a:off x="6858840" y="980000"/>
            <a:ext cx="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72C8"/>
                </a:solidFill>
              </a:rPr>
              <a:t>↓</a:t>
            </a:r>
          </a:p>
        </p:txBody>
      </p:sp>
      <p:sp>
        <p:nvSpPr>
          <p:cNvPr id="43" name="Box2Bg"/>
          <p:cNvSpPr/>
          <p:nvPr/>
        </p:nvSpPr>
        <p:spPr>
          <a:xfrm>
            <a:off x="4938840" y="1220000"/>
            <a:ext cx="3840000" cy="440000"/>
          </a:xfrm>
          <a:prstGeom prst="rect">
            <a:avLst/>
          </a:prstGeom>
          <a:solidFill>
            <a:srgbClr val="1A3D8F"/>
          </a:solidFill>
          <a:ln w="19050">
            <a:solidFill>
              <a:srgbClr val="4A72C8"/>
            </a:solidFill>
            <a:prstDash val="solid"/>
          </a:ln>
        </p:spPr>
      </p:sp>
      <p:sp>
        <p:nvSpPr>
          <p:cNvPr id="44" name="Box2Label"/>
          <p:cNvSpPr/>
          <p:nvPr/>
        </p:nvSpPr>
        <p:spPr>
          <a:xfrm>
            <a:off x="4938840" y="1220000"/>
            <a:ext cx="3840000" cy="44000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2  Copilot Writes Code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AACAFF"/>
                </a:solidFill>
                <a:latin typeface="Calibri" pitchFamily="34" charset="0"/>
              </a:rPr>
              <a:t>Single prompt scaffolds the feature</a:t>
            </a:r>
          </a:p>
        </p:txBody>
      </p:sp>
      <p:sp>
        <p:nvSpPr>
          <p:cNvPr id="45" name="Arr2"/>
          <p:cNvSpPr/>
          <p:nvPr/>
        </p:nvSpPr>
        <p:spPr>
          <a:xfrm>
            <a:off x="6858840" y="1670000"/>
            <a:ext cx="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72C8"/>
                </a:solidFill>
              </a:rPr>
              <a:t>↓</a:t>
            </a:r>
          </a:p>
        </p:txBody>
      </p:sp>
      <p:sp>
        <p:nvSpPr>
          <p:cNvPr id="46" name="Box3Bg"/>
          <p:cNvSpPr/>
          <p:nvPr/>
        </p:nvSpPr>
        <p:spPr>
          <a:xfrm>
            <a:off x="4938840" y="1910000"/>
            <a:ext cx="3840000" cy="440000"/>
          </a:xfrm>
          <a:prstGeom prst="rect">
            <a:avLst/>
          </a:prstGeom>
          <a:solidFill>
            <a:srgbClr val="0D3780"/>
          </a:solidFill>
          <a:ln w="19050">
            <a:solidFill>
              <a:srgbClr val="FF6B2B"/>
            </a:solidFill>
            <a:prstDash val="solid"/>
          </a:ln>
        </p:spPr>
      </p:sp>
      <p:sp>
        <p:nvSpPr>
          <p:cNvPr id="47" name="Box3Label"/>
          <p:cNvSpPr/>
          <p:nvPr/>
        </p:nvSpPr>
        <p:spPr>
          <a:xfrm>
            <a:off x="4938840" y="1910000"/>
            <a:ext cx="3840000" cy="44000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3  Umbraco MCP Updates CMS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AACAFF"/>
                </a:solidFill>
                <a:latin typeface="Calibri" pitchFamily="34" charset="0"/>
              </a:rPr>
              <a:t>Creates content types in backoffice</a:t>
            </a:r>
          </a:p>
        </p:txBody>
      </p:sp>
      <p:sp>
        <p:nvSpPr>
          <p:cNvPr id="48" name="Arr3"/>
          <p:cNvSpPr/>
          <p:nvPr/>
        </p:nvSpPr>
        <p:spPr>
          <a:xfrm>
            <a:off x="6858840" y="2360000"/>
            <a:ext cx="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72C8"/>
                </a:solidFill>
              </a:rPr>
              <a:t>↓</a:t>
            </a:r>
          </a:p>
        </p:txBody>
      </p:sp>
      <p:sp>
        <p:nvSpPr>
          <p:cNvPr id="49" name="Box4Bg"/>
          <p:cNvSpPr/>
          <p:nvPr/>
        </p:nvSpPr>
        <p:spPr>
          <a:xfrm>
            <a:off x="4938840" y="2600000"/>
            <a:ext cx="3840000" cy="440000"/>
          </a:xfrm>
          <a:prstGeom prst="rect">
            <a:avLst/>
          </a:prstGeom>
          <a:solidFill>
            <a:srgbClr val="0D3780"/>
          </a:solidFill>
          <a:ln w="19050">
            <a:solidFill>
              <a:srgbClr val="FF6B2B"/>
            </a:solidFill>
            <a:prstDash val="solid"/>
          </a:ln>
        </p:spPr>
      </p:sp>
      <p:sp>
        <p:nvSpPr>
          <p:cNvPr id="50" name="Box4Label"/>
          <p:cNvSpPr/>
          <p:nvPr/>
        </p:nvSpPr>
        <p:spPr>
          <a:xfrm>
            <a:off x="4938840" y="2600000"/>
            <a:ext cx="3840000" cy="44000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4  Browser MCP Verifies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AACAFF"/>
                </a:solidFill>
                <a:latin typeface="Calibri" pitchFamily="34" charset="0"/>
              </a:rPr>
              <a:t>Screenshots confirm feature renders</a:t>
            </a:r>
          </a:p>
        </p:txBody>
      </p:sp>
      <p:sp>
        <p:nvSpPr>
          <p:cNvPr id="51" name="Arr4"/>
          <p:cNvSpPr/>
          <p:nvPr/>
        </p:nvSpPr>
        <p:spPr>
          <a:xfrm>
            <a:off x="6858840" y="3050000"/>
            <a:ext cx="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72C8"/>
                </a:solidFill>
              </a:rPr>
              <a:t>↓</a:t>
            </a:r>
          </a:p>
        </p:txBody>
      </p:sp>
      <p:sp>
        <p:nvSpPr>
          <p:cNvPr id="52" name="Box5Bg"/>
          <p:cNvSpPr/>
          <p:nvPr/>
        </p:nvSpPr>
        <p:spPr>
          <a:xfrm>
            <a:off x="4938840" y="3290000"/>
            <a:ext cx="3840000" cy="440000"/>
          </a:xfrm>
          <a:prstGeom prst="rect">
            <a:avLst/>
          </a:prstGeom>
          <a:solidFill>
            <a:srgbClr val="0A5C2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53" name="Box5Label"/>
          <p:cNvSpPr/>
          <p:nvPr/>
        </p:nvSpPr>
        <p:spPr>
          <a:xfrm>
            <a:off x="4938840" y="3290000"/>
            <a:ext cx="3840000" cy="44000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5  Feature Shipped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AACAFF"/>
                </a:solidFill>
                <a:latin typeface="Calibri" pitchFamily="34" charset="0"/>
              </a:rPr>
              <a:t>Zero context switching — full loop done</a:t>
            </a:r>
          </a:p>
        </p:txBody>
      </p:sp>
      <p:sp>
        <p:nvSpPr>
          <p:cNvPr id="35" name="Shape 3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3D8F"/>
          </a:solidFill>
          <a:ln w="12700">
            <a:solidFill>
              <a:srgbClr val="1A3D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4F0"/>
                </a:solidFill>
              </a:rPr>
              <a:t>Vibe Coding to Production  ·  Bishal Tim  ·  GitHub Copilot Dev Days Kathmandu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audience sees, step by step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80160"/>
            <a:ext cx="411480" cy="411480"/>
          </a:xfrm>
          <a:prstGeom prst="ellipse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33272" y="1097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ticket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33272" y="1444752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ADO board shows a ticket with clear acceptance criteria. Copilot reads and understands it via the ADO MCP.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30428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578608"/>
            <a:ext cx="411480" cy="411480"/>
          </a:xfrm>
          <a:prstGeom prst="ellipse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78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33272" y="23957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Copilot Agent Mode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33272" y="2743200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/ in Copilot Chat and pick the implement-ticket prompt. Copilot fetches the ticket and begins scaffolding.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602736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877056"/>
            <a:ext cx="411480" cy="411480"/>
          </a:xfrm>
          <a:prstGeom prst="ellipse">
            <a:avLst/>
          </a:prstGeom>
          <a:solidFill>
            <a:srgbClr val="4A72C8"/>
          </a:solidFill>
          <a:ln w="12700">
            <a:solidFill>
              <a:srgbClr val="4A72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877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33272" y="36941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updates automatically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33272" y="4041648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queries the Umbraco Management API, checks existing content types, and creates the new one without manual steps.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1005840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1280160"/>
            <a:ext cx="411480" cy="411480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68112" y="1097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verification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68112" y="1444752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MCP navigates to localhost, logs into the backoffice, and screenshots the result to confirm the change.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2304288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2578608"/>
            <a:ext cx="411480" cy="411480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578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68112" y="23957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confirmed live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68112" y="2743200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performs a final visual check in the browser, confirming the feature is visible on the frontend.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3602736"/>
            <a:ext cx="4160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3877056"/>
            <a:ext cx="411480" cy="4114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877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68112" y="36941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complete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68112" y="4041648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 is marked complete. The full feature was built without switching tabs or writing boilerplate.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Vibe Coding to Production  ·  Bishal Tim  ·  GitHub Copilot Dev Days Kathmandu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to Production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AI-generated code safe to ship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9319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3931920" cy="475488"/>
          </a:xfrm>
          <a:prstGeom prst="rect">
            <a:avLst/>
          </a:prstGeom>
          <a:solidFill>
            <a:srgbClr val="1A0A0A"/>
          </a:solidFill>
          <a:ln w="12700">
            <a:solidFill>
              <a:srgbClr val="5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813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Accepting code you don't understand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048256"/>
            <a:ext cx="3931920" cy="475488"/>
          </a:xfrm>
          <a:prstGeom prst="rect">
            <a:avLst/>
          </a:prstGeom>
          <a:solidFill>
            <a:srgbClr val="1A0A0A"/>
          </a:solidFill>
          <a:ln w="12700">
            <a:solidFill>
              <a:srgbClr val="5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4825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No tests — vibe ships, fire drill at 2am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615184"/>
            <a:ext cx="3931920" cy="475488"/>
          </a:xfrm>
          <a:prstGeom prst="rect">
            <a:avLst/>
          </a:prstGeom>
          <a:solidFill>
            <a:srgbClr val="1A0A0A"/>
          </a:solidFill>
          <a:ln w="12700">
            <a:solidFill>
              <a:srgbClr val="5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1518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Copilot hallucinates Umbraco APIs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182112"/>
            <a:ext cx="3931920" cy="475488"/>
          </a:xfrm>
          <a:prstGeom prst="rect">
            <a:avLst/>
          </a:prstGeom>
          <a:solidFill>
            <a:srgbClr val="1A0A0A"/>
          </a:solidFill>
          <a:ln w="12700">
            <a:solidFill>
              <a:srgbClr val="5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821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Prompt too vague — spaghetti output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3931920" cy="475488"/>
          </a:xfrm>
          <a:prstGeom prst="rect">
            <a:avLst/>
          </a:prstGeom>
          <a:solidFill>
            <a:srgbClr val="1A0A0A"/>
          </a:solidFill>
          <a:ln w="12700">
            <a:solidFill>
              <a:srgbClr val="5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490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Secrets in prompt files or config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3931920" cy="384048"/>
          </a:xfrm>
          <a:prstGeom prst="rect">
            <a:avLst/>
          </a:prstGeom>
          <a:solidFill>
            <a:srgbClr val="1D6A3A"/>
          </a:solidFill>
          <a:ln w="12700">
            <a:solidFill>
              <a:srgbClr val="1D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that work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481328"/>
            <a:ext cx="3931920" cy="475488"/>
          </a:xfrm>
          <a:prstGeom prst="rect">
            <a:avLst/>
          </a:prstGeom>
          <a:solidFill>
            <a:srgbClr val="0A1A0A"/>
          </a:solidFill>
          <a:ln w="12700">
            <a:solidFill>
              <a:srgbClr val="1A5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4813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copilot-instructions.md — teach it your stack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2048256"/>
            <a:ext cx="3931920" cy="475488"/>
          </a:xfrm>
          <a:prstGeom prst="rect">
            <a:avLst/>
          </a:prstGeom>
          <a:solidFill>
            <a:srgbClr val="0A1A0A"/>
          </a:solidFill>
          <a:ln w="12700">
            <a:solidFill>
              <a:srgbClr val="1A5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04825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TDD — ask Copilot to write tests first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615184"/>
            <a:ext cx="3931920" cy="475488"/>
          </a:xfrm>
          <a:prstGeom prst="rect">
            <a:avLst/>
          </a:prstGeom>
          <a:solidFill>
            <a:srgbClr val="0A1A0A"/>
          </a:solidFill>
          <a:ln w="12700">
            <a:solidFill>
              <a:srgbClr val="1A5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61518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Review every diff like a junior PR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3182112"/>
            <a:ext cx="3931920" cy="475488"/>
          </a:xfrm>
          <a:prstGeom prst="rect">
            <a:avLst/>
          </a:prstGeom>
          <a:solidFill>
            <a:srgbClr val="0A1A0A"/>
          </a:solidFill>
          <a:ln w="12700">
            <a:solidFill>
              <a:srgbClr val="1A5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1821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Playwright MCP auto-tests after changes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3749040"/>
            <a:ext cx="3931920" cy="475488"/>
          </a:xfrm>
          <a:prstGeom prst="rect">
            <a:avLst/>
          </a:prstGeom>
          <a:solidFill>
            <a:srgbClr val="0A1A0A"/>
          </a:solidFill>
          <a:ln w="12700">
            <a:solidFill>
              <a:srgbClr val="1A5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7490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D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 Env vars for secrets, never hardcode tokens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Vibe Coding to Production  ·  Bishal Tim  ·  GitHub Copilot Dev Days Kathmandu 2026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64008" cy="868680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028700"/>
            <a:ext cx="457200" cy="457200"/>
          </a:xfrm>
          <a:prstGeom prst="ellipse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287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914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ships real .NET production code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43000" y="1280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Umbraco, ASP.NET Core, Razor — Copilot understands your entire stack.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28800"/>
            <a:ext cx="64008" cy="868680"/>
          </a:xfrm>
          <a:prstGeom prst="rect">
            <a:avLst/>
          </a:prstGeom>
          <a:solidFill>
            <a:srgbClr val="4A72C8"/>
          </a:solidFill>
          <a:ln w="12700">
            <a:solidFill>
              <a:srgbClr val="4A72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2034540"/>
            <a:ext cx="457200" cy="457200"/>
          </a:xfrm>
          <a:prstGeom prst="ellipse">
            <a:avLst/>
          </a:prstGeom>
          <a:solidFill>
            <a:srgbClr val="4A72C8"/>
          </a:solidFill>
          <a:ln w="12700">
            <a:solidFill>
              <a:srgbClr val="4A72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1920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the multiplier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43000" y="22860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MCPs = ADO tickets to code to backoffice to tests. Zero context switching.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34640"/>
            <a:ext cx="64008" cy="86868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3040380"/>
            <a:ext cx="457200" cy="457200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0403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29260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still the engineer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43000" y="3291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amplifies you. Your review, your judgment, your name on the commit.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8412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840480"/>
            <a:ext cx="64008" cy="8686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4046220"/>
            <a:ext cx="457200" cy="4572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046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39319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wins every time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43000" y="42976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copilot-instructions.md + specific prompts = dramatically better output.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Vibe Coding to Production  ·  Bishal Tim  ·  GitHub Copilot Dev Days Kathmandu 2026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2468880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people often ask about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11680" y="2788920"/>
            <a:ext cx="5120640" cy="1920240"/>
          </a:xfrm>
          <a:prstGeom prst="rect">
            <a:avLst/>
          </a:prstGeom>
          <a:solidFill>
            <a:srgbClr val="1A3D8F"/>
          </a:solidFill>
          <a:ln w="12700">
            <a:solidFill>
              <a:srgbClr val="4A72C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0" y="2788920"/>
            <a:ext cx="5120640" cy="640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999232"/>
            <a:ext cx="640080" cy="640080"/>
          </a:xfrm>
          <a:prstGeom prst="ellipse">
            <a:avLst/>
          </a:prstGeom>
          <a:solidFill>
            <a:srgbClr val="214BAF"/>
          </a:solidFill>
          <a:ln w="12700">
            <a:solidFill>
              <a:srgbClr val="4A72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2999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80360" y="29077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Bishal Tim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80360" y="3310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/ Umbraco Developer  ·  @Usome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48840" y="3703320"/>
            <a:ext cx="4846320" cy="13716"/>
          </a:xfrm>
          <a:prstGeom prst="rect">
            <a:avLst/>
          </a:prstGeom>
          <a:solidFill>
            <a:srgbClr val="4A72C8"/>
          </a:solidFill>
          <a:ln w="12700">
            <a:solidFill>
              <a:srgbClr val="4A72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3794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7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github.com/github/GitHub-Copilot-Dev-Days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48840" y="40965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dev.azure.com/usome  ·  Kathmandu  ·  April 26, 2026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90" name="FAQ Box"/>
          <p:cNvSpPr/>
          <p:nvPr/>
        </p:nvSpPr>
        <p:spPr>
          <a:xfrm>
            <a:off x="365760" y="1650000"/>
            <a:ext cx="8412480" cy="3050000"/>
          </a:xfrm>
          <a:prstGeom prst="rect">
            <a:avLst/>
          </a:prstGeom>
          <a:solidFill>
            <a:srgbClr val="0D2A6E"/>
          </a:solidFill>
          <a:ln w="12700">
            <a:solidFill>
              <a:srgbClr val="4A72C8"/>
            </a:solidFill>
            <a:prstDash val="solid"/>
          </a:ln>
        </p:spPr>
      </p:sp>
      <p:sp>
        <p:nvSpPr>
          <p:cNvPr id="91" name="FAQ Text"/>
          <p:cNvSpPr/>
          <p:nvPr/>
        </p:nvSpPr>
        <p:spPr>
          <a:xfrm>
            <a:off x="365760" y="1650000"/>
            <a:ext cx="8412480" cy="3050000"/>
          </a:xfrm>
          <a:prstGeom prst="rect">
            <a:avLst/>
          </a:prstGeom>
          <a:noFill/>
          <a:ln/>
        </p:spPr>
        <p:txBody>
          <a:bodyPr wrap="square" lIns="182880" tIns="182880" rIns="182880" bIns="9144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ACAFF"/>
                </a:solidFill>
                <a:latin typeface="Calibri" pitchFamily="34" charset="0"/>
              </a:rPr>
              <a:t>Does GitHub Copilot Agent Mode work with Visual Studio?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Yes — Agent Mode with MCP support is available in Visual Studio 2022 v17.14+ and VS Code. Both use .mcp.json configuration.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1100" b="1" dirty="0">
                <a:solidFill>
                  <a:srgbClr val="AACAFF"/>
                </a:solidFill>
                <a:latin typeface="Calibri" pitchFamily="34" charset="0"/>
              </a:rPr>
              <a:t>Can I plug in my own MCP servers?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Any MCP-compatible server can be wired in via .mcp.json. The community has servers for databases, CI/CD, APIs, and much more.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1100" b="1" dirty="0">
                <a:solidFill>
                  <a:srgbClr val="AACAFF"/>
                </a:solidFill>
                <a:latin typeface="Calibri" pitchFamily="34" charset="0"/>
              </a:rPr>
              <a:t>Is it safe to merge AI-generated code into production?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With proper review — yes. Treat every diff like a PR from a capable junior. Your judgement, your commit, your name on it.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1100" b="1" dirty="0">
                <a:solidFill>
                  <a:srgbClr val="AACAFF"/>
                </a:solidFill>
                <a:latin typeface="Calibri" pitchFamily="34" charset="0"/>
              </a:rPr>
              <a:t>Can Copilot create and update ADO tickets automatically?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Yes — with the ADO MCP, Copilot can read, explain, create, and update work items directly from your chat prompt.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1100" b="1" dirty="0">
                <a:solidFill>
                  <a:srgbClr val="AACAFF"/>
                </a:solidFill>
                <a:latin typeface="Calibri" pitchFamily="34" charset="0"/>
              </a:rPr>
              <a:t>Does Copilot understand our Umbraco-specific codebase?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With a well-written copilot-instructions.md it does. You teach it your conventions, models, and patterns once — it applies them everywhere.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1100" b="1" dirty="0">
                <a:solidFill>
                  <a:srgbClr val="AACAFF"/>
                </a:solidFill>
                <a:latin typeface="Calibri" pitchFamily="34" charset="0"/>
              </a:rPr>
              <a:t>What if Copilot generates incorrect or insecure code?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You own the review. Treat every suggestion as a PR from a smart but fallible colleague — read it, test it, approve it.</a:t>
            </a:r>
          </a:p>
        </p:txBody>
      </p:sp>
      <p:sp>
        <p:nvSpPr>
          <p:cNvPr id="16" name="Text 1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GitHub Copilot Dev Days 2026  ·  All rights reserved GitHub / Microsoft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nd-to-End Workflow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365760" y="150000"/>
            <a:ext cx="841248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End-to-End Workflow with GitHub Copilot</a:t>
            </a:r>
          </a:p>
        </p:txBody>
      </p:sp>
      <p:sp>
        <p:nvSpPr>
          <p:cNvPr id="4" name="Sub"/>
          <p:cNvSpPr/>
          <p:nvPr/>
        </p:nvSpPr>
        <p:spPr>
          <a:xfrm>
            <a:off x="365760" y="590000"/>
            <a:ext cx="841248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AFF"/>
                </a:solidFill>
                <a:latin typeface="Calibri" pitchFamily="34" charset="0"/>
              </a:rPr>
              <a:t>From feature request to merged PR — without leaving your IDE</a:t>
            </a:r>
          </a:p>
        </p:txBody>
      </p:sp>
      <p:sp>
        <p:nvSpPr>
          <p:cNvPr id="10" name="S1bg"/>
          <p:cNvSpPr/>
          <p:nvPr/>
        </p:nvSpPr>
        <p:spPr>
          <a:xfrm>
            <a:off x="365760" y="920000"/>
            <a:ext cx="2560000" cy="3700000"/>
          </a:xfrm>
          <a:prstGeom prst="rect">
            <a:avLst/>
          </a:prstGeom>
          <a:solidFill>
            <a:srgbClr val="142E6E"/>
          </a:solidFill>
          <a:ln w="19050">
            <a:solidFill>
              <a:srgbClr val="4A72C8"/>
            </a:solidFill>
            <a:prstDash val="solid"/>
          </a:ln>
        </p:spPr>
      </p:sp>
      <p:sp>
        <p:nvSpPr>
          <p:cNvPr id="11" name="S1num"/>
          <p:cNvSpPr/>
          <p:nvPr/>
        </p:nvSpPr>
        <p:spPr>
          <a:xfrm>
            <a:off x="365760" y="920000"/>
            <a:ext cx="2560000" cy="380000"/>
          </a:xfrm>
          <a:prstGeom prst="rect">
            <a:avLst/>
          </a:prstGeom>
          <a:solidFill>
            <a:srgbClr val="214BAF"/>
          </a:solidFill>
          <a:ln w="0">
            <a:noFill/>
          </a:ln>
        </p:spPr>
      </p:sp>
      <p:sp>
        <p:nvSpPr>
          <p:cNvPr id="12" name="S1text"/>
          <p:cNvSpPr/>
          <p:nvPr/>
        </p:nvSpPr>
        <p:spPr>
          <a:xfrm>
            <a:off x="365760" y="920000"/>
            <a:ext cx="2560000" cy="3700000"/>
          </a:xfrm>
          <a:prstGeom prst="rect">
            <a:avLst/>
          </a:prstGeom>
          <a:noFill/>
          <a:ln/>
        </p:spPr>
        <p:txBody>
          <a:bodyPr wrap="square" lIns="182880" tIns="91440" rIns="182880" bIns="9144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01  Feature Request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</a:rPr>
              <a:t>Copilot reads ADO ticket, explains the requirements in plain English, flags ambiguities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02  Generate Code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</a:rPr>
              <a:t>Modify or generate Umbraco extension code guided by your copilot-instructions.md context</a:t>
            </a:r>
          </a:p>
        </p:txBody>
      </p:sp>
      <p:sp>
        <p:nvSpPr>
          <p:cNvPr id="20" name="S2bg"/>
          <p:cNvSpPr/>
          <p:nvPr/>
        </p:nvSpPr>
        <p:spPr>
          <a:xfrm>
            <a:off x="3105760" y="920000"/>
            <a:ext cx="2560000" cy="3700000"/>
          </a:xfrm>
          <a:prstGeom prst="rect">
            <a:avLst/>
          </a:prstGeom>
          <a:solidFill>
            <a:srgbClr val="142E6E"/>
          </a:solidFill>
          <a:ln w="19050">
            <a:solidFill>
              <a:srgbClr val="FF6B2B"/>
            </a:solidFill>
            <a:prstDash val="solid"/>
          </a:ln>
        </p:spPr>
      </p:sp>
      <p:sp>
        <p:nvSpPr>
          <p:cNvPr id="21" name="S2num"/>
          <p:cNvSpPr/>
          <p:nvPr/>
        </p:nvSpPr>
        <p:spPr>
          <a:xfrm>
            <a:off x="3105760" y="920000"/>
            <a:ext cx="2560000" cy="380000"/>
          </a:xfrm>
          <a:prstGeom prst="rect">
            <a:avLst/>
          </a:prstGeom>
          <a:solidFill>
            <a:srgbClr val="CC4400"/>
          </a:solidFill>
          <a:ln w="0">
            <a:noFill/>
          </a:ln>
        </p:spPr>
      </p:sp>
      <p:sp>
        <p:nvSpPr>
          <p:cNvPr id="22" name="S2text"/>
          <p:cNvSpPr/>
          <p:nvPr/>
        </p:nvSpPr>
        <p:spPr>
          <a:xfrm>
            <a:off x="3105760" y="920000"/>
            <a:ext cx="2560000" cy="3700000"/>
          </a:xfrm>
          <a:prstGeom prst="rect">
            <a:avLst/>
          </a:prstGeom>
          <a:noFill/>
          <a:ln/>
        </p:spPr>
        <p:txBody>
          <a:bodyPr wrap="square" lIns="182880" tIns="91440" rIns="182880" bIns="9144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03  Validate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</a:rPr>
              <a:t>Browser MCP screenshots backoffice and frontend to visually confirm Umbraco scenarios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04  Branch + Commit + PR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</a:rPr>
              <a:t>Copilot creates a branch, writes a commit message, and opens a PR with context from the ticket</a:t>
            </a:r>
          </a:p>
        </p:txBody>
      </p:sp>
      <p:sp>
        <p:nvSpPr>
          <p:cNvPr id="30" name="S3bg"/>
          <p:cNvSpPr/>
          <p:nvPr/>
        </p:nvSpPr>
        <p:spPr>
          <a:xfrm>
            <a:off x="5845760" y="920000"/>
            <a:ext cx="2933040" cy="3700000"/>
          </a:xfrm>
          <a:prstGeom prst="rect">
            <a:avLst/>
          </a:prstGeom>
          <a:solidFill>
            <a:srgbClr val="0A5C2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31" name="S3num"/>
          <p:cNvSpPr/>
          <p:nvPr/>
        </p:nvSpPr>
        <p:spPr>
          <a:xfrm>
            <a:off x="5845760" y="920000"/>
            <a:ext cx="2933040" cy="380000"/>
          </a:xfrm>
          <a:prstGeom prst="rect">
            <a:avLst/>
          </a:prstGeom>
          <a:solidFill>
            <a:srgbClr val="0A7A3E"/>
          </a:solidFill>
          <a:ln w="0">
            <a:noFill/>
          </a:ln>
        </p:spPr>
      </p:sp>
      <p:sp>
        <p:nvSpPr>
          <p:cNvPr id="32" name="S3text"/>
          <p:cNvSpPr/>
          <p:nvPr/>
        </p:nvSpPr>
        <p:spPr>
          <a:xfrm>
            <a:off x="5845760" y="920000"/>
            <a:ext cx="2933040" cy="3700000"/>
          </a:xfrm>
          <a:prstGeom prst="rect">
            <a:avLst/>
          </a:prstGeom>
          <a:noFill/>
          <a:ln/>
        </p:spPr>
        <p:txBody>
          <a:bodyPr wrap="square" lIns="182880" tIns="91440" rIns="182880" bIns="9144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05  CI + Review Comments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</a:rPr>
              <a:t>Copilot reads CI failures and review comments, suggests targeted fixes — you approve and merge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06  Ticket Closed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</a:rPr>
              <a:t>ADO MCP marks the ticket Done. Zero context switching — full loop from request to ship</a:t>
            </a:r>
          </a:p>
        </p:txBody>
      </p:sp>
      <p:sp>
        <p:nvSpPr>
          <p:cNvPr id="99" name="Footer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100" name="FooterText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Vibe Coding to Production  ·  Bishal Tim  ·  GitHub Copilot Dev Days Kathmandu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asurable Impact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365760" y="130000"/>
            <a:ext cx="841248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Measurable Impact</a:t>
            </a:r>
          </a:p>
        </p:txBody>
      </p:sp>
      <p:sp>
        <p:nvSpPr>
          <p:cNvPr id="4" name="Sub"/>
          <p:cNvSpPr/>
          <p:nvPr/>
        </p:nvSpPr>
        <p:spPr>
          <a:xfrm>
            <a:off x="365760" y="600000"/>
            <a:ext cx="84124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AFF"/>
                </a:solidFill>
                <a:latin typeface="Calibri" pitchFamily="34" charset="0"/>
              </a:rPr>
              <a:t>KPIs to track when adopting GitHub Copilot in your team</a:t>
            </a:r>
          </a:p>
        </p:txBody>
      </p:sp>
      <p:sp>
        <p:nvSpPr>
          <p:cNvPr id="10" name="KpiA"/>
          <p:cNvSpPr/>
          <p:nvPr/>
        </p:nvSpPr>
        <p:spPr>
          <a:xfrm>
            <a:off x="365760" y="900000"/>
            <a:ext cx="2560000" cy="1520000"/>
          </a:xfrm>
          <a:prstGeom prst="rect">
            <a:avLst/>
          </a:prstGeom>
          <a:solidFill>
            <a:srgbClr val="142E6E"/>
          </a:solidFill>
          <a:ln w="19050">
            <a:solidFill>
              <a:srgbClr val="4A72C8"/>
            </a:solidFill>
            <a:prstDash val="solid"/>
          </a:ln>
        </p:spPr>
      </p:sp>
      <p:sp>
        <p:nvSpPr>
          <p:cNvPr id="11" name="KpiAText"/>
          <p:cNvSpPr/>
          <p:nvPr/>
        </p:nvSpPr>
        <p:spPr>
          <a:xfrm>
            <a:off x="365760" y="900000"/>
            <a:ext cx="2560000" cy="1520000"/>
          </a:xfrm>
          <a:prstGeom prst="rect">
            <a:avLst/>
          </a:prstGeom>
          <a:noFill/>
          <a:ln/>
        </p:spPr>
        <p:txBody>
          <a:bodyPr wrap="square" lIns="182880" tIns="182880" rIns="182880" bIns="9144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A9EFF"/>
                </a:solidFill>
                <a:latin typeface="Calibri" pitchFamily="34" charset="0"/>
              </a:rPr>
              <a:t>↓ 40%</a:t>
            </a:r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PR Cycle Time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AACAFF"/>
                </a:solidFill>
                <a:latin typeface="Calibri" pitchFamily="34" charset="0"/>
              </a:rPr>
              <a:t>Avg time from branch to merged PR</a:t>
            </a:r>
          </a:p>
        </p:txBody>
      </p:sp>
      <p:sp>
        <p:nvSpPr>
          <p:cNvPr id="12" name="KpiB"/>
          <p:cNvSpPr/>
          <p:nvPr/>
        </p:nvSpPr>
        <p:spPr>
          <a:xfrm>
            <a:off x="3105760" y="900000"/>
            <a:ext cx="2560000" cy="1520000"/>
          </a:xfrm>
          <a:prstGeom prst="rect">
            <a:avLst/>
          </a:prstGeom>
          <a:solidFill>
            <a:srgbClr val="142E6E"/>
          </a:solidFill>
          <a:ln w="19050">
            <a:solidFill>
              <a:srgbClr val="FF6B2B"/>
            </a:solidFill>
            <a:prstDash val="solid"/>
          </a:ln>
        </p:spPr>
      </p:sp>
      <p:sp>
        <p:nvSpPr>
          <p:cNvPr id="13" name="KpiBText"/>
          <p:cNvSpPr/>
          <p:nvPr/>
        </p:nvSpPr>
        <p:spPr>
          <a:xfrm>
            <a:off x="3105760" y="900000"/>
            <a:ext cx="2560000" cy="1520000"/>
          </a:xfrm>
          <a:prstGeom prst="rect">
            <a:avLst/>
          </a:prstGeom>
          <a:noFill/>
          <a:ln/>
        </p:spPr>
        <p:txBody>
          <a:bodyPr wrap="square" lIns="182880" tIns="182880" rIns="182880" bIns="9144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2B"/>
                </a:solidFill>
                <a:latin typeface="Calibri" pitchFamily="34" charset="0"/>
              </a:rPr>
              <a:t>↓ 55%</a:t>
            </a:r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Boilerplate Time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AACAFF"/>
                </a:solidFill>
                <a:latin typeface="Calibri" pitchFamily="34" charset="0"/>
              </a:rPr>
              <a:t>Time writing repetitive scaffolding code</a:t>
            </a:r>
          </a:p>
        </p:txBody>
      </p:sp>
      <p:sp>
        <p:nvSpPr>
          <p:cNvPr id="14" name="KpiC"/>
          <p:cNvSpPr/>
          <p:nvPr/>
        </p:nvSpPr>
        <p:spPr>
          <a:xfrm>
            <a:off x="5845760" y="900000"/>
            <a:ext cx="2933040" cy="1520000"/>
          </a:xfrm>
          <a:prstGeom prst="rect">
            <a:avLst/>
          </a:prstGeom>
          <a:solidFill>
            <a:srgbClr val="0A5C2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5" name="KpiCText"/>
          <p:cNvSpPr/>
          <p:nvPr/>
        </p:nvSpPr>
        <p:spPr>
          <a:xfrm>
            <a:off x="5845760" y="900000"/>
            <a:ext cx="2933040" cy="1520000"/>
          </a:xfrm>
          <a:prstGeom prst="rect">
            <a:avLst/>
          </a:prstGeom>
          <a:noFill/>
          <a:ln/>
        </p:spPr>
        <p:txBody>
          <a:bodyPr wrap="square" lIns="182880" tIns="182880" rIns="182880" bIns="9144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CC71"/>
                </a:solidFill>
                <a:latin typeface="Calibri" pitchFamily="34" charset="0"/>
              </a:rPr>
              <a:t>↓ 0</a:t>
            </a:r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Context Switches</a:t>
            </a:r>
          </a:p>
          <a:p>
            <a:pPr algn="ctr" indent="0" marL="0">
              <a:buNone/>
            </a:pPr>
            <a:r>
              <a:rPr lang="en-US" sz="850" dirty="0">
                <a:solidFill>
                  <a:srgbClr val="AACAFF"/>
                </a:solidFill>
                <a:latin typeface="Calibri" pitchFamily="34" charset="0"/>
              </a:rPr>
              <a:t>Tab switches per feature from IDE to browser</a:t>
            </a:r>
          </a:p>
        </p:txBody>
      </p:sp>
      <p:sp>
        <p:nvSpPr>
          <p:cNvPr id="20" name="KpiList"/>
          <p:cNvSpPr/>
          <p:nvPr/>
        </p:nvSpPr>
        <p:spPr>
          <a:xfrm>
            <a:off x="365760" y="2520000"/>
            <a:ext cx="8412480" cy="2260000"/>
          </a:xfrm>
          <a:prstGeom prst="rect">
            <a:avLst/>
          </a:prstGeom>
          <a:solidFill>
            <a:srgbClr val="0D2A6E"/>
          </a:solidFill>
          <a:ln w="19050">
            <a:solidFill>
              <a:srgbClr val="4A72C8"/>
            </a:solidFill>
            <a:prstDash val="solid"/>
          </a:ln>
        </p:spPr>
      </p:sp>
      <p:sp>
        <p:nvSpPr>
          <p:cNvPr id="21" name="KpiListText"/>
          <p:cNvSpPr/>
          <p:nvPr/>
        </p:nvSpPr>
        <p:spPr>
          <a:xfrm>
            <a:off x="365760" y="2520000"/>
            <a:ext cx="8412480" cy="2260000"/>
          </a:xfrm>
          <a:prstGeom prst="rect">
            <a:avLst/>
          </a:prstGeom>
          <a:noFill/>
          <a:ln/>
        </p:spPr>
        <p:txBody>
          <a:bodyPr wrap="square" lIns="274320" tIns="182880" rIns="274320" bIns="9144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Track these additional KPIs after rollout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 xml:space="preserve"> </a:t>
            </a:r>
          </a:p>
          <a:p>
            <a:pPr indent="0" marL="457200">
              <a:buChar char="•"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</a:rPr>
              <a:t>Acceptance rate of Copilot suggestions (target: &gt;35%)</a:t>
            </a:r>
          </a:p>
          <a:p>
            <a:pPr indent="0" marL="457200">
              <a:buChar char="•"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</a:rPr>
              <a:t>Build / test pass rate on first push (before vs after Copilot)</a:t>
            </a:r>
          </a:p>
          <a:p>
            <a:pPr indent="0" marL="457200">
              <a:buChar char="•"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</a:rPr>
              <a:t>Number of tickets completed per sprint (velocity delta)</a:t>
            </a:r>
          </a:p>
          <a:p>
            <a:pPr indent="0" marL="457200">
              <a:buChar char="•"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</a:rPr>
              <a:t>Developer satisfaction score (1–5) — subjective but revealing</a:t>
            </a:r>
          </a:p>
        </p:txBody>
      </p:sp>
      <p:sp>
        <p:nvSpPr>
          <p:cNvPr id="99" name="Footer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100" name="FooterText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Vibe Coding to Production  ·  Bishal Tim  ·  GitHub Copilot Dev Days Kathmandu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doption Plan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365760" y="130000"/>
            <a:ext cx="841248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Adoption Plan</a:t>
            </a:r>
          </a:p>
        </p:txBody>
      </p:sp>
      <p:sp>
        <p:nvSpPr>
          <p:cNvPr id="4" name="Sub"/>
          <p:cNvSpPr/>
          <p:nvPr/>
        </p:nvSpPr>
        <p:spPr>
          <a:xfrm>
            <a:off x="365760" y="600000"/>
            <a:ext cx="841248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AFF"/>
                </a:solidFill>
                <a:latin typeface="Calibri" pitchFamily="34" charset="0"/>
              </a:rPr>
              <a:t>A phased rollout that builds confidence before going all-in</a:t>
            </a:r>
          </a:p>
        </p:txBody>
      </p:sp>
      <p:sp>
        <p:nvSpPr>
          <p:cNvPr id="10" name="Ph1bg"/>
          <p:cNvSpPr/>
          <p:nvPr/>
        </p:nvSpPr>
        <p:spPr>
          <a:xfrm>
            <a:off x="365760" y="920000"/>
            <a:ext cx="2560000" cy="3650000"/>
          </a:xfrm>
          <a:prstGeom prst="rect">
            <a:avLst/>
          </a:prstGeom>
          <a:solidFill>
            <a:srgbClr val="142E6E"/>
          </a:solidFill>
          <a:ln w="19050">
            <a:solidFill>
              <a:srgbClr val="4A72C8"/>
            </a:solidFill>
            <a:prstDash val="solid"/>
          </a:ln>
        </p:spPr>
      </p:sp>
      <p:sp>
        <p:nvSpPr>
          <p:cNvPr id="11" name="Ph1hdr"/>
          <p:cNvSpPr/>
          <p:nvPr/>
        </p:nvSpPr>
        <p:spPr>
          <a:xfrm>
            <a:off x="365760" y="920000"/>
            <a:ext cx="2560000" cy="340000"/>
          </a:xfrm>
          <a:prstGeom prst="rect">
            <a:avLst/>
          </a:prstGeom>
          <a:solidFill>
            <a:srgbClr val="214BAF"/>
          </a:solidFill>
          <a:ln w="0">
            <a:noFill/>
          </a:ln>
        </p:spPr>
      </p:sp>
      <p:sp>
        <p:nvSpPr>
          <p:cNvPr id="12" name="Ph1text"/>
          <p:cNvSpPr/>
          <p:nvPr/>
        </p:nvSpPr>
        <p:spPr>
          <a:xfrm>
            <a:off x="365760" y="920000"/>
            <a:ext cx="2560000" cy="3650000"/>
          </a:xfrm>
          <a:prstGeom prst="rect">
            <a:avLst/>
          </a:prstGeom>
          <a:noFill/>
          <a:ln/>
        </p:spPr>
        <p:txBody>
          <a:bodyPr wrap="square" lIns="182880" tIns="91440" rIns="182880" bIns="9144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Phase 1 — Try (Week 1-2)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 xml:space="preserve"> </a:t>
            </a:r>
          </a:p>
          <a:p>
            <a:pPr indent="0" marL="228600">
              <a:buChar char="•"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</a:rPr>
              <a:t>Enable Copilot for 1-2 devs on a non-critical feature</a:t>
            </a:r>
          </a:p>
          <a:p>
            <a:pPr indent="0" marL="228600">
              <a:buChar char="•"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</a:rPr>
              <a:t>Set up .mcp.json with ADO + Umbraco + Browser MCPs</a:t>
            </a:r>
          </a:p>
          <a:p>
            <a:pPr indent="0" marL="228600">
              <a:buChar char="•"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</a:rPr>
              <a:t>Write first copilot-instructions.md for your codebase</a:t>
            </a:r>
          </a:p>
          <a:p>
            <a:pPr indent="0" marL="228600">
              <a:buChar char="•"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</a:rPr>
              <a:t>Note friction points and prompt patterns that work</a:t>
            </a:r>
          </a:p>
        </p:txBody>
      </p:sp>
      <p:sp>
        <p:nvSpPr>
          <p:cNvPr id="20" name="Ph2bg"/>
          <p:cNvSpPr/>
          <p:nvPr/>
        </p:nvSpPr>
        <p:spPr>
          <a:xfrm>
            <a:off x="3105760" y="920000"/>
            <a:ext cx="2560000" cy="3650000"/>
          </a:xfrm>
          <a:prstGeom prst="rect">
            <a:avLst/>
          </a:prstGeom>
          <a:solidFill>
            <a:srgbClr val="142E6E"/>
          </a:solidFill>
          <a:ln w="19050">
            <a:solidFill>
              <a:srgbClr val="FF6B2B"/>
            </a:solidFill>
            <a:prstDash val="solid"/>
          </a:ln>
        </p:spPr>
      </p:sp>
      <p:sp>
        <p:nvSpPr>
          <p:cNvPr id="21" name="Ph2hdr"/>
          <p:cNvSpPr/>
          <p:nvPr/>
        </p:nvSpPr>
        <p:spPr>
          <a:xfrm>
            <a:off x="3105760" y="920000"/>
            <a:ext cx="2560000" cy="340000"/>
          </a:xfrm>
          <a:prstGeom prst="rect">
            <a:avLst/>
          </a:prstGeom>
          <a:solidFill>
            <a:srgbClr val="CC4400"/>
          </a:solidFill>
          <a:ln w="0">
            <a:noFill/>
          </a:ln>
        </p:spPr>
      </p:sp>
      <p:sp>
        <p:nvSpPr>
          <p:cNvPr id="22" name="Ph2text"/>
          <p:cNvSpPr/>
          <p:nvPr/>
        </p:nvSpPr>
        <p:spPr>
          <a:xfrm>
            <a:off x="3105760" y="920000"/>
            <a:ext cx="2560000" cy="3650000"/>
          </a:xfrm>
          <a:prstGeom prst="rect">
            <a:avLst/>
          </a:prstGeom>
          <a:noFill/>
          <a:ln/>
        </p:spPr>
        <p:txBody>
          <a:bodyPr wrap="square" lIns="182880" tIns="91440" rIns="182880" bIns="9144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Phase 2 — Expand (Week 3-6)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 xml:space="preserve"> </a:t>
            </a:r>
          </a:p>
          <a:p>
            <a:pPr indent="0" marL="228600">
              <a:buChar char="•"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</a:rPr>
              <a:t>Roll out to the full dev team with shared prompt library</a:t>
            </a:r>
          </a:p>
          <a:p>
            <a:pPr indent="0" marL="228600">
              <a:buChar char="•"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</a:rPr>
              <a:t>Add ADO MCP ticket-creation to sprint planning workflow</a:t>
            </a:r>
          </a:p>
          <a:p>
            <a:pPr indent="0" marL="228600">
              <a:buChar char="•"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</a:rPr>
              <a:t>Refine copilot-instructions.md with team patterns</a:t>
            </a:r>
          </a:p>
          <a:p>
            <a:pPr indent="0" marL="228600">
              <a:buChar char="•"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</a:rPr>
              <a:t>Start measuring KPIs from the previous slide</a:t>
            </a:r>
          </a:p>
        </p:txBody>
      </p:sp>
      <p:sp>
        <p:nvSpPr>
          <p:cNvPr id="30" name="Ph3bg"/>
          <p:cNvSpPr/>
          <p:nvPr/>
        </p:nvSpPr>
        <p:spPr>
          <a:xfrm>
            <a:off x="5845760" y="920000"/>
            <a:ext cx="2933040" cy="3650000"/>
          </a:xfrm>
          <a:prstGeom prst="rect">
            <a:avLst/>
          </a:prstGeom>
          <a:solidFill>
            <a:srgbClr val="0A5C2E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31" name="Ph3hdr"/>
          <p:cNvSpPr/>
          <p:nvPr/>
        </p:nvSpPr>
        <p:spPr>
          <a:xfrm>
            <a:off x="5845760" y="920000"/>
            <a:ext cx="2933040" cy="340000"/>
          </a:xfrm>
          <a:prstGeom prst="rect">
            <a:avLst/>
          </a:prstGeom>
          <a:solidFill>
            <a:srgbClr val="0A7A3E"/>
          </a:solidFill>
          <a:ln w="0">
            <a:noFill/>
          </a:ln>
        </p:spPr>
      </p:sp>
      <p:sp>
        <p:nvSpPr>
          <p:cNvPr id="32" name="Ph3text"/>
          <p:cNvSpPr/>
          <p:nvPr/>
        </p:nvSpPr>
        <p:spPr>
          <a:xfrm>
            <a:off x="5845760" y="920000"/>
            <a:ext cx="2933040" cy="3650000"/>
          </a:xfrm>
          <a:prstGeom prst="rect">
            <a:avLst/>
          </a:prstGeom>
          <a:noFill/>
          <a:ln/>
        </p:spPr>
        <p:txBody>
          <a:bodyPr wrap="square" lIns="182880" tIns="91440" rIns="182880" bIns="9144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</a:rPr>
              <a:t>Phase 3 — Standardise (Week 7+)</a:t>
            </a:r>
          </a:p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 xml:space="preserve"> </a:t>
            </a:r>
          </a:p>
          <a:p>
            <a:pPr indent="0" marL="228600">
              <a:buChar char="•"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</a:rPr>
              <a:t>Copilot-assisted PR review is team standard</a:t>
            </a:r>
          </a:p>
          <a:p>
            <a:pPr indent="0" marL="228600">
              <a:buChar char="•"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</a:rPr>
              <a:t>Every ticket implemented via ADO MCP agent loop</a:t>
            </a:r>
          </a:p>
          <a:p>
            <a:pPr indent="0" marL="228600">
              <a:buChar char="•"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</a:rPr>
              <a:t>Review KPI dashboards in retro — iterate on prompts</a:t>
            </a:r>
          </a:p>
          <a:p>
            <a:pPr indent="0" marL="228600">
              <a:buChar char="•"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</a:rPr>
              <a:t>Share learnings — run an internal Copilot Days of your own</a:t>
            </a:r>
          </a:p>
        </p:txBody>
      </p:sp>
      <p:sp>
        <p:nvSpPr>
          <p:cNvPr id="99" name="Footer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100" name="FooterText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Vibe Coding to Production  ·  Bishal Tim  ·  GitHub Copilot Dev Days Kathmandu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ank You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14BAF"/>
          </a:solidFill>
          <a:ln w="0">
            <a:noFill/>
          </a:ln>
        </p:spPr>
      </p:sp>
      <p:sp>
        <p:nvSpPr>
          <p:cNvPr id="3" name="ThankYou"/>
          <p:cNvSpPr/>
          <p:nvPr/>
        </p:nvSpPr>
        <p:spPr>
          <a:xfrm>
            <a:off x="365760" y="500000"/>
            <a:ext cx="420000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</a:rPr>
              <a:t>Thank</a:t>
            </a:r>
          </a:p>
          <a:p>
            <a:pPr indent="0" marL="0">
              <a:buNone/>
            </a:pPr>
            <a:r>
              <a:rPr lang="en-US" sz="7200" b="1" dirty="0">
                <a:solidFill>
                  <a:srgbClr val="FF6B2B"/>
                </a:solidFill>
                <a:latin typeface="Calibri" pitchFamily="34" charset="0"/>
              </a:rPr>
              <a:t>You.</a:t>
            </a:r>
          </a:p>
        </p:txBody>
      </p:sp>
      <p:sp>
        <p:nvSpPr>
          <p:cNvPr id="4" name="Tagline"/>
          <p:cNvSpPr/>
          <p:nvPr/>
        </p:nvSpPr>
        <p:spPr>
          <a:xfrm>
            <a:off x="365760" y="1960000"/>
            <a:ext cx="42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AFF"/>
                </a:solidFill>
                <a:latin typeface="Calibri" pitchFamily="34" charset="0"/>
              </a:rPr>
              <a:t>Questions, code, or just want to geek out about Copilot?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2360000"/>
            <a:ext cx="4100000" cy="19050"/>
          </a:xfrm>
          <a:prstGeom prst="rect">
            <a:avLst/>
          </a:prstGeom>
          <a:solidFill>
            <a:srgbClr val="4A72C8"/>
          </a:solidFill>
          <a:ln w="0">
            <a:noFill/>
          </a:ln>
        </p:spPr>
      </p:sp>
      <p:sp>
        <p:nvSpPr>
          <p:cNvPr id="6" name="ContactBox"/>
          <p:cNvSpPr/>
          <p:nvPr/>
        </p:nvSpPr>
        <p:spPr>
          <a:xfrm>
            <a:off x="365760" y="2460000"/>
            <a:ext cx="4100000" cy="2100000"/>
          </a:xfrm>
          <a:prstGeom prst="rect">
            <a:avLst/>
          </a:prstGeom>
          <a:noFill/>
          <a:ln/>
        </p:spPr>
        <p:txBody>
          <a:bodyPr wrap="square" lIns="0" tIns="9144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ACAFF"/>
                </a:solidFill>
                <a:latin typeface="Calibri" pitchFamily="34" charset="0"/>
              </a:rPr>
              <a:t>EMAIL</a:t>
            </a:r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</a:rPr>
              <a:t>bishal@usome.com</a:t>
            </a:r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900" b="1" dirty="0">
                <a:solidFill>
                  <a:srgbClr val="AACAFF"/>
                </a:solidFill>
                <a:latin typeface="Calibri" pitchFamily="34" charset="0"/>
              </a:rPr>
              <a:t>BLOG &amp; TUTORIALS</a:t>
            </a:r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</a:rPr>
              <a:t>umsharp.com</a:t>
            </a:r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 xml:space="preserve"> </a:t>
            </a:r>
          </a:p>
          <a:p>
            <a:pPr indent="0" marL="0">
              <a:buNone/>
            </a:pPr>
            <a:r>
              <a:rPr lang="en-US" sz="900" b="1" dirty="0">
                <a:solidFill>
                  <a:srgbClr val="AACAFF"/>
                </a:solidFill>
                <a:latin typeface="Calibri" pitchFamily="34" charset="0"/>
              </a:rPr>
              <a:t>COMPANY</a:t>
            </a:r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</a:rPr>
              <a:t>usome.com</a:t>
            </a:r>
          </a:p>
        </p:txBody>
      </p:sp>
      <p:sp>
        <p:nvSpPr>
          <p:cNvPr id="10" name="NameCard"/>
          <p:cNvSpPr/>
          <p:nvPr/>
        </p:nvSpPr>
        <p:spPr>
          <a:xfrm>
            <a:off x="4938840" y="700000"/>
            <a:ext cx="3840000" cy="3900000"/>
          </a:xfrm>
          <a:prstGeom prst="rect">
            <a:avLst/>
          </a:prstGeom>
          <a:solidFill>
            <a:srgbClr val="142E6E"/>
          </a:solidFill>
          <a:ln w="19050">
            <a:solidFill>
              <a:srgbClr val="4A72C8"/>
            </a:solidFill>
            <a:prstDash val="solid"/>
          </a:ln>
        </p:spPr>
      </p:sp>
      <p:sp>
        <p:nvSpPr>
          <p:cNvPr id="11" name="NameCardAccent"/>
          <p:cNvSpPr/>
          <p:nvPr/>
        </p:nvSpPr>
        <p:spPr>
          <a:xfrm>
            <a:off x="4938840" y="700000"/>
            <a:ext cx="3840000" cy="73152"/>
          </a:xfrm>
          <a:prstGeom prst="rect">
            <a:avLst/>
          </a:prstGeom>
          <a:solidFill>
            <a:srgbClr val="FF6B2B"/>
          </a:solidFill>
          <a:ln w="0">
            <a:noFill/>
          </a:ln>
        </p:spPr>
      </p:sp>
      <p:sp>
        <p:nvSpPr>
          <p:cNvPr id="12" name="NameCardText"/>
          <p:cNvSpPr/>
          <p:nvPr/>
        </p:nvSpPr>
        <p:spPr>
          <a:xfrm>
            <a:off x="4938840" y="700000"/>
            <a:ext cx="3840000" cy="3900000"/>
          </a:xfrm>
          <a:prstGeom prst="rect">
            <a:avLst/>
          </a:prstGeom>
          <a:noFill/>
          <a:ln/>
        </p:spPr>
        <p:txBody>
          <a:bodyPr wrap="square" lIns="274320" tIns="274320" rIns="274320" bIns="27432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Bishal Tim</a:t>
            </a:r>
          </a:p>
          <a:p>
            <a:pPr algn="ctr" indent="0" marL="0">
              <a:buNone/>
            </a:pPr>
            <a:r>
              <a:rPr lang="en-US" sz="1100" dirty="0">
                <a:solidFill>
                  <a:srgbClr val="AACAFF"/>
                </a:solidFill>
                <a:latin typeface="Calibri" pitchFamily="34" charset="0"/>
              </a:rPr>
              <a:t>.NET / Umbraco Developer</a:t>
            </a:r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 xml:space="preserve"> </a:t>
            </a:r>
          </a:p>
          <a:p>
            <a:pPr algn="ctr" indent="0" marL="0"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</a:rPr>
              <a:t>bishal@usome.com</a:t>
            </a:r>
          </a:p>
          <a:p>
            <a:pPr algn="ctr" indent="0" marL="0"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</a:rPr>
              <a:t>umsharp.com</a:t>
            </a:r>
          </a:p>
          <a:p>
            <a:pPr algn="ctr" indent="0" marL="0">
              <a:buNone/>
            </a:pPr>
            <a:r>
              <a:rPr lang="en-US" sz="950" dirty="0">
                <a:solidFill>
                  <a:srgbClr val="C8D4F0"/>
                </a:solidFill>
                <a:latin typeface="Calibri" pitchFamily="34" charset="0"/>
              </a:rPr>
              <a:t>usome.com</a:t>
            </a:r>
          </a:p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 xml:space="preserve"> </a:t>
            </a:r>
          </a:p>
          <a:p>
            <a:pPr algn="ctr" indent="0" marL="0">
              <a:buNone/>
            </a:pPr>
            <a:r>
              <a:rPr lang="en-US" sz="950" b="1" dirty="0">
                <a:solidFill>
                  <a:srgbClr val="FF6B2B"/>
                </a:solidFill>
                <a:latin typeface="Calibri" pitchFamily="34" charset="0"/>
              </a:rPr>
              <a:t>GitHub Copilot Dev Days</a:t>
            </a:r>
          </a:p>
          <a:p>
            <a:pPr algn="ctr" indent="0" marL="0">
              <a:buNone/>
            </a:pPr>
            <a:r>
              <a:rPr lang="en-US" sz="950" dirty="0">
                <a:solidFill>
                  <a:srgbClr val="AACAFF"/>
                </a:solidFill>
                <a:latin typeface="Calibri" pitchFamily="34" charset="0"/>
              </a:rPr>
              <a:t>Kathmandu 2026</a:t>
            </a:r>
          </a:p>
        </p:txBody>
      </p:sp>
      <p:sp>
        <p:nvSpPr>
          <p:cNvPr id="99" name="Footer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14BAF"/>
          </a:solidFill>
          <a:ln w="12700">
            <a:solidFill>
              <a:srgbClr val="214BAF"/>
            </a:solidFill>
            <a:prstDash val="solid"/>
          </a:ln>
        </p:spPr>
      </p:sp>
      <p:sp>
        <p:nvSpPr>
          <p:cNvPr id="100" name="FooterText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Vibe Coding to Production  ·  Bishal Tim  ·  GitHub Copilot Dev Days Kathmandu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to Production</dc:title>
  <dc:subject>PptxGenJS Presentation</dc:subject>
  <dc:creator>Bishal Tim</dc:creator>
  <cp:lastModifiedBy>Bishal Tim</cp:lastModifiedBy>
  <cp:revision>1</cp:revision>
  <dcterms:created xsi:type="dcterms:W3CDTF">2026-04-24T07:46:58Z</dcterms:created>
  <dcterms:modified xsi:type="dcterms:W3CDTF">2026-04-24T07:46:58Z</dcterms:modified>
</cp:coreProperties>
</file>
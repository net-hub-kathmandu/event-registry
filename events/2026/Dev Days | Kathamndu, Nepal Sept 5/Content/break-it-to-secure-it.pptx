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96"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1A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88"/>
    <p:restoredTop sz="94610"/>
  </p:normalViewPr>
  <p:slideViewPr>
    <p:cSldViewPr snapToGrid="0" snapToObjects="1">
      <p:cViewPr varScale="1">
        <p:scale>
          <a:sx n="177" d="100"/>
          <a:sy n="177" d="100"/>
        </p:scale>
        <p:origin x="216" y="6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740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Don't rush this slide — let the two panels sit there for a few seconds.
Say something like: "On the left is what most of us do all day. We get a requirement, we write an endpoint, it returns the right thing, the tests pass, we ship. On the right is the exact same application — same code, same server — being asked a slightly different question. Nobody broke encryption. Nobody dropped a zero-day. Somebody just changed a number."
Key lesson: the attacker isn't looking at a different application. They're looking at the same application with a different intent.
Set expectations: "This is not an OWASP training. I'm not going to read you a top ten list. I want to show you how a small, reasonable-looking .NET mistake turns into an incident, and how attackers actually decide what to attack."
Transition: "But first, thirty seconds about why I care about this."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Ninety seconds, maximum. Nobody came for your CV.
Fill in the placeholders on the right with your real details — name, role, certifications, skills. Do not invent anything; if you don't have certifications, delete that line. An honest "I've been writing C# for six years and I got curious about breaking things" is more credible than a wall of acronyms.
The story that actually matters is the ladder on the left: I was a developer, I got curious about how things break, that curiosity turned into security work, and now I spend my time helping developers avoid the mistakes I used to make myself.
Key lesson to plant: attackers are not a different species. Most of them started exactly where you are — they just kept asking "what happens if...?"
Audience interaction: "Quick show of hands — who here has ever deliberately tried to break their own feature?" Note who raises a hand; call back to them later.
Transition: "So let me ask you all a question."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big question, then STOP TALKING. Count to three in your head. Silence does the work here.
Then: "I mean it seriously. An attacker will spend an entire weekend on one endpoint of your application. They will read every response header, every error message, every JSON field you forgot to remove. When was the last time you spent a whole weekend on a single one of your own endpoints?"
The two boxes are the heart of the entire talk. Developers optimise for the happy path — that's not a criticism, that's the job. Attackers spend all of their time in the unhappy path, which is exactly the part we test least.
Real-world analogy: a hotel builds a door for guests. A burglar looks at the same building and sees a fire escape, a delivery entrance, a window left open on floor two, and a cleaner who props the back door with a brick. Same building. Different map.
Transition: "Let's put those two mindsets side by side properly."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left column fast — the audience lives there, they'll nod along.
Slow down on the right. Read those six questions out loud, one at a time, with a beat between them. The last one is the important one: "What if I chain two small weaknesses?" Flag it now, because the whole middle of this talk is about chaining.
Key lesson: neither list is wrong. The developer list is literally the job description. The problem is that most teams only ever run the left column, and then production runs the right column for them, in public.
Audience interaction: "Look at the right-hand column. Be honest — how many of those questions get asked in your average code review?" Usually the honest answer is one, sometimes zero.
Analogy: your QA team tests that the lock opens with the key. An attacker tests whether the door opens without one, whether the frame is loose, and whether the window next to it is even locked.
Transition: "So if attackers see attack surface, let's actually look at the attack surface of a normal ASP.NET Core application."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breath slide. Use it to reset the room.
"Act one: your application works. Everything I'm about to show you is code that passes review, passes tests, and behaves perfectly for every honest user. That's exactly why these bugs survive to production."
Transition straight into the architecture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stack out loud — everyone here knows it. Point at it and reframe it.
"This is not an architecture diagram. This is a list of places where one component decides to trust another one. Middleware trusts the host. The controller trusts that authentication middleware did its job. Business logic trusts the controller. EF Core trusts whatever string you handed it. The database trusts EF Core completely."
Note the three highlighted layers — authentication, authorization, controllers. That's where we'll spend most of the next twenty minutes, because that's where the money is.
Key lesson: security bugs almost never live inside a layer. They live in the gap between two layers, where each one assumed the other one was handling it.
Audience interaction: "Point at one of these chips and ask yourself — for the app you're on call for, who owns that box? If nobody in your head answered, that's your homework."
Transition: "So which of these actually go wrong in real .NET applications? Let's look at the greatest hits."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53D27-50D7-8E5B-3FE6-7708B9B59C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38139-C155-0F0E-A7FF-7E02E2A8A0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B009-89AE-1386-824C-6305E71C182E}"/>
              </a:ext>
            </a:extLst>
          </p:cNvPr>
          <p:cNvSpPr>
            <a:spLocks noGrp="1"/>
          </p:cNvSpPr>
          <p:nvPr>
            <p:ph type="body" idx="1"/>
          </p:nvPr>
        </p:nvSpPr>
        <p:spPr/>
        <p:txBody>
          <a:bodyPr/>
          <a:lstStyle/>
          <a:p>
            <a:r>
              <a:rPr lang="en-US" dirty="0"/>
              <a:t>BEFORE YOU PRESENT: replace this placeholder with a genuine, existing meme image — do not generate one with AI, and do not invent a source URL. Search knowyourmeme.com or imgflip.com for "it works on my machine", pick an image you're comfortable using, drop it into the dashed frame, and type the real source into the attribution line.
Delivery: this is a breather after a heavy technical stretch. Show it, let the room laugh for a few seconds, then land the point in one sentence and move on. Don't explain the joke.
The line that connects it back: "Every one of us has said this. The attacker doesn't attack your machine. They attack the one with the public IP and the config you never re-read."
Transition: "Speaking of things we never re-read — let's talk about your appsettings file."</a:t>
            </a:r>
          </a:p>
        </p:txBody>
      </p:sp>
      <p:sp>
        <p:nvSpPr>
          <p:cNvPr id="4" name="Slide Number Placeholder 3">
            <a:extLst>
              <a:ext uri="{FF2B5EF4-FFF2-40B4-BE49-F238E27FC236}">
                <a16:creationId xmlns:a16="http://schemas.microsoft.com/office/drawing/2014/main" id="{CA4EFBCB-B73C-F145-B282-468078FB4DF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670853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twelve cards out loud. Sweep your hand across the board and pick three to talk about.
Worth calling out explicitly, because it's news to a lot of developers: the OWASP Top 10 was updated for 2025. Broken Access Control is still number one. Security Misconfiguration jumped from five to two. Software Supply Chain Failures is a brand new category at number three — that's your NuGet folder. And SSRF is no longer its own category; it got folded into Broken Access Control, which honestly makes sense: SSRF is your server being tricked into making a request it wasn't allowed to make.
Also new at number ten: Mishandling of Exceptional Conditions. Bad error handling, logic that fails open, exceptions you swallowed with an empty catch block. That one is going to sting a few people in this room.
Key lesson: notice how many of the red cards are the same root cause. Access control isn't one bug. It's a category we keep re-implementing by hand, one endpoint at a time.
Transition: "Let's talk about the single most misunderstood pair of words in our industry."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people photograph. Give it time.
"Authentication is the bouncer checking your ID at the door. Authorization is whether you're allowed in the VIP room, behind the bar, or in the manager's office. We are extremely good at the bouncer. We are shockingly casual about the rest of the building."
Walk the middle: a valid token proves user 42 exists and logged in. It says absolutely nothing about order 123. The token is an identity claim, not a permission slip for that specific row in that specific table.
Key lesson — say it slowly: [Authorize] on a controller answers "is this person logged in and maybe in the right role". It does not answer "does this person own this record". Those are different questions, and only one of them is usually in your code.
Audience interaction: "Think about the last API you wrote that takes an ID. Where in that method is the ownership check? If you're picturing the [Authorize] attribute at the top — that's not it."
Transition: "Let me show you what that looks like in real code. Fair warning, this next one is going to look familiar."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code up and genuinely stop talking. Ten to fifteen seconds of silence feels like an eternity on stage — do it anyway. Watch faces. Somebody will grin, and that's your moment.
Then: "Hands up if you've written this exact method." Most of the room. Laugh with them, never at them. Then say: "Me too. Several times. That's the point — this isn't a bad developer bug. This is a normal developer bug."
Now reveal. The [Authorize] attribute did its job perfectly: it proved you're logged in. But 'id' comes straight from the URL, and the query trusts it completely. Change the number, get someone else's record. That's IDOR — broken object-level authorization. Under the 2025 list it sits squarely in A01.
Be careful with the framing here: I'm showing you the shape of the mistake, not a how-to for attacking anything you don't own. The exploitation is trivial and that's exactly why the defence has to be automatic.
The fix in one line: filter by the caller's identity, not just the requested id — 'db.Users.Find(id)' becomes a query scoped to the current user, or you run an explicit resource-based authorization check before you return anything.
Transition: "Alright, if that one was too easy — three snippets, one of them is genuinely safe. No pressure."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real vote. "Hands up for A. Hands up for B. Hands up for C." Count out loud, make a joke about the people who voted for all three.
Do NOT reveal yet. Say "hold that thought" and move on — you'll come back to it after the attack story, and the answer lands ten times harder once they've watched a chain unfold.
For your own reference when you do reveal:
- A is authenticated only. Any logged-in user reads any order. Broken.
- B looks better and fools most rooms — but a policy usually asserts a role or a claim ("is this person a customer?"), not ownership of this specific row. Every customer can still read every order. This is the dangerous one, because it feels secure.
- C is the one that actually holds: the ownership condition is part of the query itself, so there is no code path that returns a record belonging to someone else. In real ASP.NET Core you'd often express this with resource-based authorization via IAuthorizationService, or centrally with an EF Core global query filter so nobody has to remember.
The lesson to plant now, without giving the answer away: "The scary option isn't the obviously broken one. It's the one that looks secure."
Transition: "Park that. Because code is only half the story — you can write perfect C# and still get breached."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confession game — this always warms the room up:
"Show of hands, no judgement, we've all done it. Who has ever exposed Swagger in production? ... Who has ever turned off a security check 'temporarily'? ... Who has ever committed a secret by accident?" Put your own hand up first for at least one of them. That permission matters — if you shame the room, they stop being honest and stop learning.
Then the serious point: misconfiguration jumped from fifth place in 2021 to second place in the 2025 OWASP list. That's not because we got worse at config. It's because so much more of our application's behaviour is now decided by configuration rather than code — feature flags, environment variables, cloud IAM, container settings.
The bottom flow is the whole slide in three boxes. Secure code plus insecure deployment equals a compromised application. Your C# never changed. Your risk changed completely.
Favourite example to tell: an app with genuinely solid authorization, deployed with the developer exception page still enabled. One malformed request returns a stack trace containing the connection string. No vulnerability in the code. Total compromise.
Transition: "Which brings us to the most quietly dangerous file in your repository."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PRESENT: replace this placeholder with a genuine, existing meme image — do not generate one with AI, and do not invent a source URL. Search knowyourmeme.com or imgflip.com for "it works on my machine", pick an image you're comfortable using, drop it into the dashed frame, and type the real source into the attribution line.
Delivery: this is a breather after a heavy technical stretch. Show it, let the room laugh for a few seconds, then land the point in one sentence and move on. Don't explain the joke.
The line that connects it back: "Every one of us has said this. The attacker doesn't attack your machine. They attack the one with the public IP and the config you never re-read."
Transition: "Speaking of things we never re-read — let's talk about your appsettings file."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ladder on the left, bottom to top: the further down you go, the fewer humans ever see the secret.
Then the honest bit: "appsettings.json is not a vault. It's a text file that gets committed, copied into a container image, and shipped to a machine you don't control. It was never designed to hold secrets and Microsoft never claimed it was."
The right-hand list is what actually leaks. Every item there has caused a real breach at some company you've heard of.
Practical .NET guidance to give them: user secrets for local development, environment variables or a secret store for deployed environments, Azure Key Vault or your cloud's equivalent for anything sensitive, and managed identity wherever it's available so there is no credential to steal in the first place. The best secret is the one that doesn't exist.
Say the banner line twice, because people get this wrong constantly: if a secret hits a Git repository, force-pushing over the commit does not fix it. Clones exist. Forks exist. Mirrors exist. Rotate the credential. Then clean the history if you like, but rotate first.
Transition: "Now — that's the code you wrote and the config you wrote. Let's talk about the hundred thousand lines you didn't."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first: "Who here has actually read the licence and the source of every package in their solution?" Nobody. Good — you're normal.
Walk the tree downward. You chose the top package. You did not choose the thing at the bottom. It arrived as a dependency of a dependency of a dependency, and it is running inside your process with exactly the same permissions as the code you wrote and reviewed.
Big talking point: this is a brand new OWASP category for 2025 — Software Supply Chain Failures, straight in at number three. It's an expansion of what used to be called "Vulnerable and Outdated Components", widened to cover the whole ecosystem: dependencies, build systems, distribution infrastructure. What makes it nasty is the shape of the data — it has the fewest occurrences of any category, but the highest average exploit and impact scores. Rare, but when it lands, it lands hard.
Practical .NET actions: turn on 'dotnet list package --vulnerable --include-transitive' in CI, enable Dependabot or Renovate, pin your versions, lock your feeds so an internal package name can't be hijacked by a public one, and use a lock file so a build in six months resolves to the same tree as today.
Transition: "So: a small authorization gap. A loose config. An old package. Individually, three medium-severity tickets nobody prioritises. Now watch what happens when someone puts them together."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 the room. Change your tone here — this is where the talk turns from "here are some bugs" into "here is how you get breached".
"Everything I showed you in the last section would be a medium-severity ticket on its own. Medium tickets don't get fixed this sprint. Now let me show you why that's the expensive assumption."
Transition straight into the attack chain.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left to right, top row then bottom row, and keep the pace up — it should feel like momentum.
The line to land: "Look at step one. A verbose error message. What's the CVSS score on a verbose error message? Low. What ticket does that get? 'Nice to have, next quarter.' Now look at step eight."
The point isn't that every low-severity bug becomes a breach. It's that attackers don't evaluate your bugs individually — they evaluate the path. Your scanner reports a list. An attacker builds a graph.
Key lesson: you break the chain, not the list. If any single link here is missing, the attacker stops or gets loud enough to be detected. That's why defence in depth isn't a buzzword — it's arithmetic.
Analogy: a burglar doesn't need the front door. They need an unlocked window, a hallway, and no alarm. Three "minor" issues.
Transition: "Let me make that concrete. Fictional company, entirely realistic mistakes."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this as a story, not a bullet list. Slow down. Names, stakes, a villain who is bored rather than brilliant.
"FinTrack is a small financial management platform. Good team. ASP.NET Core, EF Core, hosted in the cloud, CI/CD, code review on every PR. They are not careless. They have five open tickets that all say 'medium' and all got pushed to next quarter."
Walk the five cards. For each one, say what the developer was thinking, because it's always reasonable: sequential IDs because that's what the database gives you. [Authorize] because it looked done. Returning the entity because writing a DTO is boring. Logging the request because production debugging is hard. A broad service account because the narrow one broke the deployment on a Friday.
Then the bottom band — walk the arrow chain slowly, pausing at each arrow: "and because of that..."
CRITICAL FRAMING, say it out loud: this is defensive education. I'm showing you how the pieces connect so you can look for the pattern in your own systems. I'm not giving anyone a recipe for attacking someone else's.
Emotional beat to land: no single person on that team made a bad decision. The system made a bad decision, and nobody was looking at the system.
Transition: "And it all starts with the least dramatic thing in software."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money slide. Barely any words — perform it.
Point at the first request: "Legitimate. This is my invoice. Two hundred OK. Perfect."
Point at the second, and pause before you say the number: "Now I change one digit. Two hundred OK."
Then the line the whole talk hangs on — say it exactly like this: "If I change the number from 1001 to 1002 and I suddenly see someone else's invoice — did I hack your encryption? No. I didn't touch your encryption. I simply asked your application a question it never learned how to answer safely."
The two boxes underneath are the real lesson. The developer's assumption isn't stupid — the UI genuinely does only send IDs the user owns. But the UI is a suggestion. curl is the truth. Your API is a public contract with the entire internet, and the browser is just one very polite client.
Mention that this scales: an attacker doesn't do this twice, they do it fifty thousand times in a loop, overnight, and now it's a data breach with a number attached.
Audience interaction: "Every one of you has an endpoint that takes an ID. Picture it. Now picture someone else's ID in it."
Transition: "So how bad is that, really? Let's vote again."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PRESENT: swap this placeholder for a genuine existing meme image with a real source line. Do not generate one with AI and do not make up an attribution — an audience of engineers will notice, and it undercuts your credibility on a slide about honesty.
Delivery: short laugh, then the sting. "Every mistake in that FinTrack story existed as a ticket. Every ticket said medium. Every medium got moved to next quarter. The attacker doesn't care about your sprint board."
Optional live line if the room is warm: "Who here has a security ticket that has survived three sprints? Be honest. It's fine. It's in all our backlogs."
Transition: "Which raises a fair question — how bad IS a medium, actually?"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vote for real: "A — low? B — medium? C — high? D — critical?" You will get a genuine split, and that split IS the teaching moment.
Then: "You're all right. And that's the uncomfortable part."
Work the factors: the same bug is Low if it exposes an invoice number on a demo tenant with four users. It's Critical if it exposes half a million financial records, or if one of those records contains a token that gets you into the next system. Identical code. Identical CVSS input. Wildly different consequences.
Key lesson, and say it plainly: a scanner can tell you a vulnerability exists. Only you can tell what it's worth, because only you know what's in the data and what's next to it. That's why "we ran a scan and it was clean" is not a security programme.
Careful nuance for the credibility of the room: I'm not saying CVSS is useless. I'm saying CVSS scores a vulnerability in isolation and attackers never operate in isolation.
Transition: "So if severity isn't the answer, what is? Here's how attackers actually do the maths."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terms across, then land the multiplication: "It's multiplication, not addition. Which means any term near zero saves you — and any term that spikes ruins your week."
Examples that make it click:
- Privilege near zero: the bug exists but the service account can only read one table. Impact collapses.
- Reach near zero: the compromised component is network-isolated with no path onward. Chain stops.
- Scale enormous: one record versus every record is the difference between an apology email and a regulatory filing.
READ THE ORANGE BOX OUT LOUD. This matters for your credibility with a technical audience: this is not a real risk formula, I'm not proposing a new standard, and anyone who tells you risk reduces to one number is selling something. It's a thinking tool for prioritising which of your five "medium" tickets is actually the dangerous one.
Practical takeaway to give them: next time you triage a security ticket, don't ask "what's the score". Ask "what does this touch, what does it run as, and what's the next thing it reaches".
Transition: "Now let's flip the table completely. Forget your bugs for a minute — how does an attacker decide you're worth their weekend?"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Tone shift again — this section is the one people find genuinely surprising, so slow down and enjoy it.
"We have a mythology problem in this industry. We picture a hoodie, three monitors, and green text. The reality is someone with a laptop, a target list, and a very ordinary question: what's the cheapest thing here that pays the most?"
Transition into the mindset slide.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dismantling the myth: "Attackers are not magicians. They're economists with a shell. They have limited hours, they get bored, and they have a return-on-investment problem exactly like your product owner does."
Walk the five factors on the left, then the quadrant. The top-left box is the one that should worry you: high value, low effort. That's a public API with sequential IDs and no ownership check. That's the weekend project that becomes a breach notification.
Bottom-left is subtle and worth explaining: low value but low effort still gets attacked, because it costs nothing to automate. Nobody hand-picks you — a script scans a hundred thousand hosts and you're host number 40,000.
The closing line is the strategic message of the whole section: you will never be unhackable. Nothing is. What you can be is expensive enough, noisy enough, and slow enough that a rational attacker goes and finds someone easier. Security is not a wall, it's a price.
Analogy that always lands: you don't need to outrun the bear.
Transition: "So what makes you cheap? Here's the shopping list."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all ten. Pick four and make them personal.
Number one — "what is actually exposed?" — is the one most teams get wrong, because the honest answer is usually "more than the architecture diagram says". Old subdomains. A staging environment with production data. A Swagger page. An internal admin API that's internal by convention, not by network policy.
Number six is the one nobody plans for: "is there something better downstream?" Your app might be boring. But your app has a database connection, a cloud identity, and API keys for three partners. You aren't the target. You're the route.
Number seven — detection — is where defenders get their only real advantage, and we'll come back to it. Attackers hate noise more than they hate walls.
Audience interaction: "Ask yourself question one about your own system. Not what's in the diagram — what's actually reachable from the internet right now. If you're not sure, that uncertainty is itself the finding."
Transition: "Let's make the economics concrete with three targets."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before you reveal the last column mentally: "Three targets. You've got one weekend. Where do you go?"
The room always says C, and they're right. High value, low effort, weak controls, nobody watching. That combination is the whole game.
The uncomfortable reframe — deliver it gently, because this is the bit that changes behaviour: "Most of us think we're Target A. 'We're too small to be interesting.' 'Nobody's targeting us.' That's true, and it's irrelevant. Nobody is targeting you. Something is scanning everything, and you're in the everything."
Note the last column of row one: mature and monitored doesn't mean unbreakable. It means expensive. That's all defence ever buys you, and it's enough.
Important boundary to state plainly: this is about understanding prioritisation so you can defend better. I'm not giving anyone a methodology for picking victims, and nothing in this talk should be pointed at a system you don't own or have written permission to test.
Transition: "So when they do pick you — what do they actually do? And more usefully, what should you be doing at the same moment?"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talk — the moment it stops being scary and starts being actionable. Say that out loud: "Here's the good news. This isn't magic, it's a process. And every step in a process can be interrupted."
Go row by row but keep it brisk, about ten seconds each. Read the attacker question, then the defender answer.
Two rows deserve extra time:
CHAIN — "This is where least privilege earns its entire reputation. The attacker got in. Fine. What they get next is entirely determined by decisions you made months ago about what that service account could touch."
AVOID DETECTION — "Note the OWASP category name changed for 2025. It used to be Security Logging and Monitoring Failures. Now it's Security Logging and ALERTING Failures, and that word was added deliberately. Beautiful logs that nobody reads are a very expensive way to write a post-mortem. Great logging with no alerting is close to worthless during an actual incident."
Audience interaction: "Pick any row. Can you name the specific control in your system that covers it — the tool, the policy, the person? If the answer is 'I think so', that's a maybe. Attackers love a maybe."
Transition: "So let's build the defender's side properly."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PRESENT: replace with a real, existing meme image and a real source line. No AI-generated memes, no invented attribution.
Delivery: this is the last laugh before the constructive half of the talk. Use it as a transition rather than a gag.
Line to use: "Somebody commented out an attribute to get a demo working. That was in March. It's still commented out. Nobody's fault, everybody's problem."
Optional interaction: "Who has ever written the words 'TODO: add auth back'? ... Who has one of those TODOs in production right now?"
Transition: "Right. Enough about how it breaks. Let's break THEIR chain instead."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change: from here to the end, everything is constructive. The audience has been slightly uncomfortable for twenty minutes — give them the way out.
"Everything after this slide is something you can do on Monday. Not a two-year programme. Not a new department. Things you can put in a pull request this week."</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first, and be sympathetic: "This isn't stupidity. This is how most of us were taught to work. Build the thing, then check the thing."
Then the problem with it: a finding at the gate is the most expensive kind of finding. The architecture is fixed, the release is Thursday, and there's a VP in the room. Ninety percent of the time it becomes a documented risk acceptance, which is a formal way of writing "we noticed and shipped it anyway".
Bottom row: the point isn't that you need nine ceremonies. The point is that security decisions are ALREADY being made at every one of those stages. Choosing a package is a security decision. Choosing to return the whole entity is a security decision. Choosing a service account scope is a security decision. You're making them whether or not you call them that.
Practical framing for their team lead: shifting left doesn't mean buying nine tools. It means the threat conversation happens at design, the dependency check happens at build, and somebody owns the alert at runtime.
Transition: "Here's what that looks like with actual .NET tooling attached."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twelve boxes. That would be a lecture. Pick four and go deep on those — the ones your audience is most likely to be missing.
Recommended four to highlight:
01 THREAT MODELLING — demystify it: "It is not a document. It is one hour, four developers, a whiteboard, and the question 'what could go wrong here?' Write down the answers. That's a threat model. Anyone who tells you it needs a tool is selling a tool."
05 SCA — this one is free and most teams don't do it: 'dotnet list package --vulnerable --include-transitive'. Run it in your terminal during the coffee break. The --include-transitive flag is the important part, because that's where the scary stuff lives.
07 SECURITY UNIT TESTS — my favourite, because developers actually control it: "You already write a test that asserts user A gets their invoice. Write the other one. Assert that user B gets a 403. That single test, written once per resource type, would have prevented most of the IDOR bugs I've ever found."
12 MONITOR &amp; ALERT — "Fifty 403s from one account in ten seconds is not a UI bug. It's someone enumerating. Does anything in your system notice that today?"
End on the bottom line and mean it: nobody adopts twelve stages at once. Pick three.
Transition: "And at the code level, here's the short version."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room upfront: "Photograph this one. It's the reference slide."
Then pick one line from each card rather than reading eighteen bullets:
AUTHORIZATION — "Policy-based, not scattered if-statements. If your authorization logic is spread across forty controllers as if-checks, you don't have an authorization model, you have forty opportunities to forget."
INPUT — "Parameterised queries. EF Core does this for you by default with LINQ, and that's genuinely good news. But the moment somebody reaches for FromSqlRaw or ExecuteSqlRaw and builds a string, you're back in 1998. EF Core protects you right up until you ask it not to."
OUTPUT — "DTOs, never raw entities. When you return the entity, you return every property somebody adds to it in six months, including the one called InternalNotes."
DATA — "Never log tokens or payloads. Your logs are usually less protected than your database, get shipped to a third-party service, and are readable by more people. Attackers know this."
API — "Boring error responses. 'Something went wrong' is a security control. 'Object reference not set' plus a stack trace is a free architecture diagram."
The closing line is the real message: nobody forgets these because they're incompetent. They forget them at 6pm on release day. So automate the checks.
Transition: "And here's where each of those hooks into the framework you already use."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"the good news and the catch".
Good news: ASP.NET Core ships with genuinely strong primitives. Authentication, authorization policies, antiforgery, HSTS, built-in rate limiting, data protection, parameterised data access by default. Microsoft has done a lot of the hard work.
The catch, and this is important for technical credibility — DO NOT let the room leave thinking the framework saves them:
- UseAuthentication and UseAuthorization in the right order gets you a pipeline, not a policy. It answers "who are you", not "should you have this row".
- EF Core parameterises LINQ queries by default. That is real protection against SQL injection. But FromSqlRaw with an interpolated string opts you straight back out, and the compiler will not stop you.
- Antiforgery is on by default for Razor Pages, and is a different story for token-based APIs.
- ProblemDetails gives you structured errors — but only if you configured the environment correctly, which is back to the misconfiguration slide.
The banner line is the summary: the framework gives you the controls, it does not decide whether you used them. Defaults are a starting point, not a guarantee.
Transition: "And all of it depends on config. Which, as we established, is where good code goes to die."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in one sentence: same codebase, four completely different security postures — and only one of them is on the internet.
Development: the point of user secrets is not that they're encrypted, it's that they're outside the repository folder, so you physically cannot commit them by accident. Two minutes to set up.
CI/CD: this is the environment everyone forgets, and it's the one with credentials to everything. Your build agent can deploy to production. Think about what that means if someone gets a pull request to run arbitrary code in it.
Staging: two rules. Make it production-like enough that testing means something. Don't put a copy of production data in it — that turns your least-protected environment into your highest-value target. I've seen far more breaches through staging than through production.
Production: this column is where every earlier slide comes home. Secrets from a vault, cookies marked secure and HttpOnly, HSTS on, CORS locked to real origins, Swagger gone or authenticated, and alerting that actually pages a human.
Audience interaction, and let it land uncomfortably: "How many of you could tell me, right now, without looking, whether Swagger is reachable in your production environment?"
Transition: "Config is where it lives. Deployment is how it gets there."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fast across the top row — the audience gets the shape immediately.
The key reframe: security checks are not a gate at the end, they're a series of cheap checks along the road. A secret scan at commit time costs a developer four seconds. The same secret found after deployment costs you a credential rotation, an incident review, and a very awkward call.
Call out two things specifically:
SIGNED ARTIFACTS + SBOM — this is the direct answer to the new A03 supply chain category. If you can't say what's inside your build, you can't answer "are we affected?" when the next big CVE drops. And that question always arrives on a Friday afternoon.
SECURITY GATES / no silent overrides — the failure mode isn't missing tools, it's tools everyone learned to skip. If your build has a warning nobody reads, you don't have a control, you have a log line.
Spend real time on the purple box, because it's the highest-leverage thing on the slide: environment separation and least privilege break chains. Go back to FinTrack — if that service account could only read its own tenant's storage, the chain dies at step five. Not because the bug was fixed, but because it stopped paying.
Transition: "Let's put both sides on one page."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pairs, left then right, with a small pause between each. It has a rhythm — use it.
The line worth landing on row five: "They automate discovery. So automate your testing. That's not a coincidence — that's the arms race, and it's the one part of this where the defender genuinely has the advantage, because you get to run your tools against your own code with full source access, unlimited attempts, and no need to stay quiet."
Row six is the one people underrate. Attackers are counting on nobody watching. Not on your firewall being weak — on your alerting being absent. Fifty 403s from one account in ten seconds should wake somebody up. In most systems it wakes up nothing at all.
The banner is the takeaway of the whole section: turn the left column into your backlog. If you can't name the control on the right, that's not a gap in your knowledge, it's a gap in your system.
Transition: "One last quiz. And this time, you're on the other side of the table."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proper discussion, not a quick vote. Ask for a letter AND a reason — the reasoning is the whole exercise.
Expected answers and how to handle them:
- Most rooms shout B, the exposed admin endpoint. Good instinct: highest privilege for lowest effort.
- Some say E, the broad service account. Also excellent — that's the chain multiplier, the thing that turns a small foothold into everything.
- A (sequential IDs) is the quiet one. It's not the most severe on its own, but it's automatable, silent, and scales to every record you have.
- C (stack traces) is nobody's first pick and is usually the actual first step, because it's free reconnaissance that tells you what everything else is built on. That's your A10:2025 category — mishandling exceptional conditions.
- D (old package) depends entirely on whether the vulnerable code path is reachable. Great chance to remind them that a CVE in your dependency tree isn't automatically exploitable in your app.
The reveal: there is no single right answer, and that's the lesson. A mature attacker weighs all six factors on the strip — exposure, value, ease, privilege, chain potential, detection risk — and picks the best PATH, not the worst BUG. Your scanner sorts by severity. Your attacker sorts by path.
Then flip it: "Now do that exercise on your own system next week. Same six factors. That's a threat model, and it took you ninety seconds to learn."
Transition: "If you forget everything else from today, keep these ten questions."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This is the practical souvenir of the talk — the thing they'll actually use.
Read all ten out loud, deliberately, with a beat between each. Ten seconds of silence at the end. Let people photograph it; expect phones to come up.
Frame it: "You do not need a security team to ask these. You do not need a tool. You need ten seconds and a slightly suspicious frame of mind. Ask them in code review and watch what falls out."
The two most valuable, if you want to call any out:
- "What if they call it directly?" — kills every assumption your UI was quietly making on your behalf.
- "What would an attacker do next?" — this is the chain question, and it's the one that separates a bug list from a threat model.
Personal note you can add if it's true for you: "I ask these on every review I do. Not because I'm clever, but because I've been wrong often enough to stop trusting my instincts."
Transition: "And if ten is too many to remember, here are ten rules instead. Sorry."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labour this — the audience can read. Read the list at a steady pace and add one short line only where you have a story.
Suggested emphasis, pick two or three max:
- Rule 2 is the one that would prevent the most real-world breaches I've seen. It's also the one that sounds the most obvious, which is exactly why it keeps happening.
- Rule 6 is the newest as far as OWASP is concerned — supply chain went straight in at number three for 2025. The code you didn't write is still your responsibility.
- Rule 9 is the theme of the whole talk. Never triage a finding as if it lives alone.
If you're running short on time, this is the slide to land on and skip straight to the close — everything essential is here.
Transition: pause, change tone completely, then the closing statement.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performance moment. Do not rush and do not add anything.
Deliver the first line. Pause. Deliver the second line slowly.
Then pause properly — three full seconds. It will feel like ten. Hold it.
Then the closing line, quieter than everything before it: "Think like an attacker. Build like a defender."
Then the gift, and mean it: "Here's the thing I actually want you to leave with. Every attacker I've ever worked with, and every one I've ever worked against, would love to have what you have — the source code, the architecture, and the person who wrote it sitting two desks away. You're not behind. You start with the advantage. You just have to use it on purpose."
Do not add "any questions?" here. Let it sit, then click to the Q&amp;A slide.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on the slide rather than a flat "any questions?" — asking "what would you try to break first?" gets hands up far faster, and often produces the best discussion of the whole session.
Before you present: replace the four placeholders, generate a real QR code pointing at your slides, and paste it over the dashed box.
Questions you should expect, and short honest answers:
"Is EF Core safe from SQL injection?" — By default with LINQ, yes, it parameterises. FromSqlRaw with string interpolation is opt-out and the compiler won't warn you.
"Isn't [Authorize] enough?" — It answers who you are and maybe your role. It never answers whether you own this record. That's resource-based authorization, and it's on you.
"Where do we start if we have nothing?" — Three things: dependency scanning in CI, secret scanning on the repo, and one authorization test per resource type. All three fit in a week.
"How do we convince management?" — Don't lead with vulnerabilities, lead with the chain. Show them how three mediums become one incident. That's the FinTrack story, and it's why it's in this talk.
"Should we hire a pentest?" — Eventually, and it's worth it. But fix the free stuff first, or you'll pay a specialist to find your outdated packages for you.
If nobody asks anything: "Alright, then let me ask you one. Who's going to go and look at an endpoint tonight?" Hands go up, everyone laughs, you finish on a high note.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1"/>
        </a:solidFill>
        <a:effectLst/>
      </p:bgPr>
    </p:bg>
    <p:spTree>
      <p:nvGrpSpPr>
        <p:cNvPr id="1" name=""/>
        <p:cNvGrpSpPr/>
        <p:nvPr/>
      </p:nvGrpSpPr>
      <p:grpSpPr>
        <a:xfrm>
          <a:off x="0" y="0"/>
          <a:ext cx="0" cy="0"/>
          <a:chOff x="0" y="0"/>
          <a:chExt cx="0" cy="0"/>
        </a:xfrm>
      </p:grpSpPr>
      <p:sp>
        <p:nvSpPr>
          <p:cNvPr id="2" name="Text 0"/>
          <p:cNvSpPr txBox="1"/>
          <p:nvPr/>
        </p:nvSpPr>
        <p:spPr>
          <a:xfrm>
            <a:off x="640080" y="566928"/>
            <a:ext cx="10058400" cy="274320"/>
          </a:xfrm>
          <a:prstGeom prst="rect">
            <a:avLst/>
          </a:prstGeom>
          <a:noFill/>
          <a:ln/>
        </p:spPr>
        <p:txBody>
          <a:bodyPr wrap="square" lIns="0" tIns="0" rIns="0" bIns="0" rtlCol="0" anchor="ctr"/>
          <a:lstStyle/>
          <a:p>
            <a:pPr marL="0" indent="0">
              <a:buNone/>
            </a:pPr>
            <a:r>
              <a:rPr lang="en-US" sz="1200" b="1" kern="0" spc="260" dirty="0">
                <a:solidFill>
                  <a:srgbClr val="9A6BFF"/>
                </a:solidFill>
                <a:latin typeface="Arial" pitchFamily="34" charset="0"/>
                <a:ea typeface="Arial" pitchFamily="34" charset="-122"/>
                <a:cs typeface="Arial" pitchFamily="34" charset="-120"/>
              </a:rPr>
              <a:t>.NET HUB KATHMANDU  ·   GITHUB COPILOT DEV DAYS</a:t>
            </a:r>
            <a:endParaRPr lang="en-US" sz="1200" dirty="0"/>
          </a:p>
        </p:txBody>
      </p:sp>
      <p:sp>
        <p:nvSpPr>
          <p:cNvPr id="4" name="Text 2"/>
          <p:cNvSpPr txBox="1"/>
          <p:nvPr/>
        </p:nvSpPr>
        <p:spPr>
          <a:xfrm>
            <a:off x="658368" y="4961350"/>
            <a:ext cx="10058400" cy="411480"/>
          </a:xfrm>
          <a:prstGeom prst="rect">
            <a:avLst/>
          </a:prstGeom>
          <a:noFill/>
          <a:ln/>
        </p:spPr>
        <p:txBody>
          <a:bodyPr wrap="square" lIns="0" tIns="0" rIns="0" bIns="0" rtlCol="0" anchor="ctr"/>
          <a:lstStyle/>
          <a:p>
            <a:pPr marL="0" indent="0">
              <a:buNone/>
            </a:pPr>
            <a:r>
              <a:rPr lang="en-US" sz="2100" dirty="0">
                <a:solidFill>
                  <a:srgbClr val="C9B6FF"/>
                </a:solidFill>
                <a:latin typeface="Arial" pitchFamily="34" charset="0"/>
                <a:ea typeface="Arial" pitchFamily="34" charset="-122"/>
                <a:cs typeface="Arial" pitchFamily="34" charset="-120"/>
              </a:rPr>
              <a:t>Think Like an Attacker.  Build Like a Defender.</a:t>
            </a:r>
            <a:endParaRPr lang="en-US" sz="2100" dirty="0"/>
          </a:p>
        </p:txBody>
      </p:sp>
      <p:sp>
        <p:nvSpPr>
          <p:cNvPr id="16" name="Shape 28">
            <a:extLst>
              <a:ext uri="{FF2B5EF4-FFF2-40B4-BE49-F238E27FC236}">
                <a16:creationId xmlns:a16="http://schemas.microsoft.com/office/drawing/2014/main" id="{EACD0DF6-83B0-FE70-58E3-25A71F52FF8F}"/>
              </a:ext>
            </a:extLst>
          </p:cNvPr>
          <p:cNvSpPr/>
          <p:nvPr/>
        </p:nvSpPr>
        <p:spPr>
          <a:xfrm>
            <a:off x="548640" y="5709458"/>
            <a:ext cx="11091672" cy="658368"/>
          </a:xfrm>
          <a:prstGeom prst="roundRect">
            <a:avLst>
              <a:gd name="adj" fmla="val 11111"/>
            </a:avLst>
          </a:prstGeom>
          <a:solidFill>
            <a:srgbClr val="2A2050"/>
          </a:solidFill>
          <a:ln w="12700">
            <a:solidFill>
              <a:srgbClr val="9A6BFF"/>
            </a:solidFill>
            <a:prstDash val="solid"/>
          </a:ln>
        </p:spPr>
        <p:txBody>
          <a:bodyPr/>
          <a:lstStyle/>
          <a:p>
            <a:endParaRPr lang="en-NP"/>
          </a:p>
        </p:txBody>
      </p:sp>
      <p:sp>
        <p:nvSpPr>
          <p:cNvPr id="18" name="Text 29">
            <a:extLst>
              <a:ext uri="{FF2B5EF4-FFF2-40B4-BE49-F238E27FC236}">
                <a16:creationId xmlns:a16="http://schemas.microsoft.com/office/drawing/2014/main" id="{708F3FAA-7980-9C5E-DF45-EF276AF6BA1A}"/>
              </a:ext>
            </a:extLst>
          </p:cNvPr>
          <p:cNvSpPr txBox="1"/>
          <p:nvPr/>
        </p:nvSpPr>
        <p:spPr>
          <a:xfrm>
            <a:off x="822960" y="5709458"/>
            <a:ext cx="10543032" cy="658368"/>
          </a:xfrm>
          <a:prstGeom prst="rect">
            <a:avLst/>
          </a:prstGeom>
          <a:noFill/>
          <a:ln/>
        </p:spPr>
        <p:txBody>
          <a:bodyPr wrap="square" lIns="0" tIns="0" rIns="0" bIns="0" rtlCol="0" anchor="ctr"/>
          <a:lstStyle/>
          <a:p>
            <a:pPr marL="0" indent="0" algn="ctr">
              <a:buNone/>
            </a:pPr>
            <a:r>
              <a:rPr lang="en-US" sz="2400" b="1" dirty="0">
                <a:solidFill>
                  <a:srgbClr val="AA1A27"/>
                </a:solidFill>
              </a:rPr>
              <a:t>INSECURE</a:t>
            </a:r>
            <a:r>
              <a:rPr lang="en-US" sz="2400" b="1" dirty="0"/>
              <a:t>  		</a:t>
            </a:r>
            <a:r>
              <a:rPr lang="en-US" sz="2400" b="1" dirty="0">
                <a:solidFill>
                  <a:schemeClr val="accent6">
                    <a:lumMod val="60000"/>
                    <a:lumOff val="40000"/>
                  </a:schemeClr>
                </a:solidFill>
              </a:rPr>
              <a:t>SECURE</a:t>
            </a:r>
          </a:p>
        </p:txBody>
      </p:sp>
      <p:sp>
        <p:nvSpPr>
          <p:cNvPr id="19" name="Oval 18">
            <a:extLst>
              <a:ext uri="{FF2B5EF4-FFF2-40B4-BE49-F238E27FC236}">
                <a16:creationId xmlns:a16="http://schemas.microsoft.com/office/drawing/2014/main" id="{7FF4EDC7-ACC0-76A4-F281-1B1AD730BAE4}"/>
              </a:ext>
            </a:extLst>
          </p:cNvPr>
          <p:cNvSpPr/>
          <p:nvPr/>
        </p:nvSpPr>
        <p:spPr>
          <a:xfrm>
            <a:off x="3861251" y="5886011"/>
            <a:ext cx="328067" cy="328067"/>
          </a:xfrm>
          <a:prstGeom prst="ellipse">
            <a:avLst/>
          </a:prstGeom>
          <a:solidFill>
            <a:srgbClr val="AA1A2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solidFill>
                <a:srgbClr val="AA1A27"/>
              </a:solidFill>
            </a:endParaRPr>
          </a:p>
        </p:txBody>
      </p:sp>
      <p:pic>
        <p:nvPicPr>
          <p:cNvPr id="21" name="Graphic 20" descr="Close with solid fill">
            <a:extLst>
              <a:ext uri="{FF2B5EF4-FFF2-40B4-BE49-F238E27FC236}">
                <a16:creationId xmlns:a16="http://schemas.microsoft.com/office/drawing/2014/main" id="{3CEA31DB-E981-AD8C-1490-FD051C6BEB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flipV="1">
            <a:off x="3915213" y="5926210"/>
            <a:ext cx="240234" cy="254000"/>
          </a:xfrm>
          <a:prstGeom prst="rect">
            <a:avLst/>
          </a:prstGeom>
        </p:spPr>
      </p:pic>
      <p:sp>
        <p:nvSpPr>
          <p:cNvPr id="22" name="Oval 21">
            <a:extLst>
              <a:ext uri="{FF2B5EF4-FFF2-40B4-BE49-F238E27FC236}">
                <a16:creationId xmlns:a16="http://schemas.microsoft.com/office/drawing/2014/main" id="{B029FB78-2401-1909-C03B-B58C1A5A466D}"/>
              </a:ext>
            </a:extLst>
          </p:cNvPr>
          <p:cNvSpPr/>
          <p:nvPr/>
        </p:nvSpPr>
        <p:spPr>
          <a:xfrm>
            <a:off x="6562117" y="5886011"/>
            <a:ext cx="328067" cy="328067"/>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P">
              <a:solidFill>
                <a:srgbClr val="AA1A27"/>
              </a:solidFill>
            </a:endParaRPr>
          </a:p>
        </p:txBody>
      </p:sp>
      <p:pic>
        <p:nvPicPr>
          <p:cNvPr id="24" name="Graphic 23" descr="Checkmark with solid fill">
            <a:extLst>
              <a:ext uri="{FF2B5EF4-FFF2-40B4-BE49-F238E27FC236}">
                <a16:creationId xmlns:a16="http://schemas.microsoft.com/office/drawing/2014/main" id="{27F9766F-EA3B-3ED4-6283-8BB979E30B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03608" y="5935127"/>
            <a:ext cx="245083" cy="245083"/>
          </a:xfrm>
          <a:prstGeom prst="rect">
            <a:avLst/>
          </a:prstGeom>
        </p:spPr>
      </p:pic>
      <p:sp>
        <p:nvSpPr>
          <p:cNvPr id="25" name="Right Arrow 24">
            <a:extLst>
              <a:ext uri="{FF2B5EF4-FFF2-40B4-BE49-F238E27FC236}">
                <a16:creationId xmlns:a16="http://schemas.microsoft.com/office/drawing/2014/main" id="{E2D6793A-A7B1-96E3-920F-0984E81176DD}"/>
              </a:ext>
            </a:extLst>
          </p:cNvPr>
          <p:cNvSpPr/>
          <p:nvPr/>
        </p:nvSpPr>
        <p:spPr>
          <a:xfrm>
            <a:off x="5715339" y="5926212"/>
            <a:ext cx="481108" cy="23830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P"/>
          </a:p>
        </p:txBody>
      </p:sp>
      <p:pic>
        <p:nvPicPr>
          <p:cNvPr id="34" name="Picture 33">
            <a:extLst>
              <a:ext uri="{FF2B5EF4-FFF2-40B4-BE49-F238E27FC236}">
                <a16:creationId xmlns:a16="http://schemas.microsoft.com/office/drawing/2014/main" id="{2BAFC71A-78C2-C935-9257-1267E5A77FBF}"/>
              </a:ext>
            </a:extLst>
          </p:cNvPr>
          <p:cNvPicPr>
            <a:picLocks noChangeAspect="1"/>
          </p:cNvPicPr>
          <p:nvPr/>
        </p:nvPicPr>
        <p:blipFill>
          <a:blip r:embed="rId5"/>
          <a:stretch>
            <a:fillRect/>
          </a:stretch>
        </p:blipFill>
        <p:spPr>
          <a:xfrm>
            <a:off x="707998" y="992820"/>
            <a:ext cx="6733540" cy="3788814"/>
          </a:xfrm>
          <a:prstGeom prst="rect">
            <a:avLst/>
          </a:prstGeom>
        </p:spPr>
      </p:pic>
      <p:pic>
        <p:nvPicPr>
          <p:cNvPr id="5" name="Picture 4">
            <a:extLst>
              <a:ext uri="{FF2B5EF4-FFF2-40B4-BE49-F238E27FC236}">
                <a16:creationId xmlns:a16="http://schemas.microsoft.com/office/drawing/2014/main" id="{E1ACF77C-198C-9623-56B8-F1681F7A2B7E}"/>
              </a:ext>
            </a:extLst>
          </p:cNvPr>
          <p:cNvPicPr>
            <a:picLocks noChangeAspect="1"/>
          </p:cNvPicPr>
          <p:nvPr/>
        </p:nvPicPr>
        <p:blipFill>
          <a:blip r:embed="rId6"/>
          <a:stretch>
            <a:fillRect/>
          </a:stretch>
        </p:blipFill>
        <p:spPr>
          <a:xfrm>
            <a:off x="7527938" y="1007221"/>
            <a:ext cx="4323262" cy="38146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a:t>
            </a:r>
            <a:r>
              <a:rPr lang="en-US" sz="1150" b="1" kern="0" spc="220" dirty="0" err="1">
                <a:solidFill>
                  <a:srgbClr val="9A6BFF"/>
                </a:solidFill>
                <a:latin typeface="Arial" pitchFamily="34" charset="0"/>
                <a:ea typeface="Arial" pitchFamily="34" charset="-122"/>
                <a:cs typeface="Arial" pitchFamily="34" charset="-120"/>
              </a:rPr>
              <a:t>whoami</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400" b="1" dirty="0">
                <a:solidFill>
                  <a:srgbClr val="E9EEF7"/>
                </a:solidFill>
                <a:latin typeface="Arial" pitchFamily="34" charset="0"/>
                <a:ea typeface="Arial" pitchFamily="34" charset="-122"/>
                <a:cs typeface="Arial" pitchFamily="34" charset="-120"/>
              </a:rPr>
              <a:t>Before We Talk About Hacking...</a:t>
            </a:r>
            <a:endParaRPr lang="en-US" sz="3400" dirty="0"/>
          </a:p>
        </p:txBody>
      </p:sp>
      <p:sp>
        <p:nvSpPr>
          <p:cNvPr id="34" name="Shape 32"/>
          <p:cNvSpPr/>
          <p:nvPr/>
        </p:nvSpPr>
        <p:spPr>
          <a:xfrm>
            <a:off x="603504" y="2062480"/>
            <a:ext cx="4279392" cy="3703320"/>
          </a:xfrm>
          <a:prstGeom prst="roundRect">
            <a:avLst>
              <a:gd name="adj" fmla="val 1975"/>
            </a:avLst>
          </a:prstGeom>
          <a:solidFill>
            <a:srgbClr val="1A2130"/>
          </a:solidFill>
          <a:ln w="12700">
            <a:solidFill>
              <a:srgbClr val="9A6BFF"/>
            </a:solidFill>
            <a:prstDash val="solid"/>
          </a:ln>
        </p:spPr>
        <p:txBody>
          <a:bodyPr/>
          <a:lstStyle/>
          <a:p>
            <a:endParaRPr lang="en-NP" dirty="0"/>
          </a:p>
        </p:txBody>
      </p:sp>
      <p:sp>
        <p:nvSpPr>
          <p:cNvPr id="51" name="Shape 32">
            <a:extLst>
              <a:ext uri="{FF2B5EF4-FFF2-40B4-BE49-F238E27FC236}">
                <a16:creationId xmlns:a16="http://schemas.microsoft.com/office/drawing/2014/main" id="{C3358C20-2681-3106-CDB4-C6033F280F84}"/>
              </a:ext>
            </a:extLst>
          </p:cNvPr>
          <p:cNvSpPr/>
          <p:nvPr/>
        </p:nvSpPr>
        <p:spPr>
          <a:xfrm>
            <a:off x="5486400" y="2062480"/>
            <a:ext cx="6102096" cy="3703320"/>
          </a:xfrm>
          <a:prstGeom prst="roundRect">
            <a:avLst>
              <a:gd name="adj" fmla="val 1975"/>
            </a:avLst>
          </a:prstGeom>
          <a:solidFill>
            <a:srgbClr val="1A2130"/>
          </a:solidFill>
          <a:ln w="12700">
            <a:solidFill>
              <a:srgbClr val="9A6BFF"/>
            </a:solidFill>
            <a:prstDash val="solid"/>
          </a:ln>
        </p:spPr>
        <p:txBody>
          <a:bodyPr/>
          <a:lstStyle/>
          <a:p>
            <a:endParaRPr lang="en-NP"/>
          </a:p>
        </p:txBody>
      </p:sp>
      <p:pic>
        <p:nvPicPr>
          <p:cNvPr id="53" name="Picture 52">
            <a:extLst>
              <a:ext uri="{FF2B5EF4-FFF2-40B4-BE49-F238E27FC236}">
                <a16:creationId xmlns:a16="http://schemas.microsoft.com/office/drawing/2014/main" id="{D8AEA9FE-141B-EE44-1D07-49524F4D1B89}"/>
              </a:ext>
            </a:extLst>
          </p:cNvPr>
          <p:cNvPicPr>
            <a:picLocks noChangeAspect="1"/>
          </p:cNvPicPr>
          <p:nvPr/>
        </p:nvPicPr>
        <p:blipFill>
          <a:blip r:embed="rId3"/>
          <a:stretch>
            <a:fillRect/>
          </a:stretch>
        </p:blipFill>
        <p:spPr>
          <a:xfrm>
            <a:off x="1852449" y="2715407"/>
            <a:ext cx="1427186" cy="1427186"/>
          </a:xfrm>
          <a:prstGeom prst="rect">
            <a:avLst/>
          </a:prstGeom>
        </p:spPr>
      </p:pic>
      <p:sp>
        <p:nvSpPr>
          <p:cNvPr id="54" name="Text 5">
            <a:extLst>
              <a:ext uri="{FF2B5EF4-FFF2-40B4-BE49-F238E27FC236}">
                <a16:creationId xmlns:a16="http://schemas.microsoft.com/office/drawing/2014/main" id="{C89D877E-C37E-2BDA-7306-C5095888C4BC}"/>
              </a:ext>
            </a:extLst>
          </p:cNvPr>
          <p:cNvSpPr txBox="1"/>
          <p:nvPr/>
        </p:nvSpPr>
        <p:spPr>
          <a:xfrm>
            <a:off x="782320" y="4301181"/>
            <a:ext cx="3566160" cy="365760"/>
          </a:xfrm>
          <a:prstGeom prst="rect">
            <a:avLst/>
          </a:prstGeom>
          <a:noFill/>
          <a:ln/>
        </p:spPr>
        <p:txBody>
          <a:bodyPr wrap="square" lIns="0" tIns="0" rIns="0" bIns="0" rtlCol="0" anchor="ctr"/>
          <a:lstStyle/>
          <a:p>
            <a:pPr marL="0" indent="0" algn="ctr">
              <a:buNone/>
            </a:pPr>
            <a:r>
              <a:rPr lang="en-US" sz="2000" b="1" dirty="0">
                <a:solidFill>
                  <a:srgbClr val="E8ECF4"/>
                </a:solidFill>
                <a:latin typeface="Cambria" pitchFamily="34" charset="0"/>
                <a:ea typeface="Cambria" pitchFamily="34" charset="-122"/>
                <a:cs typeface="Cambria" pitchFamily="34" charset="-120"/>
              </a:rPr>
              <a:t>Bipul Ghimire</a:t>
            </a:r>
            <a:endParaRPr lang="en-US" sz="2000" dirty="0"/>
          </a:p>
        </p:txBody>
      </p:sp>
      <p:sp>
        <p:nvSpPr>
          <p:cNvPr id="55" name="Text 6">
            <a:extLst>
              <a:ext uri="{FF2B5EF4-FFF2-40B4-BE49-F238E27FC236}">
                <a16:creationId xmlns:a16="http://schemas.microsoft.com/office/drawing/2014/main" id="{F186D9BB-FC29-27DA-0951-72A938209F84}"/>
              </a:ext>
            </a:extLst>
          </p:cNvPr>
          <p:cNvSpPr txBox="1"/>
          <p:nvPr/>
        </p:nvSpPr>
        <p:spPr>
          <a:xfrm>
            <a:off x="863600" y="4785003"/>
            <a:ext cx="3566160" cy="502920"/>
          </a:xfrm>
          <a:prstGeom prst="rect">
            <a:avLst/>
          </a:prstGeom>
          <a:noFill/>
          <a:ln/>
        </p:spPr>
        <p:txBody>
          <a:bodyPr wrap="square" lIns="0" tIns="0" rIns="0" bIns="0" rtlCol="0" anchor="ctr"/>
          <a:lstStyle/>
          <a:p>
            <a:pPr marL="0" indent="0" algn="ctr">
              <a:buNone/>
            </a:pPr>
            <a:r>
              <a:rPr lang="en-US" sz="1300" i="1" dirty="0">
                <a:solidFill>
                  <a:srgbClr val="00C98D"/>
                </a:solidFill>
                <a:latin typeface="Calibri" pitchFamily="34" charset="0"/>
                <a:cs typeface="Calibri" pitchFamily="34" charset="-120"/>
              </a:rPr>
              <a:t>Senior Security Engineer | Security Consultant | Ethical Hacker | Seasonal Bug Bounty Hunter | Guest Lecturer | Educator/Mentor </a:t>
            </a:r>
            <a:endParaRPr lang="en-US" sz="1300" dirty="0"/>
          </a:p>
        </p:txBody>
      </p:sp>
      <p:sp>
        <p:nvSpPr>
          <p:cNvPr id="56" name="Shape 6">
            <a:extLst>
              <a:ext uri="{FF2B5EF4-FFF2-40B4-BE49-F238E27FC236}">
                <a16:creationId xmlns:a16="http://schemas.microsoft.com/office/drawing/2014/main" id="{2324379E-BE57-70B6-8594-AAF9E5653319}"/>
              </a:ext>
            </a:extLst>
          </p:cNvPr>
          <p:cNvSpPr/>
          <p:nvPr/>
        </p:nvSpPr>
        <p:spPr>
          <a:xfrm>
            <a:off x="5659120" y="2219960"/>
            <a:ext cx="5750560" cy="1006856"/>
          </a:xfrm>
          <a:prstGeom prst="roundRect">
            <a:avLst>
              <a:gd name="adj" fmla="val 6842"/>
            </a:avLst>
          </a:prstGeom>
          <a:solidFill>
            <a:srgbClr val="FBEBEE"/>
          </a:solidFill>
          <a:ln w="12700">
            <a:solidFill>
              <a:srgbClr val="FBEBEE"/>
            </a:solidFill>
            <a:prstDash val="solid"/>
          </a:ln>
        </p:spPr>
        <p:txBody>
          <a:bodyPr/>
          <a:lstStyle/>
          <a:p>
            <a:endParaRPr lang="en-NP" dirty="0"/>
          </a:p>
        </p:txBody>
      </p:sp>
      <p:sp>
        <p:nvSpPr>
          <p:cNvPr id="57" name="Shape 7">
            <a:extLst>
              <a:ext uri="{FF2B5EF4-FFF2-40B4-BE49-F238E27FC236}">
                <a16:creationId xmlns:a16="http://schemas.microsoft.com/office/drawing/2014/main" id="{F2DA365C-028B-7DF3-47C0-4773E9D94A3A}"/>
              </a:ext>
            </a:extLst>
          </p:cNvPr>
          <p:cNvSpPr/>
          <p:nvPr/>
        </p:nvSpPr>
        <p:spPr>
          <a:xfrm>
            <a:off x="5874512" y="2325624"/>
            <a:ext cx="475488" cy="475488"/>
          </a:xfrm>
          <a:prstGeom prst="ellipse">
            <a:avLst/>
          </a:prstGeom>
          <a:solidFill>
            <a:srgbClr val="A51931"/>
          </a:solidFill>
          <a:ln w="12700">
            <a:solidFill>
              <a:srgbClr val="A51931"/>
            </a:solidFill>
            <a:prstDash val="solid"/>
          </a:ln>
        </p:spPr>
        <p:txBody>
          <a:bodyPr/>
          <a:lstStyle/>
          <a:p>
            <a:endParaRPr lang="en-NP"/>
          </a:p>
        </p:txBody>
      </p:sp>
      <p:sp>
        <p:nvSpPr>
          <p:cNvPr id="59" name="Text 8">
            <a:extLst>
              <a:ext uri="{FF2B5EF4-FFF2-40B4-BE49-F238E27FC236}">
                <a16:creationId xmlns:a16="http://schemas.microsoft.com/office/drawing/2014/main" id="{3DB93BD6-99AE-9220-DFFE-863F82485711}"/>
              </a:ext>
            </a:extLst>
          </p:cNvPr>
          <p:cNvSpPr/>
          <p:nvPr/>
        </p:nvSpPr>
        <p:spPr>
          <a:xfrm>
            <a:off x="6687312" y="2397399"/>
            <a:ext cx="3021482" cy="310896"/>
          </a:xfrm>
          <a:prstGeom prst="rect">
            <a:avLst/>
          </a:prstGeom>
          <a:noFill/>
          <a:ln/>
        </p:spPr>
        <p:txBody>
          <a:bodyPr wrap="square" lIns="0" tIns="0" rIns="0" bIns="0" rtlCol="0" anchor="t"/>
          <a:lstStyle/>
          <a:p>
            <a:pPr marL="0" indent="0">
              <a:buNone/>
            </a:pPr>
            <a:r>
              <a:rPr lang="en-US" sz="1550" b="1" dirty="0">
                <a:solidFill>
                  <a:srgbClr val="12203A"/>
                </a:solidFill>
                <a:latin typeface="Cambria" pitchFamily="34" charset="0"/>
                <a:ea typeface="Cambria" pitchFamily="34" charset="-122"/>
                <a:cs typeface="Cambria" pitchFamily="34" charset="-120"/>
              </a:rPr>
              <a:t>What I do?</a:t>
            </a:r>
            <a:endParaRPr lang="en-US" sz="1550" dirty="0"/>
          </a:p>
        </p:txBody>
      </p:sp>
      <p:sp>
        <p:nvSpPr>
          <p:cNvPr id="60" name="Text 9">
            <a:extLst>
              <a:ext uri="{FF2B5EF4-FFF2-40B4-BE49-F238E27FC236}">
                <a16:creationId xmlns:a16="http://schemas.microsoft.com/office/drawing/2014/main" id="{D8872026-4E85-FAD8-4220-A1569185B28E}"/>
              </a:ext>
            </a:extLst>
          </p:cNvPr>
          <p:cNvSpPr/>
          <p:nvPr/>
        </p:nvSpPr>
        <p:spPr>
          <a:xfrm>
            <a:off x="5791200" y="2897632"/>
            <a:ext cx="5557520" cy="310896"/>
          </a:xfrm>
          <a:prstGeom prst="rect">
            <a:avLst/>
          </a:prstGeom>
          <a:noFill/>
          <a:ln/>
        </p:spPr>
        <p:txBody>
          <a:bodyPr wrap="square" lIns="0" tIns="0" rIns="0" bIns="0" rtlCol="0" anchor="t"/>
          <a:lstStyle/>
          <a:p>
            <a:pPr marL="0" indent="0" algn="l">
              <a:lnSpc>
                <a:spcPts val="1600"/>
              </a:lnSpc>
              <a:buNone/>
            </a:pPr>
            <a:r>
              <a:rPr lang="en-US" sz="1200" dirty="0">
                <a:solidFill>
                  <a:srgbClr val="5D6B82"/>
                </a:solidFill>
                <a:latin typeface="Calibri" pitchFamily="34" charset="0"/>
                <a:ea typeface="Calibri" pitchFamily="34" charset="-122"/>
                <a:cs typeface="Calibri" pitchFamily="34" charset="-120"/>
              </a:rPr>
              <a:t>IS Audit, VAPT, Security Hardening, Digital Forensics, Security Architecture, Threat Hunting</a:t>
            </a:r>
            <a:endParaRPr lang="en-US" sz="1200" dirty="0"/>
          </a:p>
        </p:txBody>
      </p:sp>
      <p:pic>
        <p:nvPicPr>
          <p:cNvPr id="61" name="Image 1" descr="preencoded.png">
            <a:extLst>
              <a:ext uri="{FF2B5EF4-FFF2-40B4-BE49-F238E27FC236}">
                <a16:creationId xmlns:a16="http://schemas.microsoft.com/office/drawing/2014/main" id="{27FCF002-E036-5ABA-80F4-122D6DC7D1CE}"/>
              </a:ext>
            </a:extLst>
          </p:cNvPr>
          <p:cNvPicPr>
            <a:picLocks noChangeAspect="1"/>
          </p:cNvPicPr>
          <p:nvPr/>
        </p:nvPicPr>
        <p:blipFill>
          <a:blip r:embed="rId4"/>
          <a:stretch>
            <a:fillRect/>
          </a:stretch>
        </p:blipFill>
        <p:spPr>
          <a:xfrm>
            <a:off x="5971560" y="2392192"/>
            <a:ext cx="342351" cy="342351"/>
          </a:xfrm>
          <a:prstGeom prst="rect">
            <a:avLst/>
          </a:prstGeom>
        </p:spPr>
      </p:pic>
      <p:sp>
        <p:nvSpPr>
          <p:cNvPr id="62" name="Shape 10">
            <a:extLst>
              <a:ext uri="{FF2B5EF4-FFF2-40B4-BE49-F238E27FC236}">
                <a16:creationId xmlns:a16="http://schemas.microsoft.com/office/drawing/2014/main" id="{18CB3347-CC5D-8EF5-5E4F-6878CB2555A2}"/>
              </a:ext>
            </a:extLst>
          </p:cNvPr>
          <p:cNvSpPr/>
          <p:nvPr/>
        </p:nvSpPr>
        <p:spPr>
          <a:xfrm>
            <a:off x="5648960" y="3367385"/>
            <a:ext cx="5760720" cy="1006856"/>
          </a:xfrm>
          <a:prstGeom prst="roundRect">
            <a:avLst>
              <a:gd name="adj" fmla="val 6842"/>
            </a:avLst>
          </a:prstGeom>
          <a:solidFill>
            <a:srgbClr val="F1F4F9"/>
          </a:solidFill>
          <a:ln w="12700">
            <a:solidFill>
              <a:srgbClr val="F1F4F9"/>
            </a:solidFill>
            <a:prstDash val="solid"/>
          </a:ln>
        </p:spPr>
        <p:txBody>
          <a:bodyPr/>
          <a:lstStyle/>
          <a:p>
            <a:endParaRPr lang="en-NP"/>
          </a:p>
        </p:txBody>
      </p:sp>
      <p:sp>
        <p:nvSpPr>
          <p:cNvPr id="63" name="Shape 11">
            <a:extLst>
              <a:ext uri="{FF2B5EF4-FFF2-40B4-BE49-F238E27FC236}">
                <a16:creationId xmlns:a16="http://schemas.microsoft.com/office/drawing/2014/main" id="{1CE7A115-3C07-9EB7-4CDD-F095A1833D91}"/>
              </a:ext>
            </a:extLst>
          </p:cNvPr>
          <p:cNvSpPr/>
          <p:nvPr/>
        </p:nvSpPr>
        <p:spPr>
          <a:xfrm>
            <a:off x="5866384" y="3493369"/>
            <a:ext cx="475488" cy="475488"/>
          </a:xfrm>
          <a:prstGeom prst="ellipse">
            <a:avLst/>
          </a:prstGeom>
          <a:solidFill>
            <a:srgbClr val="1B3563"/>
          </a:solidFill>
          <a:ln w="12700">
            <a:solidFill>
              <a:srgbClr val="1B3563"/>
            </a:solidFill>
            <a:prstDash val="solid"/>
          </a:ln>
        </p:spPr>
        <p:txBody>
          <a:bodyPr/>
          <a:lstStyle/>
          <a:p>
            <a:endParaRPr lang="en-NP"/>
          </a:p>
        </p:txBody>
      </p:sp>
      <p:pic>
        <p:nvPicPr>
          <p:cNvPr id="64" name="Image 2" descr="preencoded.png">
            <a:extLst>
              <a:ext uri="{FF2B5EF4-FFF2-40B4-BE49-F238E27FC236}">
                <a16:creationId xmlns:a16="http://schemas.microsoft.com/office/drawing/2014/main" id="{5DA678F1-7491-5BE3-8619-BC435E96D70D}"/>
              </a:ext>
            </a:extLst>
          </p:cNvPr>
          <p:cNvPicPr>
            <a:picLocks noChangeAspect="1"/>
          </p:cNvPicPr>
          <p:nvPr/>
        </p:nvPicPr>
        <p:blipFill>
          <a:blip r:embed="rId5"/>
          <a:stretch>
            <a:fillRect/>
          </a:stretch>
        </p:blipFill>
        <p:spPr>
          <a:xfrm>
            <a:off x="5932953" y="3580257"/>
            <a:ext cx="342351" cy="342351"/>
          </a:xfrm>
          <a:prstGeom prst="rect">
            <a:avLst/>
          </a:prstGeom>
        </p:spPr>
      </p:pic>
      <p:sp>
        <p:nvSpPr>
          <p:cNvPr id="65" name="Text 12">
            <a:extLst>
              <a:ext uri="{FF2B5EF4-FFF2-40B4-BE49-F238E27FC236}">
                <a16:creationId xmlns:a16="http://schemas.microsoft.com/office/drawing/2014/main" id="{3DB25713-1A5D-9B9D-9C3D-075251003AF6}"/>
              </a:ext>
            </a:extLst>
          </p:cNvPr>
          <p:cNvSpPr/>
          <p:nvPr/>
        </p:nvSpPr>
        <p:spPr>
          <a:xfrm>
            <a:off x="6599936" y="3567537"/>
            <a:ext cx="3021482" cy="310896"/>
          </a:xfrm>
          <a:prstGeom prst="rect">
            <a:avLst/>
          </a:prstGeom>
          <a:noFill/>
          <a:ln/>
        </p:spPr>
        <p:txBody>
          <a:bodyPr wrap="square" lIns="0" tIns="0" rIns="0" bIns="0" rtlCol="0" anchor="t"/>
          <a:lstStyle/>
          <a:p>
            <a:pPr marL="0" indent="0">
              <a:buNone/>
            </a:pPr>
            <a:r>
              <a:rPr lang="en-US" sz="1550" b="1" dirty="0">
                <a:solidFill>
                  <a:srgbClr val="12203A"/>
                </a:solidFill>
                <a:latin typeface="Cambria" pitchFamily="34" charset="0"/>
                <a:ea typeface="Cambria" pitchFamily="34" charset="-122"/>
                <a:cs typeface="Cambria" pitchFamily="34" charset="-120"/>
              </a:rPr>
              <a:t>Background</a:t>
            </a:r>
            <a:endParaRPr lang="en-US" sz="1550" dirty="0"/>
          </a:p>
        </p:txBody>
      </p:sp>
      <p:sp>
        <p:nvSpPr>
          <p:cNvPr id="66" name="Text 13">
            <a:extLst>
              <a:ext uri="{FF2B5EF4-FFF2-40B4-BE49-F238E27FC236}">
                <a16:creationId xmlns:a16="http://schemas.microsoft.com/office/drawing/2014/main" id="{D0510D2E-9476-43BD-8164-8EDFE341C06E}"/>
              </a:ext>
            </a:extLst>
          </p:cNvPr>
          <p:cNvSpPr/>
          <p:nvPr/>
        </p:nvSpPr>
        <p:spPr>
          <a:xfrm>
            <a:off x="5825744" y="4063345"/>
            <a:ext cx="5411216" cy="310896"/>
          </a:xfrm>
          <a:prstGeom prst="rect">
            <a:avLst/>
          </a:prstGeom>
          <a:noFill/>
          <a:ln/>
        </p:spPr>
        <p:txBody>
          <a:bodyPr wrap="square" lIns="0" tIns="0" rIns="0" bIns="0" rtlCol="0" anchor="t"/>
          <a:lstStyle/>
          <a:p>
            <a:pPr marL="0" indent="0" algn="l">
              <a:lnSpc>
                <a:spcPts val="1600"/>
              </a:lnSpc>
              <a:buNone/>
            </a:pPr>
            <a:r>
              <a:rPr lang="en-US" sz="1200" dirty="0">
                <a:solidFill>
                  <a:srgbClr val="5D6B82"/>
                </a:solidFill>
                <a:latin typeface="Calibri" pitchFamily="34" charset="0"/>
                <a:cs typeface="Calibri" pitchFamily="34" charset="-120"/>
              </a:rPr>
              <a:t>7+ years experience in cybersecurity | M.Sc. Cybersecurity | </a:t>
            </a:r>
            <a:r>
              <a:rPr lang="en-US" sz="1200" dirty="0" err="1">
                <a:solidFill>
                  <a:srgbClr val="5D6B82"/>
                </a:solidFill>
                <a:latin typeface="Calibri" pitchFamily="34" charset="0"/>
                <a:cs typeface="Calibri" pitchFamily="34" charset="-120"/>
              </a:rPr>
              <a:t>CySA</a:t>
            </a:r>
            <a:r>
              <a:rPr lang="en-US" sz="1200" dirty="0">
                <a:solidFill>
                  <a:srgbClr val="5D6B82"/>
                </a:solidFill>
                <a:latin typeface="Calibri" pitchFamily="34" charset="0"/>
                <a:cs typeface="Calibri" pitchFamily="34" charset="-120"/>
              </a:rPr>
              <a:t>+ | ISO 27001 LA </a:t>
            </a:r>
            <a:endParaRPr lang="en-US" sz="1200" dirty="0"/>
          </a:p>
        </p:txBody>
      </p:sp>
      <p:sp>
        <p:nvSpPr>
          <p:cNvPr id="67" name="Shape 14">
            <a:extLst>
              <a:ext uri="{FF2B5EF4-FFF2-40B4-BE49-F238E27FC236}">
                <a16:creationId xmlns:a16="http://schemas.microsoft.com/office/drawing/2014/main" id="{B79FCC61-8286-9B22-8BAA-259E3236CF52}"/>
              </a:ext>
            </a:extLst>
          </p:cNvPr>
          <p:cNvSpPr/>
          <p:nvPr/>
        </p:nvSpPr>
        <p:spPr>
          <a:xfrm>
            <a:off x="5659120" y="4549140"/>
            <a:ext cx="5760720" cy="1006856"/>
          </a:xfrm>
          <a:prstGeom prst="roundRect">
            <a:avLst>
              <a:gd name="adj" fmla="val 6842"/>
            </a:avLst>
          </a:prstGeom>
          <a:solidFill>
            <a:srgbClr val="E9F4EE"/>
          </a:solidFill>
          <a:ln w="12700">
            <a:solidFill>
              <a:srgbClr val="E9F4EE"/>
            </a:solidFill>
            <a:prstDash val="solid"/>
          </a:ln>
        </p:spPr>
        <p:txBody>
          <a:bodyPr/>
          <a:lstStyle/>
          <a:p>
            <a:endParaRPr lang="en-NP"/>
          </a:p>
        </p:txBody>
      </p:sp>
      <p:sp>
        <p:nvSpPr>
          <p:cNvPr id="68" name="Shape 15">
            <a:extLst>
              <a:ext uri="{FF2B5EF4-FFF2-40B4-BE49-F238E27FC236}">
                <a16:creationId xmlns:a16="http://schemas.microsoft.com/office/drawing/2014/main" id="{2CD2BDDD-DC11-F793-54FF-5E67CC9578E0}"/>
              </a:ext>
            </a:extLst>
          </p:cNvPr>
          <p:cNvSpPr/>
          <p:nvPr/>
        </p:nvSpPr>
        <p:spPr>
          <a:xfrm>
            <a:off x="5896864" y="4624324"/>
            <a:ext cx="475488" cy="475488"/>
          </a:xfrm>
          <a:prstGeom prst="ellipse">
            <a:avLst/>
          </a:prstGeom>
          <a:solidFill>
            <a:srgbClr val="1B7A55"/>
          </a:solidFill>
          <a:ln w="12700">
            <a:solidFill>
              <a:srgbClr val="1B7A55"/>
            </a:solidFill>
            <a:prstDash val="solid"/>
          </a:ln>
        </p:spPr>
        <p:txBody>
          <a:bodyPr/>
          <a:lstStyle/>
          <a:p>
            <a:endParaRPr lang="en-NP"/>
          </a:p>
        </p:txBody>
      </p:sp>
      <p:pic>
        <p:nvPicPr>
          <p:cNvPr id="69" name="Image 3" descr="preencoded.png">
            <a:extLst>
              <a:ext uri="{FF2B5EF4-FFF2-40B4-BE49-F238E27FC236}">
                <a16:creationId xmlns:a16="http://schemas.microsoft.com/office/drawing/2014/main" id="{D200D937-4161-21EC-2264-89C3A1BDBCA1}"/>
              </a:ext>
            </a:extLst>
          </p:cNvPr>
          <p:cNvPicPr>
            <a:picLocks noChangeAspect="1"/>
          </p:cNvPicPr>
          <p:nvPr/>
        </p:nvPicPr>
        <p:blipFill>
          <a:blip r:embed="rId6"/>
          <a:stretch>
            <a:fillRect/>
          </a:stretch>
        </p:blipFill>
        <p:spPr>
          <a:xfrm>
            <a:off x="5963432" y="4690892"/>
            <a:ext cx="342351" cy="342351"/>
          </a:xfrm>
          <a:prstGeom prst="rect">
            <a:avLst/>
          </a:prstGeom>
        </p:spPr>
      </p:pic>
      <p:sp>
        <p:nvSpPr>
          <p:cNvPr id="70" name="Text 16">
            <a:extLst>
              <a:ext uri="{FF2B5EF4-FFF2-40B4-BE49-F238E27FC236}">
                <a16:creationId xmlns:a16="http://schemas.microsoft.com/office/drawing/2014/main" id="{72346A24-6CAB-C1DA-9850-9402B1A58442}"/>
              </a:ext>
            </a:extLst>
          </p:cNvPr>
          <p:cNvSpPr/>
          <p:nvPr/>
        </p:nvSpPr>
        <p:spPr>
          <a:xfrm>
            <a:off x="6534912" y="4712187"/>
            <a:ext cx="3021482" cy="310896"/>
          </a:xfrm>
          <a:prstGeom prst="rect">
            <a:avLst/>
          </a:prstGeom>
          <a:noFill/>
          <a:ln/>
        </p:spPr>
        <p:txBody>
          <a:bodyPr wrap="square" lIns="0" tIns="0" rIns="0" bIns="0" rtlCol="0" anchor="t"/>
          <a:lstStyle/>
          <a:p>
            <a:pPr marL="0" indent="0">
              <a:buNone/>
            </a:pPr>
            <a:r>
              <a:rPr lang="en-US" sz="1550" b="1" dirty="0">
                <a:solidFill>
                  <a:srgbClr val="12203A"/>
                </a:solidFill>
                <a:latin typeface="Cambria" pitchFamily="34" charset="0"/>
                <a:ea typeface="Cambria" pitchFamily="34" charset="-122"/>
                <a:cs typeface="Cambria" pitchFamily="34" charset="-120"/>
              </a:rPr>
              <a:t>Why this matters to me</a:t>
            </a:r>
            <a:endParaRPr lang="en-US" sz="1550" dirty="0"/>
          </a:p>
        </p:txBody>
      </p:sp>
      <p:sp>
        <p:nvSpPr>
          <p:cNvPr id="71" name="Text 17">
            <a:extLst>
              <a:ext uri="{FF2B5EF4-FFF2-40B4-BE49-F238E27FC236}">
                <a16:creationId xmlns:a16="http://schemas.microsoft.com/office/drawing/2014/main" id="{EBC6BD23-9EA6-229B-E49B-8701A0329222}"/>
              </a:ext>
            </a:extLst>
          </p:cNvPr>
          <p:cNvSpPr/>
          <p:nvPr/>
        </p:nvSpPr>
        <p:spPr>
          <a:xfrm>
            <a:off x="5886704" y="5186172"/>
            <a:ext cx="5350256" cy="317500"/>
          </a:xfrm>
          <a:prstGeom prst="rect">
            <a:avLst/>
          </a:prstGeom>
          <a:noFill/>
          <a:ln/>
        </p:spPr>
        <p:txBody>
          <a:bodyPr wrap="square" lIns="0" tIns="0" rIns="0" bIns="0" rtlCol="0" anchor="t"/>
          <a:lstStyle/>
          <a:p>
            <a:pPr marL="0" indent="0" algn="l">
              <a:lnSpc>
                <a:spcPts val="1600"/>
              </a:lnSpc>
              <a:buNone/>
            </a:pPr>
            <a:r>
              <a:rPr lang="en-US" sz="1200" dirty="0">
                <a:solidFill>
                  <a:srgbClr val="5D6B82"/>
                </a:solidFill>
                <a:latin typeface="Calibri" pitchFamily="34" charset="0"/>
                <a:cs typeface="Calibri" pitchFamily="34" charset="-120"/>
              </a:rPr>
              <a:t>Security is a shared responsibility, and everyone should be aware on how to stay safe</a:t>
            </a:r>
            <a:r>
              <a:rPr lang="en-US" sz="12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A11"/>
        </a:solidFill>
        <a:effectLst/>
      </p:bgPr>
    </p:bg>
    <p:spTree>
      <p:nvGrpSpPr>
        <p:cNvPr id="1" name=""/>
        <p:cNvGrpSpPr/>
        <p:nvPr/>
      </p:nvGrpSpPr>
      <p:grpSpPr>
        <a:xfrm>
          <a:off x="0" y="0"/>
          <a:ext cx="0" cy="0"/>
          <a:chOff x="0" y="0"/>
          <a:chExt cx="0" cy="0"/>
        </a:xfrm>
      </p:grpSpPr>
      <p:sp>
        <p:nvSpPr>
          <p:cNvPr id="2" name="Text 0"/>
          <p:cNvSpPr txBox="1"/>
          <p:nvPr/>
        </p:nvSpPr>
        <p:spPr>
          <a:xfrm>
            <a:off x="822960" y="1234440"/>
            <a:ext cx="10515600" cy="2377440"/>
          </a:xfrm>
          <a:prstGeom prst="rect">
            <a:avLst/>
          </a:prstGeom>
          <a:noFill/>
          <a:ln/>
        </p:spPr>
        <p:txBody>
          <a:bodyPr wrap="square" lIns="0" tIns="0" rIns="0" bIns="0" rtlCol="0" anchor="ctr"/>
          <a:lstStyle/>
          <a:p>
            <a:pPr marL="0" indent="0">
              <a:lnSpc>
                <a:spcPct val="112000"/>
              </a:lnSpc>
              <a:buNone/>
            </a:pPr>
            <a:r>
              <a:rPr lang="en-US" sz="4400" b="1" dirty="0">
                <a:solidFill>
                  <a:srgbClr val="E9EEF7"/>
                </a:solidFill>
                <a:latin typeface="Arial" pitchFamily="34" charset="0"/>
                <a:ea typeface="Arial" pitchFamily="34" charset="-122"/>
                <a:cs typeface="Arial" pitchFamily="34" charset="-120"/>
              </a:rPr>
              <a:t>What if the attacker</a:t>
            </a:r>
            <a:endParaRPr lang="en-US" sz="4400" dirty="0"/>
          </a:p>
          <a:p>
            <a:pPr marL="0" indent="0">
              <a:lnSpc>
                <a:spcPct val="112000"/>
              </a:lnSpc>
              <a:buNone/>
            </a:pPr>
            <a:r>
              <a:rPr lang="en-US" sz="4400" b="1" dirty="0">
                <a:solidFill>
                  <a:srgbClr val="E9EEF7"/>
                </a:solidFill>
                <a:latin typeface="Arial" pitchFamily="34" charset="0"/>
                <a:ea typeface="Arial" pitchFamily="34" charset="-122"/>
                <a:cs typeface="Arial" pitchFamily="34" charset="-120"/>
              </a:rPr>
              <a:t>knows your application</a:t>
            </a:r>
            <a:endParaRPr lang="en-US" sz="4400" dirty="0"/>
          </a:p>
          <a:p>
            <a:pPr marL="0" indent="0">
              <a:lnSpc>
                <a:spcPct val="112000"/>
              </a:lnSpc>
              <a:buNone/>
            </a:pPr>
            <a:r>
              <a:rPr lang="en-US" sz="4400" b="1" dirty="0">
                <a:solidFill>
                  <a:srgbClr val="E9EEF7"/>
                </a:solidFill>
                <a:latin typeface="Arial" pitchFamily="34" charset="0"/>
                <a:ea typeface="Arial" pitchFamily="34" charset="-122"/>
                <a:cs typeface="Arial" pitchFamily="34" charset="-120"/>
              </a:rPr>
              <a:t>better than you do?</a:t>
            </a:r>
            <a:endParaRPr lang="en-US" sz="4400" dirty="0"/>
          </a:p>
        </p:txBody>
      </p:sp>
      <p:sp>
        <p:nvSpPr>
          <p:cNvPr id="3" name="Shape 1"/>
          <p:cNvSpPr/>
          <p:nvPr/>
        </p:nvSpPr>
        <p:spPr>
          <a:xfrm>
            <a:off x="822960" y="4069080"/>
            <a:ext cx="5029200" cy="1508760"/>
          </a:xfrm>
          <a:prstGeom prst="roundRect">
            <a:avLst>
              <a:gd name="adj" fmla="val 4848"/>
            </a:avLst>
          </a:prstGeom>
          <a:solidFill>
            <a:srgbClr val="141A26"/>
          </a:solidFill>
          <a:ln w="12700">
            <a:solidFill>
              <a:srgbClr val="4CC9F0"/>
            </a:solidFill>
            <a:prstDash val="solid"/>
          </a:ln>
        </p:spPr>
        <p:txBody>
          <a:bodyPr/>
          <a:lstStyle/>
          <a:p>
            <a:endParaRPr lang="en-NP"/>
          </a:p>
        </p:txBody>
      </p:sp>
      <p:sp>
        <p:nvSpPr>
          <p:cNvPr id="4" name="Text 2"/>
          <p:cNvSpPr txBox="1"/>
          <p:nvPr/>
        </p:nvSpPr>
        <p:spPr>
          <a:xfrm>
            <a:off x="1097280" y="4279392"/>
            <a:ext cx="4480560" cy="256032"/>
          </a:xfrm>
          <a:prstGeom prst="rect">
            <a:avLst/>
          </a:prstGeom>
          <a:noFill/>
          <a:ln/>
        </p:spPr>
        <p:txBody>
          <a:bodyPr wrap="square" lIns="0" tIns="0" rIns="0" bIns="0" rtlCol="0" anchor="ctr"/>
          <a:lstStyle/>
          <a:p>
            <a:pPr marL="0" indent="0">
              <a:buNone/>
            </a:pPr>
            <a:r>
              <a:rPr lang="en-US" sz="1100" b="1" kern="0" spc="200" dirty="0">
                <a:solidFill>
                  <a:srgbClr val="4CC9F0"/>
                </a:solidFill>
                <a:latin typeface="Arial" pitchFamily="34" charset="0"/>
                <a:ea typeface="Arial" pitchFamily="34" charset="-122"/>
                <a:cs typeface="Arial" pitchFamily="34" charset="-120"/>
              </a:rPr>
              <a:t>THE DEVELOPER ASKS</a:t>
            </a:r>
            <a:endParaRPr lang="en-US" sz="1100" dirty="0"/>
          </a:p>
        </p:txBody>
      </p:sp>
      <p:sp>
        <p:nvSpPr>
          <p:cNvPr id="5" name="Text 3"/>
          <p:cNvSpPr txBox="1"/>
          <p:nvPr/>
        </p:nvSpPr>
        <p:spPr>
          <a:xfrm>
            <a:off x="1097280" y="4645152"/>
            <a:ext cx="4480560" cy="685800"/>
          </a:xfrm>
          <a:prstGeom prst="rect">
            <a:avLst/>
          </a:prstGeom>
          <a:noFill/>
          <a:ln/>
        </p:spPr>
        <p:txBody>
          <a:bodyPr wrap="square" lIns="0" tIns="0" rIns="0" bIns="0" rtlCol="0" anchor="ctr"/>
          <a:lstStyle/>
          <a:p>
            <a:pPr marL="0" indent="0">
              <a:buNone/>
            </a:pPr>
            <a:r>
              <a:rPr lang="en-US" sz="1900" b="1" dirty="0">
                <a:solidFill>
                  <a:srgbClr val="E9EEF7"/>
                </a:solidFill>
                <a:latin typeface="Arial" pitchFamily="34" charset="0"/>
                <a:ea typeface="Arial" pitchFamily="34" charset="-122"/>
                <a:cs typeface="Arial" pitchFamily="34" charset="-120"/>
              </a:rPr>
              <a:t>"Does the feature work?"</a:t>
            </a:r>
            <a:endParaRPr lang="en-US" sz="1900" dirty="0"/>
          </a:p>
        </p:txBody>
      </p:sp>
      <p:sp>
        <p:nvSpPr>
          <p:cNvPr id="6" name="Shape 4"/>
          <p:cNvSpPr/>
          <p:nvPr/>
        </p:nvSpPr>
        <p:spPr>
          <a:xfrm>
            <a:off x="6336792" y="4069080"/>
            <a:ext cx="5029200" cy="1508760"/>
          </a:xfrm>
          <a:prstGeom prst="roundRect">
            <a:avLst>
              <a:gd name="adj" fmla="val 4848"/>
            </a:avLst>
          </a:prstGeom>
          <a:solidFill>
            <a:srgbClr val="141A26"/>
          </a:solidFill>
          <a:ln w="12700">
            <a:solidFill>
              <a:srgbClr val="FF6B5E"/>
            </a:solidFill>
            <a:prstDash val="solid"/>
          </a:ln>
        </p:spPr>
        <p:txBody>
          <a:bodyPr/>
          <a:lstStyle/>
          <a:p>
            <a:endParaRPr lang="en-NP"/>
          </a:p>
        </p:txBody>
      </p:sp>
      <p:sp>
        <p:nvSpPr>
          <p:cNvPr id="7" name="Text 5"/>
          <p:cNvSpPr txBox="1"/>
          <p:nvPr/>
        </p:nvSpPr>
        <p:spPr>
          <a:xfrm>
            <a:off x="6611112" y="4279392"/>
            <a:ext cx="4480560" cy="256032"/>
          </a:xfrm>
          <a:prstGeom prst="rect">
            <a:avLst/>
          </a:prstGeom>
          <a:noFill/>
          <a:ln/>
        </p:spPr>
        <p:txBody>
          <a:bodyPr wrap="square" lIns="0" tIns="0" rIns="0" bIns="0" rtlCol="0" anchor="ctr"/>
          <a:lstStyle/>
          <a:p>
            <a:pPr marL="0" indent="0">
              <a:buNone/>
            </a:pPr>
            <a:r>
              <a:rPr lang="en-US" sz="1100" b="1" kern="0" spc="200" dirty="0">
                <a:solidFill>
                  <a:srgbClr val="FF6B5E"/>
                </a:solidFill>
                <a:latin typeface="Arial" pitchFamily="34" charset="0"/>
                <a:ea typeface="Arial" pitchFamily="34" charset="-122"/>
                <a:cs typeface="Arial" pitchFamily="34" charset="-120"/>
              </a:rPr>
              <a:t>THE ATTACKER ASKS</a:t>
            </a:r>
            <a:endParaRPr lang="en-US" sz="1100" dirty="0"/>
          </a:p>
        </p:txBody>
      </p:sp>
      <p:sp>
        <p:nvSpPr>
          <p:cNvPr id="8" name="Text 6"/>
          <p:cNvSpPr txBox="1"/>
          <p:nvPr/>
        </p:nvSpPr>
        <p:spPr>
          <a:xfrm>
            <a:off x="6611112" y="4590288"/>
            <a:ext cx="4480560" cy="868680"/>
          </a:xfrm>
          <a:prstGeom prst="rect">
            <a:avLst/>
          </a:prstGeom>
          <a:noFill/>
          <a:ln/>
        </p:spPr>
        <p:txBody>
          <a:bodyPr wrap="square" lIns="0" tIns="0" rIns="0" bIns="0" rtlCol="0" anchor="ctr"/>
          <a:lstStyle/>
          <a:p>
            <a:pPr marL="0" indent="0">
              <a:lnSpc>
                <a:spcPct val="110000"/>
              </a:lnSpc>
              <a:buNone/>
            </a:pPr>
            <a:r>
              <a:rPr lang="en-US" sz="1550" b="1" dirty="0">
                <a:solidFill>
                  <a:srgbClr val="E9EEF7"/>
                </a:solidFill>
                <a:latin typeface="Arial" pitchFamily="34" charset="0"/>
                <a:ea typeface="Arial" pitchFamily="34" charset="-122"/>
                <a:cs typeface="Arial" pitchFamily="34" charset="-120"/>
              </a:rPr>
              <a:t>"How do I make it work</a:t>
            </a:r>
            <a:endParaRPr lang="en-US" sz="1550" dirty="0"/>
          </a:p>
          <a:p>
            <a:pPr marL="0" indent="0">
              <a:lnSpc>
                <a:spcPct val="110000"/>
              </a:lnSpc>
              <a:buNone/>
            </a:pPr>
            <a:r>
              <a:rPr lang="en-US" sz="1550" b="1" dirty="0">
                <a:solidFill>
                  <a:srgbClr val="E9EEF7"/>
                </a:solidFill>
                <a:latin typeface="Arial" pitchFamily="34" charset="0"/>
                <a:ea typeface="Arial" pitchFamily="34" charset="-122"/>
                <a:cs typeface="Arial" pitchFamily="34" charset="-120"/>
              </a:rPr>
              <a:t>somewhere it was never</a:t>
            </a:r>
            <a:endParaRPr lang="en-US" sz="1550" dirty="0"/>
          </a:p>
          <a:p>
            <a:pPr marL="0" indent="0">
              <a:lnSpc>
                <a:spcPct val="110000"/>
              </a:lnSpc>
              <a:buNone/>
            </a:pPr>
            <a:r>
              <a:rPr lang="en-US" sz="1550" b="1" dirty="0">
                <a:solidFill>
                  <a:srgbClr val="E9EEF7"/>
                </a:solidFill>
                <a:latin typeface="Arial" pitchFamily="34" charset="0"/>
                <a:ea typeface="Arial" pitchFamily="34" charset="-122"/>
                <a:cs typeface="Arial" pitchFamily="34" charset="-120"/>
              </a:rPr>
              <a:t>supposed to?"</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TWO PEOPLE, ONE APPLICATION</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400" b="1" dirty="0">
                <a:solidFill>
                  <a:srgbClr val="E9EEF7"/>
                </a:solidFill>
                <a:latin typeface="Arial" pitchFamily="34" charset="0"/>
                <a:ea typeface="Arial" pitchFamily="34" charset="-122"/>
                <a:cs typeface="Arial" pitchFamily="34" charset="-120"/>
              </a:rPr>
              <a:t>Same Code. Opposite Questions.</a:t>
            </a:r>
            <a:endParaRPr lang="en-US" sz="3400" dirty="0"/>
          </a:p>
        </p:txBody>
      </p:sp>
      <p:sp>
        <p:nvSpPr>
          <p:cNvPr id="4" name="Shape 2"/>
          <p:cNvSpPr/>
          <p:nvPr/>
        </p:nvSpPr>
        <p:spPr>
          <a:xfrm>
            <a:off x="548640" y="1691640"/>
            <a:ext cx="5440680" cy="3611880"/>
          </a:xfrm>
          <a:prstGeom prst="roundRect">
            <a:avLst>
              <a:gd name="adj" fmla="val 2025"/>
            </a:avLst>
          </a:prstGeom>
          <a:solidFill>
            <a:srgbClr val="141A26"/>
          </a:solidFill>
          <a:ln w="12700">
            <a:solidFill>
              <a:srgbClr val="4CC9F0"/>
            </a:solidFill>
            <a:prstDash val="solid"/>
          </a:ln>
        </p:spPr>
        <p:txBody>
          <a:bodyPr/>
          <a:lstStyle/>
          <a:p>
            <a:endParaRPr lang="en-NP"/>
          </a:p>
        </p:txBody>
      </p:sp>
      <p:sp>
        <p:nvSpPr>
          <p:cNvPr id="5" name="Text 3"/>
          <p:cNvSpPr txBox="1"/>
          <p:nvPr/>
        </p:nvSpPr>
        <p:spPr>
          <a:xfrm>
            <a:off x="822960" y="1874520"/>
            <a:ext cx="4846320" cy="320040"/>
          </a:xfrm>
          <a:prstGeom prst="rect">
            <a:avLst/>
          </a:prstGeom>
          <a:noFill/>
          <a:ln/>
        </p:spPr>
        <p:txBody>
          <a:bodyPr wrap="square" lIns="0" tIns="0" rIns="0" bIns="0" rtlCol="0" anchor="ctr"/>
          <a:lstStyle/>
          <a:p>
            <a:pPr marL="0" indent="0">
              <a:buNone/>
            </a:pPr>
            <a:r>
              <a:rPr lang="en-US" sz="1800" b="1" kern="0" spc="200" dirty="0">
                <a:solidFill>
                  <a:srgbClr val="4CC9F0"/>
                </a:solidFill>
                <a:latin typeface="Arial" pitchFamily="34" charset="0"/>
                <a:ea typeface="Arial" pitchFamily="34" charset="-122"/>
                <a:cs typeface="Arial" pitchFamily="34" charset="-120"/>
              </a:rPr>
              <a:t>DEVELOPER</a:t>
            </a:r>
            <a:endParaRPr lang="en-US" sz="1800" dirty="0"/>
          </a:p>
        </p:txBody>
      </p:sp>
      <p:sp>
        <p:nvSpPr>
          <p:cNvPr id="6" name="Shape 4"/>
          <p:cNvSpPr/>
          <p:nvPr/>
        </p:nvSpPr>
        <p:spPr>
          <a:xfrm>
            <a:off x="841248" y="2496312"/>
            <a:ext cx="91440" cy="91440"/>
          </a:xfrm>
          <a:prstGeom prst="ellipse">
            <a:avLst/>
          </a:prstGeom>
          <a:solidFill>
            <a:srgbClr val="4CC9F0"/>
          </a:solidFill>
          <a:ln w="12700">
            <a:solidFill>
              <a:srgbClr val="4CC9F0"/>
            </a:solidFill>
            <a:prstDash val="solid"/>
          </a:ln>
        </p:spPr>
        <p:txBody>
          <a:bodyPr/>
          <a:lstStyle/>
          <a:p>
            <a:endParaRPr lang="en-NP"/>
          </a:p>
        </p:txBody>
      </p:sp>
      <p:sp>
        <p:nvSpPr>
          <p:cNvPr id="7" name="Text 5"/>
          <p:cNvSpPr txBox="1"/>
          <p:nvPr/>
        </p:nvSpPr>
        <p:spPr>
          <a:xfrm>
            <a:off x="1097280" y="2395728"/>
            <a:ext cx="4663440" cy="329184"/>
          </a:xfrm>
          <a:prstGeom prst="rect">
            <a:avLst/>
          </a:prstGeom>
          <a:noFill/>
          <a:ln/>
        </p:spPr>
        <p:txBody>
          <a:bodyPr wrap="square" lIns="0" tIns="0" rIns="0" bIns="0" rtlCol="0" anchor="ctr"/>
          <a:lstStyle/>
          <a:p>
            <a:pPr marL="0" indent="0">
              <a:buNone/>
            </a:pPr>
            <a:r>
              <a:rPr lang="en-US" sz="1400" dirty="0">
                <a:solidFill>
                  <a:srgbClr val="E9EEF7"/>
                </a:solidFill>
                <a:latin typeface="Arial" pitchFamily="34" charset="0"/>
                <a:ea typeface="Arial" pitchFamily="34" charset="-122"/>
                <a:cs typeface="Arial" pitchFamily="34" charset="-120"/>
              </a:rPr>
              <a:t>How do I implement this?</a:t>
            </a:r>
            <a:endParaRPr lang="en-US" sz="1400" dirty="0"/>
          </a:p>
        </p:txBody>
      </p:sp>
      <p:sp>
        <p:nvSpPr>
          <p:cNvPr id="8" name="Shape 6"/>
          <p:cNvSpPr/>
          <p:nvPr/>
        </p:nvSpPr>
        <p:spPr>
          <a:xfrm>
            <a:off x="841248" y="3044952"/>
            <a:ext cx="91440" cy="91440"/>
          </a:xfrm>
          <a:prstGeom prst="ellipse">
            <a:avLst/>
          </a:prstGeom>
          <a:solidFill>
            <a:srgbClr val="4CC9F0"/>
          </a:solidFill>
          <a:ln w="12700">
            <a:solidFill>
              <a:srgbClr val="4CC9F0"/>
            </a:solidFill>
            <a:prstDash val="solid"/>
          </a:ln>
        </p:spPr>
        <p:txBody>
          <a:bodyPr/>
          <a:lstStyle/>
          <a:p>
            <a:endParaRPr lang="en-NP"/>
          </a:p>
        </p:txBody>
      </p:sp>
      <p:sp>
        <p:nvSpPr>
          <p:cNvPr id="9" name="Text 7"/>
          <p:cNvSpPr txBox="1"/>
          <p:nvPr/>
        </p:nvSpPr>
        <p:spPr>
          <a:xfrm>
            <a:off x="1097280" y="2944368"/>
            <a:ext cx="4663440" cy="329184"/>
          </a:xfrm>
          <a:prstGeom prst="rect">
            <a:avLst/>
          </a:prstGeom>
          <a:noFill/>
          <a:ln/>
        </p:spPr>
        <p:txBody>
          <a:bodyPr wrap="square" lIns="0" tIns="0" rIns="0" bIns="0" rtlCol="0" anchor="ctr"/>
          <a:lstStyle/>
          <a:p>
            <a:pPr marL="0" indent="0">
              <a:buNone/>
            </a:pPr>
            <a:r>
              <a:rPr lang="en-US" sz="1400" dirty="0">
                <a:solidFill>
                  <a:srgbClr val="E9EEF7"/>
                </a:solidFill>
                <a:latin typeface="Arial" pitchFamily="34" charset="0"/>
                <a:ea typeface="Arial" pitchFamily="34" charset="-122"/>
                <a:cs typeface="Arial" pitchFamily="34" charset="-120"/>
              </a:rPr>
              <a:t>Does it work?</a:t>
            </a:r>
            <a:endParaRPr lang="en-US" sz="1400" dirty="0"/>
          </a:p>
        </p:txBody>
      </p:sp>
      <p:sp>
        <p:nvSpPr>
          <p:cNvPr id="10" name="Shape 8"/>
          <p:cNvSpPr/>
          <p:nvPr/>
        </p:nvSpPr>
        <p:spPr>
          <a:xfrm>
            <a:off x="841248" y="3593592"/>
            <a:ext cx="91440" cy="91440"/>
          </a:xfrm>
          <a:prstGeom prst="ellipse">
            <a:avLst/>
          </a:prstGeom>
          <a:solidFill>
            <a:srgbClr val="4CC9F0"/>
          </a:solidFill>
          <a:ln w="12700">
            <a:solidFill>
              <a:srgbClr val="4CC9F0"/>
            </a:solidFill>
            <a:prstDash val="solid"/>
          </a:ln>
        </p:spPr>
        <p:txBody>
          <a:bodyPr/>
          <a:lstStyle/>
          <a:p>
            <a:endParaRPr lang="en-NP"/>
          </a:p>
        </p:txBody>
      </p:sp>
      <p:sp>
        <p:nvSpPr>
          <p:cNvPr id="11" name="Text 9"/>
          <p:cNvSpPr txBox="1"/>
          <p:nvPr/>
        </p:nvSpPr>
        <p:spPr>
          <a:xfrm>
            <a:off x="1097280" y="3493008"/>
            <a:ext cx="4663440" cy="329184"/>
          </a:xfrm>
          <a:prstGeom prst="rect">
            <a:avLst/>
          </a:prstGeom>
          <a:noFill/>
          <a:ln/>
        </p:spPr>
        <p:txBody>
          <a:bodyPr wrap="square" lIns="0" tIns="0" rIns="0" bIns="0" rtlCol="0" anchor="ctr"/>
          <a:lstStyle/>
          <a:p>
            <a:pPr marL="0" indent="0">
              <a:buNone/>
            </a:pPr>
            <a:r>
              <a:rPr lang="en-US" sz="1400" dirty="0">
                <a:solidFill>
                  <a:srgbClr val="E9EEF7"/>
                </a:solidFill>
                <a:latin typeface="Arial" pitchFamily="34" charset="0"/>
                <a:ea typeface="Arial" pitchFamily="34" charset="-122"/>
                <a:cs typeface="Arial" pitchFamily="34" charset="-120"/>
              </a:rPr>
              <a:t>Is it fast enough?</a:t>
            </a:r>
            <a:endParaRPr lang="en-US" sz="1400" dirty="0"/>
          </a:p>
        </p:txBody>
      </p:sp>
      <p:sp>
        <p:nvSpPr>
          <p:cNvPr id="12" name="Shape 10"/>
          <p:cNvSpPr/>
          <p:nvPr/>
        </p:nvSpPr>
        <p:spPr>
          <a:xfrm>
            <a:off x="841248" y="4142232"/>
            <a:ext cx="91440" cy="91440"/>
          </a:xfrm>
          <a:prstGeom prst="ellipse">
            <a:avLst/>
          </a:prstGeom>
          <a:solidFill>
            <a:srgbClr val="4CC9F0"/>
          </a:solidFill>
          <a:ln w="12700">
            <a:solidFill>
              <a:srgbClr val="4CC9F0"/>
            </a:solidFill>
            <a:prstDash val="solid"/>
          </a:ln>
        </p:spPr>
        <p:txBody>
          <a:bodyPr/>
          <a:lstStyle/>
          <a:p>
            <a:endParaRPr lang="en-NP"/>
          </a:p>
        </p:txBody>
      </p:sp>
      <p:sp>
        <p:nvSpPr>
          <p:cNvPr id="13" name="Text 11"/>
          <p:cNvSpPr txBox="1"/>
          <p:nvPr/>
        </p:nvSpPr>
        <p:spPr>
          <a:xfrm>
            <a:off x="1097280" y="4041648"/>
            <a:ext cx="4663440" cy="329184"/>
          </a:xfrm>
          <a:prstGeom prst="rect">
            <a:avLst/>
          </a:prstGeom>
          <a:noFill/>
          <a:ln/>
        </p:spPr>
        <p:txBody>
          <a:bodyPr wrap="square" lIns="0" tIns="0" rIns="0" bIns="0" rtlCol="0" anchor="ctr"/>
          <a:lstStyle/>
          <a:p>
            <a:pPr marL="0" indent="0">
              <a:buNone/>
            </a:pPr>
            <a:r>
              <a:rPr lang="en-US" sz="1400" dirty="0">
                <a:solidFill>
                  <a:srgbClr val="E9EEF7"/>
                </a:solidFill>
                <a:latin typeface="Arial" pitchFamily="34" charset="0"/>
                <a:ea typeface="Arial" pitchFamily="34" charset="-122"/>
                <a:cs typeface="Arial" pitchFamily="34" charset="-120"/>
              </a:rPr>
              <a:t>Can users access it?</a:t>
            </a:r>
            <a:endParaRPr lang="en-US" sz="1400" dirty="0"/>
          </a:p>
        </p:txBody>
      </p:sp>
      <p:sp>
        <p:nvSpPr>
          <p:cNvPr id="14" name="Shape 12"/>
          <p:cNvSpPr/>
          <p:nvPr/>
        </p:nvSpPr>
        <p:spPr>
          <a:xfrm>
            <a:off x="841248" y="4690872"/>
            <a:ext cx="91440" cy="91440"/>
          </a:xfrm>
          <a:prstGeom prst="ellipse">
            <a:avLst/>
          </a:prstGeom>
          <a:solidFill>
            <a:srgbClr val="4CC9F0"/>
          </a:solidFill>
          <a:ln w="12700">
            <a:solidFill>
              <a:srgbClr val="4CC9F0"/>
            </a:solidFill>
            <a:prstDash val="solid"/>
          </a:ln>
        </p:spPr>
        <p:txBody>
          <a:bodyPr/>
          <a:lstStyle/>
          <a:p>
            <a:endParaRPr lang="en-NP"/>
          </a:p>
        </p:txBody>
      </p:sp>
      <p:sp>
        <p:nvSpPr>
          <p:cNvPr id="15" name="Text 13"/>
          <p:cNvSpPr txBox="1"/>
          <p:nvPr/>
        </p:nvSpPr>
        <p:spPr>
          <a:xfrm>
            <a:off x="1097280" y="4590288"/>
            <a:ext cx="4663440" cy="329184"/>
          </a:xfrm>
          <a:prstGeom prst="rect">
            <a:avLst/>
          </a:prstGeom>
          <a:noFill/>
          <a:ln/>
        </p:spPr>
        <p:txBody>
          <a:bodyPr wrap="square" lIns="0" tIns="0" rIns="0" bIns="0" rtlCol="0" anchor="ctr"/>
          <a:lstStyle/>
          <a:p>
            <a:pPr marL="0" indent="0">
              <a:buNone/>
            </a:pPr>
            <a:r>
              <a:rPr lang="en-US" sz="1400" dirty="0">
                <a:solidFill>
                  <a:srgbClr val="E9EEF7"/>
                </a:solidFill>
                <a:latin typeface="Arial" pitchFamily="34" charset="0"/>
                <a:ea typeface="Arial" pitchFamily="34" charset="-122"/>
                <a:cs typeface="Arial" pitchFamily="34" charset="-120"/>
              </a:rPr>
              <a:t>Can we ship it today?</a:t>
            </a:r>
            <a:endParaRPr lang="en-US" sz="1400" dirty="0"/>
          </a:p>
        </p:txBody>
      </p:sp>
      <p:sp>
        <p:nvSpPr>
          <p:cNvPr id="16" name="Shape 14"/>
          <p:cNvSpPr/>
          <p:nvPr/>
        </p:nvSpPr>
        <p:spPr>
          <a:xfrm>
            <a:off x="6199632" y="1691640"/>
            <a:ext cx="5440680" cy="3611880"/>
          </a:xfrm>
          <a:prstGeom prst="roundRect">
            <a:avLst>
              <a:gd name="adj" fmla="val 2025"/>
            </a:avLst>
          </a:prstGeom>
          <a:solidFill>
            <a:srgbClr val="141A26"/>
          </a:solidFill>
          <a:ln w="12700">
            <a:solidFill>
              <a:srgbClr val="FF6B5E"/>
            </a:solidFill>
            <a:prstDash val="solid"/>
          </a:ln>
        </p:spPr>
        <p:txBody>
          <a:bodyPr/>
          <a:lstStyle/>
          <a:p>
            <a:endParaRPr lang="en-NP"/>
          </a:p>
        </p:txBody>
      </p:sp>
      <p:sp>
        <p:nvSpPr>
          <p:cNvPr id="17" name="Text 15"/>
          <p:cNvSpPr txBox="1"/>
          <p:nvPr/>
        </p:nvSpPr>
        <p:spPr>
          <a:xfrm>
            <a:off x="6473952" y="1874520"/>
            <a:ext cx="4846320" cy="320040"/>
          </a:xfrm>
          <a:prstGeom prst="rect">
            <a:avLst/>
          </a:prstGeom>
          <a:noFill/>
          <a:ln/>
        </p:spPr>
        <p:txBody>
          <a:bodyPr wrap="square" lIns="0" tIns="0" rIns="0" bIns="0" rtlCol="0" anchor="ctr"/>
          <a:lstStyle/>
          <a:p>
            <a:pPr marL="0" indent="0">
              <a:buNone/>
            </a:pPr>
            <a:r>
              <a:rPr lang="en-US" sz="1800" b="1" kern="0" spc="200" dirty="0">
                <a:solidFill>
                  <a:srgbClr val="FF6B5E"/>
                </a:solidFill>
                <a:latin typeface="Arial" pitchFamily="34" charset="0"/>
                <a:ea typeface="Arial" pitchFamily="34" charset="-122"/>
                <a:cs typeface="Arial" pitchFamily="34" charset="-120"/>
              </a:rPr>
              <a:t>ATTACKER</a:t>
            </a:r>
            <a:endParaRPr lang="en-US" sz="1800" dirty="0"/>
          </a:p>
        </p:txBody>
      </p:sp>
      <p:sp>
        <p:nvSpPr>
          <p:cNvPr id="18" name="Shape 16"/>
          <p:cNvSpPr/>
          <p:nvPr/>
        </p:nvSpPr>
        <p:spPr>
          <a:xfrm>
            <a:off x="6492240" y="2478024"/>
            <a:ext cx="91440" cy="91440"/>
          </a:xfrm>
          <a:prstGeom prst="ellipse">
            <a:avLst/>
          </a:prstGeom>
          <a:solidFill>
            <a:srgbClr val="FF6B5E"/>
          </a:solidFill>
          <a:ln w="12700">
            <a:solidFill>
              <a:srgbClr val="FF6B5E"/>
            </a:solidFill>
            <a:prstDash val="solid"/>
          </a:ln>
        </p:spPr>
        <p:txBody>
          <a:bodyPr/>
          <a:lstStyle/>
          <a:p>
            <a:endParaRPr lang="en-NP"/>
          </a:p>
        </p:txBody>
      </p:sp>
      <p:sp>
        <p:nvSpPr>
          <p:cNvPr id="19" name="Text 17"/>
          <p:cNvSpPr txBox="1"/>
          <p:nvPr/>
        </p:nvSpPr>
        <p:spPr>
          <a:xfrm>
            <a:off x="6748272" y="2395728"/>
            <a:ext cx="4663440" cy="292608"/>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What if I shouldn't have access?</a:t>
            </a:r>
            <a:endParaRPr lang="en-US" sz="1350" dirty="0"/>
          </a:p>
        </p:txBody>
      </p:sp>
      <p:sp>
        <p:nvSpPr>
          <p:cNvPr id="20" name="Shape 18"/>
          <p:cNvSpPr/>
          <p:nvPr/>
        </p:nvSpPr>
        <p:spPr>
          <a:xfrm>
            <a:off x="6492240" y="2935224"/>
            <a:ext cx="91440" cy="91440"/>
          </a:xfrm>
          <a:prstGeom prst="ellipse">
            <a:avLst/>
          </a:prstGeom>
          <a:solidFill>
            <a:srgbClr val="FF6B5E"/>
          </a:solidFill>
          <a:ln w="12700">
            <a:solidFill>
              <a:srgbClr val="FF6B5E"/>
            </a:solidFill>
            <a:prstDash val="solid"/>
          </a:ln>
        </p:spPr>
        <p:txBody>
          <a:bodyPr/>
          <a:lstStyle/>
          <a:p>
            <a:endParaRPr lang="en-NP"/>
          </a:p>
        </p:txBody>
      </p:sp>
      <p:sp>
        <p:nvSpPr>
          <p:cNvPr id="21" name="Text 19"/>
          <p:cNvSpPr txBox="1"/>
          <p:nvPr/>
        </p:nvSpPr>
        <p:spPr>
          <a:xfrm>
            <a:off x="6748272" y="2852928"/>
            <a:ext cx="4663440" cy="292608"/>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What if I change this ID?</a:t>
            </a:r>
            <a:endParaRPr lang="en-US" sz="1350" dirty="0"/>
          </a:p>
        </p:txBody>
      </p:sp>
      <p:sp>
        <p:nvSpPr>
          <p:cNvPr id="22" name="Shape 20"/>
          <p:cNvSpPr/>
          <p:nvPr/>
        </p:nvSpPr>
        <p:spPr>
          <a:xfrm>
            <a:off x="6492240" y="3392424"/>
            <a:ext cx="91440" cy="91440"/>
          </a:xfrm>
          <a:prstGeom prst="ellipse">
            <a:avLst/>
          </a:prstGeom>
          <a:solidFill>
            <a:srgbClr val="FF6B5E"/>
          </a:solidFill>
          <a:ln w="12700">
            <a:solidFill>
              <a:srgbClr val="FF6B5E"/>
            </a:solidFill>
            <a:prstDash val="solid"/>
          </a:ln>
        </p:spPr>
        <p:txBody>
          <a:bodyPr/>
          <a:lstStyle/>
          <a:p>
            <a:endParaRPr lang="en-NP"/>
          </a:p>
        </p:txBody>
      </p:sp>
      <p:sp>
        <p:nvSpPr>
          <p:cNvPr id="23" name="Text 21"/>
          <p:cNvSpPr txBox="1"/>
          <p:nvPr/>
        </p:nvSpPr>
        <p:spPr>
          <a:xfrm>
            <a:off x="6748272" y="3310128"/>
            <a:ext cx="4663440" cy="292608"/>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What if I remove this parameter?</a:t>
            </a:r>
            <a:endParaRPr lang="en-US" sz="1350" dirty="0"/>
          </a:p>
        </p:txBody>
      </p:sp>
      <p:sp>
        <p:nvSpPr>
          <p:cNvPr id="24" name="Shape 22"/>
          <p:cNvSpPr/>
          <p:nvPr/>
        </p:nvSpPr>
        <p:spPr>
          <a:xfrm>
            <a:off x="6492240" y="3849624"/>
            <a:ext cx="91440" cy="91440"/>
          </a:xfrm>
          <a:prstGeom prst="ellipse">
            <a:avLst/>
          </a:prstGeom>
          <a:solidFill>
            <a:srgbClr val="FF6B5E"/>
          </a:solidFill>
          <a:ln w="12700">
            <a:solidFill>
              <a:srgbClr val="FF6B5E"/>
            </a:solidFill>
            <a:prstDash val="solid"/>
          </a:ln>
        </p:spPr>
        <p:txBody>
          <a:bodyPr/>
          <a:lstStyle/>
          <a:p>
            <a:endParaRPr lang="en-NP"/>
          </a:p>
        </p:txBody>
      </p:sp>
      <p:sp>
        <p:nvSpPr>
          <p:cNvPr id="25" name="Text 23"/>
          <p:cNvSpPr txBox="1"/>
          <p:nvPr/>
        </p:nvSpPr>
        <p:spPr>
          <a:xfrm>
            <a:off x="6748272" y="3767328"/>
            <a:ext cx="4663440" cy="292608"/>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What if I call the API directly?</a:t>
            </a:r>
            <a:endParaRPr lang="en-US" sz="1350" dirty="0"/>
          </a:p>
        </p:txBody>
      </p:sp>
      <p:sp>
        <p:nvSpPr>
          <p:cNvPr id="26" name="Shape 24"/>
          <p:cNvSpPr/>
          <p:nvPr/>
        </p:nvSpPr>
        <p:spPr>
          <a:xfrm>
            <a:off x="6492240" y="4306824"/>
            <a:ext cx="91440" cy="91440"/>
          </a:xfrm>
          <a:prstGeom prst="ellipse">
            <a:avLst/>
          </a:prstGeom>
          <a:solidFill>
            <a:srgbClr val="FF6B5E"/>
          </a:solidFill>
          <a:ln w="12700">
            <a:solidFill>
              <a:srgbClr val="FF6B5E"/>
            </a:solidFill>
            <a:prstDash val="solid"/>
          </a:ln>
        </p:spPr>
        <p:txBody>
          <a:bodyPr/>
          <a:lstStyle/>
          <a:p>
            <a:endParaRPr lang="en-NP"/>
          </a:p>
        </p:txBody>
      </p:sp>
      <p:sp>
        <p:nvSpPr>
          <p:cNvPr id="27" name="Text 25"/>
          <p:cNvSpPr txBox="1"/>
          <p:nvPr/>
        </p:nvSpPr>
        <p:spPr>
          <a:xfrm>
            <a:off x="6748272" y="4224528"/>
            <a:ext cx="4663440" cy="292608"/>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What if I automate this 10,000 times?</a:t>
            </a:r>
            <a:endParaRPr lang="en-US" sz="1350" dirty="0"/>
          </a:p>
        </p:txBody>
      </p:sp>
      <p:sp>
        <p:nvSpPr>
          <p:cNvPr id="28" name="Shape 26"/>
          <p:cNvSpPr/>
          <p:nvPr/>
        </p:nvSpPr>
        <p:spPr>
          <a:xfrm>
            <a:off x="6492240" y="4764024"/>
            <a:ext cx="91440" cy="91440"/>
          </a:xfrm>
          <a:prstGeom prst="ellipse">
            <a:avLst/>
          </a:prstGeom>
          <a:solidFill>
            <a:srgbClr val="FF6B5E"/>
          </a:solidFill>
          <a:ln w="12700">
            <a:solidFill>
              <a:srgbClr val="FF6B5E"/>
            </a:solidFill>
            <a:prstDash val="solid"/>
          </a:ln>
        </p:spPr>
        <p:txBody>
          <a:bodyPr/>
          <a:lstStyle/>
          <a:p>
            <a:endParaRPr lang="en-NP"/>
          </a:p>
        </p:txBody>
      </p:sp>
      <p:sp>
        <p:nvSpPr>
          <p:cNvPr id="29" name="Text 27"/>
          <p:cNvSpPr txBox="1"/>
          <p:nvPr/>
        </p:nvSpPr>
        <p:spPr>
          <a:xfrm>
            <a:off x="6748272" y="4681728"/>
            <a:ext cx="4663440" cy="292608"/>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What if I chain two small weaknesses?</a:t>
            </a:r>
            <a:endParaRPr lang="en-US" sz="1350" dirty="0"/>
          </a:p>
        </p:txBody>
      </p:sp>
      <p:sp>
        <p:nvSpPr>
          <p:cNvPr id="30" name="Shape 28"/>
          <p:cNvSpPr/>
          <p:nvPr/>
        </p:nvSpPr>
        <p:spPr>
          <a:xfrm>
            <a:off x="548640" y="5532120"/>
            <a:ext cx="11091672" cy="658368"/>
          </a:xfrm>
          <a:prstGeom prst="roundRect">
            <a:avLst>
              <a:gd name="adj" fmla="val 11111"/>
            </a:avLst>
          </a:prstGeom>
          <a:solidFill>
            <a:srgbClr val="2A2050"/>
          </a:solidFill>
          <a:ln w="12700">
            <a:solidFill>
              <a:srgbClr val="9A6BFF"/>
            </a:solidFill>
            <a:prstDash val="solid"/>
          </a:ln>
        </p:spPr>
        <p:txBody>
          <a:bodyPr/>
          <a:lstStyle/>
          <a:p>
            <a:endParaRPr lang="en-NP"/>
          </a:p>
        </p:txBody>
      </p:sp>
      <p:sp>
        <p:nvSpPr>
          <p:cNvPr id="31" name="Text 29"/>
          <p:cNvSpPr txBox="1"/>
          <p:nvPr/>
        </p:nvSpPr>
        <p:spPr>
          <a:xfrm>
            <a:off x="822960" y="5532120"/>
            <a:ext cx="10543032" cy="658368"/>
          </a:xfrm>
          <a:prstGeom prst="rect">
            <a:avLst/>
          </a:prstGeom>
          <a:noFill/>
          <a:ln/>
        </p:spPr>
        <p:txBody>
          <a:bodyPr wrap="square" lIns="0" tIns="0" rIns="0" bIns="0" rtlCol="0" anchor="ctr"/>
          <a:lstStyle/>
          <a:p>
            <a:pPr marL="0" indent="0" algn="ctr">
              <a:buNone/>
            </a:pPr>
            <a:r>
              <a:rPr lang="en-US" sz="1600" b="1" i="1" dirty="0">
                <a:solidFill>
                  <a:srgbClr val="D9C8FF"/>
                </a:solidFill>
                <a:latin typeface="Arial" pitchFamily="34" charset="0"/>
                <a:ea typeface="Arial" pitchFamily="34" charset="-122"/>
                <a:cs typeface="Arial" pitchFamily="34" charset="-120"/>
              </a:rPr>
              <a:t>"Attackers don't see features. They see attack surface."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A11"/>
        </a:solidFill>
        <a:effectLst/>
      </p:bgPr>
    </p:bg>
    <p:spTree>
      <p:nvGrpSpPr>
        <p:cNvPr id="1" name=""/>
        <p:cNvGrpSpPr/>
        <p:nvPr/>
      </p:nvGrpSpPr>
      <p:grpSpPr>
        <a:xfrm>
          <a:off x="0" y="0"/>
          <a:ext cx="0" cy="0"/>
          <a:chOff x="0" y="0"/>
          <a:chExt cx="0" cy="0"/>
        </a:xfrm>
      </p:grpSpPr>
      <p:sp>
        <p:nvSpPr>
          <p:cNvPr id="2" name="Text 0"/>
          <p:cNvSpPr txBox="1"/>
          <p:nvPr/>
        </p:nvSpPr>
        <p:spPr>
          <a:xfrm>
            <a:off x="822960" y="2148840"/>
            <a:ext cx="10515600" cy="320040"/>
          </a:xfrm>
          <a:prstGeom prst="rect">
            <a:avLst/>
          </a:prstGeom>
          <a:noFill/>
          <a:ln/>
        </p:spPr>
        <p:txBody>
          <a:bodyPr wrap="square" lIns="0" tIns="0" rIns="0" bIns="0" rtlCol="0" anchor="ctr"/>
          <a:lstStyle/>
          <a:p>
            <a:pPr marL="0" indent="0">
              <a:buNone/>
            </a:pPr>
            <a:r>
              <a:rPr lang="en-US" sz="1300" b="1" kern="0" spc="300" dirty="0">
                <a:solidFill>
                  <a:srgbClr val="9A6BFF"/>
                </a:solidFill>
                <a:latin typeface="Arial" pitchFamily="34" charset="0"/>
                <a:cs typeface="Arial" pitchFamily="34" charset="-120"/>
              </a:rPr>
              <a:t>$</a:t>
            </a:r>
            <a:r>
              <a:rPr lang="en-US" sz="1300" b="1" kern="0" spc="300" dirty="0" err="1">
                <a:solidFill>
                  <a:srgbClr val="9A6BFF"/>
                </a:solidFill>
                <a:latin typeface="Arial" pitchFamily="34" charset="0"/>
                <a:cs typeface="Arial" pitchFamily="34" charset="-120"/>
              </a:rPr>
              <a:t>pwd</a:t>
            </a:r>
            <a:endParaRPr lang="en-US" sz="1300" dirty="0"/>
          </a:p>
        </p:txBody>
      </p:sp>
      <p:sp>
        <p:nvSpPr>
          <p:cNvPr id="3" name="Text 1"/>
          <p:cNvSpPr txBox="1"/>
          <p:nvPr/>
        </p:nvSpPr>
        <p:spPr>
          <a:xfrm>
            <a:off x="822960" y="2606040"/>
            <a:ext cx="10515600" cy="1463040"/>
          </a:xfrm>
          <a:prstGeom prst="rect">
            <a:avLst/>
          </a:prstGeom>
          <a:noFill/>
          <a:ln/>
        </p:spPr>
        <p:txBody>
          <a:bodyPr wrap="square" lIns="0" tIns="0" rIns="0" bIns="0" rtlCol="0" anchor="ctr"/>
          <a:lstStyle/>
          <a:p>
            <a:pPr marL="0" indent="0">
              <a:lnSpc>
                <a:spcPct val="105000"/>
              </a:lnSpc>
              <a:buNone/>
            </a:pPr>
            <a:r>
              <a:rPr lang="en-US" sz="4600" b="1" dirty="0">
                <a:solidFill>
                  <a:srgbClr val="E9EEF7"/>
                </a:solidFill>
                <a:latin typeface="Arial" pitchFamily="34" charset="0"/>
                <a:ea typeface="Arial" pitchFamily="34" charset="-122"/>
                <a:cs typeface="Arial" pitchFamily="34" charset="-120"/>
              </a:rPr>
              <a:t>Where .NET Applications</a:t>
            </a:r>
            <a:endParaRPr lang="en-US" sz="4600" dirty="0"/>
          </a:p>
          <a:p>
            <a:pPr marL="0" indent="0">
              <a:lnSpc>
                <a:spcPct val="105000"/>
              </a:lnSpc>
              <a:buNone/>
            </a:pPr>
            <a:r>
              <a:rPr lang="en-US" sz="4600" b="1" dirty="0">
                <a:solidFill>
                  <a:srgbClr val="E9EEF7"/>
                </a:solidFill>
                <a:latin typeface="Arial" pitchFamily="34" charset="0"/>
                <a:ea typeface="Arial" pitchFamily="34" charset="-122"/>
                <a:cs typeface="Arial" pitchFamily="34" charset="-120"/>
              </a:rPr>
              <a:t>Break</a:t>
            </a:r>
            <a:endParaRPr lang="en-US" sz="4600" dirty="0"/>
          </a:p>
        </p:txBody>
      </p:sp>
      <p:sp>
        <p:nvSpPr>
          <p:cNvPr id="4" name="Text 2"/>
          <p:cNvSpPr txBox="1"/>
          <p:nvPr/>
        </p:nvSpPr>
        <p:spPr>
          <a:xfrm>
            <a:off x="822960" y="4206240"/>
            <a:ext cx="9601200" cy="457200"/>
          </a:xfrm>
          <a:prstGeom prst="rect">
            <a:avLst/>
          </a:prstGeom>
          <a:noFill/>
          <a:ln/>
        </p:spPr>
        <p:txBody>
          <a:bodyPr wrap="square" lIns="0" tIns="0" rIns="0" bIns="0" rtlCol="0" anchor="ctr"/>
          <a:lstStyle/>
          <a:p>
            <a:pPr marL="0" indent="0">
              <a:buNone/>
            </a:pPr>
            <a:r>
              <a:rPr lang="en-US" sz="1600" i="1" dirty="0">
                <a:solidFill>
                  <a:srgbClr val="8C97AC"/>
                </a:solidFill>
                <a:latin typeface="Arial" pitchFamily="34" charset="0"/>
                <a:ea typeface="Arial" pitchFamily="34" charset="-122"/>
                <a:cs typeface="Arial" pitchFamily="34" charset="-120"/>
              </a:rPr>
              <a:t>Not exotic bugs. The ordinary ones we ship every sprint.</a:t>
            </a:r>
            <a:endParaRPr lang="en-US" sz="1600" dirty="0"/>
          </a:p>
        </p:txBody>
      </p:sp>
      <p:sp>
        <p:nvSpPr>
          <p:cNvPr id="5" name="Shape 3"/>
          <p:cNvSpPr/>
          <p:nvPr/>
        </p:nvSpPr>
        <p:spPr>
          <a:xfrm>
            <a:off x="822960" y="4892040"/>
            <a:ext cx="1463040" cy="41148"/>
          </a:xfrm>
          <a:prstGeom prst="rect">
            <a:avLst/>
          </a:prstGeom>
          <a:solidFill>
            <a:srgbClr val="9A6BFF"/>
          </a:solidFill>
          <a:ln w="12700">
            <a:solidFill>
              <a:srgbClr val="0B0F17"/>
            </a:solidFill>
            <a:prstDash val="solid"/>
          </a:ln>
        </p:spPr>
        <p:txBody>
          <a:bodyPr/>
          <a:lstStyle/>
          <a:p>
            <a:endParaRPr lang="en-NP"/>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THE MAP</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200" b="1" dirty="0">
                <a:solidFill>
                  <a:srgbClr val="E9EEF7"/>
                </a:solidFill>
                <a:latin typeface="Arial" pitchFamily="34" charset="0"/>
                <a:ea typeface="Arial" pitchFamily="34" charset="-122"/>
                <a:cs typeface="Arial" pitchFamily="34" charset="-120"/>
              </a:rPr>
              <a:t>Every Layer Is a Trust Decision</a:t>
            </a:r>
            <a:endParaRPr lang="en-US" sz="3200" dirty="0"/>
          </a:p>
        </p:txBody>
      </p:sp>
      <p:sp>
        <p:nvSpPr>
          <p:cNvPr id="4" name="Shape 2"/>
          <p:cNvSpPr/>
          <p:nvPr/>
        </p:nvSpPr>
        <p:spPr>
          <a:xfrm>
            <a:off x="4453128" y="1572768"/>
            <a:ext cx="3291840" cy="329184"/>
          </a:xfrm>
          <a:prstGeom prst="roundRect">
            <a:avLst>
              <a:gd name="adj" fmla="val 22222"/>
            </a:avLst>
          </a:prstGeom>
          <a:solidFill>
            <a:srgbClr val="141A26"/>
          </a:solidFill>
          <a:ln w="12700">
            <a:solidFill>
              <a:srgbClr val="2A3446"/>
            </a:solidFill>
            <a:prstDash val="solid"/>
          </a:ln>
        </p:spPr>
        <p:txBody>
          <a:bodyPr/>
          <a:lstStyle/>
          <a:p>
            <a:endParaRPr lang="en-NP"/>
          </a:p>
        </p:txBody>
      </p:sp>
      <p:sp>
        <p:nvSpPr>
          <p:cNvPr id="5" name="Text 3"/>
          <p:cNvSpPr txBox="1"/>
          <p:nvPr/>
        </p:nvSpPr>
        <p:spPr>
          <a:xfrm>
            <a:off x="4453128" y="1572768"/>
            <a:ext cx="3291840" cy="329184"/>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Browser / Client</a:t>
            </a:r>
            <a:endParaRPr lang="en-US" sz="1100" dirty="0"/>
          </a:p>
        </p:txBody>
      </p:sp>
      <p:sp>
        <p:nvSpPr>
          <p:cNvPr id="6" name="Shape 4"/>
          <p:cNvSpPr/>
          <p:nvPr/>
        </p:nvSpPr>
        <p:spPr>
          <a:xfrm>
            <a:off x="4453128" y="1956816"/>
            <a:ext cx="3291840" cy="329184"/>
          </a:xfrm>
          <a:prstGeom prst="roundRect">
            <a:avLst>
              <a:gd name="adj" fmla="val 22222"/>
            </a:avLst>
          </a:prstGeom>
          <a:solidFill>
            <a:srgbClr val="141A26"/>
          </a:solidFill>
          <a:ln w="12700">
            <a:solidFill>
              <a:srgbClr val="2A3446"/>
            </a:solidFill>
            <a:prstDash val="solid"/>
          </a:ln>
        </p:spPr>
        <p:txBody>
          <a:bodyPr/>
          <a:lstStyle/>
          <a:p>
            <a:endParaRPr lang="en-NP"/>
          </a:p>
        </p:txBody>
      </p:sp>
      <p:sp>
        <p:nvSpPr>
          <p:cNvPr id="7" name="Text 5"/>
          <p:cNvSpPr txBox="1"/>
          <p:nvPr/>
        </p:nvSpPr>
        <p:spPr>
          <a:xfrm>
            <a:off x="4453128" y="1956816"/>
            <a:ext cx="3291840" cy="329184"/>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CDN / WAF</a:t>
            </a:r>
            <a:endParaRPr lang="en-US" sz="1100" dirty="0"/>
          </a:p>
        </p:txBody>
      </p:sp>
      <p:sp>
        <p:nvSpPr>
          <p:cNvPr id="8" name="Shape 6"/>
          <p:cNvSpPr/>
          <p:nvPr/>
        </p:nvSpPr>
        <p:spPr>
          <a:xfrm>
            <a:off x="4453128" y="2340864"/>
            <a:ext cx="3291840" cy="329184"/>
          </a:xfrm>
          <a:prstGeom prst="roundRect">
            <a:avLst>
              <a:gd name="adj" fmla="val 22222"/>
            </a:avLst>
          </a:prstGeom>
          <a:solidFill>
            <a:srgbClr val="141A26"/>
          </a:solidFill>
          <a:ln w="12700">
            <a:solidFill>
              <a:srgbClr val="2A3446"/>
            </a:solidFill>
            <a:prstDash val="solid"/>
          </a:ln>
        </p:spPr>
        <p:txBody>
          <a:bodyPr/>
          <a:lstStyle/>
          <a:p>
            <a:endParaRPr lang="en-NP"/>
          </a:p>
        </p:txBody>
      </p:sp>
      <p:sp>
        <p:nvSpPr>
          <p:cNvPr id="9" name="Text 7"/>
          <p:cNvSpPr txBox="1"/>
          <p:nvPr/>
        </p:nvSpPr>
        <p:spPr>
          <a:xfrm>
            <a:off x="4453128" y="2340864"/>
            <a:ext cx="3291840" cy="329184"/>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ASP.NET Core Host</a:t>
            </a:r>
            <a:endParaRPr lang="en-US" sz="1100" dirty="0"/>
          </a:p>
        </p:txBody>
      </p:sp>
      <p:sp>
        <p:nvSpPr>
          <p:cNvPr id="10" name="Shape 8"/>
          <p:cNvSpPr/>
          <p:nvPr/>
        </p:nvSpPr>
        <p:spPr>
          <a:xfrm>
            <a:off x="4453128" y="2724912"/>
            <a:ext cx="3291840" cy="329184"/>
          </a:xfrm>
          <a:prstGeom prst="roundRect">
            <a:avLst>
              <a:gd name="adj" fmla="val 22222"/>
            </a:avLst>
          </a:prstGeom>
          <a:solidFill>
            <a:srgbClr val="141A26"/>
          </a:solidFill>
          <a:ln w="12700">
            <a:solidFill>
              <a:srgbClr val="2A3446"/>
            </a:solidFill>
            <a:prstDash val="solid"/>
          </a:ln>
        </p:spPr>
        <p:txBody>
          <a:bodyPr/>
          <a:lstStyle/>
          <a:p>
            <a:endParaRPr lang="en-NP"/>
          </a:p>
        </p:txBody>
      </p:sp>
      <p:sp>
        <p:nvSpPr>
          <p:cNvPr id="11" name="Text 9"/>
          <p:cNvSpPr txBox="1"/>
          <p:nvPr/>
        </p:nvSpPr>
        <p:spPr>
          <a:xfrm>
            <a:off x="4453128" y="2724912"/>
            <a:ext cx="3291840" cy="329184"/>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Middleware Pipeline</a:t>
            </a:r>
            <a:endParaRPr lang="en-US" sz="1100" dirty="0"/>
          </a:p>
        </p:txBody>
      </p:sp>
      <p:sp>
        <p:nvSpPr>
          <p:cNvPr id="12" name="Shape 10"/>
          <p:cNvSpPr/>
          <p:nvPr/>
        </p:nvSpPr>
        <p:spPr>
          <a:xfrm>
            <a:off x="4453128" y="3108960"/>
            <a:ext cx="3291840" cy="329184"/>
          </a:xfrm>
          <a:prstGeom prst="roundRect">
            <a:avLst>
              <a:gd name="adj" fmla="val 22222"/>
            </a:avLst>
          </a:prstGeom>
          <a:solidFill>
            <a:srgbClr val="1A2130"/>
          </a:solidFill>
          <a:ln w="12700">
            <a:solidFill>
              <a:srgbClr val="9A6BFF"/>
            </a:solidFill>
            <a:prstDash val="solid"/>
          </a:ln>
        </p:spPr>
        <p:txBody>
          <a:bodyPr/>
          <a:lstStyle/>
          <a:p>
            <a:endParaRPr lang="en-NP"/>
          </a:p>
        </p:txBody>
      </p:sp>
      <p:sp>
        <p:nvSpPr>
          <p:cNvPr id="13" name="Text 11"/>
          <p:cNvSpPr txBox="1"/>
          <p:nvPr/>
        </p:nvSpPr>
        <p:spPr>
          <a:xfrm>
            <a:off x="4453128" y="3108960"/>
            <a:ext cx="3291840" cy="329184"/>
          </a:xfrm>
          <a:prstGeom prst="rect">
            <a:avLst/>
          </a:prstGeom>
          <a:noFill/>
          <a:ln/>
        </p:spPr>
        <p:txBody>
          <a:bodyPr wrap="square" lIns="0" tIns="0" rIns="0" bIns="0" rtlCol="0" anchor="ctr"/>
          <a:lstStyle/>
          <a:p>
            <a:pPr marL="0" indent="0" algn="ctr">
              <a:buNone/>
            </a:pPr>
            <a:r>
              <a:rPr lang="en-US" sz="1100" b="1" dirty="0">
                <a:solidFill>
                  <a:srgbClr val="D9C8FF"/>
                </a:solidFill>
                <a:latin typeface="Arial" pitchFamily="34" charset="0"/>
                <a:ea typeface="Arial" pitchFamily="34" charset="-122"/>
                <a:cs typeface="Arial" pitchFamily="34" charset="-120"/>
              </a:rPr>
              <a:t>Authentication</a:t>
            </a:r>
            <a:endParaRPr lang="en-US" sz="1100" dirty="0"/>
          </a:p>
        </p:txBody>
      </p:sp>
      <p:sp>
        <p:nvSpPr>
          <p:cNvPr id="14" name="Shape 12"/>
          <p:cNvSpPr/>
          <p:nvPr/>
        </p:nvSpPr>
        <p:spPr>
          <a:xfrm>
            <a:off x="4453128" y="3493008"/>
            <a:ext cx="3291840" cy="329184"/>
          </a:xfrm>
          <a:prstGeom prst="roundRect">
            <a:avLst>
              <a:gd name="adj" fmla="val 22222"/>
            </a:avLst>
          </a:prstGeom>
          <a:solidFill>
            <a:srgbClr val="1A2130"/>
          </a:solidFill>
          <a:ln w="12700">
            <a:solidFill>
              <a:srgbClr val="9A6BFF"/>
            </a:solidFill>
            <a:prstDash val="solid"/>
          </a:ln>
        </p:spPr>
        <p:txBody>
          <a:bodyPr/>
          <a:lstStyle/>
          <a:p>
            <a:endParaRPr lang="en-NP"/>
          </a:p>
        </p:txBody>
      </p:sp>
      <p:sp>
        <p:nvSpPr>
          <p:cNvPr id="15" name="Text 13"/>
          <p:cNvSpPr txBox="1"/>
          <p:nvPr/>
        </p:nvSpPr>
        <p:spPr>
          <a:xfrm>
            <a:off x="4453128" y="3493008"/>
            <a:ext cx="3291840" cy="329184"/>
          </a:xfrm>
          <a:prstGeom prst="rect">
            <a:avLst/>
          </a:prstGeom>
          <a:noFill/>
          <a:ln/>
        </p:spPr>
        <p:txBody>
          <a:bodyPr wrap="square" lIns="0" tIns="0" rIns="0" bIns="0" rtlCol="0" anchor="ctr"/>
          <a:lstStyle/>
          <a:p>
            <a:pPr marL="0" indent="0" algn="ctr">
              <a:buNone/>
            </a:pPr>
            <a:r>
              <a:rPr lang="en-US" sz="1100" b="1" dirty="0">
                <a:solidFill>
                  <a:srgbClr val="D9C8FF"/>
                </a:solidFill>
                <a:latin typeface="Arial" pitchFamily="34" charset="0"/>
                <a:ea typeface="Arial" pitchFamily="34" charset="-122"/>
                <a:cs typeface="Arial" pitchFamily="34" charset="-120"/>
              </a:rPr>
              <a:t>Authorization</a:t>
            </a:r>
            <a:endParaRPr lang="en-US" sz="1100" dirty="0"/>
          </a:p>
        </p:txBody>
      </p:sp>
      <p:sp>
        <p:nvSpPr>
          <p:cNvPr id="16" name="Shape 14"/>
          <p:cNvSpPr/>
          <p:nvPr/>
        </p:nvSpPr>
        <p:spPr>
          <a:xfrm>
            <a:off x="4453128" y="3877056"/>
            <a:ext cx="3291840" cy="329184"/>
          </a:xfrm>
          <a:prstGeom prst="roundRect">
            <a:avLst>
              <a:gd name="adj" fmla="val 22222"/>
            </a:avLst>
          </a:prstGeom>
          <a:solidFill>
            <a:srgbClr val="1A2130"/>
          </a:solidFill>
          <a:ln w="12700">
            <a:solidFill>
              <a:srgbClr val="9A6BFF"/>
            </a:solidFill>
            <a:prstDash val="solid"/>
          </a:ln>
        </p:spPr>
        <p:txBody>
          <a:bodyPr/>
          <a:lstStyle/>
          <a:p>
            <a:endParaRPr lang="en-NP"/>
          </a:p>
        </p:txBody>
      </p:sp>
      <p:sp>
        <p:nvSpPr>
          <p:cNvPr id="17" name="Text 15"/>
          <p:cNvSpPr txBox="1"/>
          <p:nvPr/>
        </p:nvSpPr>
        <p:spPr>
          <a:xfrm>
            <a:off x="4453128" y="3877056"/>
            <a:ext cx="3291840" cy="329184"/>
          </a:xfrm>
          <a:prstGeom prst="rect">
            <a:avLst/>
          </a:prstGeom>
          <a:noFill/>
          <a:ln/>
        </p:spPr>
        <p:txBody>
          <a:bodyPr wrap="square" lIns="0" tIns="0" rIns="0" bIns="0" rtlCol="0" anchor="ctr"/>
          <a:lstStyle/>
          <a:p>
            <a:pPr marL="0" indent="0" algn="ctr">
              <a:buNone/>
            </a:pPr>
            <a:r>
              <a:rPr lang="en-US" sz="1100" b="1" dirty="0">
                <a:solidFill>
                  <a:srgbClr val="D9C8FF"/>
                </a:solidFill>
                <a:latin typeface="Arial" pitchFamily="34" charset="0"/>
                <a:ea typeface="Arial" pitchFamily="34" charset="-122"/>
                <a:cs typeface="Arial" pitchFamily="34" charset="-120"/>
              </a:rPr>
              <a:t>Controllers / Minimal APIs</a:t>
            </a:r>
            <a:endParaRPr lang="en-US" sz="1100" dirty="0"/>
          </a:p>
        </p:txBody>
      </p:sp>
      <p:sp>
        <p:nvSpPr>
          <p:cNvPr id="18" name="Shape 16"/>
          <p:cNvSpPr/>
          <p:nvPr/>
        </p:nvSpPr>
        <p:spPr>
          <a:xfrm>
            <a:off x="4453128" y="4261104"/>
            <a:ext cx="3291840" cy="329184"/>
          </a:xfrm>
          <a:prstGeom prst="roundRect">
            <a:avLst>
              <a:gd name="adj" fmla="val 22222"/>
            </a:avLst>
          </a:prstGeom>
          <a:solidFill>
            <a:srgbClr val="141A26"/>
          </a:solidFill>
          <a:ln w="12700">
            <a:solidFill>
              <a:srgbClr val="2A3446"/>
            </a:solidFill>
            <a:prstDash val="solid"/>
          </a:ln>
        </p:spPr>
        <p:txBody>
          <a:bodyPr/>
          <a:lstStyle/>
          <a:p>
            <a:endParaRPr lang="en-NP"/>
          </a:p>
        </p:txBody>
      </p:sp>
      <p:sp>
        <p:nvSpPr>
          <p:cNvPr id="19" name="Text 17"/>
          <p:cNvSpPr txBox="1"/>
          <p:nvPr/>
        </p:nvSpPr>
        <p:spPr>
          <a:xfrm>
            <a:off x="4453128" y="4261104"/>
            <a:ext cx="3291840" cy="329184"/>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Business Logic</a:t>
            </a:r>
            <a:endParaRPr lang="en-US" sz="1100" dirty="0"/>
          </a:p>
        </p:txBody>
      </p:sp>
      <p:sp>
        <p:nvSpPr>
          <p:cNvPr id="20" name="Shape 18"/>
          <p:cNvSpPr/>
          <p:nvPr/>
        </p:nvSpPr>
        <p:spPr>
          <a:xfrm>
            <a:off x="4453128" y="4645152"/>
            <a:ext cx="3291840" cy="329184"/>
          </a:xfrm>
          <a:prstGeom prst="roundRect">
            <a:avLst>
              <a:gd name="adj" fmla="val 22222"/>
            </a:avLst>
          </a:prstGeom>
          <a:solidFill>
            <a:srgbClr val="141A26"/>
          </a:solidFill>
          <a:ln w="12700">
            <a:solidFill>
              <a:srgbClr val="2A3446"/>
            </a:solidFill>
            <a:prstDash val="solid"/>
          </a:ln>
        </p:spPr>
        <p:txBody>
          <a:bodyPr/>
          <a:lstStyle/>
          <a:p>
            <a:endParaRPr lang="en-NP"/>
          </a:p>
        </p:txBody>
      </p:sp>
      <p:sp>
        <p:nvSpPr>
          <p:cNvPr id="21" name="Text 19"/>
          <p:cNvSpPr txBox="1"/>
          <p:nvPr/>
        </p:nvSpPr>
        <p:spPr>
          <a:xfrm>
            <a:off x="4453128" y="4645152"/>
            <a:ext cx="3291840" cy="329184"/>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EF Core</a:t>
            </a:r>
            <a:endParaRPr lang="en-US" sz="1100" dirty="0"/>
          </a:p>
        </p:txBody>
      </p:sp>
      <p:sp>
        <p:nvSpPr>
          <p:cNvPr id="22" name="Shape 20"/>
          <p:cNvSpPr/>
          <p:nvPr/>
        </p:nvSpPr>
        <p:spPr>
          <a:xfrm>
            <a:off x="4453128" y="5029200"/>
            <a:ext cx="3291840" cy="329184"/>
          </a:xfrm>
          <a:prstGeom prst="roundRect">
            <a:avLst>
              <a:gd name="adj" fmla="val 22222"/>
            </a:avLst>
          </a:prstGeom>
          <a:solidFill>
            <a:srgbClr val="141A26"/>
          </a:solidFill>
          <a:ln w="12700">
            <a:solidFill>
              <a:srgbClr val="2A3446"/>
            </a:solidFill>
            <a:prstDash val="solid"/>
          </a:ln>
        </p:spPr>
        <p:txBody>
          <a:bodyPr/>
          <a:lstStyle/>
          <a:p>
            <a:endParaRPr lang="en-NP"/>
          </a:p>
        </p:txBody>
      </p:sp>
      <p:sp>
        <p:nvSpPr>
          <p:cNvPr id="23" name="Text 21"/>
          <p:cNvSpPr txBox="1"/>
          <p:nvPr/>
        </p:nvSpPr>
        <p:spPr>
          <a:xfrm>
            <a:off x="4453128" y="5029200"/>
            <a:ext cx="3291840" cy="329184"/>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Database</a:t>
            </a:r>
            <a:endParaRPr lang="en-US" sz="1100" dirty="0"/>
          </a:p>
        </p:txBody>
      </p:sp>
      <p:sp>
        <p:nvSpPr>
          <p:cNvPr id="24" name="Shape 22"/>
          <p:cNvSpPr/>
          <p:nvPr/>
        </p:nvSpPr>
        <p:spPr>
          <a:xfrm>
            <a:off x="4453128" y="5413248"/>
            <a:ext cx="3291840" cy="329184"/>
          </a:xfrm>
          <a:prstGeom prst="roundRect">
            <a:avLst>
              <a:gd name="adj" fmla="val 22222"/>
            </a:avLst>
          </a:prstGeom>
          <a:solidFill>
            <a:srgbClr val="141A26"/>
          </a:solidFill>
          <a:ln w="12700">
            <a:solidFill>
              <a:srgbClr val="2A3446"/>
            </a:solidFill>
            <a:prstDash val="solid"/>
          </a:ln>
        </p:spPr>
        <p:txBody>
          <a:bodyPr/>
          <a:lstStyle/>
          <a:p>
            <a:endParaRPr lang="en-NP"/>
          </a:p>
        </p:txBody>
      </p:sp>
      <p:sp>
        <p:nvSpPr>
          <p:cNvPr id="25" name="Text 23"/>
          <p:cNvSpPr txBox="1"/>
          <p:nvPr/>
        </p:nvSpPr>
        <p:spPr>
          <a:xfrm>
            <a:off x="4453128" y="5413248"/>
            <a:ext cx="3291840" cy="329184"/>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External APIs / Cloud / Storage</a:t>
            </a:r>
            <a:endParaRPr lang="en-US" sz="1100" dirty="0"/>
          </a:p>
        </p:txBody>
      </p:sp>
      <p:sp>
        <p:nvSpPr>
          <p:cNvPr id="26" name="Shape 24"/>
          <p:cNvSpPr/>
          <p:nvPr/>
        </p:nvSpPr>
        <p:spPr>
          <a:xfrm>
            <a:off x="548640" y="1874520"/>
            <a:ext cx="3291840" cy="457200"/>
          </a:xfrm>
          <a:prstGeom prst="roundRect">
            <a:avLst>
              <a:gd name="adj" fmla="val 16000"/>
            </a:avLst>
          </a:prstGeom>
          <a:solidFill>
            <a:srgbClr val="141A26"/>
          </a:solidFill>
          <a:ln w="12700">
            <a:solidFill>
              <a:srgbClr val="2A3446"/>
            </a:solidFill>
            <a:prstDash val="solid"/>
          </a:ln>
        </p:spPr>
        <p:txBody>
          <a:bodyPr/>
          <a:lstStyle/>
          <a:p>
            <a:endParaRPr lang="en-NP"/>
          </a:p>
        </p:txBody>
      </p:sp>
      <p:sp>
        <p:nvSpPr>
          <p:cNvPr id="27" name="Shape 25"/>
          <p:cNvSpPr/>
          <p:nvPr/>
        </p:nvSpPr>
        <p:spPr>
          <a:xfrm>
            <a:off x="731520" y="2043684"/>
            <a:ext cx="118872" cy="118872"/>
          </a:xfrm>
          <a:prstGeom prst="ellipse">
            <a:avLst/>
          </a:prstGeom>
          <a:solidFill>
            <a:srgbClr val="FFA33A"/>
          </a:solidFill>
          <a:ln w="12700">
            <a:solidFill>
              <a:srgbClr val="FFA33A"/>
            </a:solidFill>
            <a:prstDash val="solid"/>
          </a:ln>
        </p:spPr>
        <p:txBody>
          <a:bodyPr/>
          <a:lstStyle/>
          <a:p>
            <a:endParaRPr lang="en-NP"/>
          </a:p>
        </p:txBody>
      </p:sp>
      <p:sp>
        <p:nvSpPr>
          <p:cNvPr id="28" name="Text 26"/>
          <p:cNvSpPr txBox="1"/>
          <p:nvPr/>
        </p:nvSpPr>
        <p:spPr>
          <a:xfrm>
            <a:off x="960120" y="1874520"/>
            <a:ext cx="2743200" cy="457200"/>
          </a:xfrm>
          <a:prstGeom prst="rect">
            <a:avLst/>
          </a:prstGeom>
          <a:noFill/>
          <a:ln/>
        </p:spPr>
        <p:txBody>
          <a:bodyPr wrap="square" lIns="0" tIns="0" rIns="0" bIns="0" rtlCol="0" anchor="ctr"/>
          <a:lstStyle/>
          <a:p>
            <a:pPr marL="0" indent="0">
              <a:buNone/>
            </a:pPr>
            <a:r>
              <a:rPr lang="en-US" sz="1200" dirty="0">
                <a:solidFill>
                  <a:srgbClr val="E9EEF7"/>
                </a:solidFill>
                <a:latin typeface="Arial" pitchFamily="34" charset="0"/>
                <a:ea typeface="Arial" pitchFamily="34" charset="-122"/>
                <a:cs typeface="Arial" pitchFamily="34" charset="-120"/>
              </a:rPr>
              <a:t>Authentication</a:t>
            </a:r>
            <a:endParaRPr lang="en-US" sz="1200" dirty="0"/>
          </a:p>
        </p:txBody>
      </p:sp>
      <p:sp>
        <p:nvSpPr>
          <p:cNvPr id="29" name="Shape 27"/>
          <p:cNvSpPr/>
          <p:nvPr/>
        </p:nvSpPr>
        <p:spPr>
          <a:xfrm>
            <a:off x="3950208" y="2029968"/>
            <a:ext cx="365760" cy="146304"/>
          </a:xfrm>
          <a:prstGeom prst="rightArrow">
            <a:avLst/>
          </a:prstGeom>
          <a:solidFill>
            <a:srgbClr val="5C687D"/>
          </a:solidFill>
          <a:ln w="12700">
            <a:solidFill>
              <a:srgbClr val="0B0F17"/>
            </a:solidFill>
            <a:prstDash val="solid"/>
          </a:ln>
        </p:spPr>
        <p:txBody>
          <a:bodyPr/>
          <a:lstStyle/>
          <a:p>
            <a:endParaRPr lang="en-NP"/>
          </a:p>
        </p:txBody>
      </p:sp>
      <p:sp>
        <p:nvSpPr>
          <p:cNvPr id="30" name="Shape 28"/>
          <p:cNvSpPr/>
          <p:nvPr/>
        </p:nvSpPr>
        <p:spPr>
          <a:xfrm>
            <a:off x="548640" y="2532888"/>
            <a:ext cx="3291840" cy="457200"/>
          </a:xfrm>
          <a:prstGeom prst="roundRect">
            <a:avLst>
              <a:gd name="adj" fmla="val 16000"/>
            </a:avLst>
          </a:prstGeom>
          <a:solidFill>
            <a:srgbClr val="141A26"/>
          </a:solidFill>
          <a:ln w="12700">
            <a:solidFill>
              <a:srgbClr val="2A3446"/>
            </a:solidFill>
            <a:prstDash val="solid"/>
          </a:ln>
        </p:spPr>
        <p:txBody>
          <a:bodyPr/>
          <a:lstStyle/>
          <a:p>
            <a:endParaRPr lang="en-NP"/>
          </a:p>
        </p:txBody>
      </p:sp>
      <p:sp>
        <p:nvSpPr>
          <p:cNvPr id="31" name="Shape 29"/>
          <p:cNvSpPr/>
          <p:nvPr/>
        </p:nvSpPr>
        <p:spPr>
          <a:xfrm>
            <a:off x="731520" y="2702052"/>
            <a:ext cx="118872" cy="118872"/>
          </a:xfrm>
          <a:prstGeom prst="ellipse">
            <a:avLst/>
          </a:prstGeom>
          <a:solidFill>
            <a:srgbClr val="FF6B5E"/>
          </a:solidFill>
          <a:ln w="12700">
            <a:solidFill>
              <a:srgbClr val="FF6B5E"/>
            </a:solidFill>
            <a:prstDash val="solid"/>
          </a:ln>
        </p:spPr>
        <p:txBody>
          <a:bodyPr/>
          <a:lstStyle/>
          <a:p>
            <a:endParaRPr lang="en-NP"/>
          </a:p>
        </p:txBody>
      </p:sp>
      <p:sp>
        <p:nvSpPr>
          <p:cNvPr id="32" name="Text 30"/>
          <p:cNvSpPr txBox="1"/>
          <p:nvPr/>
        </p:nvSpPr>
        <p:spPr>
          <a:xfrm>
            <a:off x="960120" y="2532888"/>
            <a:ext cx="2743200" cy="457200"/>
          </a:xfrm>
          <a:prstGeom prst="rect">
            <a:avLst/>
          </a:prstGeom>
          <a:noFill/>
          <a:ln/>
        </p:spPr>
        <p:txBody>
          <a:bodyPr wrap="square" lIns="0" tIns="0" rIns="0" bIns="0" rtlCol="0" anchor="ctr"/>
          <a:lstStyle/>
          <a:p>
            <a:pPr marL="0" indent="0">
              <a:buNone/>
            </a:pPr>
            <a:r>
              <a:rPr lang="en-US" sz="1200" dirty="0">
                <a:solidFill>
                  <a:srgbClr val="E9EEF7"/>
                </a:solidFill>
                <a:latin typeface="Arial" pitchFamily="34" charset="0"/>
                <a:ea typeface="Arial" pitchFamily="34" charset="-122"/>
                <a:cs typeface="Arial" pitchFamily="34" charset="-120"/>
              </a:rPr>
              <a:t>Authorization</a:t>
            </a:r>
            <a:endParaRPr lang="en-US" sz="1200" dirty="0"/>
          </a:p>
        </p:txBody>
      </p:sp>
      <p:sp>
        <p:nvSpPr>
          <p:cNvPr id="33" name="Shape 31"/>
          <p:cNvSpPr/>
          <p:nvPr/>
        </p:nvSpPr>
        <p:spPr>
          <a:xfrm>
            <a:off x="3950208" y="2688336"/>
            <a:ext cx="365760" cy="146304"/>
          </a:xfrm>
          <a:prstGeom prst="rightArrow">
            <a:avLst/>
          </a:prstGeom>
          <a:solidFill>
            <a:srgbClr val="5C687D"/>
          </a:solidFill>
          <a:ln w="12700">
            <a:solidFill>
              <a:srgbClr val="0B0F17"/>
            </a:solidFill>
            <a:prstDash val="solid"/>
          </a:ln>
        </p:spPr>
        <p:txBody>
          <a:bodyPr/>
          <a:lstStyle/>
          <a:p>
            <a:endParaRPr lang="en-NP"/>
          </a:p>
        </p:txBody>
      </p:sp>
      <p:sp>
        <p:nvSpPr>
          <p:cNvPr id="34" name="Shape 32"/>
          <p:cNvSpPr/>
          <p:nvPr/>
        </p:nvSpPr>
        <p:spPr>
          <a:xfrm>
            <a:off x="548640" y="3191256"/>
            <a:ext cx="3291840" cy="457200"/>
          </a:xfrm>
          <a:prstGeom prst="roundRect">
            <a:avLst>
              <a:gd name="adj" fmla="val 16000"/>
            </a:avLst>
          </a:prstGeom>
          <a:solidFill>
            <a:srgbClr val="141A26"/>
          </a:solidFill>
          <a:ln w="12700">
            <a:solidFill>
              <a:srgbClr val="2A3446"/>
            </a:solidFill>
            <a:prstDash val="solid"/>
          </a:ln>
        </p:spPr>
        <p:txBody>
          <a:bodyPr/>
          <a:lstStyle/>
          <a:p>
            <a:endParaRPr lang="en-NP"/>
          </a:p>
        </p:txBody>
      </p:sp>
      <p:sp>
        <p:nvSpPr>
          <p:cNvPr id="35" name="Shape 33"/>
          <p:cNvSpPr/>
          <p:nvPr/>
        </p:nvSpPr>
        <p:spPr>
          <a:xfrm>
            <a:off x="731520" y="3360420"/>
            <a:ext cx="118872" cy="118872"/>
          </a:xfrm>
          <a:prstGeom prst="ellipse">
            <a:avLst/>
          </a:prstGeom>
          <a:solidFill>
            <a:srgbClr val="FFA33A"/>
          </a:solidFill>
          <a:ln w="12700">
            <a:solidFill>
              <a:srgbClr val="FFA33A"/>
            </a:solidFill>
            <a:prstDash val="solid"/>
          </a:ln>
        </p:spPr>
        <p:txBody>
          <a:bodyPr/>
          <a:lstStyle/>
          <a:p>
            <a:endParaRPr lang="en-NP"/>
          </a:p>
        </p:txBody>
      </p:sp>
      <p:sp>
        <p:nvSpPr>
          <p:cNvPr id="36" name="Text 34"/>
          <p:cNvSpPr txBox="1"/>
          <p:nvPr/>
        </p:nvSpPr>
        <p:spPr>
          <a:xfrm>
            <a:off x="960120" y="3191256"/>
            <a:ext cx="2743200" cy="457200"/>
          </a:xfrm>
          <a:prstGeom prst="rect">
            <a:avLst/>
          </a:prstGeom>
          <a:noFill/>
          <a:ln/>
        </p:spPr>
        <p:txBody>
          <a:bodyPr wrap="square" lIns="0" tIns="0" rIns="0" bIns="0" rtlCol="0" anchor="ctr"/>
          <a:lstStyle/>
          <a:p>
            <a:pPr marL="0" indent="0">
              <a:buNone/>
            </a:pPr>
            <a:r>
              <a:rPr lang="en-US" sz="1200" dirty="0">
                <a:solidFill>
                  <a:srgbClr val="E9EEF7"/>
                </a:solidFill>
                <a:latin typeface="Arial" pitchFamily="34" charset="0"/>
                <a:ea typeface="Arial" pitchFamily="34" charset="-122"/>
                <a:cs typeface="Arial" pitchFamily="34" charset="-120"/>
              </a:rPr>
              <a:t>Input validation</a:t>
            </a:r>
            <a:endParaRPr lang="en-US" sz="1200" dirty="0"/>
          </a:p>
        </p:txBody>
      </p:sp>
      <p:sp>
        <p:nvSpPr>
          <p:cNvPr id="37" name="Shape 35"/>
          <p:cNvSpPr/>
          <p:nvPr/>
        </p:nvSpPr>
        <p:spPr>
          <a:xfrm>
            <a:off x="3950208" y="3346704"/>
            <a:ext cx="365760" cy="146304"/>
          </a:xfrm>
          <a:prstGeom prst="rightArrow">
            <a:avLst/>
          </a:prstGeom>
          <a:solidFill>
            <a:srgbClr val="5C687D"/>
          </a:solidFill>
          <a:ln w="12700">
            <a:solidFill>
              <a:srgbClr val="0B0F17"/>
            </a:solidFill>
            <a:prstDash val="solid"/>
          </a:ln>
        </p:spPr>
        <p:txBody>
          <a:bodyPr/>
          <a:lstStyle/>
          <a:p>
            <a:endParaRPr lang="en-NP"/>
          </a:p>
        </p:txBody>
      </p:sp>
      <p:sp>
        <p:nvSpPr>
          <p:cNvPr id="38" name="Shape 36"/>
          <p:cNvSpPr/>
          <p:nvPr/>
        </p:nvSpPr>
        <p:spPr>
          <a:xfrm>
            <a:off x="548640" y="3849624"/>
            <a:ext cx="3291840" cy="457200"/>
          </a:xfrm>
          <a:prstGeom prst="roundRect">
            <a:avLst>
              <a:gd name="adj" fmla="val 16000"/>
            </a:avLst>
          </a:prstGeom>
          <a:solidFill>
            <a:srgbClr val="141A26"/>
          </a:solidFill>
          <a:ln w="12700">
            <a:solidFill>
              <a:srgbClr val="2A3446"/>
            </a:solidFill>
            <a:prstDash val="solid"/>
          </a:ln>
        </p:spPr>
        <p:txBody>
          <a:bodyPr/>
          <a:lstStyle/>
          <a:p>
            <a:endParaRPr lang="en-NP"/>
          </a:p>
        </p:txBody>
      </p:sp>
      <p:sp>
        <p:nvSpPr>
          <p:cNvPr id="39" name="Shape 37"/>
          <p:cNvSpPr/>
          <p:nvPr/>
        </p:nvSpPr>
        <p:spPr>
          <a:xfrm>
            <a:off x="731520" y="4018788"/>
            <a:ext cx="118872" cy="118872"/>
          </a:xfrm>
          <a:prstGeom prst="ellipse">
            <a:avLst/>
          </a:prstGeom>
          <a:solidFill>
            <a:srgbClr val="FFA33A"/>
          </a:solidFill>
          <a:ln w="12700">
            <a:solidFill>
              <a:srgbClr val="FFA33A"/>
            </a:solidFill>
            <a:prstDash val="solid"/>
          </a:ln>
        </p:spPr>
        <p:txBody>
          <a:bodyPr/>
          <a:lstStyle/>
          <a:p>
            <a:endParaRPr lang="en-NP"/>
          </a:p>
        </p:txBody>
      </p:sp>
      <p:sp>
        <p:nvSpPr>
          <p:cNvPr id="40" name="Text 38"/>
          <p:cNvSpPr txBox="1"/>
          <p:nvPr/>
        </p:nvSpPr>
        <p:spPr>
          <a:xfrm>
            <a:off x="960120" y="3849624"/>
            <a:ext cx="2743200" cy="457200"/>
          </a:xfrm>
          <a:prstGeom prst="rect">
            <a:avLst/>
          </a:prstGeom>
          <a:noFill/>
          <a:ln/>
        </p:spPr>
        <p:txBody>
          <a:bodyPr wrap="square" lIns="0" tIns="0" rIns="0" bIns="0" rtlCol="0" anchor="ctr"/>
          <a:lstStyle/>
          <a:p>
            <a:pPr marL="0" indent="0">
              <a:buNone/>
            </a:pPr>
            <a:r>
              <a:rPr lang="en-US" sz="1200" dirty="0">
                <a:solidFill>
                  <a:srgbClr val="E9EEF7"/>
                </a:solidFill>
                <a:latin typeface="Arial" pitchFamily="34" charset="0"/>
                <a:ea typeface="Arial" pitchFamily="34" charset="-122"/>
                <a:cs typeface="Arial" pitchFamily="34" charset="-120"/>
              </a:rPr>
              <a:t>File uploads</a:t>
            </a:r>
            <a:endParaRPr lang="en-US" sz="1200" dirty="0"/>
          </a:p>
        </p:txBody>
      </p:sp>
      <p:sp>
        <p:nvSpPr>
          <p:cNvPr id="41" name="Shape 39"/>
          <p:cNvSpPr/>
          <p:nvPr/>
        </p:nvSpPr>
        <p:spPr>
          <a:xfrm>
            <a:off x="3950208" y="4005072"/>
            <a:ext cx="365760" cy="146304"/>
          </a:xfrm>
          <a:prstGeom prst="rightArrow">
            <a:avLst/>
          </a:prstGeom>
          <a:solidFill>
            <a:srgbClr val="5C687D"/>
          </a:solidFill>
          <a:ln w="12700">
            <a:solidFill>
              <a:srgbClr val="0B0F17"/>
            </a:solidFill>
            <a:prstDash val="solid"/>
          </a:ln>
        </p:spPr>
        <p:txBody>
          <a:bodyPr/>
          <a:lstStyle/>
          <a:p>
            <a:endParaRPr lang="en-NP"/>
          </a:p>
        </p:txBody>
      </p:sp>
      <p:sp>
        <p:nvSpPr>
          <p:cNvPr id="42" name="Shape 40"/>
          <p:cNvSpPr/>
          <p:nvPr/>
        </p:nvSpPr>
        <p:spPr>
          <a:xfrm>
            <a:off x="548640" y="4507992"/>
            <a:ext cx="3291840" cy="457200"/>
          </a:xfrm>
          <a:prstGeom prst="roundRect">
            <a:avLst>
              <a:gd name="adj" fmla="val 16000"/>
            </a:avLst>
          </a:prstGeom>
          <a:solidFill>
            <a:srgbClr val="141A26"/>
          </a:solidFill>
          <a:ln w="12700">
            <a:solidFill>
              <a:srgbClr val="2A3446"/>
            </a:solidFill>
            <a:prstDash val="solid"/>
          </a:ln>
        </p:spPr>
        <p:txBody>
          <a:bodyPr/>
          <a:lstStyle/>
          <a:p>
            <a:endParaRPr lang="en-NP"/>
          </a:p>
        </p:txBody>
      </p:sp>
      <p:sp>
        <p:nvSpPr>
          <p:cNvPr id="43" name="Shape 41"/>
          <p:cNvSpPr/>
          <p:nvPr/>
        </p:nvSpPr>
        <p:spPr>
          <a:xfrm>
            <a:off x="731520" y="4677156"/>
            <a:ext cx="118872" cy="118872"/>
          </a:xfrm>
          <a:prstGeom prst="ellipse">
            <a:avLst/>
          </a:prstGeom>
          <a:solidFill>
            <a:srgbClr val="FFC15E"/>
          </a:solidFill>
          <a:ln w="12700">
            <a:solidFill>
              <a:srgbClr val="FFC15E"/>
            </a:solidFill>
            <a:prstDash val="solid"/>
          </a:ln>
        </p:spPr>
        <p:txBody>
          <a:bodyPr/>
          <a:lstStyle/>
          <a:p>
            <a:endParaRPr lang="en-NP"/>
          </a:p>
        </p:txBody>
      </p:sp>
      <p:sp>
        <p:nvSpPr>
          <p:cNvPr id="44" name="Text 42"/>
          <p:cNvSpPr txBox="1"/>
          <p:nvPr/>
        </p:nvSpPr>
        <p:spPr>
          <a:xfrm>
            <a:off x="960120" y="4507992"/>
            <a:ext cx="2743200" cy="457200"/>
          </a:xfrm>
          <a:prstGeom prst="rect">
            <a:avLst/>
          </a:prstGeom>
          <a:noFill/>
          <a:ln/>
        </p:spPr>
        <p:txBody>
          <a:bodyPr wrap="square" lIns="0" tIns="0" rIns="0" bIns="0" rtlCol="0" anchor="ctr"/>
          <a:lstStyle/>
          <a:p>
            <a:pPr marL="0" indent="0">
              <a:buNone/>
            </a:pPr>
            <a:r>
              <a:rPr lang="en-US" sz="1200" dirty="0">
                <a:solidFill>
                  <a:srgbClr val="E9EEF7"/>
                </a:solidFill>
                <a:latin typeface="Arial" pitchFamily="34" charset="0"/>
                <a:ea typeface="Arial" pitchFamily="34" charset="-122"/>
                <a:cs typeface="Arial" pitchFamily="34" charset="-120"/>
              </a:rPr>
              <a:t>Serialization</a:t>
            </a:r>
            <a:endParaRPr lang="en-US" sz="1200" dirty="0"/>
          </a:p>
        </p:txBody>
      </p:sp>
      <p:sp>
        <p:nvSpPr>
          <p:cNvPr id="45" name="Shape 43"/>
          <p:cNvSpPr/>
          <p:nvPr/>
        </p:nvSpPr>
        <p:spPr>
          <a:xfrm>
            <a:off x="3950208" y="4663440"/>
            <a:ext cx="365760" cy="146304"/>
          </a:xfrm>
          <a:prstGeom prst="rightArrow">
            <a:avLst/>
          </a:prstGeom>
          <a:solidFill>
            <a:srgbClr val="5C687D"/>
          </a:solidFill>
          <a:ln w="12700">
            <a:solidFill>
              <a:srgbClr val="0B0F17"/>
            </a:solidFill>
            <a:prstDash val="solid"/>
          </a:ln>
        </p:spPr>
        <p:txBody>
          <a:bodyPr/>
          <a:lstStyle/>
          <a:p>
            <a:endParaRPr lang="en-NP"/>
          </a:p>
        </p:txBody>
      </p:sp>
      <p:sp>
        <p:nvSpPr>
          <p:cNvPr id="46" name="Shape 44"/>
          <p:cNvSpPr/>
          <p:nvPr/>
        </p:nvSpPr>
        <p:spPr>
          <a:xfrm>
            <a:off x="7863840" y="1755648"/>
            <a:ext cx="365760" cy="146304"/>
          </a:xfrm>
          <a:prstGeom prst="rightArrow">
            <a:avLst/>
          </a:prstGeom>
          <a:solidFill>
            <a:srgbClr val="5C687D"/>
          </a:solidFill>
          <a:ln w="12700">
            <a:solidFill>
              <a:srgbClr val="0B0F17"/>
            </a:solidFill>
            <a:prstDash val="solid"/>
          </a:ln>
        </p:spPr>
        <p:txBody>
          <a:bodyPr/>
          <a:lstStyle/>
          <a:p>
            <a:endParaRPr lang="en-NP"/>
          </a:p>
        </p:txBody>
      </p:sp>
      <p:sp>
        <p:nvSpPr>
          <p:cNvPr id="47" name="Shape 45"/>
          <p:cNvSpPr/>
          <p:nvPr/>
        </p:nvSpPr>
        <p:spPr>
          <a:xfrm>
            <a:off x="8348472" y="1600200"/>
            <a:ext cx="3291840" cy="457200"/>
          </a:xfrm>
          <a:prstGeom prst="roundRect">
            <a:avLst>
              <a:gd name="adj" fmla="val 16000"/>
            </a:avLst>
          </a:prstGeom>
          <a:solidFill>
            <a:srgbClr val="141A26"/>
          </a:solidFill>
          <a:ln w="12700">
            <a:solidFill>
              <a:srgbClr val="2A3446"/>
            </a:solidFill>
            <a:prstDash val="solid"/>
          </a:ln>
        </p:spPr>
        <p:txBody>
          <a:bodyPr/>
          <a:lstStyle/>
          <a:p>
            <a:endParaRPr lang="en-NP"/>
          </a:p>
        </p:txBody>
      </p:sp>
      <p:sp>
        <p:nvSpPr>
          <p:cNvPr id="48" name="Shape 46"/>
          <p:cNvSpPr/>
          <p:nvPr/>
        </p:nvSpPr>
        <p:spPr>
          <a:xfrm>
            <a:off x="8531352" y="1769364"/>
            <a:ext cx="118872" cy="118872"/>
          </a:xfrm>
          <a:prstGeom prst="ellipse">
            <a:avLst/>
          </a:prstGeom>
          <a:solidFill>
            <a:srgbClr val="FF6B5E"/>
          </a:solidFill>
          <a:ln w="12700">
            <a:solidFill>
              <a:srgbClr val="FF6B5E"/>
            </a:solidFill>
            <a:prstDash val="solid"/>
          </a:ln>
        </p:spPr>
        <p:txBody>
          <a:bodyPr/>
          <a:lstStyle/>
          <a:p>
            <a:endParaRPr lang="en-NP"/>
          </a:p>
        </p:txBody>
      </p:sp>
      <p:sp>
        <p:nvSpPr>
          <p:cNvPr id="49" name="Text 47"/>
          <p:cNvSpPr txBox="1"/>
          <p:nvPr/>
        </p:nvSpPr>
        <p:spPr>
          <a:xfrm>
            <a:off x="8759952" y="1600200"/>
            <a:ext cx="2743200" cy="457200"/>
          </a:xfrm>
          <a:prstGeom prst="rect">
            <a:avLst/>
          </a:prstGeom>
          <a:noFill/>
          <a:ln/>
        </p:spPr>
        <p:txBody>
          <a:bodyPr wrap="square" lIns="0" tIns="0" rIns="0" bIns="0" rtlCol="0" anchor="ctr"/>
          <a:lstStyle/>
          <a:p>
            <a:pPr marL="0" indent="0">
              <a:buNone/>
            </a:pPr>
            <a:r>
              <a:rPr lang="en-US" sz="1200" dirty="0">
                <a:solidFill>
                  <a:srgbClr val="E9EEF7"/>
                </a:solidFill>
                <a:latin typeface="Arial" pitchFamily="34" charset="0"/>
                <a:ea typeface="Arial" pitchFamily="34" charset="-122"/>
                <a:cs typeface="Arial" pitchFamily="34" charset="-120"/>
              </a:rPr>
              <a:t>Configuration</a:t>
            </a:r>
            <a:endParaRPr lang="en-US" sz="1200" dirty="0"/>
          </a:p>
        </p:txBody>
      </p:sp>
      <p:sp>
        <p:nvSpPr>
          <p:cNvPr id="50" name="Shape 48"/>
          <p:cNvSpPr/>
          <p:nvPr/>
        </p:nvSpPr>
        <p:spPr>
          <a:xfrm>
            <a:off x="7863840" y="2414016"/>
            <a:ext cx="365760" cy="146304"/>
          </a:xfrm>
          <a:prstGeom prst="rightArrow">
            <a:avLst/>
          </a:prstGeom>
          <a:solidFill>
            <a:srgbClr val="5C687D"/>
          </a:solidFill>
          <a:ln w="12700">
            <a:solidFill>
              <a:srgbClr val="0B0F17"/>
            </a:solidFill>
            <a:prstDash val="solid"/>
          </a:ln>
        </p:spPr>
        <p:txBody>
          <a:bodyPr/>
          <a:lstStyle/>
          <a:p>
            <a:endParaRPr lang="en-NP"/>
          </a:p>
        </p:txBody>
      </p:sp>
      <p:sp>
        <p:nvSpPr>
          <p:cNvPr id="51" name="Shape 49"/>
          <p:cNvSpPr/>
          <p:nvPr/>
        </p:nvSpPr>
        <p:spPr>
          <a:xfrm>
            <a:off x="8348472" y="2258568"/>
            <a:ext cx="3291840" cy="457200"/>
          </a:xfrm>
          <a:prstGeom prst="roundRect">
            <a:avLst>
              <a:gd name="adj" fmla="val 16000"/>
            </a:avLst>
          </a:prstGeom>
          <a:solidFill>
            <a:srgbClr val="141A26"/>
          </a:solidFill>
          <a:ln w="12700">
            <a:solidFill>
              <a:srgbClr val="2A3446"/>
            </a:solidFill>
            <a:prstDash val="solid"/>
          </a:ln>
        </p:spPr>
        <p:txBody>
          <a:bodyPr/>
          <a:lstStyle/>
          <a:p>
            <a:endParaRPr lang="en-NP"/>
          </a:p>
        </p:txBody>
      </p:sp>
      <p:sp>
        <p:nvSpPr>
          <p:cNvPr id="52" name="Shape 50"/>
          <p:cNvSpPr/>
          <p:nvPr/>
        </p:nvSpPr>
        <p:spPr>
          <a:xfrm>
            <a:off x="8531352" y="2427732"/>
            <a:ext cx="118872" cy="118872"/>
          </a:xfrm>
          <a:prstGeom prst="ellipse">
            <a:avLst/>
          </a:prstGeom>
          <a:solidFill>
            <a:srgbClr val="FF6B5E"/>
          </a:solidFill>
          <a:ln w="12700">
            <a:solidFill>
              <a:srgbClr val="FF6B5E"/>
            </a:solidFill>
            <a:prstDash val="solid"/>
          </a:ln>
        </p:spPr>
        <p:txBody>
          <a:bodyPr/>
          <a:lstStyle/>
          <a:p>
            <a:endParaRPr lang="en-NP"/>
          </a:p>
        </p:txBody>
      </p:sp>
      <p:sp>
        <p:nvSpPr>
          <p:cNvPr id="53" name="Text 51"/>
          <p:cNvSpPr txBox="1"/>
          <p:nvPr/>
        </p:nvSpPr>
        <p:spPr>
          <a:xfrm>
            <a:off x="8759952" y="2258568"/>
            <a:ext cx="2743200" cy="457200"/>
          </a:xfrm>
          <a:prstGeom prst="rect">
            <a:avLst/>
          </a:prstGeom>
          <a:noFill/>
          <a:ln/>
        </p:spPr>
        <p:txBody>
          <a:bodyPr wrap="square" lIns="0" tIns="0" rIns="0" bIns="0" rtlCol="0" anchor="ctr"/>
          <a:lstStyle/>
          <a:p>
            <a:pPr marL="0" indent="0">
              <a:buNone/>
            </a:pPr>
            <a:r>
              <a:rPr lang="en-US" sz="1200" dirty="0">
                <a:solidFill>
                  <a:srgbClr val="E9EEF7"/>
                </a:solidFill>
                <a:latin typeface="Arial" pitchFamily="34" charset="0"/>
                <a:ea typeface="Arial" pitchFamily="34" charset="-122"/>
                <a:cs typeface="Arial" pitchFamily="34" charset="-120"/>
              </a:rPr>
              <a:t>Secrets</a:t>
            </a:r>
            <a:endParaRPr lang="en-US" sz="1200" dirty="0"/>
          </a:p>
        </p:txBody>
      </p:sp>
      <p:sp>
        <p:nvSpPr>
          <p:cNvPr id="54" name="Shape 52"/>
          <p:cNvSpPr/>
          <p:nvPr/>
        </p:nvSpPr>
        <p:spPr>
          <a:xfrm>
            <a:off x="7863840" y="3072384"/>
            <a:ext cx="365760" cy="146304"/>
          </a:xfrm>
          <a:prstGeom prst="rightArrow">
            <a:avLst/>
          </a:prstGeom>
          <a:solidFill>
            <a:srgbClr val="5C687D"/>
          </a:solidFill>
          <a:ln w="12700">
            <a:solidFill>
              <a:srgbClr val="0B0F17"/>
            </a:solidFill>
            <a:prstDash val="solid"/>
          </a:ln>
        </p:spPr>
        <p:txBody>
          <a:bodyPr/>
          <a:lstStyle/>
          <a:p>
            <a:endParaRPr lang="en-NP"/>
          </a:p>
        </p:txBody>
      </p:sp>
      <p:sp>
        <p:nvSpPr>
          <p:cNvPr id="55" name="Shape 53"/>
          <p:cNvSpPr/>
          <p:nvPr/>
        </p:nvSpPr>
        <p:spPr>
          <a:xfrm>
            <a:off x="8348472" y="2916936"/>
            <a:ext cx="3291840" cy="457200"/>
          </a:xfrm>
          <a:prstGeom prst="roundRect">
            <a:avLst>
              <a:gd name="adj" fmla="val 16000"/>
            </a:avLst>
          </a:prstGeom>
          <a:solidFill>
            <a:srgbClr val="141A26"/>
          </a:solidFill>
          <a:ln w="12700">
            <a:solidFill>
              <a:srgbClr val="2A3446"/>
            </a:solidFill>
            <a:prstDash val="solid"/>
          </a:ln>
        </p:spPr>
        <p:txBody>
          <a:bodyPr/>
          <a:lstStyle/>
          <a:p>
            <a:endParaRPr lang="en-NP"/>
          </a:p>
        </p:txBody>
      </p:sp>
      <p:sp>
        <p:nvSpPr>
          <p:cNvPr id="56" name="Shape 54"/>
          <p:cNvSpPr/>
          <p:nvPr/>
        </p:nvSpPr>
        <p:spPr>
          <a:xfrm>
            <a:off x="8531352" y="3086100"/>
            <a:ext cx="118872" cy="118872"/>
          </a:xfrm>
          <a:prstGeom prst="ellipse">
            <a:avLst/>
          </a:prstGeom>
          <a:solidFill>
            <a:srgbClr val="FFA33A"/>
          </a:solidFill>
          <a:ln w="12700">
            <a:solidFill>
              <a:srgbClr val="FFA33A"/>
            </a:solidFill>
            <a:prstDash val="solid"/>
          </a:ln>
        </p:spPr>
        <p:txBody>
          <a:bodyPr/>
          <a:lstStyle/>
          <a:p>
            <a:endParaRPr lang="en-NP"/>
          </a:p>
        </p:txBody>
      </p:sp>
      <p:sp>
        <p:nvSpPr>
          <p:cNvPr id="57" name="Text 55"/>
          <p:cNvSpPr txBox="1"/>
          <p:nvPr/>
        </p:nvSpPr>
        <p:spPr>
          <a:xfrm>
            <a:off x="8759952" y="2916936"/>
            <a:ext cx="2743200" cy="457200"/>
          </a:xfrm>
          <a:prstGeom prst="rect">
            <a:avLst/>
          </a:prstGeom>
          <a:noFill/>
          <a:ln/>
        </p:spPr>
        <p:txBody>
          <a:bodyPr wrap="square" lIns="0" tIns="0" rIns="0" bIns="0" rtlCol="0" anchor="ctr"/>
          <a:lstStyle/>
          <a:p>
            <a:pPr marL="0" indent="0">
              <a:buNone/>
            </a:pPr>
            <a:r>
              <a:rPr lang="en-US" sz="1200" dirty="0">
                <a:solidFill>
                  <a:srgbClr val="E9EEF7"/>
                </a:solidFill>
                <a:latin typeface="Arial" pitchFamily="34" charset="0"/>
                <a:ea typeface="Arial" pitchFamily="34" charset="-122"/>
                <a:cs typeface="Arial" pitchFamily="34" charset="-120"/>
              </a:rPr>
              <a:t>NuGet dependencies</a:t>
            </a:r>
            <a:endParaRPr lang="en-US" sz="1200" dirty="0"/>
          </a:p>
        </p:txBody>
      </p:sp>
      <p:sp>
        <p:nvSpPr>
          <p:cNvPr id="58" name="Shape 56"/>
          <p:cNvSpPr/>
          <p:nvPr/>
        </p:nvSpPr>
        <p:spPr>
          <a:xfrm>
            <a:off x="7863840" y="3730752"/>
            <a:ext cx="365760" cy="146304"/>
          </a:xfrm>
          <a:prstGeom prst="rightArrow">
            <a:avLst/>
          </a:prstGeom>
          <a:solidFill>
            <a:srgbClr val="5C687D"/>
          </a:solidFill>
          <a:ln w="12700">
            <a:solidFill>
              <a:srgbClr val="0B0F17"/>
            </a:solidFill>
            <a:prstDash val="solid"/>
          </a:ln>
        </p:spPr>
        <p:txBody>
          <a:bodyPr/>
          <a:lstStyle/>
          <a:p>
            <a:endParaRPr lang="en-NP"/>
          </a:p>
        </p:txBody>
      </p:sp>
      <p:sp>
        <p:nvSpPr>
          <p:cNvPr id="59" name="Shape 57"/>
          <p:cNvSpPr/>
          <p:nvPr/>
        </p:nvSpPr>
        <p:spPr>
          <a:xfrm>
            <a:off x="8348472" y="3575304"/>
            <a:ext cx="3291840" cy="457200"/>
          </a:xfrm>
          <a:prstGeom prst="roundRect">
            <a:avLst>
              <a:gd name="adj" fmla="val 16000"/>
            </a:avLst>
          </a:prstGeom>
          <a:solidFill>
            <a:srgbClr val="141A26"/>
          </a:solidFill>
          <a:ln w="12700">
            <a:solidFill>
              <a:srgbClr val="2A3446"/>
            </a:solidFill>
            <a:prstDash val="solid"/>
          </a:ln>
        </p:spPr>
        <p:txBody>
          <a:bodyPr/>
          <a:lstStyle/>
          <a:p>
            <a:endParaRPr lang="en-NP"/>
          </a:p>
        </p:txBody>
      </p:sp>
      <p:sp>
        <p:nvSpPr>
          <p:cNvPr id="60" name="Shape 58"/>
          <p:cNvSpPr/>
          <p:nvPr/>
        </p:nvSpPr>
        <p:spPr>
          <a:xfrm>
            <a:off x="8531352" y="3744468"/>
            <a:ext cx="118872" cy="118872"/>
          </a:xfrm>
          <a:prstGeom prst="ellipse">
            <a:avLst/>
          </a:prstGeom>
          <a:solidFill>
            <a:srgbClr val="FFA33A"/>
          </a:solidFill>
          <a:ln w="12700">
            <a:solidFill>
              <a:srgbClr val="FFA33A"/>
            </a:solidFill>
            <a:prstDash val="solid"/>
          </a:ln>
        </p:spPr>
        <p:txBody>
          <a:bodyPr/>
          <a:lstStyle/>
          <a:p>
            <a:endParaRPr lang="en-NP"/>
          </a:p>
        </p:txBody>
      </p:sp>
      <p:sp>
        <p:nvSpPr>
          <p:cNvPr id="61" name="Text 59"/>
          <p:cNvSpPr txBox="1"/>
          <p:nvPr/>
        </p:nvSpPr>
        <p:spPr>
          <a:xfrm>
            <a:off x="8759952" y="3575304"/>
            <a:ext cx="2743200" cy="457200"/>
          </a:xfrm>
          <a:prstGeom prst="rect">
            <a:avLst/>
          </a:prstGeom>
          <a:noFill/>
          <a:ln/>
        </p:spPr>
        <p:txBody>
          <a:bodyPr wrap="square" lIns="0" tIns="0" rIns="0" bIns="0" rtlCol="0" anchor="ctr"/>
          <a:lstStyle/>
          <a:p>
            <a:pPr marL="0" indent="0">
              <a:buNone/>
            </a:pPr>
            <a:r>
              <a:rPr lang="en-US" sz="1200" dirty="0">
                <a:solidFill>
                  <a:srgbClr val="E9EEF7"/>
                </a:solidFill>
                <a:latin typeface="Arial" pitchFamily="34" charset="0"/>
                <a:ea typeface="Arial" pitchFamily="34" charset="-122"/>
                <a:cs typeface="Arial" pitchFamily="34" charset="-120"/>
              </a:rPr>
              <a:t>Cloud identity</a:t>
            </a:r>
            <a:endParaRPr lang="en-US" sz="1200" dirty="0"/>
          </a:p>
        </p:txBody>
      </p:sp>
      <p:sp>
        <p:nvSpPr>
          <p:cNvPr id="62" name="Shape 60"/>
          <p:cNvSpPr/>
          <p:nvPr/>
        </p:nvSpPr>
        <p:spPr>
          <a:xfrm>
            <a:off x="7863840" y="4389120"/>
            <a:ext cx="365760" cy="146304"/>
          </a:xfrm>
          <a:prstGeom prst="rightArrow">
            <a:avLst/>
          </a:prstGeom>
          <a:solidFill>
            <a:srgbClr val="5C687D"/>
          </a:solidFill>
          <a:ln w="12700">
            <a:solidFill>
              <a:srgbClr val="0B0F17"/>
            </a:solidFill>
            <a:prstDash val="solid"/>
          </a:ln>
        </p:spPr>
        <p:txBody>
          <a:bodyPr/>
          <a:lstStyle/>
          <a:p>
            <a:endParaRPr lang="en-NP"/>
          </a:p>
        </p:txBody>
      </p:sp>
      <p:sp>
        <p:nvSpPr>
          <p:cNvPr id="63" name="Shape 61"/>
          <p:cNvSpPr/>
          <p:nvPr/>
        </p:nvSpPr>
        <p:spPr>
          <a:xfrm>
            <a:off x="8348472" y="4233672"/>
            <a:ext cx="3291840" cy="457200"/>
          </a:xfrm>
          <a:prstGeom prst="roundRect">
            <a:avLst>
              <a:gd name="adj" fmla="val 16000"/>
            </a:avLst>
          </a:prstGeom>
          <a:solidFill>
            <a:srgbClr val="141A26"/>
          </a:solidFill>
          <a:ln w="12700">
            <a:solidFill>
              <a:srgbClr val="2A3446"/>
            </a:solidFill>
            <a:prstDash val="solid"/>
          </a:ln>
        </p:spPr>
        <p:txBody>
          <a:bodyPr/>
          <a:lstStyle/>
          <a:p>
            <a:endParaRPr lang="en-NP"/>
          </a:p>
        </p:txBody>
      </p:sp>
      <p:sp>
        <p:nvSpPr>
          <p:cNvPr id="64" name="Shape 62"/>
          <p:cNvSpPr/>
          <p:nvPr/>
        </p:nvSpPr>
        <p:spPr>
          <a:xfrm>
            <a:off x="8531352" y="4402836"/>
            <a:ext cx="118872" cy="118872"/>
          </a:xfrm>
          <a:prstGeom prst="ellipse">
            <a:avLst/>
          </a:prstGeom>
          <a:solidFill>
            <a:srgbClr val="FFC15E"/>
          </a:solidFill>
          <a:ln w="12700">
            <a:solidFill>
              <a:srgbClr val="FFC15E"/>
            </a:solidFill>
            <a:prstDash val="solid"/>
          </a:ln>
        </p:spPr>
        <p:txBody>
          <a:bodyPr/>
          <a:lstStyle/>
          <a:p>
            <a:endParaRPr lang="en-NP"/>
          </a:p>
        </p:txBody>
      </p:sp>
      <p:sp>
        <p:nvSpPr>
          <p:cNvPr id="65" name="Text 63"/>
          <p:cNvSpPr txBox="1"/>
          <p:nvPr/>
        </p:nvSpPr>
        <p:spPr>
          <a:xfrm>
            <a:off x="8759952" y="4233672"/>
            <a:ext cx="2743200" cy="457200"/>
          </a:xfrm>
          <a:prstGeom prst="rect">
            <a:avLst/>
          </a:prstGeom>
          <a:noFill/>
          <a:ln/>
        </p:spPr>
        <p:txBody>
          <a:bodyPr wrap="square" lIns="0" tIns="0" rIns="0" bIns="0" rtlCol="0" anchor="ctr"/>
          <a:lstStyle/>
          <a:p>
            <a:pPr marL="0" indent="0">
              <a:buNone/>
            </a:pPr>
            <a:r>
              <a:rPr lang="en-US" sz="1200" dirty="0">
                <a:solidFill>
                  <a:srgbClr val="E9EEF7"/>
                </a:solidFill>
                <a:latin typeface="Arial" pitchFamily="34" charset="0"/>
                <a:ea typeface="Arial" pitchFamily="34" charset="-122"/>
                <a:cs typeface="Arial" pitchFamily="34" charset="-120"/>
              </a:rPr>
              <a:t>Logging &amp; alerting</a:t>
            </a:r>
            <a:endParaRPr lang="en-US" sz="1200" dirty="0"/>
          </a:p>
        </p:txBody>
      </p:sp>
      <p:sp>
        <p:nvSpPr>
          <p:cNvPr id="66" name="Shape 64"/>
          <p:cNvSpPr/>
          <p:nvPr/>
        </p:nvSpPr>
        <p:spPr>
          <a:xfrm>
            <a:off x="7863840" y="5047488"/>
            <a:ext cx="365760" cy="146304"/>
          </a:xfrm>
          <a:prstGeom prst="rightArrow">
            <a:avLst/>
          </a:prstGeom>
          <a:solidFill>
            <a:srgbClr val="5C687D"/>
          </a:solidFill>
          <a:ln w="12700">
            <a:solidFill>
              <a:srgbClr val="0B0F17"/>
            </a:solidFill>
            <a:prstDash val="solid"/>
          </a:ln>
        </p:spPr>
        <p:txBody>
          <a:bodyPr/>
          <a:lstStyle/>
          <a:p>
            <a:endParaRPr lang="en-NP"/>
          </a:p>
        </p:txBody>
      </p:sp>
      <p:sp>
        <p:nvSpPr>
          <p:cNvPr id="67" name="Shape 65"/>
          <p:cNvSpPr/>
          <p:nvPr/>
        </p:nvSpPr>
        <p:spPr>
          <a:xfrm>
            <a:off x="8348472" y="4892040"/>
            <a:ext cx="3291840" cy="457200"/>
          </a:xfrm>
          <a:prstGeom prst="roundRect">
            <a:avLst>
              <a:gd name="adj" fmla="val 16000"/>
            </a:avLst>
          </a:prstGeom>
          <a:solidFill>
            <a:srgbClr val="141A26"/>
          </a:solidFill>
          <a:ln w="12700">
            <a:solidFill>
              <a:srgbClr val="2A3446"/>
            </a:solidFill>
            <a:prstDash val="solid"/>
          </a:ln>
        </p:spPr>
        <p:txBody>
          <a:bodyPr/>
          <a:lstStyle/>
          <a:p>
            <a:endParaRPr lang="en-NP"/>
          </a:p>
        </p:txBody>
      </p:sp>
      <p:sp>
        <p:nvSpPr>
          <p:cNvPr id="68" name="Shape 66"/>
          <p:cNvSpPr/>
          <p:nvPr/>
        </p:nvSpPr>
        <p:spPr>
          <a:xfrm>
            <a:off x="8531352" y="5061204"/>
            <a:ext cx="118872" cy="118872"/>
          </a:xfrm>
          <a:prstGeom prst="ellipse">
            <a:avLst/>
          </a:prstGeom>
          <a:solidFill>
            <a:srgbClr val="FFC15E"/>
          </a:solidFill>
          <a:ln w="12700">
            <a:solidFill>
              <a:srgbClr val="FFC15E"/>
            </a:solidFill>
            <a:prstDash val="solid"/>
          </a:ln>
        </p:spPr>
        <p:txBody>
          <a:bodyPr/>
          <a:lstStyle/>
          <a:p>
            <a:endParaRPr lang="en-NP"/>
          </a:p>
        </p:txBody>
      </p:sp>
      <p:sp>
        <p:nvSpPr>
          <p:cNvPr id="69" name="Text 67"/>
          <p:cNvSpPr txBox="1"/>
          <p:nvPr/>
        </p:nvSpPr>
        <p:spPr>
          <a:xfrm>
            <a:off x="8759952" y="4892040"/>
            <a:ext cx="2743200" cy="457200"/>
          </a:xfrm>
          <a:prstGeom prst="rect">
            <a:avLst/>
          </a:prstGeom>
          <a:noFill/>
          <a:ln/>
        </p:spPr>
        <p:txBody>
          <a:bodyPr wrap="square" lIns="0" tIns="0" rIns="0" bIns="0" rtlCol="0" anchor="ctr"/>
          <a:lstStyle/>
          <a:p>
            <a:pPr marL="0" indent="0">
              <a:buNone/>
            </a:pPr>
            <a:r>
              <a:rPr lang="en-US" sz="1200" dirty="0">
                <a:solidFill>
                  <a:srgbClr val="E9EEF7"/>
                </a:solidFill>
                <a:latin typeface="Arial" pitchFamily="34" charset="0"/>
                <a:ea typeface="Arial" pitchFamily="34" charset="-122"/>
                <a:cs typeface="Arial" pitchFamily="34" charset="-120"/>
              </a:rPr>
              <a:t>CI/CD pipeline</a:t>
            </a:r>
            <a:endParaRPr lang="en-US" sz="1200" dirty="0"/>
          </a:p>
        </p:txBody>
      </p:sp>
      <p:sp>
        <p:nvSpPr>
          <p:cNvPr id="70" name="Text 68"/>
          <p:cNvSpPr txBox="1"/>
          <p:nvPr/>
        </p:nvSpPr>
        <p:spPr>
          <a:xfrm>
            <a:off x="548640" y="5943600"/>
            <a:ext cx="11091672" cy="365760"/>
          </a:xfrm>
          <a:prstGeom prst="rect">
            <a:avLst/>
          </a:prstGeom>
          <a:noFill/>
          <a:ln/>
        </p:spPr>
        <p:txBody>
          <a:bodyPr wrap="square" lIns="0" tIns="0" rIns="0" bIns="0" rtlCol="0" anchor="ctr"/>
          <a:lstStyle/>
          <a:p>
            <a:pPr marL="0" indent="0" algn="ctr">
              <a:buNone/>
            </a:pPr>
            <a:r>
              <a:rPr lang="en-US" sz="1500" b="1" i="1" dirty="0">
                <a:solidFill>
                  <a:srgbClr val="C9B6FF"/>
                </a:solidFill>
                <a:latin typeface="Arial" pitchFamily="34" charset="0"/>
                <a:ea typeface="Arial" pitchFamily="34" charset="-122"/>
                <a:cs typeface="Arial" pitchFamily="34" charset="-120"/>
              </a:rPr>
              <a:t>"Every boundary is a question — and somebody already answered it for you."</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7"/>
        </a:solidFill>
        <a:effectLst/>
      </p:bgPr>
    </p:bg>
    <p:spTree>
      <p:nvGrpSpPr>
        <p:cNvPr id="1" name="">
          <a:extLst>
            <a:ext uri="{FF2B5EF4-FFF2-40B4-BE49-F238E27FC236}">
              <a16:creationId xmlns:a16="http://schemas.microsoft.com/office/drawing/2014/main" id="{6146B0BD-3E7F-A90A-3FF6-18BED61C43A9}"/>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F96B2356-5CA2-61E5-9B69-5E69BB0ACB23}"/>
              </a:ext>
            </a:extLst>
          </p:cNvPr>
          <p:cNvSpPr txBox="1"/>
          <p:nvPr/>
        </p:nvSpPr>
        <p:spPr>
          <a:xfrm>
            <a:off x="548640" y="453088"/>
            <a:ext cx="11091672" cy="685800"/>
          </a:xfrm>
          <a:prstGeom prst="rect">
            <a:avLst/>
          </a:prstGeom>
          <a:noFill/>
          <a:ln/>
        </p:spPr>
        <p:txBody>
          <a:bodyPr wrap="square" lIns="0" tIns="0" rIns="0" bIns="0" rtlCol="0" anchor="ctr"/>
          <a:lstStyle/>
          <a:p>
            <a:pPr marL="0" indent="0">
              <a:lnSpc>
                <a:spcPct val="100000"/>
              </a:lnSpc>
              <a:buNone/>
            </a:pPr>
            <a:r>
              <a:rPr lang="en-US" sz="3000" b="1" dirty="0">
                <a:solidFill>
                  <a:srgbClr val="E9EEF7"/>
                </a:solidFill>
                <a:latin typeface="Arial" pitchFamily="34" charset="0"/>
                <a:ea typeface="Arial" pitchFamily="34" charset="-122"/>
                <a:cs typeface="Arial" pitchFamily="34" charset="-120"/>
              </a:rPr>
              <a:t>We have implemented JWT. Meanwhile,...</a:t>
            </a:r>
            <a:endParaRPr lang="en-US" sz="3000" dirty="0"/>
          </a:p>
        </p:txBody>
      </p:sp>
      <p:sp>
        <p:nvSpPr>
          <p:cNvPr id="9" name="Text 7">
            <a:extLst>
              <a:ext uri="{FF2B5EF4-FFF2-40B4-BE49-F238E27FC236}">
                <a16:creationId xmlns:a16="http://schemas.microsoft.com/office/drawing/2014/main" id="{D258F496-7E4F-6C67-4535-D2FE5238212C}"/>
              </a:ext>
            </a:extLst>
          </p:cNvPr>
          <p:cNvSpPr txBox="1"/>
          <p:nvPr/>
        </p:nvSpPr>
        <p:spPr>
          <a:xfrm>
            <a:off x="548640" y="5897880"/>
            <a:ext cx="11091672" cy="365760"/>
          </a:xfrm>
          <a:prstGeom prst="rect">
            <a:avLst/>
          </a:prstGeom>
          <a:noFill/>
          <a:ln/>
        </p:spPr>
        <p:txBody>
          <a:bodyPr wrap="square" lIns="0" tIns="0" rIns="0" bIns="0" rtlCol="0" anchor="ctr"/>
          <a:lstStyle/>
          <a:p>
            <a:pPr algn="ctr"/>
            <a:r>
              <a:rPr lang="en-NP" sz="1400" i="1" dirty="0">
                <a:solidFill>
                  <a:srgbClr val="C9B6FF"/>
                </a:solidFill>
                <a:latin typeface="Arial" pitchFamily="34" charset="0"/>
                <a:cs typeface="Arial" pitchFamily="34" charset="-120"/>
              </a:rPr>
              <a:t>Authentication ≠ Authorization</a:t>
            </a:r>
            <a:endParaRPr lang="en-US" sz="1400" i="1" dirty="0">
              <a:solidFill>
                <a:srgbClr val="C9B6FF"/>
              </a:solidFill>
              <a:latin typeface="Arial" pitchFamily="34" charset="0"/>
              <a:cs typeface="Arial" pitchFamily="34" charset="-120"/>
            </a:endParaRPr>
          </a:p>
        </p:txBody>
      </p:sp>
      <p:pic>
        <p:nvPicPr>
          <p:cNvPr id="17" name="Picture 16">
            <a:extLst>
              <a:ext uri="{FF2B5EF4-FFF2-40B4-BE49-F238E27FC236}">
                <a16:creationId xmlns:a16="http://schemas.microsoft.com/office/drawing/2014/main" id="{B590A303-95BC-D380-2C50-1B9AB564B40F}"/>
              </a:ext>
            </a:extLst>
          </p:cNvPr>
          <p:cNvPicPr>
            <a:picLocks noChangeAspect="1"/>
          </p:cNvPicPr>
          <p:nvPr/>
        </p:nvPicPr>
        <p:blipFill>
          <a:blip r:embed="rId3"/>
          <a:stretch>
            <a:fillRect/>
          </a:stretch>
        </p:blipFill>
        <p:spPr>
          <a:xfrm>
            <a:off x="1861802" y="1351279"/>
            <a:ext cx="3075966" cy="4060275"/>
          </a:xfrm>
          <a:prstGeom prst="rect">
            <a:avLst/>
          </a:prstGeom>
        </p:spPr>
      </p:pic>
      <p:pic>
        <p:nvPicPr>
          <p:cNvPr id="21" name="Picture 20">
            <a:extLst>
              <a:ext uri="{FF2B5EF4-FFF2-40B4-BE49-F238E27FC236}">
                <a16:creationId xmlns:a16="http://schemas.microsoft.com/office/drawing/2014/main" id="{EC5031B1-4508-B05C-B912-DB0DEA482197}"/>
              </a:ext>
            </a:extLst>
          </p:cNvPr>
          <p:cNvPicPr>
            <a:picLocks noChangeAspect="1"/>
          </p:cNvPicPr>
          <p:nvPr/>
        </p:nvPicPr>
        <p:blipFill>
          <a:blip r:embed="rId4"/>
          <a:stretch>
            <a:fillRect/>
          </a:stretch>
        </p:blipFill>
        <p:spPr>
          <a:xfrm>
            <a:off x="6224710" y="1330959"/>
            <a:ext cx="3259730" cy="4348479"/>
          </a:xfrm>
          <a:prstGeom prst="rect">
            <a:avLst/>
          </a:prstGeom>
        </p:spPr>
      </p:pic>
    </p:spTree>
    <p:extLst>
      <p:ext uri="{BB962C8B-B14F-4D97-AF65-F5344CB8AC3E}">
        <p14:creationId xmlns:p14="http://schemas.microsoft.com/office/powerpoint/2010/main" val="531813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THE MISTAKE BOARD</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200" b="1" dirty="0">
                <a:solidFill>
                  <a:srgbClr val="E9EEF7"/>
                </a:solidFill>
                <a:latin typeface="Arial" pitchFamily="34" charset="0"/>
                <a:ea typeface="Arial" pitchFamily="34" charset="-122"/>
                <a:cs typeface="Arial" pitchFamily="34" charset="-120"/>
              </a:rPr>
              <a:t>The Bugs We Actually Ship</a:t>
            </a:r>
            <a:endParaRPr lang="en-US" sz="3200" dirty="0"/>
          </a:p>
        </p:txBody>
      </p:sp>
      <p:sp>
        <p:nvSpPr>
          <p:cNvPr id="4" name="Text 2"/>
          <p:cNvSpPr txBox="1"/>
          <p:nvPr/>
        </p:nvSpPr>
        <p:spPr>
          <a:xfrm>
            <a:off x="548640" y="1417320"/>
            <a:ext cx="10607040" cy="365760"/>
          </a:xfrm>
          <a:prstGeom prst="rect">
            <a:avLst/>
          </a:prstGeom>
          <a:noFill/>
          <a:ln/>
        </p:spPr>
        <p:txBody>
          <a:bodyPr wrap="square" lIns="0" tIns="0" rIns="0" bIns="0" rtlCol="0" anchor="ctr"/>
          <a:lstStyle/>
          <a:p>
            <a:pPr marL="0" indent="0">
              <a:buNone/>
            </a:pPr>
            <a:r>
              <a:rPr lang="en-US" sz="1500" dirty="0">
                <a:solidFill>
                  <a:srgbClr val="8C97AC"/>
                </a:solidFill>
                <a:latin typeface="Arial" pitchFamily="34" charset="0"/>
                <a:ea typeface="Arial" pitchFamily="34" charset="-122"/>
                <a:cs typeface="Arial" pitchFamily="34" charset="-120"/>
              </a:rPr>
              <a:t>Mapped to OWASP Top 10:2025 — because the categories changed, and two of them are new.</a:t>
            </a:r>
            <a:endParaRPr lang="en-US" sz="1500" dirty="0"/>
          </a:p>
        </p:txBody>
      </p:sp>
      <p:sp>
        <p:nvSpPr>
          <p:cNvPr id="5" name="Shape 3"/>
          <p:cNvSpPr/>
          <p:nvPr/>
        </p:nvSpPr>
        <p:spPr>
          <a:xfrm>
            <a:off x="548640" y="1828800"/>
            <a:ext cx="2606040" cy="1051560"/>
          </a:xfrm>
          <a:prstGeom prst="roundRect">
            <a:avLst>
              <a:gd name="adj" fmla="val 6957"/>
            </a:avLst>
          </a:prstGeom>
          <a:solidFill>
            <a:srgbClr val="141A26"/>
          </a:solidFill>
          <a:ln w="12700">
            <a:solidFill>
              <a:srgbClr val="2A3446"/>
            </a:solidFill>
            <a:prstDash val="solid"/>
          </a:ln>
        </p:spPr>
        <p:txBody>
          <a:bodyPr/>
          <a:lstStyle/>
          <a:p>
            <a:endParaRPr lang="en-NP"/>
          </a:p>
        </p:txBody>
      </p:sp>
      <p:sp>
        <p:nvSpPr>
          <p:cNvPr id="6" name="Shape 4"/>
          <p:cNvSpPr/>
          <p:nvPr/>
        </p:nvSpPr>
        <p:spPr>
          <a:xfrm>
            <a:off x="749808" y="2048256"/>
            <a:ext cx="146304" cy="146304"/>
          </a:xfrm>
          <a:prstGeom prst="ellipse">
            <a:avLst/>
          </a:prstGeom>
          <a:solidFill>
            <a:srgbClr val="FF6B5E"/>
          </a:solidFill>
          <a:ln w="12700">
            <a:solidFill>
              <a:srgbClr val="FF6B5E"/>
            </a:solidFill>
            <a:prstDash val="solid"/>
          </a:ln>
        </p:spPr>
        <p:txBody>
          <a:bodyPr/>
          <a:lstStyle/>
          <a:p>
            <a:endParaRPr lang="en-NP"/>
          </a:p>
        </p:txBody>
      </p:sp>
      <p:sp>
        <p:nvSpPr>
          <p:cNvPr id="7" name="Text 5"/>
          <p:cNvSpPr txBox="1"/>
          <p:nvPr/>
        </p:nvSpPr>
        <p:spPr>
          <a:xfrm>
            <a:off x="987552" y="2011680"/>
            <a:ext cx="2011680" cy="219456"/>
          </a:xfrm>
          <a:prstGeom prst="rect">
            <a:avLst/>
          </a:prstGeom>
          <a:noFill/>
          <a:ln/>
        </p:spPr>
        <p:txBody>
          <a:bodyPr wrap="square" lIns="0" tIns="0" rIns="0" bIns="0" rtlCol="0" anchor="ctr"/>
          <a:lstStyle/>
          <a:p>
            <a:pPr marL="0" indent="0">
              <a:buNone/>
            </a:pPr>
            <a:r>
              <a:rPr lang="en-US" sz="950" b="1" kern="0" spc="120" dirty="0">
                <a:solidFill>
                  <a:srgbClr val="FF6B5E"/>
                </a:solidFill>
                <a:latin typeface="Arial" pitchFamily="34" charset="0"/>
                <a:ea typeface="Arial" pitchFamily="34" charset="-122"/>
                <a:cs typeface="Arial" pitchFamily="34" charset="-120"/>
              </a:rPr>
              <a:t>A01</a:t>
            </a:r>
            <a:endParaRPr lang="en-US" sz="950" dirty="0"/>
          </a:p>
        </p:txBody>
      </p:sp>
      <p:sp>
        <p:nvSpPr>
          <p:cNvPr id="8" name="Text 6"/>
          <p:cNvSpPr txBox="1"/>
          <p:nvPr/>
        </p:nvSpPr>
        <p:spPr>
          <a:xfrm>
            <a:off x="749808" y="2331720"/>
            <a:ext cx="2240280" cy="457200"/>
          </a:xfrm>
          <a:prstGeom prst="rect">
            <a:avLst/>
          </a:prstGeom>
          <a:noFill/>
          <a:ln/>
        </p:spPr>
        <p:txBody>
          <a:bodyPr wrap="square" lIns="0" tIns="0" rIns="0" bIns="0" rtlCol="0" anchor="ctr"/>
          <a:lstStyle/>
          <a:p>
            <a:pPr marL="0" indent="0">
              <a:lnSpc>
                <a:spcPct val="105000"/>
              </a:lnSpc>
              <a:buNone/>
            </a:pPr>
            <a:r>
              <a:rPr lang="en-US" sz="1250" b="1" dirty="0">
                <a:solidFill>
                  <a:srgbClr val="E9EEF7"/>
                </a:solidFill>
                <a:latin typeface="Arial" pitchFamily="34" charset="0"/>
                <a:ea typeface="Arial" pitchFamily="34" charset="-122"/>
                <a:cs typeface="Arial" pitchFamily="34" charset="-120"/>
              </a:rPr>
              <a:t>Broken access control / IDOR</a:t>
            </a:r>
            <a:endParaRPr lang="en-US" sz="1250" dirty="0"/>
          </a:p>
        </p:txBody>
      </p:sp>
      <p:sp>
        <p:nvSpPr>
          <p:cNvPr id="9" name="Shape 7"/>
          <p:cNvSpPr/>
          <p:nvPr/>
        </p:nvSpPr>
        <p:spPr>
          <a:xfrm>
            <a:off x="3429000" y="1828800"/>
            <a:ext cx="2606040" cy="1051560"/>
          </a:xfrm>
          <a:prstGeom prst="roundRect">
            <a:avLst>
              <a:gd name="adj" fmla="val 6957"/>
            </a:avLst>
          </a:prstGeom>
          <a:solidFill>
            <a:srgbClr val="141A26"/>
          </a:solidFill>
          <a:ln w="12700">
            <a:solidFill>
              <a:srgbClr val="2A3446"/>
            </a:solidFill>
            <a:prstDash val="solid"/>
          </a:ln>
        </p:spPr>
        <p:txBody>
          <a:bodyPr/>
          <a:lstStyle/>
          <a:p>
            <a:endParaRPr lang="en-NP"/>
          </a:p>
        </p:txBody>
      </p:sp>
      <p:sp>
        <p:nvSpPr>
          <p:cNvPr id="10" name="Shape 8"/>
          <p:cNvSpPr/>
          <p:nvPr/>
        </p:nvSpPr>
        <p:spPr>
          <a:xfrm>
            <a:off x="3630168" y="2048256"/>
            <a:ext cx="146304" cy="146304"/>
          </a:xfrm>
          <a:prstGeom prst="ellipse">
            <a:avLst/>
          </a:prstGeom>
          <a:solidFill>
            <a:srgbClr val="FF6B5E"/>
          </a:solidFill>
          <a:ln w="12700">
            <a:solidFill>
              <a:srgbClr val="FF6B5E"/>
            </a:solidFill>
            <a:prstDash val="solid"/>
          </a:ln>
        </p:spPr>
        <p:txBody>
          <a:bodyPr/>
          <a:lstStyle/>
          <a:p>
            <a:endParaRPr lang="en-NP"/>
          </a:p>
        </p:txBody>
      </p:sp>
      <p:sp>
        <p:nvSpPr>
          <p:cNvPr id="11" name="Text 9"/>
          <p:cNvSpPr txBox="1"/>
          <p:nvPr/>
        </p:nvSpPr>
        <p:spPr>
          <a:xfrm>
            <a:off x="3867912" y="2011680"/>
            <a:ext cx="2011680" cy="219456"/>
          </a:xfrm>
          <a:prstGeom prst="rect">
            <a:avLst/>
          </a:prstGeom>
          <a:noFill/>
          <a:ln/>
        </p:spPr>
        <p:txBody>
          <a:bodyPr wrap="square" lIns="0" tIns="0" rIns="0" bIns="0" rtlCol="0" anchor="ctr"/>
          <a:lstStyle/>
          <a:p>
            <a:pPr marL="0" indent="0">
              <a:buNone/>
            </a:pPr>
            <a:r>
              <a:rPr lang="en-US" sz="950" b="1" kern="0" spc="120" dirty="0">
                <a:solidFill>
                  <a:srgbClr val="FF6B5E"/>
                </a:solidFill>
                <a:latin typeface="Arial" pitchFamily="34" charset="0"/>
                <a:ea typeface="Arial" pitchFamily="34" charset="-122"/>
                <a:cs typeface="Arial" pitchFamily="34" charset="-120"/>
              </a:rPr>
              <a:t>A01</a:t>
            </a:r>
            <a:endParaRPr lang="en-US" sz="950" dirty="0"/>
          </a:p>
        </p:txBody>
      </p:sp>
      <p:sp>
        <p:nvSpPr>
          <p:cNvPr id="12" name="Text 10"/>
          <p:cNvSpPr txBox="1"/>
          <p:nvPr/>
        </p:nvSpPr>
        <p:spPr>
          <a:xfrm>
            <a:off x="3630168" y="2331720"/>
            <a:ext cx="2240280" cy="457200"/>
          </a:xfrm>
          <a:prstGeom prst="rect">
            <a:avLst/>
          </a:prstGeom>
          <a:noFill/>
          <a:ln/>
        </p:spPr>
        <p:txBody>
          <a:bodyPr wrap="square" lIns="0" tIns="0" rIns="0" bIns="0" rtlCol="0" anchor="ctr"/>
          <a:lstStyle/>
          <a:p>
            <a:pPr marL="0" indent="0">
              <a:lnSpc>
                <a:spcPct val="105000"/>
              </a:lnSpc>
              <a:buNone/>
            </a:pPr>
            <a:r>
              <a:rPr lang="en-US" sz="1250" b="1" dirty="0">
                <a:solidFill>
                  <a:srgbClr val="E9EEF7"/>
                </a:solidFill>
                <a:latin typeface="Arial" pitchFamily="34" charset="0"/>
                <a:ea typeface="Arial" pitchFamily="34" charset="-122"/>
                <a:cs typeface="Arial" pitchFamily="34" charset="-120"/>
              </a:rPr>
              <a:t>SSRF (now folded into A01)</a:t>
            </a:r>
            <a:endParaRPr lang="en-US" sz="1250" dirty="0"/>
          </a:p>
        </p:txBody>
      </p:sp>
      <p:sp>
        <p:nvSpPr>
          <p:cNvPr id="13" name="Shape 11"/>
          <p:cNvSpPr/>
          <p:nvPr/>
        </p:nvSpPr>
        <p:spPr>
          <a:xfrm>
            <a:off x="6309360" y="1828800"/>
            <a:ext cx="2606040" cy="1051560"/>
          </a:xfrm>
          <a:prstGeom prst="roundRect">
            <a:avLst>
              <a:gd name="adj" fmla="val 6957"/>
            </a:avLst>
          </a:prstGeom>
          <a:solidFill>
            <a:srgbClr val="141A26"/>
          </a:solidFill>
          <a:ln w="12700">
            <a:solidFill>
              <a:srgbClr val="2A3446"/>
            </a:solidFill>
            <a:prstDash val="solid"/>
          </a:ln>
        </p:spPr>
        <p:txBody>
          <a:bodyPr/>
          <a:lstStyle/>
          <a:p>
            <a:endParaRPr lang="en-NP"/>
          </a:p>
        </p:txBody>
      </p:sp>
      <p:sp>
        <p:nvSpPr>
          <p:cNvPr id="14" name="Shape 12"/>
          <p:cNvSpPr/>
          <p:nvPr/>
        </p:nvSpPr>
        <p:spPr>
          <a:xfrm>
            <a:off x="6510528" y="2048256"/>
            <a:ext cx="146304" cy="146304"/>
          </a:xfrm>
          <a:prstGeom prst="ellipse">
            <a:avLst/>
          </a:prstGeom>
          <a:solidFill>
            <a:srgbClr val="FF6B5E"/>
          </a:solidFill>
          <a:ln w="12700">
            <a:solidFill>
              <a:srgbClr val="FF6B5E"/>
            </a:solidFill>
            <a:prstDash val="solid"/>
          </a:ln>
        </p:spPr>
        <p:txBody>
          <a:bodyPr/>
          <a:lstStyle/>
          <a:p>
            <a:endParaRPr lang="en-NP"/>
          </a:p>
        </p:txBody>
      </p:sp>
      <p:sp>
        <p:nvSpPr>
          <p:cNvPr id="15" name="Text 13"/>
          <p:cNvSpPr txBox="1"/>
          <p:nvPr/>
        </p:nvSpPr>
        <p:spPr>
          <a:xfrm>
            <a:off x="6748272" y="2011680"/>
            <a:ext cx="2011680" cy="219456"/>
          </a:xfrm>
          <a:prstGeom prst="rect">
            <a:avLst/>
          </a:prstGeom>
          <a:noFill/>
          <a:ln/>
        </p:spPr>
        <p:txBody>
          <a:bodyPr wrap="square" lIns="0" tIns="0" rIns="0" bIns="0" rtlCol="0" anchor="ctr"/>
          <a:lstStyle/>
          <a:p>
            <a:pPr marL="0" indent="0">
              <a:buNone/>
            </a:pPr>
            <a:r>
              <a:rPr lang="en-US" sz="950" b="1" kern="0" spc="120" dirty="0">
                <a:solidFill>
                  <a:srgbClr val="FF6B5E"/>
                </a:solidFill>
                <a:latin typeface="Arial" pitchFamily="34" charset="0"/>
                <a:ea typeface="Arial" pitchFamily="34" charset="-122"/>
                <a:cs typeface="Arial" pitchFamily="34" charset="-120"/>
              </a:rPr>
              <a:t>A01</a:t>
            </a:r>
            <a:endParaRPr lang="en-US" sz="950" dirty="0"/>
          </a:p>
        </p:txBody>
      </p:sp>
      <p:sp>
        <p:nvSpPr>
          <p:cNvPr id="16" name="Text 14"/>
          <p:cNvSpPr txBox="1"/>
          <p:nvPr/>
        </p:nvSpPr>
        <p:spPr>
          <a:xfrm>
            <a:off x="6510528" y="2331720"/>
            <a:ext cx="2240280" cy="457200"/>
          </a:xfrm>
          <a:prstGeom prst="rect">
            <a:avLst/>
          </a:prstGeom>
          <a:noFill/>
          <a:ln/>
        </p:spPr>
        <p:txBody>
          <a:bodyPr wrap="square" lIns="0" tIns="0" rIns="0" bIns="0" rtlCol="0" anchor="ctr"/>
          <a:lstStyle/>
          <a:p>
            <a:pPr marL="0" indent="0">
              <a:lnSpc>
                <a:spcPct val="105000"/>
              </a:lnSpc>
              <a:buNone/>
            </a:pPr>
            <a:r>
              <a:rPr lang="en-US" sz="1250" b="1" dirty="0">
                <a:solidFill>
                  <a:srgbClr val="E9EEF7"/>
                </a:solidFill>
                <a:latin typeface="Arial" pitchFamily="34" charset="0"/>
                <a:ea typeface="Arial" pitchFamily="34" charset="-122"/>
                <a:cs typeface="Arial" pitchFamily="34" charset="-120"/>
              </a:rPr>
              <a:t>Missing object-level authz</a:t>
            </a:r>
            <a:endParaRPr lang="en-US" sz="1250" dirty="0"/>
          </a:p>
        </p:txBody>
      </p:sp>
      <p:sp>
        <p:nvSpPr>
          <p:cNvPr id="17" name="Shape 15"/>
          <p:cNvSpPr/>
          <p:nvPr/>
        </p:nvSpPr>
        <p:spPr>
          <a:xfrm>
            <a:off x="9189720" y="1828800"/>
            <a:ext cx="2606040" cy="1051560"/>
          </a:xfrm>
          <a:prstGeom prst="roundRect">
            <a:avLst>
              <a:gd name="adj" fmla="val 6957"/>
            </a:avLst>
          </a:prstGeom>
          <a:solidFill>
            <a:srgbClr val="141A26"/>
          </a:solidFill>
          <a:ln w="12700">
            <a:solidFill>
              <a:srgbClr val="2A3446"/>
            </a:solidFill>
            <a:prstDash val="solid"/>
          </a:ln>
        </p:spPr>
        <p:txBody>
          <a:bodyPr/>
          <a:lstStyle/>
          <a:p>
            <a:endParaRPr lang="en-NP"/>
          </a:p>
        </p:txBody>
      </p:sp>
      <p:sp>
        <p:nvSpPr>
          <p:cNvPr id="18" name="Shape 16"/>
          <p:cNvSpPr/>
          <p:nvPr/>
        </p:nvSpPr>
        <p:spPr>
          <a:xfrm>
            <a:off x="9390888" y="2048256"/>
            <a:ext cx="146304" cy="146304"/>
          </a:xfrm>
          <a:prstGeom prst="ellipse">
            <a:avLst/>
          </a:prstGeom>
          <a:solidFill>
            <a:srgbClr val="FFA33A"/>
          </a:solidFill>
          <a:ln w="12700">
            <a:solidFill>
              <a:srgbClr val="FFA33A"/>
            </a:solidFill>
            <a:prstDash val="solid"/>
          </a:ln>
        </p:spPr>
        <p:txBody>
          <a:bodyPr/>
          <a:lstStyle/>
          <a:p>
            <a:endParaRPr lang="en-NP"/>
          </a:p>
        </p:txBody>
      </p:sp>
      <p:sp>
        <p:nvSpPr>
          <p:cNvPr id="19" name="Text 17"/>
          <p:cNvSpPr txBox="1"/>
          <p:nvPr/>
        </p:nvSpPr>
        <p:spPr>
          <a:xfrm>
            <a:off x="9628632" y="2011680"/>
            <a:ext cx="2011680" cy="219456"/>
          </a:xfrm>
          <a:prstGeom prst="rect">
            <a:avLst/>
          </a:prstGeom>
          <a:noFill/>
          <a:ln/>
        </p:spPr>
        <p:txBody>
          <a:bodyPr wrap="square" lIns="0" tIns="0" rIns="0" bIns="0" rtlCol="0" anchor="ctr"/>
          <a:lstStyle/>
          <a:p>
            <a:pPr marL="0" indent="0">
              <a:buNone/>
            </a:pPr>
            <a:r>
              <a:rPr lang="en-US" sz="950" b="1" kern="0" spc="120" dirty="0">
                <a:solidFill>
                  <a:srgbClr val="FFA33A"/>
                </a:solidFill>
                <a:latin typeface="Arial" pitchFamily="34" charset="0"/>
                <a:ea typeface="Arial" pitchFamily="34" charset="-122"/>
                <a:cs typeface="Arial" pitchFamily="34" charset="-120"/>
              </a:rPr>
              <a:t>A02</a:t>
            </a:r>
            <a:endParaRPr lang="en-US" sz="950" dirty="0"/>
          </a:p>
        </p:txBody>
      </p:sp>
      <p:sp>
        <p:nvSpPr>
          <p:cNvPr id="20" name="Text 18"/>
          <p:cNvSpPr txBox="1"/>
          <p:nvPr/>
        </p:nvSpPr>
        <p:spPr>
          <a:xfrm>
            <a:off x="9390888" y="2331720"/>
            <a:ext cx="2240280" cy="457200"/>
          </a:xfrm>
          <a:prstGeom prst="rect">
            <a:avLst/>
          </a:prstGeom>
          <a:noFill/>
          <a:ln/>
        </p:spPr>
        <p:txBody>
          <a:bodyPr wrap="square" lIns="0" tIns="0" rIns="0" bIns="0" rtlCol="0" anchor="ctr"/>
          <a:lstStyle/>
          <a:p>
            <a:pPr marL="0" indent="0">
              <a:lnSpc>
                <a:spcPct val="105000"/>
              </a:lnSpc>
              <a:buNone/>
            </a:pPr>
            <a:r>
              <a:rPr lang="en-US" sz="1250" b="1" dirty="0">
                <a:solidFill>
                  <a:srgbClr val="E9EEF7"/>
                </a:solidFill>
                <a:latin typeface="Arial" pitchFamily="34" charset="0"/>
                <a:ea typeface="Arial" pitchFamily="34" charset="-122"/>
                <a:cs typeface="Arial" pitchFamily="34" charset="-120"/>
              </a:rPr>
              <a:t>Security misconfiguration</a:t>
            </a:r>
            <a:endParaRPr lang="en-US" sz="1250" dirty="0"/>
          </a:p>
        </p:txBody>
      </p:sp>
      <p:sp>
        <p:nvSpPr>
          <p:cNvPr id="21" name="Shape 19"/>
          <p:cNvSpPr/>
          <p:nvPr/>
        </p:nvSpPr>
        <p:spPr>
          <a:xfrm>
            <a:off x="548640" y="3063240"/>
            <a:ext cx="2606040" cy="1051560"/>
          </a:xfrm>
          <a:prstGeom prst="roundRect">
            <a:avLst>
              <a:gd name="adj" fmla="val 6957"/>
            </a:avLst>
          </a:prstGeom>
          <a:solidFill>
            <a:srgbClr val="141A26"/>
          </a:solidFill>
          <a:ln w="12700">
            <a:solidFill>
              <a:srgbClr val="2A3446"/>
            </a:solidFill>
            <a:prstDash val="solid"/>
          </a:ln>
        </p:spPr>
        <p:txBody>
          <a:bodyPr/>
          <a:lstStyle/>
          <a:p>
            <a:endParaRPr lang="en-NP"/>
          </a:p>
        </p:txBody>
      </p:sp>
      <p:sp>
        <p:nvSpPr>
          <p:cNvPr id="22" name="Shape 20"/>
          <p:cNvSpPr/>
          <p:nvPr/>
        </p:nvSpPr>
        <p:spPr>
          <a:xfrm>
            <a:off x="749808" y="3282696"/>
            <a:ext cx="146304" cy="146304"/>
          </a:xfrm>
          <a:prstGeom prst="ellipse">
            <a:avLst/>
          </a:prstGeom>
          <a:solidFill>
            <a:srgbClr val="FFA33A"/>
          </a:solidFill>
          <a:ln w="12700">
            <a:solidFill>
              <a:srgbClr val="FFA33A"/>
            </a:solidFill>
            <a:prstDash val="solid"/>
          </a:ln>
        </p:spPr>
        <p:txBody>
          <a:bodyPr/>
          <a:lstStyle/>
          <a:p>
            <a:endParaRPr lang="en-NP"/>
          </a:p>
        </p:txBody>
      </p:sp>
      <p:sp>
        <p:nvSpPr>
          <p:cNvPr id="23" name="Text 21"/>
          <p:cNvSpPr txBox="1"/>
          <p:nvPr/>
        </p:nvSpPr>
        <p:spPr>
          <a:xfrm>
            <a:off x="987552" y="3246120"/>
            <a:ext cx="2011680" cy="219456"/>
          </a:xfrm>
          <a:prstGeom prst="rect">
            <a:avLst/>
          </a:prstGeom>
          <a:noFill/>
          <a:ln/>
        </p:spPr>
        <p:txBody>
          <a:bodyPr wrap="square" lIns="0" tIns="0" rIns="0" bIns="0" rtlCol="0" anchor="ctr"/>
          <a:lstStyle/>
          <a:p>
            <a:pPr marL="0" indent="0">
              <a:buNone/>
            </a:pPr>
            <a:r>
              <a:rPr lang="en-US" sz="950" b="1" kern="0" spc="120" dirty="0">
                <a:solidFill>
                  <a:srgbClr val="FFA33A"/>
                </a:solidFill>
                <a:latin typeface="Arial" pitchFamily="34" charset="0"/>
                <a:ea typeface="Arial" pitchFamily="34" charset="-122"/>
                <a:cs typeface="Arial" pitchFamily="34" charset="-120"/>
              </a:rPr>
              <a:t>A02 / A04</a:t>
            </a:r>
            <a:endParaRPr lang="en-US" sz="950" dirty="0"/>
          </a:p>
        </p:txBody>
      </p:sp>
      <p:sp>
        <p:nvSpPr>
          <p:cNvPr id="24" name="Text 22"/>
          <p:cNvSpPr txBox="1"/>
          <p:nvPr/>
        </p:nvSpPr>
        <p:spPr>
          <a:xfrm>
            <a:off x="749808" y="3566160"/>
            <a:ext cx="2240280" cy="457200"/>
          </a:xfrm>
          <a:prstGeom prst="rect">
            <a:avLst/>
          </a:prstGeom>
          <a:noFill/>
          <a:ln/>
        </p:spPr>
        <p:txBody>
          <a:bodyPr wrap="square" lIns="0" tIns="0" rIns="0" bIns="0" rtlCol="0" anchor="ctr"/>
          <a:lstStyle/>
          <a:p>
            <a:pPr marL="0" indent="0">
              <a:lnSpc>
                <a:spcPct val="105000"/>
              </a:lnSpc>
              <a:buNone/>
            </a:pPr>
            <a:r>
              <a:rPr lang="en-US" sz="1250" b="1" dirty="0">
                <a:solidFill>
                  <a:srgbClr val="E9EEF7"/>
                </a:solidFill>
                <a:latin typeface="Arial" pitchFamily="34" charset="0"/>
                <a:ea typeface="Arial" pitchFamily="34" charset="-122"/>
                <a:cs typeface="Arial" pitchFamily="34" charset="-120"/>
              </a:rPr>
              <a:t>Secrets in config or Git</a:t>
            </a:r>
            <a:endParaRPr lang="en-US" sz="1250" dirty="0"/>
          </a:p>
        </p:txBody>
      </p:sp>
      <p:sp>
        <p:nvSpPr>
          <p:cNvPr id="25" name="Shape 23"/>
          <p:cNvSpPr/>
          <p:nvPr/>
        </p:nvSpPr>
        <p:spPr>
          <a:xfrm>
            <a:off x="3429000" y="3063240"/>
            <a:ext cx="2606040" cy="1051560"/>
          </a:xfrm>
          <a:prstGeom prst="roundRect">
            <a:avLst>
              <a:gd name="adj" fmla="val 6957"/>
            </a:avLst>
          </a:prstGeom>
          <a:solidFill>
            <a:srgbClr val="141A26"/>
          </a:solidFill>
          <a:ln w="12700">
            <a:solidFill>
              <a:srgbClr val="2A3446"/>
            </a:solidFill>
            <a:prstDash val="solid"/>
          </a:ln>
        </p:spPr>
        <p:txBody>
          <a:bodyPr/>
          <a:lstStyle/>
          <a:p>
            <a:endParaRPr lang="en-NP"/>
          </a:p>
        </p:txBody>
      </p:sp>
      <p:sp>
        <p:nvSpPr>
          <p:cNvPr id="26" name="Shape 24"/>
          <p:cNvSpPr/>
          <p:nvPr/>
        </p:nvSpPr>
        <p:spPr>
          <a:xfrm>
            <a:off x="3630168" y="3282696"/>
            <a:ext cx="146304" cy="146304"/>
          </a:xfrm>
          <a:prstGeom prst="ellipse">
            <a:avLst/>
          </a:prstGeom>
          <a:solidFill>
            <a:srgbClr val="FFC15E"/>
          </a:solidFill>
          <a:ln w="12700">
            <a:solidFill>
              <a:srgbClr val="FFC15E"/>
            </a:solidFill>
            <a:prstDash val="solid"/>
          </a:ln>
        </p:spPr>
        <p:txBody>
          <a:bodyPr/>
          <a:lstStyle/>
          <a:p>
            <a:endParaRPr lang="en-NP"/>
          </a:p>
        </p:txBody>
      </p:sp>
      <p:sp>
        <p:nvSpPr>
          <p:cNvPr id="27" name="Text 25"/>
          <p:cNvSpPr txBox="1"/>
          <p:nvPr/>
        </p:nvSpPr>
        <p:spPr>
          <a:xfrm>
            <a:off x="3867912" y="3246120"/>
            <a:ext cx="2011680" cy="219456"/>
          </a:xfrm>
          <a:prstGeom prst="rect">
            <a:avLst/>
          </a:prstGeom>
          <a:noFill/>
          <a:ln/>
        </p:spPr>
        <p:txBody>
          <a:bodyPr wrap="square" lIns="0" tIns="0" rIns="0" bIns="0" rtlCol="0" anchor="ctr"/>
          <a:lstStyle/>
          <a:p>
            <a:pPr marL="0" indent="0">
              <a:buNone/>
            </a:pPr>
            <a:r>
              <a:rPr lang="en-US" sz="950" b="1" kern="0" spc="120" dirty="0">
                <a:solidFill>
                  <a:srgbClr val="FFC15E"/>
                </a:solidFill>
                <a:latin typeface="Arial" pitchFamily="34" charset="0"/>
                <a:ea typeface="Arial" pitchFamily="34" charset="-122"/>
                <a:cs typeface="Arial" pitchFamily="34" charset="-120"/>
              </a:rPr>
              <a:t>A03</a:t>
            </a:r>
            <a:endParaRPr lang="en-US" sz="950" dirty="0"/>
          </a:p>
        </p:txBody>
      </p:sp>
      <p:sp>
        <p:nvSpPr>
          <p:cNvPr id="28" name="Text 26"/>
          <p:cNvSpPr txBox="1"/>
          <p:nvPr/>
        </p:nvSpPr>
        <p:spPr>
          <a:xfrm>
            <a:off x="3630168" y="3566160"/>
            <a:ext cx="2240280" cy="457200"/>
          </a:xfrm>
          <a:prstGeom prst="rect">
            <a:avLst/>
          </a:prstGeom>
          <a:noFill/>
          <a:ln/>
        </p:spPr>
        <p:txBody>
          <a:bodyPr wrap="square" lIns="0" tIns="0" rIns="0" bIns="0" rtlCol="0" anchor="ctr"/>
          <a:lstStyle/>
          <a:p>
            <a:pPr marL="0" indent="0">
              <a:lnSpc>
                <a:spcPct val="105000"/>
              </a:lnSpc>
              <a:buNone/>
            </a:pPr>
            <a:r>
              <a:rPr lang="en-US" sz="1250" b="1" dirty="0">
                <a:solidFill>
                  <a:srgbClr val="E9EEF7"/>
                </a:solidFill>
                <a:latin typeface="Arial" pitchFamily="34" charset="0"/>
                <a:ea typeface="Arial" pitchFamily="34" charset="-122"/>
                <a:cs typeface="Arial" pitchFamily="34" charset="-120"/>
              </a:rPr>
              <a:t>Vulnerable NuGet packages</a:t>
            </a:r>
            <a:endParaRPr lang="en-US" sz="1250" dirty="0"/>
          </a:p>
        </p:txBody>
      </p:sp>
      <p:sp>
        <p:nvSpPr>
          <p:cNvPr id="29" name="Shape 27"/>
          <p:cNvSpPr/>
          <p:nvPr/>
        </p:nvSpPr>
        <p:spPr>
          <a:xfrm>
            <a:off x="6309360" y="3063240"/>
            <a:ext cx="2606040" cy="1051560"/>
          </a:xfrm>
          <a:prstGeom prst="roundRect">
            <a:avLst>
              <a:gd name="adj" fmla="val 6957"/>
            </a:avLst>
          </a:prstGeom>
          <a:solidFill>
            <a:srgbClr val="141A26"/>
          </a:solidFill>
          <a:ln w="12700">
            <a:solidFill>
              <a:srgbClr val="2A3446"/>
            </a:solidFill>
            <a:prstDash val="solid"/>
          </a:ln>
        </p:spPr>
        <p:txBody>
          <a:bodyPr/>
          <a:lstStyle/>
          <a:p>
            <a:endParaRPr lang="en-NP"/>
          </a:p>
        </p:txBody>
      </p:sp>
      <p:sp>
        <p:nvSpPr>
          <p:cNvPr id="30" name="Shape 28"/>
          <p:cNvSpPr/>
          <p:nvPr/>
        </p:nvSpPr>
        <p:spPr>
          <a:xfrm>
            <a:off x="6510528" y="3282696"/>
            <a:ext cx="146304" cy="146304"/>
          </a:xfrm>
          <a:prstGeom prst="ellipse">
            <a:avLst/>
          </a:prstGeom>
          <a:solidFill>
            <a:srgbClr val="FFC15E"/>
          </a:solidFill>
          <a:ln w="12700">
            <a:solidFill>
              <a:srgbClr val="FFC15E"/>
            </a:solidFill>
            <a:prstDash val="solid"/>
          </a:ln>
        </p:spPr>
        <p:txBody>
          <a:bodyPr/>
          <a:lstStyle/>
          <a:p>
            <a:endParaRPr lang="en-NP"/>
          </a:p>
        </p:txBody>
      </p:sp>
      <p:sp>
        <p:nvSpPr>
          <p:cNvPr id="31" name="Text 29"/>
          <p:cNvSpPr txBox="1"/>
          <p:nvPr/>
        </p:nvSpPr>
        <p:spPr>
          <a:xfrm>
            <a:off x="6748272" y="3246120"/>
            <a:ext cx="2011680" cy="219456"/>
          </a:xfrm>
          <a:prstGeom prst="rect">
            <a:avLst/>
          </a:prstGeom>
          <a:noFill/>
          <a:ln/>
        </p:spPr>
        <p:txBody>
          <a:bodyPr wrap="square" lIns="0" tIns="0" rIns="0" bIns="0" rtlCol="0" anchor="ctr"/>
          <a:lstStyle/>
          <a:p>
            <a:pPr marL="0" indent="0">
              <a:buNone/>
            </a:pPr>
            <a:r>
              <a:rPr lang="en-US" sz="950" b="1" kern="0" spc="120" dirty="0">
                <a:solidFill>
                  <a:srgbClr val="FFC15E"/>
                </a:solidFill>
                <a:latin typeface="Arial" pitchFamily="34" charset="0"/>
                <a:ea typeface="Arial" pitchFamily="34" charset="-122"/>
                <a:cs typeface="Arial" pitchFamily="34" charset="-120"/>
              </a:rPr>
              <a:t>A05</a:t>
            </a:r>
            <a:endParaRPr lang="en-US" sz="950" dirty="0"/>
          </a:p>
        </p:txBody>
      </p:sp>
      <p:sp>
        <p:nvSpPr>
          <p:cNvPr id="32" name="Text 30"/>
          <p:cNvSpPr txBox="1"/>
          <p:nvPr/>
        </p:nvSpPr>
        <p:spPr>
          <a:xfrm>
            <a:off x="6510528" y="3566160"/>
            <a:ext cx="2240280" cy="457200"/>
          </a:xfrm>
          <a:prstGeom prst="rect">
            <a:avLst/>
          </a:prstGeom>
          <a:noFill/>
          <a:ln/>
        </p:spPr>
        <p:txBody>
          <a:bodyPr wrap="square" lIns="0" tIns="0" rIns="0" bIns="0" rtlCol="0" anchor="ctr"/>
          <a:lstStyle/>
          <a:p>
            <a:pPr marL="0" indent="0">
              <a:lnSpc>
                <a:spcPct val="105000"/>
              </a:lnSpc>
              <a:buNone/>
            </a:pPr>
            <a:r>
              <a:rPr lang="en-US" sz="1250" b="1" dirty="0">
                <a:solidFill>
                  <a:srgbClr val="E9EEF7"/>
                </a:solidFill>
                <a:latin typeface="Arial" pitchFamily="34" charset="0"/>
                <a:ea typeface="Arial" pitchFamily="34" charset="-122"/>
                <a:cs typeface="Arial" pitchFamily="34" charset="-120"/>
              </a:rPr>
              <a:t>SQL injection via raw SQL</a:t>
            </a:r>
            <a:endParaRPr lang="en-US" sz="1250" dirty="0"/>
          </a:p>
        </p:txBody>
      </p:sp>
      <p:sp>
        <p:nvSpPr>
          <p:cNvPr id="33" name="Shape 31"/>
          <p:cNvSpPr/>
          <p:nvPr/>
        </p:nvSpPr>
        <p:spPr>
          <a:xfrm>
            <a:off x="9189720" y="3063240"/>
            <a:ext cx="2606040" cy="1051560"/>
          </a:xfrm>
          <a:prstGeom prst="roundRect">
            <a:avLst>
              <a:gd name="adj" fmla="val 6957"/>
            </a:avLst>
          </a:prstGeom>
          <a:solidFill>
            <a:srgbClr val="141A26"/>
          </a:solidFill>
          <a:ln w="12700">
            <a:solidFill>
              <a:srgbClr val="2A3446"/>
            </a:solidFill>
            <a:prstDash val="solid"/>
          </a:ln>
        </p:spPr>
        <p:txBody>
          <a:bodyPr/>
          <a:lstStyle/>
          <a:p>
            <a:endParaRPr lang="en-NP"/>
          </a:p>
        </p:txBody>
      </p:sp>
      <p:sp>
        <p:nvSpPr>
          <p:cNvPr id="34" name="Shape 32"/>
          <p:cNvSpPr/>
          <p:nvPr/>
        </p:nvSpPr>
        <p:spPr>
          <a:xfrm>
            <a:off x="9390888" y="3282696"/>
            <a:ext cx="146304" cy="146304"/>
          </a:xfrm>
          <a:prstGeom prst="ellipse">
            <a:avLst/>
          </a:prstGeom>
          <a:solidFill>
            <a:srgbClr val="FFC15E"/>
          </a:solidFill>
          <a:ln w="12700">
            <a:solidFill>
              <a:srgbClr val="FFC15E"/>
            </a:solidFill>
            <a:prstDash val="solid"/>
          </a:ln>
        </p:spPr>
        <p:txBody>
          <a:bodyPr/>
          <a:lstStyle/>
          <a:p>
            <a:endParaRPr lang="en-NP"/>
          </a:p>
        </p:txBody>
      </p:sp>
      <p:sp>
        <p:nvSpPr>
          <p:cNvPr id="35" name="Text 33"/>
          <p:cNvSpPr txBox="1"/>
          <p:nvPr/>
        </p:nvSpPr>
        <p:spPr>
          <a:xfrm>
            <a:off x="9628632" y="3246120"/>
            <a:ext cx="2011680" cy="219456"/>
          </a:xfrm>
          <a:prstGeom prst="rect">
            <a:avLst/>
          </a:prstGeom>
          <a:noFill/>
          <a:ln/>
        </p:spPr>
        <p:txBody>
          <a:bodyPr wrap="square" lIns="0" tIns="0" rIns="0" bIns="0" rtlCol="0" anchor="ctr"/>
          <a:lstStyle/>
          <a:p>
            <a:pPr marL="0" indent="0">
              <a:buNone/>
            </a:pPr>
            <a:r>
              <a:rPr lang="en-US" sz="950" b="1" kern="0" spc="120" dirty="0">
                <a:solidFill>
                  <a:srgbClr val="FFC15E"/>
                </a:solidFill>
                <a:latin typeface="Arial" pitchFamily="34" charset="0"/>
                <a:ea typeface="Arial" pitchFamily="34" charset="-122"/>
                <a:cs typeface="Arial" pitchFamily="34" charset="-120"/>
              </a:rPr>
              <a:t>A05</a:t>
            </a:r>
            <a:endParaRPr lang="en-US" sz="950" dirty="0"/>
          </a:p>
        </p:txBody>
      </p:sp>
      <p:sp>
        <p:nvSpPr>
          <p:cNvPr id="36" name="Text 34"/>
          <p:cNvSpPr txBox="1"/>
          <p:nvPr/>
        </p:nvSpPr>
        <p:spPr>
          <a:xfrm>
            <a:off x="9390888" y="3566160"/>
            <a:ext cx="2240280" cy="457200"/>
          </a:xfrm>
          <a:prstGeom prst="rect">
            <a:avLst/>
          </a:prstGeom>
          <a:noFill/>
          <a:ln/>
        </p:spPr>
        <p:txBody>
          <a:bodyPr wrap="square" lIns="0" tIns="0" rIns="0" bIns="0" rtlCol="0" anchor="ctr"/>
          <a:lstStyle/>
          <a:p>
            <a:pPr marL="0" indent="0">
              <a:lnSpc>
                <a:spcPct val="105000"/>
              </a:lnSpc>
              <a:buNone/>
            </a:pPr>
            <a:r>
              <a:rPr lang="en-US" sz="1250" b="1" dirty="0">
                <a:solidFill>
                  <a:srgbClr val="E9EEF7"/>
                </a:solidFill>
                <a:latin typeface="Arial" pitchFamily="34" charset="0"/>
                <a:ea typeface="Arial" pitchFamily="34" charset="-122"/>
                <a:cs typeface="Arial" pitchFamily="34" charset="-120"/>
              </a:rPr>
              <a:t>XSS in Razor / SPA output</a:t>
            </a:r>
            <a:endParaRPr lang="en-US" sz="1250" dirty="0"/>
          </a:p>
        </p:txBody>
      </p:sp>
      <p:sp>
        <p:nvSpPr>
          <p:cNvPr id="37" name="Shape 35"/>
          <p:cNvSpPr/>
          <p:nvPr/>
        </p:nvSpPr>
        <p:spPr>
          <a:xfrm>
            <a:off x="548640" y="4297680"/>
            <a:ext cx="2606040" cy="1051560"/>
          </a:xfrm>
          <a:prstGeom prst="roundRect">
            <a:avLst>
              <a:gd name="adj" fmla="val 6957"/>
            </a:avLst>
          </a:prstGeom>
          <a:solidFill>
            <a:srgbClr val="141A26"/>
          </a:solidFill>
          <a:ln w="12700">
            <a:solidFill>
              <a:srgbClr val="2A3446"/>
            </a:solidFill>
            <a:prstDash val="solid"/>
          </a:ln>
        </p:spPr>
        <p:txBody>
          <a:bodyPr/>
          <a:lstStyle/>
          <a:p>
            <a:endParaRPr lang="en-NP"/>
          </a:p>
        </p:txBody>
      </p:sp>
      <p:sp>
        <p:nvSpPr>
          <p:cNvPr id="38" name="Shape 36"/>
          <p:cNvSpPr/>
          <p:nvPr/>
        </p:nvSpPr>
        <p:spPr>
          <a:xfrm>
            <a:off x="749808" y="4517136"/>
            <a:ext cx="146304" cy="146304"/>
          </a:xfrm>
          <a:prstGeom prst="ellipse">
            <a:avLst/>
          </a:prstGeom>
          <a:solidFill>
            <a:srgbClr val="FFC15E"/>
          </a:solidFill>
          <a:ln w="12700">
            <a:solidFill>
              <a:srgbClr val="FFC15E"/>
            </a:solidFill>
            <a:prstDash val="solid"/>
          </a:ln>
        </p:spPr>
        <p:txBody>
          <a:bodyPr/>
          <a:lstStyle/>
          <a:p>
            <a:endParaRPr lang="en-NP"/>
          </a:p>
        </p:txBody>
      </p:sp>
      <p:sp>
        <p:nvSpPr>
          <p:cNvPr id="39" name="Text 37"/>
          <p:cNvSpPr txBox="1"/>
          <p:nvPr/>
        </p:nvSpPr>
        <p:spPr>
          <a:xfrm>
            <a:off x="987552" y="4480560"/>
            <a:ext cx="2011680" cy="219456"/>
          </a:xfrm>
          <a:prstGeom prst="rect">
            <a:avLst/>
          </a:prstGeom>
          <a:noFill/>
          <a:ln/>
        </p:spPr>
        <p:txBody>
          <a:bodyPr wrap="square" lIns="0" tIns="0" rIns="0" bIns="0" rtlCol="0" anchor="ctr"/>
          <a:lstStyle/>
          <a:p>
            <a:pPr marL="0" indent="0">
              <a:buNone/>
            </a:pPr>
            <a:r>
              <a:rPr lang="en-US" sz="950" b="1" kern="0" spc="120" dirty="0">
                <a:solidFill>
                  <a:srgbClr val="FFC15E"/>
                </a:solidFill>
                <a:latin typeface="Arial" pitchFamily="34" charset="0"/>
                <a:ea typeface="Arial" pitchFamily="34" charset="-122"/>
                <a:cs typeface="Arial" pitchFamily="34" charset="-120"/>
              </a:rPr>
              <a:t>A05 / A06</a:t>
            </a:r>
            <a:endParaRPr lang="en-US" sz="950" dirty="0"/>
          </a:p>
        </p:txBody>
      </p:sp>
      <p:sp>
        <p:nvSpPr>
          <p:cNvPr id="40" name="Text 38"/>
          <p:cNvSpPr txBox="1"/>
          <p:nvPr/>
        </p:nvSpPr>
        <p:spPr>
          <a:xfrm>
            <a:off x="749808" y="4800600"/>
            <a:ext cx="2240280" cy="457200"/>
          </a:xfrm>
          <a:prstGeom prst="rect">
            <a:avLst/>
          </a:prstGeom>
          <a:noFill/>
          <a:ln/>
        </p:spPr>
        <p:txBody>
          <a:bodyPr wrap="square" lIns="0" tIns="0" rIns="0" bIns="0" rtlCol="0" anchor="ctr"/>
          <a:lstStyle/>
          <a:p>
            <a:pPr marL="0" indent="0">
              <a:lnSpc>
                <a:spcPct val="105000"/>
              </a:lnSpc>
              <a:buNone/>
            </a:pPr>
            <a:r>
              <a:rPr lang="en-US" sz="1250" b="1" dirty="0">
                <a:solidFill>
                  <a:srgbClr val="E9EEF7"/>
                </a:solidFill>
                <a:latin typeface="Arial" pitchFamily="34" charset="0"/>
                <a:ea typeface="Arial" pitchFamily="34" charset="-122"/>
                <a:cs typeface="Arial" pitchFamily="34" charset="-120"/>
              </a:rPr>
              <a:t>Insecure file upload</a:t>
            </a:r>
            <a:endParaRPr lang="en-US" sz="1250" dirty="0"/>
          </a:p>
        </p:txBody>
      </p:sp>
      <p:sp>
        <p:nvSpPr>
          <p:cNvPr id="41" name="Shape 39"/>
          <p:cNvSpPr/>
          <p:nvPr/>
        </p:nvSpPr>
        <p:spPr>
          <a:xfrm>
            <a:off x="3429000" y="4297680"/>
            <a:ext cx="2606040" cy="1051560"/>
          </a:xfrm>
          <a:prstGeom prst="roundRect">
            <a:avLst>
              <a:gd name="adj" fmla="val 6957"/>
            </a:avLst>
          </a:prstGeom>
          <a:solidFill>
            <a:srgbClr val="141A26"/>
          </a:solidFill>
          <a:ln w="12700">
            <a:solidFill>
              <a:srgbClr val="2A3446"/>
            </a:solidFill>
            <a:prstDash val="solid"/>
          </a:ln>
        </p:spPr>
        <p:txBody>
          <a:bodyPr/>
          <a:lstStyle/>
          <a:p>
            <a:endParaRPr lang="en-NP"/>
          </a:p>
        </p:txBody>
      </p:sp>
      <p:sp>
        <p:nvSpPr>
          <p:cNvPr id="42" name="Shape 40"/>
          <p:cNvSpPr/>
          <p:nvPr/>
        </p:nvSpPr>
        <p:spPr>
          <a:xfrm>
            <a:off x="3630168" y="4517136"/>
            <a:ext cx="146304" cy="146304"/>
          </a:xfrm>
          <a:prstGeom prst="ellipse">
            <a:avLst/>
          </a:prstGeom>
          <a:solidFill>
            <a:srgbClr val="4CC9F0"/>
          </a:solidFill>
          <a:ln w="12700">
            <a:solidFill>
              <a:srgbClr val="4CC9F0"/>
            </a:solidFill>
            <a:prstDash val="solid"/>
          </a:ln>
        </p:spPr>
        <p:txBody>
          <a:bodyPr/>
          <a:lstStyle/>
          <a:p>
            <a:endParaRPr lang="en-NP"/>
          </a:p>
        </p:txBody>
      </p:sp>
      <p:sp>
        <p:nvSpPr>
          <p:cNvPr id="43" name="Text 41"/>
          <p:cNvSpPr txBox="1"/>
          <p:nvPr/>
        </p:nvSpPr>
        <p:spPr>
          <a:xfrm>
            <a:off x="3867912" y="4480560"/>
            <a:ext cx="2011680" cy="219456"/>
          </a:xfrm>
          <a:prstGeom prst="rect">
            <a:avLst/>
          </a:prstGeom>
          <a:noFill/>
          <a:ln/>
        </p:spPr>
        <p:txBody>
          <a:bodyPr wrap="square" lIns="0" tIns="0" rIns="0" bIns="0" rtlCol="0" anchor="ctr"/>
          <a:lstStyle/>
          <a:p>
            <a:pPr marL="0" indent="0">
              <a:buNone/>
            </a:pPr>
            <a:r>
              <a:rPr lang="en-US" sz="950" b="1" kern="0" spc="120" dirty="0">
                <a:solidFill>
                  <a:srgbClr val="4CC9F0"/>
                </a:solidFill>
                <a:latin typeface="Arial" pitchFamily="34" charset="0"/>
                <a:ea typeface="Arial" pitchFamily="34" charset="-122"/>
                <a:cs typeface="Arial" pitchFamily="34" charset="-120"/>
              </a:rPr>
              <a:t>A07</a:t>
            </a:r>
            <a:endParaRPr lang="en-US" sz="950" dirty="0"/>
          </a:p>
        </p:txBody>
      </p:sp>
      <p:sp>
        <p:nvSpPr>
          <p:cNvPr id="44" name="Text 42"/>
          <p:cNvSpPr txBox="1"/>
          <p:nvPr/>
        </p:nvSpPr>
        <p:spPr>
          <a:xfrm>
            <a:off x="3630168" y="4800600"/>
            <a:ext cx="2240280" cy="457200"/>
          </a:xfrm>
          <a:prstGeom prst="rect">
            <a:avLst/>
          </a:prstGeom>
          <a:noFill/>
          <a:ln/>
        </p:spPr>
        <p:txBody>
          <a:bodyPr wrap="square" lIns="0" tIns="0" rIns="0" bIns="0" rtlCol="0" anchor="ctr"/>
          <a:lstStyle/>
          <a:p>
            <a:pPr marL="0" indent="0">
              <a:lnSpc>
                <a:spcPct val="105000"/>
              </a:lnSpc>
              <a:buNone/>
            </a:pPr>
            <a:r>
              <a:rPr lang="en-US" sz="1250" b="1" dirty="0">
                <a:solidFill>
                  <a:srgbClr val="E9EEF7"/>
                </a:solidFill>
                <a:latin typeface="Arial" pitchFamily="34" charset="0"/>
                <a:ea typeface="Arial" pitchFamily="34" charset="-122"/>
                <a:cs typeface="Arial" pitchFamily="34" charset="-120"/>
              </a:rPr>
              <a:t>Weak auth &amp; session handling</a:t>
            </a:r>
            <a:endParaRPr lang="en-US" sz="1250" dirty="0"/>
          </a:p>
        </p:txBody>
      </p:sp>
      <p:sp>
        <p:nvSpPr>
          <p:cNvPr id="45" name="Shape 43"/>
          <p:cNvSpPr/>
          <p:nvPr/>
        </p:nvSpPr>
        <p:spPr>
          <a:xfrm>
            <a:off x="6309360" y="4297680"/>
            <a:ext cx="2606040" cy="1051560"/>
          </a:xfrm>
          <a:prstGeom prst="roundRect">
            <a:avLst>
              <a:gd name="adj" fmla="val 6957"/>
            </a:avLst>
          </a:prstGeom>
          <a:solidFill>
            <a:srgbClr val="141A26"/>
          </a:solidFill>
          <a:ln w="12700">
            <a:solidFill>
              <a:srgbClr val="2A3446"/>
            </a:solidFill>
            <a:prstDash val="solid"/>
          </a:ln>
        </p:spPr>
        <p:txBody>
          <a:bodyPr/>
          <a:lstStyle/>
          <a:p>
            <a:endParaRPr lang="en-NP"/>
          </a:p>
        </p:txBody>
      </p:sp>
      <p:sp>
        <p:nvSpPr>
          <p:cNvPr id="46" name="Shape 44"/>
          <p:cNvSpPr/>
          <p:nvPr/>
        </p:nvSpPr>
        <p:spPr>
          <a:xfrm>
            <a:off x="6510528" y="4517136"/>
            <a:ext cx="146304" cy="146304"/>
          </a:xfrm>
          <a:prstGeom prst="ellipse">
            <a:avLst/>
          </a:prstGeom>
          <a:solidFill>
            <a:srgbClr val="4CC9F0"/>
          </a:solidFill>
          <a:ln w="12700">
            <a:solidFill>
              <a:srgbClr val="4CC9F0"/>
            </a:solidFill>
            <a:prstDash val="solid"/>
          </a:ln>
        </p:spPr>
        <p:txBody>
          <a:bodyPr/>
          <a:lstStyle/>
          <a:p>
            <a:endParaRPr lang="en-NP"/>
          </a:p>
        </p:txBody>
      </p:sp>
      <p:sp>
        <p:nvSpPr>
          <p:cNvPr id="47" name="Text 45"/>
          <p:cNvSpPr txBox="1"/>
          <p:nvPr/>
        </p:nvSpPr>
        <p:spPr>
          <a:xfrm>
            <a:off x="6748272" y="4480560"/>
            <a:ext cx="2011680" cy="219456"/>
          </a:xfrm>
          <a:prstGeom prst="rect">
            <a:avLst/>
          </a:prstGeom>
          <a:noFill/>
          <a:ln/>
        </p:spPr>
        <p:txBody>
          <a:bodyPr wrap="square" lIns="0" tIns="0" rIns="0" bIns="0" rtlCol="0" anchor="ctr"/>
          <a:lstStyle/>
          <a:p>
            <a:pPr marL="0" indent="0">
              <a:buNone/>
            </a:pPr>
            <a:r>
              <a:rPr lang="en-US" sz="950" b="1" kern="0" spc="120" dirty="0">
                <a:solidFill>
                  <a:srgbClr val="4CC9F0"/>
                </a:solidFill>
                <a:latin typeface="Arial" pitchFamily="34" charset="0"/>
                <a:ea typeface="Arial" pitchFamily="34" charset="-122"/>
                <a:cs typeface="Arial" pitchFamily="34" charset="-120"/>
              </a:rPr>
              <a:t>A08</a:t>
            </a:r>
            <a:endParaRPr lang="en-US" sz="950" dirty="0"/>
          </a:p>
        </p:txBody>
      </p:sp>
      <p:sp>
        <p:nvSpPr>
          <p:cNvPr id="48" name="Text 46"/>
          <p:cNvSpPr txBox="1"/>
          <p:nvPr/>
        </p:nvSpPr>
        <p:spPr>
          <a:xfrm>
            <a:off x="6510528" y="4800600"/>
            <a:ext cx="2240280" cy="457200"/>
          </a:xfrm>
          <a:prstGeom prst="rect">
            <a:avLst/>
          </a:prstGeom>
          <a:noFill/>
          <a:ln/>
        </p:spPr>
        <p:txBody>
          <a:bodyPr wrap="square" lIns="0" tIns="0" rIns="0" bIns="0" rtlCol="0" anchor="ctr"/>
          <a:lstStyle/>
          <a:p>
            <a:pPr marL="0" indent="0">
              <a:lnSpc>
                <a:spcPct val="105000"/>
              </a:lnSpc>
              <a:buNone/>
            </a:pPr>
            <a:r>
              <a:rPr lang="en-US" sz="1250" b="1" dirty="0">
                <a:solidFill>
                  <a:srgbClr val="E9EEF7"/>
                </a:solidFill>
                <a:latin typeface="Arial" pitchFamily="34" charset="0"/>
                <a:ea typeface="Arial" pitchFamily="34" charset="-122"/>
                <a:cs typeface="Arial" pitchFamily="34" charset="-120"/>
              </a:rPr>
              <a:t>Unsafe deserialization</a:t>
            </a:r>
            <a:endParaRPr lang="en-US" sz="1250" dirty="0"/>
          </a:p>
        </p:txBody>
      </p:sp>
      <p:sp>
        <p:nvSpPr>
          <p:cNvPr id="49" name="Shape 47"/>
          <p:cNvSpPr/>
          <p:nvPr/>
        </p:nvSpPr>
        <p:spPr>
          <a:xfrm>
            <a:off x="9189720" y="4297680"/>
            <a:ext cx="2606040" cy="1051560"/>
          </a:xfrm>
          <a:prstGeom prst="roundRect">
            <a:avLst>
              <a:gd name="adj" fmla="val 6957"/>
            </a:avLst>
          </a:prstGeom>
          <a:solidFill>
            <a:srgbClr val="141A26"/>
          </a:solidFill>
          <a:ln w="12700">
            <a:solidFill>
              <a:srgbClr val="2A3446"/>
            </a:solidFill>
            <a:prstDash val="solid"/>
          </a:ln>
        </p:spPr>
        <p:txBody>
          <a:bodyPr/>
          <a:lstStyle/>
          <a:p>
            <a:endParaRPr lang="en-NP"/>
          </a:p>
        </p:txBody>
      </p:sp>
      <p:sp>
        <p:nvSpPr>
          <p:cNvPr id="50" name="Shape 48"/>
          <p:cNvSpPr/>
          <p:nvPr/>
        </p:nvSpPr>
        <p:spPr>
          <a:xfrm>
            <a:off x="9390888" y="4517136"/>
            <a:ext cx="146304" cy="146304"/>
          </a:xfrm>
          <a:prstGeom prst="ellipse">
            <a:avLst/>
          </a:prstGeom>
          <a:solidFill>
            <a:srgbClr val="4CC9F0"/>
          </a:solidFill>
          <a:ln w="12700">
            <a:solidFill>
              <a:srgbClr val="4CC9F0"/>
            </a:solidFill>
            <a:prstDash val="solid"/>
          </a:ln>
        </p:spPr>
        <p:txBody>
          <a:bodyPr/>
          <a:lstStyle/>
          <a:p>
            <a:endParaRPr lang="en-NP"/>
          </a:p>
        </p:txBody>
      </p:sp>
      <p:sp>
        <p:nvSpPr>
          <p:cNvPr id="51" name="Text 49"/>
          <p:cNvSpPr txBox="1"/>
          <p:nvPr/>
        </p:nvSpPr>
        <p:spPr>
          <a:xfrm>
            <a:off x="9628632" y="4480560"/>
            <a:ext cx="2011680" cy="219456"/>
          </a:xfrm>
          <a:prstGeom prst="rect">
            <a:avLst/>
          </a:prstGeom>
          <a:noFill/>
          <a:ln/>
        </p:spPr>
        <p:txBody>
          <a:bodyPr wrap="square" lIns="0" tIns="0" rIns="0" bIns="0" rtlCol="0" anchor="ctr"/>
          <a:lstStyle/>
          <a:p>
            <a:pPr marL="0" indent="0">
              <a:buNone/>
            </a:pPr>
            <a:r>
              <a:rPr lang="en-US" sz="950" b="1" kern="0" spc="120" dirty="0">
                <a:solidFill>
                  <a:srgbClr val="4CC9F0"/>
                </a:solidFill>
                <a:latin typeface="Arial" pitchFamily="34" charset="0"/>
                <a:ea typeface="Arial" pitchFamily="34" charset="-122"/>
                <a:cs typeface="Arial" pitchFamily="34" charset="-120"/>
              </a:rPr>
              <a:t>A09</a:t>
            </a:r>
            <a:endParaRPr lang="en-US" sz="950" dirty="0"/>
          </a:p>
        </p:txBody>
      </p:sp>
      <p:sp>
        <p:nvSpPr>
          <p:cNvPr id="52" name="Text 50"/>
          <p:cNvSpPr txBox="1"/>
          <p:nvPr/>
        </p:nvSpPr>
        <p:spPr>
          <a:xfrm>
            <a:off x="9390888" y="4800600"/>
            <a:ext cx="2240280" cy="457200"/>
          </a:xfrm>
          <a:prstGeom prst="rect">
            <a:avLst/>
          </a:prstGeom>
          <a:noFill/>
          <a:ln/>
        </p:spPr>
        <p:txBody>
          <a:bodyPr wrap="square" lIns="0" tIns="0" rIns="0" bIns="0" rtlCol="0" anchor="ctr"/>
          <a:lstStyle/>
          <a:p>
            <a:pPr marL="0" indent="0">
              <a:lnSpc>
                <a:spcPct val="105000"/>
              </a:lnSpc>
              <a:buNone/>
            </a:pPr>
            <a:r>
              <a:rPr lang="en-US" sz="1250" b="1" dirty="0">
                <a:solidFill>
                  <a:srgbClr val="E9EEF7"/>
                </a:solidFill>
                <a:latin typeface="Arial" pitchFamily="34" charset="0"/>
                <a:ea typeface="Arial" pitchFamily="34" charset="-122"/>
                <a:cs typeface="Arial" pitchFamily="34" charset="-120"/>
              </a:rPr>
              <a:t>No logging, no alerting</a:t>
            </a:r>
            <a:endParaRPr lang="en-US" sz="1250" dirty="0"/>
          </a:p>
        </p:txBody>
      </p:sp>
      <p:sp>
        <p:nvSpPr>
          <p:cNvPr id="53" name="Text 51"/>
          <p:cNvSpPr txBox="1"/>
          <p:nvPr/>
        </p:nvSpPr>
        <p:spPr>
          <a:xfrm>
            <a:off x="548640" y="5623560"/>
            <a:ext cx="11091672" cy="365760"/>
          </a:xfrm>
          <a:prstGeom prst="rect">
            <a:avLst/>
          </a:prstGeom>
          <a:noFill/>
          <a:ln/>
        </p:spPr>
        <p:txBody>
          <a:bodyPr wrap="square" lIns="0" tIns="0" rIns="0" bIns="0" rtlCol="0" anchor="ctr"/>
          <a:lstStyle/>
          <a:p>
            <a:pPr marL="0" indent="0" algn="ctr">
              <a:buNone/>
            </a:pPr>
            <a:r>
              <a:rPr lang="en-US" sz="1200" i="1" dirty="0">
                <a:solidFill>
                  <a:srgbClr val="8C97AC"/>
                </a:solidFill>
                <a:latin typeface="Arial" pitchFamily="34" charset="0"/>
                <a:ea typeface="Arial" pitchFamily="34" charset="-122"/>
                <a:cs typeface="Arial" pitchFamily="34" charset="-120"/>
              </a:rPr>
              <a:t>A10:2025 — Mishandling of Exceptional Conditions is brand new: failing open, swallowed exceptions, verbose errors. We'll hit it later.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THE NUMBER ONE QUESTION</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400" b="1" dirty="0">
                <a:solidFill>
                  <a:srgbClr val="E9EEF7"/>
                </a:solidFill>
                <a:latin typeface="Arial" pitchFamily="34" charset="0"/>
                <a:ea typeface="Arial" pitchFamily="34" charset="-122"/>
                <a:cs typeface="Arial" pitchFamily="34" charset="-120"/>
              </a:rPr>
              <a:t>Authentication  ≠  Authorization</a:t>
            </a:r>
            <a:endParaRPr lang="en-US" sz="3400" dirty="0"/>
          </a:p>
        </p:txBody>
      </p:sp>
      <p:sp>
        <p:nvSpPr>
          <p:cNvPr id="4" name="Shape 2"/>
          <p:cNvSpPr/>
          <p:nvPr/>
        </p:nvSpPr>
        <p:spPr>
          <a:xfrm>
            <a:off x="548640" y="1645920"/>
            <a:ext cx="5440680" cy="1051560"/>
          </a:xfrm>
          <a:prstGeom prst="roundRect">
            <a:avLst>
              <a:gd name="adj" fmla="val 6957"/>
            </a:avLst>
          </a:prstGeom>
          <a:solidFill>
            <a:srgbClr val="141A26"/>
          </a:solidFill>
          <a:ln w="12700">
            <a:solidFill>
              <a:srgbClr val="4CC9F0"/>
            </a:solidFill>
            <a:prstDash val="solid"/>
          </a:ln>
        </p:spPr>
        <p:txBody>
          <a:bodyPr/>
          <a:lstStyle/>
          <a:p>
            <a:endParaRPr lang="en-NP"/>
          </a:p>
        </p:txBody>
      </p:sp>
      <p:sp>
        <p:nvSpPr>
          <p:cNvPr id="5" name="Text 3"/>
          <p:cNvSpPr txBox="1"/>
          <p:nvPr/>
        </p:nvSpPr>
        <p:spPr>
          <a:xfrm>
            <a:off x="822960" y="1792224"/>
            <a:ext cx="4846320" cy="237744"/>
          </a:xfrm>
          <a:prstGeom prst="rect">
            <a:avLst/>
          </a:prstGeom>
          <a:noFill/>
          <a:ln/>
        </p:spPr>
        <p:txBody>
          <a:bodyPr wrap="square" lIns="0" tIns="0" rIns="0" bIns="0" rtlCol="0" anchor="ctr"/>
          <a:lstStyle/>
          <a:p>
            <a:pPr marL="0" indent="0">
              <a:buNone/>
            </a:pPr>
            <a:r>
              <a:rPr lang="en-US" sz="1050" b="1" kern="0" spc="200" dirty="0">
                <a:solidFill>
                  <a:srgbClr val="4CC9F0"/>
                </a:solidFill>
                <a:latin typeface="Arial" pitchFamily="34" charset="0"/>
                <a:ea typeface="Arial" pitchFamily="34" charset="-122"/>
                <a:cs typeface="Arial" pitchFamily="34" charset="-120"/>
              </a:rPr>
              <a:t>AUTHENTICATION</a:t>
            </a:r>
            <a:endParaRPr lang="en-US" sz="1050" dirty="0"/>
          </a:p>
        </p:txBody>
      </p:sp>
      <p:sp>
        <p:nvSpPr>
          <p:cNvPr id="6" name="Text 4"/>
          <p:cNvSpPr txBox="1"/>
          <p:nvPr/>
        </p:nvSpPr>
        <p:spPr>
          <a:xfrm>
            <a:off x="822960" y="2084832"/>
            <a:ext cx="4846320" cy="457200"/>
          </a:xfrm>
          <a:prstGeom prst="rect">
            <a:avLst/>
          </a:prstGeom>
          <a:noFill/>
          <a:ln/>
        </p:spPr>
        <p:txBody>
          <a:bodyPr wrap="square" lIns="0" tIns="0" rIns="0" bIns="0" rtlCol="0" anchor="ctr"/>
          <a:lstStyle/>
          <a:p>
            <a:pPr marL="0" indent="0">
              <a:buNone/>
            </a:pPr>
            <a:r>
              <a:rPr lang="en-US" sz="2200" b="1" dirty="0">
                <a:solidFill>
                  <a:srgbClr val="E9EEF7"/>
                </a:solidFill>
                <a:latin typeface="Arial" pitchFamily="34" charset="0"/>
                <a:ea typeface="Arial" pitchFamily="34" charset="-122"/>
                <a:cs typeface="Arial" pitchFamily="34" charset="-120"/>
              </a:rPr>
              <a:t>"Who are you?"</a:t>
            </a:r>
            <a:endParaRPr lang="en-US" sz="2200" dirty="0"/>
          </a:p>
        </p:txBody>
      </p:sp>
      <p:sp>
        <p:nvSpPr>
          <p:cNvPr id="7" name="Shape 5"/>
          <p:cNvSpPr/>
          <p:nvPr/>
        </p:nvSpPr>
        <p:spPr>
          <a:xfrm>
            <a:off x="6199632" y="1645920"/>
            <a:ext cx="5440680" cy="1051560"/>
          </a:xfrm>
          <a:prstGeom prst="roundRect">
            <a:avLst>
              <a:gd name="adj" fmla="val 6957"/>
            </a:avLst>
          </a:prstGeom>
          <a:solidFill>
            <a:srgbClr val="141A26"/>
          </a:solidFill>
          <a:ln w="12700">
            <a:solidFill>
              <a:srgbClr val="9A6BFF"/>
            </a:solidFill>
            <a:prstDash val="solid"/>
          </a:ln>
        </p:spPr>
        <p:txBody>
          <a:bodyPr/>
          <a:lstStyle/>
          <a:p>
            <a:endParaRPr lang="en-NP"/>
          </a:p>
        </p:txBody>
      </p:sp>
      <p:sp>
        <p:nvSpPr>
          <p:cNvPr id="8" name="Text 6"/>
          <p:cNvSpPr txBox="1"/>
          <p:nvPr/>
        </p:nvSpPr>
        <p:spPr>
          <a:xfrm>
            <a:off x="6473952" y="1792224"/>
            <a:ext cx="4846320" cy="237744"/>
          </a:xfrm>
          <a:prstGeom prst="rect">
            <a:avLst/>
          </a:prstGeom>
          <a:noFill/>
          <a:ln/>
        </p:spPr>
        <p:txBody>
          <a:bodyPr wrap="square" lIns="0" tIns="0" rIns="0" bIns="0" rtlCol="0" anchor="ctr"/>
          <a:lstStyle/>
          <a:p>
            <a:pPr marL="0" indent="0">
              <a:buNone/>
            </a:pPr>
            <a:r>
              <a:rPr lang="en-US" sz="1050" b="1" kern="0" spc="200" dirty="0">
                <a:solidFill>
                  <a:srgbClr val="9A6BFF"/>
                </a:solidFill>
                <a:latin typeface="Arial" pitchFamily="34" charset="0"/>
                <a:ea typeface="Arial" pitchFamily="34" charset="-122"/>
                <a:cs typeface="Arial" pitchFamily="34" charset="-120"/>
              </a:rPr>
              <a:t>AUTHORIZATION</a:t>
            </a:r>
            <a:endParaRPr lang="en-US" sz="1050" dirty="0"/>
          </a:p>
        </p:txBody>
      </p:sp>
      <p:sp>
        <p:nvSpPr>
          <p:cNvPr id="9" name="Text 7"/>
          <p:cNvSpPr txBox="1"/>
          <p:nvPr/>
        </p:nvSpPr>
        <p:spPr>
          <a:xfrm>
            <a:off x="6473952" y="2084832"/>
            <a:ext cx="5029200" cy="457200"/>
          </a:xfrm>
          <a:prstGeom prst="rect">
            <a:avLst/>
          </a:prstGeom>
          <a:noFill/>
          <a:ln/>
        </p:spPr>
        <p:txBody>
          <a:bodyPr wrap="square" lIns="0" tIns="0" rIns="0" bIns="0" rtlCol="0" anchor="ctr"/>
          <a:lstStyle/>
          <a:p>
            <a:pPr marL="0" indent="0">
              <a:buNone/>
            </a:pPr>
            <a:r>
              <a:rPr lang="en-US" sz="1900" b="1" dirty="0">
                <a:solidFill>
                  <a:srgbClr val="E9EEF7"/>
                </a:solidFill>
                <a:latin typeface="Arial" pitchFamily="34" charset="0"/>
                <a:ea typeface="Arial" pitchFamily="34" charset="-122"/>
                <a:cs typeface="Arial" pitchFamily="34" charset="-120"/>
              </a:rPr>
              <a:t>"What are you allowed to do?"</a:t>
            </a:r>
            <a:endParaRPr lang="en-US" sz="1900" dirty="0"/>
          </a:p>
        </p:txBody>
      </p:sp>
      <p:sp>
        <p:nvSpPr>
          <p:cNvPr id="10" name="Shape 8"/>
          <p:cNvSpPr/>
          <p:nvPr/>
        </p:nvSpPr>
        <p:spPr>
          <a:xfrm>
            <a:off x="548640" y="2880360"/>
            <a:ext cx="5440680" cy="1371600"/>
          </a:xfrm>
          <a:prstGeom prst="roundRect">
            <a:avLst>
              <a:gd name="adj" fmla="val 4000"/>
            </a:avLst>
          </a:prstGeom>
          <a:solidFill>
            <a:srgbClr val="090D15"/>
          </a:solidFill>
          <a:ln w="12700">
            <a:solidFill>
              <a:srgbClr val="243049"/>
            </a:solidFill>
            <a:prstDash val="solid"/>
          </a:ln>
        </p:spPr>
        <p:txBody>
          <a:bodyPr/>
          <a:lstStyle/>
          <a:p>
            <a:endParaRPr lang="en-NP"/>
          </a:p>
        </p:txBody>
      </p:sp>
      <p:sp>
        <p:nvSpPr>
          <p:cNvPr id="11" name="Text 9"/>
          <p:cNvSpPr txBox="1"/>
          <p:nvPr/>
        </p:nvSpPr>
        <p:spPr>
          <a:xfrm>
            <a:off x="713232" y="3008376"/>
            <a:ext cx="5111496" cy="1133856"/>
          </a:xfrm>
          <a:prstGeom prst="rect">
            <a:avLst/>
          </a:prstGeom>
          <a:noFill/>
          <a:ln/>
        </p:spPr>
        <p:txBody>
          <a:bodyPr wrap="square" lIns="0" tIns="0" rIns="0" bIns="0" rtlCol="0" anchor="t"/>
          <a:lstStyle/>
          <a:p>
            <a:pPr marL="0" indent="0">
              <a:lnSpc>
                <a:spcPct val="130000"/>
              </a:lnSpc>
              <a:buNone/>
            </a:pPr>
            <a:r>
              <a:rPr lang="en-US" sz="1300" b="1" dirty="0">
                <a:solidFill>
                  <a:srgbClr val="CBD7E8"/>
                </a:solidFill>
                <a:latin typeface="Courier New" pitchFamily="34" charset="0"/>
                <a:ea typeface="Courier New" pitchFamily="34" charset="-122"/>
                <a:cs typeface="Courier New" pitchFamily="34" charset="-120"/>
              </a:rPr>
              <a:t>GET /api/orders/123</a:t>
            </a:r>
            <a:endParaRPr lang="en-US" sz="1300" dirty="0"/>
          </a:p>
          <a:p>
            <a:pPr marL="0" indent="0">
              <a:lnSpc>
                <a:spcPct val="130000"/>
              </a:lnSpc>
              <a:buNone/>
            </a:pPr>
            <a:r>
              <a:rPr lang="en-US" sz="1300" dirty="0">
                <a:solidFill>
                  <a:srgbClr val="667488"/>
                </a:solidFill>
                <a:latin typeface="Courier New" pitchFamily="34" charset="0"/>
                <a:ea typeface="Courier New" pitchFamily="34" charset="-122"/>
                <a:cs typeface="Courier New" pitchFamily="34" charset="-120"/>
              </a:rPr>
              <a:t>Authorization: Bearer eyJhbGci...</a:t>
            </a:r>
            <a:endParaRPr lang="en-US" sz="1300" dirty="0"/>
          </a:p>
          <a:p>
            <a:pPr marL="0" indent="0">
              <a:lnSpc>
                <a:spcPct val="130000"/>
              </a:lnSpc>
              <a:buNone/>
            </a:pPr>
            <a:r>
              <a:rPr lang="en-US" sz="1300" dirty="0">
                <a:solidFill>
                  <a:srgbClr val="CBD7E8"/>
                </a:solidFill>
                <a:latin typeface="Courier New" pitchFamily="34" charset="0"/>
                <a:ea typeface="Courier New" pitchFamily="34" charset="-122"/>
                <a:cs typeface="Courier New" pitchFamily="34" charset="-120"/>
              </a:rPr>
              <a:t> </a:t>
            </a:r>
            <a:r>
              <a:rPr lang="en-US" sz="1300" dirty="0">
                <a:solidFill>
                  <a:srgbClr val="7EE787"/>
                </a:solidFill>
                <a:latin typeface="Courier New" pitchFamily="34" charset="0"/>
                <a:ea typeface="Courier New" pitchFamily="34" charset="-122"/>
                <a:cs typeface="Courier New" pitchFamily="34" charset="-120"/>
              </a:rPr>
              <a:t>→ user 42 is authenticated ✓</a:t>
            </a:r>
            <a:endParaRPr lang="en-US" sz="1300" dirty="0"/>
          </a:p>
        </p:txBody>
      </p:sp>
      <p:sp>
        <p:nvSpPr>
          <p:cNvPr id="12" name="Text 10"/>
          <p:cNvSpPr txBox="1"/>
          <p:nvPr/>
        </p:nvSpPr>
        <p:spPr>
          <a:xfrm>
            <a:off x="6199632" y="2971800"/>
            <a:ext cx="5440680" cy="1188720"/>
          </a:xfrm>
          <a:prstGeom prst="rect">
            <a:avLst/>
          </a:prstGeom>
          <a:noFill/>
          <a:ln/>
        </p:spPr>
        <p:txBody>
          <a:bodyPr wrap="square" lIns="0" tIns="0" rIns="0" bIns="0" rtlCol="0" anchor="ctr"/>
          <a:lstStyle/>
          <a:p>
            <a:pPr marL="0" indent="0">
              <a:lnSpc>
                <a:spcPct val="115000"/>
              </a:lnSpc>
              <a:buNone/>
            </a:pPr>
            <a:r>
              <a:rPr lang="en-US" sz="1900" b="1" dirty="0">
                <a:solidFill>
                  <a:srgbClr val="FF6B5E"/>
                </a:solidFill>
                <a:latin typeface="Arial" pitchFamily="34" charset="0"/>
                <a:ea typeface="Arial" pitchFamily="34" charset="-122"/>
                <a:cs typeface="Arial" pitchFamily="34" charset="-120"/>
              </a:rPr>
              <a:t>The question nobody asked:</a:t>
            </a:r>
            <a:endParaRPr lang="en-US" sz="1900" dirty="0"/>
          </a:p>
          <a:p>
            <a:pPr marL="0" indent="0">
              <a:lnSpc>
                <a:spcPct val="115000"/>
              </a:lnSpc>
              <a:buNone/>
            </a:pPr>
            <a:r>
              <a:rPr lang="en-US" sz="1900" b="1" dirty="0">
                <a:solidFill>
                  <a:srgbClr val="FF6B5E"/>
                </a:solidFill>
                <a:latin typeface="Arial" pitchFamily="34" charset="0"/>
                <a:ea typeface="Arial" pitchFamily="34" charset="-122"/>
                <a:cs typeface="Arial" pitchFamily="34" charset="-120"/>
              </a:rPr>
              <a:t>"Can user 42 read order 123?"</a:t>
            </a:r>
            <a:endParaRPr lang="en-US" sz="1900" dirty="0"/>
          </a:p>
        </p:txBody>
      </p:sp>
      <p:sp>
        <p:nvSpPr>
          <p:cNvPr id="13" name="Shape 11"/>
          <p:cNvSpPr/>
          <p:nvPr/>
        </p:nvSpPr>
        <p:spPr>
          <a:xfrm>
            <a:off x="548640" y="4526280"/>
            <a:ext cx="5440680" cy="1325880"/>
          </a:xfrm>
          <a:prstGeom prst="roundRect">
            <a:avLst>
              <a:gd name="adj" fmla="val 5517"/>
            </a:avLst>
          </a:prstGeom>
          <a:solidFill>
            <a:srgbClr val="2A1618"/>
          </a:solidFill>
          <a:ln w="12700">
            <a:solidFill>
              <a:srgbClr val="FF6B5E"/>
            </a:solidFill>
            <a:prstDash val="solid"/>
          </a:ln>
        </p:spPr>
        <p:txBody>
          <a:bodyPr/>
          <a:lstStyle/>
          <a:p>
            <a:endParaRPr lang="en-NP"/>
          </a:p>
        </p:txBody>
      </p:sp>
      <p:sp>
        <p:nvSpPr>
          <p:cNvPr id="14" name="Text 12"/>
          <p:cNvSpPr txBox="1"/>
          <p:nvPr/>
        </p:nvSpPr>
        <p:spPr>
          <a:xfrm>
            <a:off x="822960" y="4681728"/>
            <a:ext cx="4846320" cy="228600"/>
          </a:xfrm>
          <a:prstGeom prst="rect">
            <a:avLst/>
          </a:prstGeom>
          <a:noFill/>
          <a:ln/>
        </p:spPr>
        <p:txBody>
          <a:bodyPr wrap="square" lIns="0" tIns="0" rIns="0" bIns="0" rtlCol="0" anchor="ctr"/>
          <a:lstStyle/>
          <a:p>
            <a:pPr marL="0" indent="0">
              <a:buNone/>
            </a:pPr>
            <a:r>
              <a:rPr lang="en-US" sz="1000" b="1" kern="0" spc="160" dirty="0">
                <a:solidFill>
                  <a:srgbClr val="FF6B5E"/>
                </a:solidFill>
                <a:latin typeface="Arial" pitchFamily="34" charset="0"/>
                <a:ea typeface="Arial" pitchFamily="34" charset="-122"/>
                <a:cs typeface="Arial" pitchFamily="34" charset="-120"/>
              </a:rPr>
              <a:t>THE DANGEROUS ASSUMPTION</a:t>
            </a:r>
            <a:endParaRPr lang="en-US" sz="1000" dirty="0"/>
          </a:p>
        </p:txBody>
      </p:sp>
      <p:sp>
        <p:nvSpPr>
          <p:cNvPr id="15" name="Text 13"/>
          <p:cNvSpPr txBox="1"/>
          <p:nvPr/>
        </p:nvSpPr>
        <p:spPr>
          <a:xfrm>
            <a:off x="822960" y="5029200"/>
            <a:ext cx="5029200" cy="548640"/>
          </a:xfrm>
          <a:prstGeom prst="rect">
            <a:avLst/>
          </a:prstGeom>
          <a:noFill/>
          <a:ln/>
        </p:spPr>
        <p:txBody>
          <a:bodyPr wrap="square" lIns="0" tIns="0" rIns="0" bIns="0" rtlCol="0" anchor="ctr"/>
          <a:lstStyle/>
          <a:p>
            <a:pPr marL="0" indent="0">
              <a:buNone/>
            </a:pPr>
            <a:r>
              <a:rPr lang="en-US" sz="1600" b="1" dirty="0">
                <a:solidFill>
                  <a:srgbClr val="E9EEF7"/>
                </a:solidFill>
                <a:latin typeface="Courier New" pitchFamily="34" charset="0"/>
                <a:ea typeface="Courier New" pitchFamily="34" charset="-122"/>
                <a:cs typeface="Courier New" pitchFamily="34" charset="-120"/>
              </a:rPr>
              <a:t>[ Authenticated ]   →   [ Authorized ]</a:t>
            </a:r>
            <a:endParaRPr lang="en-US" sz="1600" dirty="0"/>
          </a:p>
        </p:txBody>
      </p:sp>
      <p:sp>
        <p:nvSpPr>
          <p:cNvPr id="16" name="Shape 14"/>
          <p:cNvSpPr/>
          <p:nvPr/>
        </p:nvSpPr>
        <p:spPr>
          <a:xfrm>
            <a:off x="6199632" y="4526280"/>
            <a:ext cx="5440680" cy="1325880"/>
          </a:xfrm>
          <a:prstGeom prst="roundRect">
            <a:avLst>
              <a:gd name="adj" fmla="val 5517"/>
            </a:avLst>
          </a:prstGeom>
          <a:solidFill>
            <a:srgbClr val="13291F"/>
          </a:solidFill>
          <a:ln w="12700">
            <a:solidFill>
              <a:srgbClr val="4FD68A"/>
            </a:solidFill>
            <a:prstDash val="solid"/>
          </a:ln>
        </p:spPr>
        <p:txBody>
          <a:bodyPr/>
          <a:lstStyle/>
          <a:p>
            <a:endParaRPr lang="en-NP"/>
          </a:p>
        </p:txBody>
      </p:sp>
      <p:sp>
        <p:nvSpPr>
          <p:cNvPr id="17" name="Text 15"/>
          <p:cNvSpPr txBox="1"/>
          <p:nvPr/>
        </p:nvSpPr>
        <p:spPr>
          <a:xfrm>
            <a:off x="6473952" y="4681728"/>
            <a:ext cx="5029200" cy="228600"/>
          </a:xfrm>
          <a:prstGeom prst="rect">
            <a:avLst/>
          </a:prstGeom>
          <a:noFill/>
          <a:ln/>
        </p:spPr>
        <p:txBody>
          <a:bodyPr wrap="square" lIns="0" tIns="0" rIns="0" bIns="0" rtlCol="0" anchor="ctr"/>
          <a:lstStyle/>
          <a:p>
            <a:pPr marL="0" indent="0">
              <a:buNone/>
            </a:pPr>
            <a:r>
              <a:rPr lang="en-US" sz="1000" b="1" kern="0" spc="160" dirty="0">
                <a:solidFill>
                  <a:srgbClr val="4FD68A"/>
                </a:solidFill>
                <a:latin typeface="Arial" pitchFamily="34" charset="0"/>
                <a:ea typeface="Arial" pitchFamily="34" charset="-122"/>
                <a:cs typeface="Arial" pitchFamily="34" charset="-120"/>
              </a:rPr>
              <a:t>WHAT AUTHORIZED ACTUALLY MEANS</a:t>
            </a:r>
            <a:endParaRPr lang="en-US" sz="1000" dirty="0"/>
          </a:p>
        </p:txBody>
      </p:sp>
      <p:sp>
        <p:nvSpPr>
          <p:cNvPr id="18" name="Text 16"/>
          <p:cNvSpPr txBox="1"/>
          <p:nvPr/>
        </p:nvSpPr>
        <p:spPr>
          <a:xfrm>
            <a:off x="6473952" y="4983480"/>
            <a:ext cx="5029200" cy="685800"/>
          </a:xfrm>
          <a:prstGeom prst="rect">
            <a:avLst/>
          </a:prstGeom>
          <a:noFill/>
          <a:ln/>
        </p:spPr>
        <p:txBody>
          <a:bodyPr wrap="square" lIns="0" tIns="0" rIns="0" bIns="0" rtlCol="0" anchor="ctr"/>
          <a:lstStyle/>
          <a:p>
            <a:pPr marL="0" indent="0">
              <a:lnSpc>
                <a:spcPct val="120000"/>
              </a:lnSpc>
              <a:buNone/>
            </a:pPr>
            <a:r>
              <a:rPr lang="en-US" sz="1250" b="1" dirty="0">
                <a:solidFill>
                  <a:srgbClr val="E9EEF7"/>
                </a:solidFill>
                <a:latin typeface="Courier New" pitchFamily="34" charset="0"/>
                <a:ea typeface="Courier New" pitchFamily="34" charset="-122"/>
                <a:cs typeface="Courier New" pitchFamily="34" charset="-120"/>
              </a:rPr>
              <a:t>[ Authenticated ] + [ Object-level check ]</a:t>
            </a:r>
            <a:endParaRPr lang="en-US" sz="1250" dirty="0"/>
          </a:p>
          <a:p>
            <a:pPr marL="0" indent="0">
              <a:lnSpc>
                <a:spcPct val="120000"/>
              </a:lnSpc>
              <a:buNone/>
            </a:pPr>
            <a:r>
              <a:rPr lang="en-US" sz="1250" b="1" dirty="0">
                <a:solidFill>
                  <a:srgbClr val="E9EEF7"/>
                </a:solidFill>
                <a:latin typeface="Courier New" pitchFamily="34" charset="0"/>
                <a:ea typeface="Courier New" pitchFamily="34" charset="-122"/>
                <a:cs typeface="Courier New" pitchFamily="34" charset="-120"/>
              </a:rPr>
              <a:t>+ [ Business rules ]  =  [ Authorized ]</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FFA33A"/>
                </a:solidFill>
                <a:latin typeface="Arial" pitchFamily="34" charset="0"/>
                <a:ea typeface="Arial" pitchFamily="34" charset="-122"/>
                <a:cs typeface="Arial" pitchFamily="34" charset="-120"/>
              </a:rPr>
              <a:t>MINI CODE REVIEW  ·  10 SECONDS ON THE CLOCK</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200" b="1" dirty="0">
                <a:solidFill>
                  <a:srgbClr val="E9EEF7"/>
                </a:solidFill>
                <a:latin typeface="Arial" pitchFamily="34" charset="0"/>
                <a:ea typeface="Arial" pitchFamily="34" charset="-122"/>
                <a:cs typeface="Arial" pitchFamily="34" charset="-120"/>
              </a:rPr>
              <a:t>What's Wrong With This?</a:t>
            </a:r>
            <a:endParaRPr lang="en-US" sz="3200" dirty="0"/>
          </a:p>
        </p:txBody>
      </p:sp>
      <p:sp>
        <p:nvSpPr>
          <p:cNvPr id="4" name="Shape 2"/>
          <p:cNvSpPr/>
          <p:nvPr/>
        </p:nvSpPr>
        <p:spPr>
          <a:xfrm>
            <a:off x="548640" y="1691640"/>
            <a:ext cx="6492240" cy="2788920"/>
          </a:xfrm>
          <a:prstGeom prst="roundRect">
            <a:avLst>
              <a:gd name="adj" fmla="val 1967"/>
            </a:avLst>
          </a:prstGeom>
          <a:solidFill>
            <a:srgbClr val="090D15"/>
          </a:solidFill>
          <a:ln w="12700">
            <a:solidFill>
              <a:srgbClr val="243049"/>
            </a:solidFill>
            <a:prstDash val="solid"/>
          </a:ln>
        </p:spPr>
        <p:txBody>
          <a:bodyPr/>
          <a:lstStyle/>
          <a:p>
            <a:endParaRPr lang="en-NP"/>
          </a:p>
        </p:txBody>
      </p:sp>
      <p:sp>
        <p:nvSpPr>
          <p:cNvPr id="5" name="Text 3"/>
          <p:cNvSpPr txBox="1"/>
          <p:nvPr/>
        </p:nvSpPr>
        <p:spPr>
          <a:xfrm>
            <a:off x="713232" y="1801368"/>
            <a:ext cx="6163056" cy="219456"/>
          </a:xfrm>
          <a:prstGeom prst="rect">
            <a:avLst/>
          </a:prstGeom>
          <a:noFill/>
          <a:ln/>
        </p:spPr>
        <p:txBody>
          <a:bodyPr wrap="square" lIns="0" tIns="0" rIns="0" bIns="0" rtlCol="0" anchor="ctr"/>
          <a:lstStyle/>
          <a:p>
            <a:pPr marL="0" indent="0">
              <a:buNone/>
            </a:pPr>
            <a:r>
              <a:rPr lang="en-US" sz="1000" b="1" kern="0" spc="140" dirty="0">
                <a:solidFill>
                  <a:srgbClr val="5C687D"/>
                </a:solidFill>
                <a:latin typeface="Arial" pitchFamily="34" charset="0"/>
                <a:ea typeface="Arial" pitchFamily="34" charset="-122"/>
                <a:cs typeface="Arial" pitchFamily="34" charset="-120"/>
              </a:rPr>
              <a:t>UsersController.cs</a:t>
            </a:r>
            <a:endParaRPr lang="en-US" sz="1000" dirty="0"/>
          </a:p>
        </p:txBody>
      </p:sp>
      <p:sp>
        <p:nvSpPr>
          <p:cNvPr id="6" name="Text 4"/>
          <p:cNvSpPr txBox="1"/>
          <p:nvPr/>
        </p:nvSpPr>
        <p:spPr>
          <a:xfrm>
            <a:off x="713232" y="2112264"/>
            <a:ext cx="6163056" cy="2258568"/>
          </a:xfrm>
          <a:prstGeom prst="rect">
            <a:avLst/>
          </a:prstGeom>
          <a:noFill/>
          <a:ln/>
        </p:spPr>
        <p:txBody>
          <a:bodyPr wrap="square" lIns="0" tIns="0" rIns="0" bIns="0" rtlCol="0" anchor="t"/>
          <a:lstStyle/>
          <a:p>
            <a:pPr marL="0" indent="0">
              <a:lnSpc>
                <a:spcPct val="130000"/>
              </a:lnSpc>
              <a:buNone/>
            </a:pPr>
            <a:r>
              <a:rPr lang="en-US" sz="1500" dirty="0">
                <a:solidFill>
                  <a:srgbClr val="C79BFF"/>
                </a:solidFill>
                <a:latin typeface="Courier New" pitchFamily="34" charset="0"/>
                <a:ea typeface="Courier New" pitchFamily="34" charset="-122"/>
                <a:cs typeface="Courier New" pitchFamily="34" charset="-120"/>
              </a:rPr>
              <a:t>[Authorize]</a:t>
            </a:r>
            <a:endParaRPr lang="en-US" sz="1500" dirty="0"/>
          </a:p>
          <a:p>
            <a:pPr marL="0" indent="0">
              <a:lnSpc>
                <a:spcPct val="130000"/>
              </a:lnSpc>
              <a:buNone/>
            </a:pPr>
            <a:r>
              <a:rPr lang="en-US" sz="1500" dirty="0">
                <a:solidFill>
                  <a:srgbClr val="C79BFF"/>
                </a:solidFill>
                <a:latin typeface="Courier New" pitchFamily="34" charset="0"/>
                <a:ea typeface="Courier New" pitchFamily="34" charset="-122"/>
                <a:cs typeface="Courier New" pitchFamily="34" charset="-120"/>
              </a:rPr>
              <a:t>[HttpGet(</a:t>
            </a:r>
            <a:r>
              <a:rPr lang="en-US" sz="1500" dirty="0">
                <a:solidFill>
                  <a:srgbClr val="8BE38B"/>
                </a:solidFill>
                <a:latin typeface="Courier New" pitchFamily="34" charset="0"/>
                <a:ea typeface="Courier New" pitchFamily="34" charset="-122"/>
                <a:cs typeface="Courier New" pitchFamily="34" charset="-120"/>
              </a:rPr>
              <a:t>"/api/users/{id}"</a:t>
            </a:r>
            <a:r>
              <a:rPr lang="en-US" sz="1500" dirty="0">
                <a:solidFill>
                  <a:srgbClr val="C79BFF"/>
                </a:solidFill>
                <a:latin typeface="Courier New" pitchFamily="34" charset="0"/>
                <a:ea typeface="Courier New" pitchFamily="34" charset="-122"/>
                <a:cs typeface="Courier New" pitchFamily="34" charset="-120"/>
              </a:rPr>
              <a:t>)]</a:t>
            </a:r>
            <a:endParaRPr lang="en-US" sz="1500" dirty="0"/>
          </a:p>
          <a:p>
            <a:pPr marL="0" indent="0">
              <a:lnSpc>
                <a:spcPct val="130000"/>
              </a:lnSpc>
              <a:buNone/>
            </a:pPr>
            <a:r>
              <a:rPr lang="en-US" sz="1500" dirty="0">
                <a:solidFill>
                  <a:srgbClr val="C79BFF"/>
                </a:solidFill>
                <a:latin typeface="Courier New" pitchFamily="34" charset="0"/>
                <a:ea typeface="Courier New" pitchFamily="34" charset="-122"/>
                <a:cs typeface="Courier New" pitchFamily="34" charset="-120"/>
              </a:rPr>
              <a:t>public </a:t>
            </a:r>
            <a:r>
              <a:rPr lang="en-US" sz="1500" dirty="0">
                <a:solidFill>
                  <a:srgbClr val="79C0FF"/>
                </a:solidFill>
                <a:latin typeface="Courier New" pitchFamily="34" charset="0"/>
                <a:ea typeface="Courier New" pitchFamily="34" charset="-122"/>
                <a:cs typeface="Courier New" pitchFamily="34" charset="-120"/>
              </a:rPr>
              <a:t>IActionResult </a:t>
            </a:r>
            <a:r>
              <a:rPr lang="en-US" sz="1500" dirty="0">
                <a:solidFill>
                  <a:srgbClr val="CBD7E8"/>
                </a:solidFill>
                <a:latin typeface="Courier New" pitchFamily="34" charset="0"/>
                <a:ea typeface="Courier New" pitchFamily="34" charset="-122"/>
                <a:cs typeface="Courier New" pitchFamily="34" charset="-120"/>
              </a:rPr>
              <a:t>GetUser(</a:t>
            </a:r>
            <a:r>
              <a:rPr lang="en-US" sz="1500" dirty="0">
                <a:solidFill>
                  <a:srgbClr val="C79BFF"/>
                </a:solidFill>
                <a:latin typeface="Courier New" pitchFamily="34" charset="0"/>
                <a:ea typeface="Courier New" pitchFamily="34" charset="-122"/>
                <a:cs typeface="Courier New" pitchFamily="34" charset="-120"/>
              </a:rPr>
              <a:t>int</a:t>
            </a:r>
            <a:r>
              <a:rPr lang="en-US" sz="1500" dirty="0">
                <a:solidFill>
                  <a:srgbClr val="CBD7E8"/>
                </a:solidFill>
                <a:latin typeface="Courier New" pitchFamily="34" charset="0"/>
                <a:ea typeface="Courier New" pitchFamily="34" charset="-122"/>
                <a:cs typeface="Courier New" pitchFamily="34" charset="-120"/>
              </a:rPr>
              <a:t> id)</a:t>
            </a:r>
            <a:endParaRPr lang="en-US" sz="1500" dirty="0"/>
          </a:p>
          <a:p>
            <a:pPr marL="0" indent="0">
              <a:lnSpc>
                <a:spcPct val="130000"/>
              </a:lnSpc>
              <a:buNone/>
            </a:pPr>
            <a:r>
              <a:rPr lang="en-US" sz="1500" dirty="0">
                <a:solidFill>
                  <a:srgbClr val="CBD7E8"/>
                </a:solidFill>
                <a:latin typeface="Courier New" pitchFamily="34" charset="0"/>
                <a:ea typeface="Courier New" pitchFamily="34" charset="-122"/>
                <a:cs typeface="Courier New" pitchFamily="34" charset="-120"/>
              </a:rPr>
              <a:t>{</a:t>
            </a:r>
            <a:endParaRPr lang="en-US" sz="1500" dirty="0"/>
          </a:p>
          <a:p>
            <a:pPr marL="0" indent="0">
              <a:lnSpc>
                <a:spcPct val="130000"/>
              </a:lnSpc>
              <a:buNone/>
            </a:pPr>
            <a:r>
              <a:rPr lang="en-US" sz="1500" dirty="0">
                <a:solidFill>
                  <a:srgbClr val="C79BFF"/>
                </a:solidFill>
                <a:latin typeface="Courier New" pitchFamily="34" charset="0"/>
                <a:ea typeface="Courier New" pitchFamily="34" charset="-122"/>
                <a:cs typeface="Courier New" pitchFamily="34" charset="-120"/>
              </a:rPr>
              <a:t>    var</a:t>
            </a:r>
            <a:r>
              <a:rPr lang="en-US" sz="1500" dirty="0">
                <a:solidFill>
                  <a:srgbClr val="CBD7E8"/>
                </a:solidFill>
                <a:latin typeface="Courier New" pitchFamily="34" charset="0"/>
                <a:ea typeface="Courier New" pitchFamily="34" charset="-122"/>
                <a:cs typeface="Courier New" pitchFamily="34" charset="-120"/>
              </a:rPr>
              <a:t> user = db.Users.Find(id);</a:t>
            </a:r>
            <a:endParaRPr lang="en-US" sz="1500" dirty="0"/>
          </a:p>
          <a:p>
            <a:pPr marL="0" indent="0">
              <a:lnSpc>
                <a:spcPct val="130000"/>
              </a:lnSpc>
              <a:buNone/>
            </a:pPr>
            <a:r>
              <a:rPr lang="en-US" sz="1500" dirty="0">
                <a:solidFill>
                  <a:srgbClr val="C79BFF"/>
                </a:solidFill>
                <a:latin typeface="Courier New" pitchFamily="34" charset="0"/>
                <a:ea typeface="Courier New" pitchFamily="34" charset="-122"/>
                <a:cs typeface="Courier New" pitchFamily="34" charset="-120"/>
              </a:rPr>
              <a:t>    return</a:t>
            </a:r>
            <a:r>
              <a:rPr lang="en-US" sz="1500" dirty="0">
                <a:solidFill>
                  <a:srgbClr val="CBD7E8"/>
                </a:solidFill>
                <a:latin typeface="Courier New" pitchFamily="34" charset="0"/>
                <a:ea typeface="Courier New" pitchFamily="34" charset="-122"/>
                <a:cs typeface="Courier New" pitchFamily="34" charset="-120"/>
              </a:rPr>
              <a:t> Ok(user);</a:t>
            </a:r>
            <a:endParaRPr lang="en-US" sz="1500" dirty="0"/>
          </a:p>
          <a:p>
            <a:pPr marL="0" indent="0">
              <a:lnSpc>
                <a:spcPct val="130000"/>
              </a:lnSpc>
              <a:buNone/>
            </a:pPr>
            <a:r>
              <a:rPr lang="en-US" sz="1500" dirty="0">
                <a:solidFill>
                  <a:srgbClr val="CBD7E8"/>
                </a:solidFill>
                <a:latin typeface="Courier New" pitchFamily="34" charset="0"/>
                <a:ea typeface="Courier New" pitchFamily="34" charset="-122"/>
                <a:cs typeface="Courier New" pitchFamily="34" charset="-120"/>
              </a:rPr>
              <a:t>}</a:t>
            </a:r>
            <a:endParaRPr lang="en-US" sz="1500" dirty="0"/>
          </a:p>
        </p:txBody>
      </p:sp>
      <p:sp>
        <p:nvSpPr>
          <p:cNvPr id="7" name="Shape 5"/>
          <p:cNvSpPr/>
          <p:nvPr/>
        </p:nvSpPr>
        <p:spPr>
          <a:xfrm>
            <a:off x="7269480" y="1691640"/>
            <a:ext cx="4370832" cy="2788920"/>
          </a:xfrm>
          <a:prstGeom prst="roundRect">
            <a:avLst>
              <a:gd name="adj" fmla="val 2623"/>
            </a:avLst>
          </a:prstGeom>
          <a:solidFill>
            <a:srgbClr val="141A26"/>
          </a:solidFill>
          <a:ln w="12700">
            <a:solidFill>
              <a:srgbClr val="2A3446"/>
            </a:solidFill>
            <a:prstDash val="solid"/>
          </a:ln>
        </p:spPr>
        <p:txBody>
          <a:bodyPr/>
          <a:lstStyle/>
          <a:p>
            <a:endParaRPr lang="en-NP"/>
          </a:p>
        </p:txBody>
      </p:sp>
      <p:sp>
        <p:nvSpPr>
          <p:cNvPr id="8" name="Text 6"/>
          <p:cNvSpPr txBox="1"/>
          <p:nvPr/>
        </p:nvSpPr>
        <p:spPr>
          <a:xfrm>
            <a:off x="7543800" y="1920240"/>
            <a:ext cx="3840480" cy="320040"/>
          </a:xfrm>
          <a:prstGeom prst="rect">
            <a:avLst/>
          </a:prstGeom>
          <a:noFill/>
          <a:ln/>
        </p:spPr>
        <p:txBody>
          <a:bodyPr wrap="square" lIns="0" tIns="0" rIns="0" bIns="0" rtlCol="0" anchor="ctr"/>
          <a:lstStyle/>
          <a:p>
            <a:pPr marL="0" indent="0">
              <a:buNone/>
            </a:pPr>
            <a:r>
              <a:rPr lang="en-US" sz="1700" b="1" dirty="0">
                <a:solidFill>
                  <a:srgbClr val="4FD68A"/>
                </a:solidFill>
                <a:latin typeface="Arial" pitchFamily="34" charset="0"/>
                <a:ea typeface="Arial" pitchFamily="34" charset="-122"/>
                <a:cs typeface="Arial" pitchFamily="34" charset="-120"/>
              </a:rPr>
              <a:t>IT COMPILES.</a:t>
            </a:r>
            <a:endParaRPr lang="en-US" sz="1700" dirty="0"/>
          </a:p>
        </p:txBody>
      </p:sp>
      <p:sp>
        <p:nvSpPr>
          <p:cNvPr id="9" name="Text 7"/>
          <p:cNvSpPr txBox="1"/>
          <p:nvPr/>
        </p:nvSpPr>
        <p:spPr>
          <a:xfrm>
            <a:off x="7543800" y="2286000"/>
            <a:ext cx="3840480" cy="320040"/>
          </a:xfrm>
          <a:prstGeom prst="rect">
            <a:avLst/>
          </a:prstGeom>
          <a:noFill/>
          <a:ln/>
        </p:spPr>
        <p:txBody>
          <a:bodyPr wrap="square" lIns="0" tIns="0" rIns="0" bIns="0" rtlCol="0" anchor="ctr"/>
          <a:lstStyle/>
          <a:p>
            <a:pPr marL="0" indent="0">
              <a:buNone/>
            </a:pPr>
            <a:r>
              <a:rPr lang="en-US" sz="1700" b="1" dirty="0">
                <a:solidFill>
                  <a:srgbClr val="4FD68A"/>
                </a:solidFill>
                <a:latin typeface="Arial" pitchFamily="34" charset="0"/>
                <a:ea typeface="Arial" pitchFamily="34" charset="-122"/>
                <a:cs typeface="Arial" pitchFamily="34" charset="-120"/>
              </a:rPr>
              <a:t>IT PASSES REVIEW.</a:t>
            </a:r>
            <a:endParaRPr lang="en-US" sz="1700" dirty="0"/>
          </a:p>
        </p:txBody>
      </p:sp>
      <p:sp>
        <p:nvSpPr>
          <p:cNvPr id="10" name="Text 8"/>
          <p:cNvSpPr txBox="1"/>
          <p:nvPr/>
        </p:nvSpPr>
        <p:spPr>
          <a:xfrm>
            <a:off x="7543800" y="2651760"/>
            <a:ext cx="3840480" cy="320040"/>
          </a:xfrm>
          <a:prstGeom prst="rect">
            <a:avLst/>
          </a:prstGeom>
          <a:noFill/>
          <a:ln/>
        </p:spPr>
        <p:txBody>
          <a:bodyPr wrap="square" lIns="0" tIns="0" rIns="0" bIns="0" rtlCol="0" anchor="ctr"/>
          <a:lstStyle/>
          <a:p>
            <a:pPr marL="0" indent="0">
              <a:buNone/>
            </a:pPr>
            <a:r>
              <a:rPr lang="en-US" sz="1700" b="1" dirty="0">
                <a:solidFill>
                  <a:srgbClr val="4FD68A"/>
                </a:solidFill>
                <a:latin typeface="Arial" pitchFamily="34" charset="0"/>
                <a:ea typeface="Arial" pitchFamily="34" charset="-122"/>
                <a:cs typeface="Arial" pitchFamily="34" charset="-120"/>
              </a:rPr>
              <a:t>IT PASSES YOUR TESTS.</a:t>
            </a:r>
            <a:endParaRPr lang="en-US" sz="1700" dirty="0"/>
          </a:p>
        </p:txBody>
      </p:sp>
      <p:sp>
        <p:nvSpPr>
          <p:cNvPr id="11" name="Text 9"/>
          <p:cNvSpPr txBox="1"/>
          <p:nvPr/>
        </p:nvSpPr>
        <p:spPr>
          <a:xfrm>
            <a:off x="7543800" y="3246120"/>
            <a:ext cx="3840480" cy="822960"/>
          </a:xfrm>
          <a:prstGeom prst="rect">
            <a:avLst/>
          </a:prstGeom>
          <a:noFill/>
          <a:ln/>
        </p:spPr>
        <p:txBody>
          <a:bodyPr wrap="square" lIns="0" tIns="0" rIns="0" bIns="0" rtlCol="0" anchor="ctr"/>
          <a:lstStyle/>
          <a:p>
            <a:pPr marL="0" indent="0">
              <a:lnSpc>
                <a:spcPct val="115000"/>
              </a:lnSpc>
              <a:buNone/>
            </a:pPr>
            <a:r>
              <a:rPr lang="en-US" sz="1500" b="1" dirty="0">
                <a:solidFill>
                  <a:srgbClr val="FF6B5E"/>
                </a:solidFill>
                <a:latin typeface="Arial" pitchFamily="34" charset="0"/>
                <a:ea typeface="Arial" pitchFamily="34" charset="-122"/>
                <a:cs typeface="Arial" pitchFamily="34" charset="-120"/>
              </a:rPr>
              <a:t>It also hands every user record</a:t>
            </a:r>
            <a:endParaRPr lang="en-US" sz="1500" dirty="0"/>
          </a:p>
          <a:p>
            <a:pPr marL="0" indent="0">
              <a:lnSpc>
                <a:spcPct val="115000"/>
              </a:lnSpc>
              <a:buNone/>
            </a:pPr>
            <a:r>
              <a:rPr lang="en-US" sz="1500" b="1" dirty="0">
                <a:solidFill>
                  <a:srgbClr val="FF6B5E"/>
                </a:solidFill>
                <a:latin typeface="Arial" pitchFamily="34" charset="0"/>
                <a:ea typeface="Arial" pitchFamily="34" charset="-122"/>
                <a:cs typeface="Arial" pitchFamily="34" charset="-120"/>
              </a:rPr>
              <a:t>to anyone with an account.</a:t>
            </a:r>
            <a:endParaRPr lang="en-US" sz="1500" dirty="0"/>
          </a:p>
        </p:txBody>
      </p:sp>
      <p:sp>
        <p:nvSpPr>
          <p:cNvPr id="12" name="Shape 10"/>
          <p:cNvSpPr/>
          <p:nvPr/>
        </p:nvSpPr>
        <p:spPr>
          <a:xfrm>
            <a:off x="548640" y="4663440"/>
            <a:ext cx="11091672" cy="1234440"/>
          </a:xfrm>
          <a:prstGeom prst="roundRect">
            <a:avLst>
              <a:gd name="adj" fmla="val 5926"/>
            </a:avLst>
          </a:prstGeom>
          <a:solidFill>
            <a:srgbClr val="1A2130"/>
          </a:solidFill>
          <a:ln w="12700">
            <a:solidFill>
              <a:srgbClr val="9A6BFF"/>
            </a:solidFill>
            <a:prstDash val="solid"/>
          </a:ln>
        </p:spPr>
        <p:txBody>
          <a:bodyPr/>
          <a:lstStyle/>
          <a:p>
            <a:endParaRPr lang="en-NP"/>
          </a:p>
        </p:txBody>
      </p:sp>
      <p:sp>
        <p:nvSpPr>
          <p:cNvPr id="13" name="Text 11"/>
          <p:cNvSpPr txBox="1"/>
          <p:nvPr/>
        </p:nvSpPr>
        <p:spPr>
          <a:xfrm>
            <a:off x="822960" y="4809744"/>
            <a:ext cx="2743200" cy="228600"/>
          </a:xfrm>
          <a:prstGeom prst="rect">
            <a:avLst/>
          </a:prstGeom>
          <a:noFill/>
          <a:ln/>
        </p:spPr>
        <p:txBody>
          <a:bodyPr wrap="square" lIns="0" tIns="0" rIns="0" bIns="0" rtlCol="0" anchor="ctr"/>
          <a:lstStyle/>
          <a:p>
            <a:pPr marL="0" indent="0">
              <a:buNone/>
            </a:pPr>
            <a:r>
              <a:rPr lang="en-US" sz="1000" b="1" kern="0" spc="180" dirty="0">
                <a:solidFill>
                  <a:srgbClr val="9A6BFF"/>
                </a:solidFill>
                <a:latin typeface="Arial" pitchFamily="34" charset="0"/>
                <a:ea typeface="Arial" pitchFamily="34" charset="-122"/>
                <a:cs typeface="Arial" pitchFamily="34" charset="-120"/>
              </a:rPr>
              <a:t>THE REVEAL</a:t>
            </a:r>
            <a:endParaRPr lang="en-US" sz="1000" dirty="0"/>
          </a:p>
        </p:txBody>
      </p:sp>
      <p:sp>
        <p:nvSpPr>
          <p:cNvPr id="14" name="Text 12"/>
          <p:cNvSpPr txBox="1"/>
          <p:nvPr/>
        </p:nvSpPr>
        <p:spPr>
          <a:xfrm>
            <a:off x="822960" y="5074920"/>
            <a:ext cx="10515600" cy="320040"/>
          </a:xfrm>
          <a:prstGeom prst="rect">
            <a:avLst/>
          </a:prstGeom>
          <a:noFill/>
          <a:ln/>
        </p:spPr>
        <p:txBody>
          <a:bodyPr wrap="square" lIns="0" tIns="0" rIns="0" bIns="0" rtlCol="0" anchor="ctr"/>
          <a:lstStyle/>
          <a:p>
            <a:pPr marL="0" indent="0">
              <a:buNone/>
            </a:pPr>
            <a:r>
              <a:rPr lang="en-US" sz="1550" b="1" dirty="0">
                <a:solidFill>
                  <a:srgbClr val="E9EEF7"/>
                </a:solidFill>
                <a:latin typeface="Arial" pitchFamily="34" charset="0"/>
                <a:ea typeface="Arial" pitchFamily="34" charset="-122"/>
                <a:cs typeface="Arial" pitchFamily="34" charset="-120"/>
              </a:rPr>
              <a:t>[Authorize] verifies the caller is signed in. Nothing verifies the caller is allowed to read THAT user.</a:t>
            </a:r>
            <a:endParaRPr lang="en-US" sz="1550" dirty="0"/>
          </a:p>
        </p:txBody>
      </p:sp>
      <p:sp>
        <p:nvSpPr>
          <p:cNvPr id="15" name="Text 13"/>
          <p:cNvSpPr txBox="1"/>
          <p:nvPr/>
        </p:nvSpPr>
        <p:spPr>
          <a:xfrm>
            <a:off x="822960" y="5440680"/>
            <a:ext cx="10515600" cy="274320"/>
          </a:xfrm>
          <a:prstGeom prst="rect">
            <a:avLst/>
          </a:prstGeom>
          <a:noFill/>
          <a:ln/>
        </p:spPr>
        <p:txBody>
          <a:bodyPr wrap="square" lIns="0" tIns="0" rIns="0" bIns="0" rtlCol="0" anchor="ctr"/>
          <a:lstStyle/>
          <a:p>
            <a:pPr marL="0" indent="0">
              <a:buNone/>
            </a:pPr>
            <a:r>
              <a:rPr lang="en-US" sz="1150" dirty="0">
                <a:solidFill>
                  <a:srgbClr val="8C97AC"/>
                </a:solidFill>
                <a:latin typeface="Arial" pitchFamily="34" charset="0"/>
                <a:ea typeface="Arial" pitchFamily="34" charset="-122"/>
                <a:cs typeface="Arial" pitchFamily="34" charset="-120"/>
              </a:rPr>
              <a:t>A01:2025 Broken Access Control  ·  CWE-639 Authorization Bypass Through User-Controlled Key  ·  the industry nickname is IDOR</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FFA33A"/>
                </a:solidFill>
                <a:latin typeface="Arial" pitchFamily="34" charset="0"/>
                <a:ea typeface="Arial" pitchFamily="34" charset="-122"/>
                <a:cs typeface="Arial" pitchFamily="34" charset="-120"/>
              </a:rPr>
              <a:t>QUIZ #1</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400" b="1" dirty="0">
                <a:solidFill>
                  <a:srgbClr val="E9EEF7"/>
                </a:solidFill>
                <a:latin typeface="Arial" pitchFamily="34" charset="0"/>
                <a:ea typeface="Arial" pitchFamily="34" charset="-122"/>
                <a:cs typeface="Arial" pitchFamily="34" charset="-120"/>
              </a:rPr>
              <a:t>Spot the Bug</a:t>
            </a:r>
            <a:endParaRPr lang="en-US" sz="3400" dirty="0"/>
          </a:p>
        </p:txBody>
      </p:sp>
      <p:sp>
        <p:nvSpPr>
          <p:cNvPr id="4" name="Text 2"/>
          <p:cNvSpPr txBox="1"/>
          <p:nvPr/>
        </p:nvSpPr>
        <p:spPr>
          <a:xfrm>
            <a:off x="548640" y="1463040"/>
            <a:ext cx="10607040" cy="365760"/>
          </a:xfrm>
          <a:prstGeom prst="rect">
            <a:avLst/>
          </a:prstGeom>
          <a:noFill/>
          <a:ln/>
        </p:spPr>
        <p:txBody>
          <a:bodyPr wrap="square" lIns="0" tIns="0" rIns="0" bIns="0" rtlCol="0" anchor="ctr"/>
          <a:lstStyle/>
          <a:p>
            <a:pPr marL="0" indent="0">
              <a:buNone/>
            </a:pPr>
            <a:r>
              <a:rPr lang="en-US" sz="1500" dirty="0">
                <a:solidFill>
                  <a:srgbClr val="8C97AC"/>
                </a:solidFill>
                <a:latin typeface="Arial" pitchFamily="34" charset="0"/>
                <a:ea typeface="Arial" pitchFamily="34" charset="-122"/>
                <a:cs typeface="Arial" pitchFamily="34" charset="-120"/>
              </a:rPr>
              <a:t>Three implementations of the same endpoint. Which one would you trust with your own data?</a:t>
            </a:r>
            <a:endParaRPr lang="en-US" sz="1500" dirty="0"/>
          </a:p>
        </p:txBody>
      </p:sp>
      <p:sp>
        <p:nvSpPr>
          <p:cNvPr id="5" name="Shape 3"/>
          <p:cNvSpPr/>
          <p:nvPr/>
        </p:nvSpPr>
        <p:spPr>
          <a:xfrm>
            <a:off x="548640" y="1965960"/>
            <a:ext cx="3685032" cy="3063240"/>
          </a:xfrm>
          <a:prstGeom prst="roundRect">
            <a:avLst>
              <a:gd name="adj" fmla="val 2388"/>
            </a:avLst>
          </a:prstGeom>
          <a:solidFill>
            <a:srgbClr val="141A26"/>
          </a:solidFill>
          <a:ln w="12700">
            <a:solidFill>
              <a:srgbClr val="2A3446"/>
            </a:solidFill>
            <a:prstDash val="solid"/>
          </a:ln>
        </p:spPr>
        <p:txBody>
          <a:bodyPr/>
          <a:lstStyle/>
          <a:p>
            <a:endParaRPr lang="en-NP"/>
          </a:p>
        </p:txBody>
      </p:sp>
      <p:sp>
        <p:nvSpPr>
          <p:cNvPr id="6" name="Shape 4"/>
          <p:cNvSpPr/>
          <p:nvPr/>
        </p:nvSpPr>
        <p:spPr>
          <a:xfrm>
            <a:off x="777240" y="2148840"/>
            <a:ext cx="411480" cy="411480"/>
          </a:xfrm>
          <a:prstGeom prst="roundRect">
            <a:avLst>
              <a:gd name="adj" fmla="val 111111"/>
            </a:avLst>
          </a:prstGeom>
          <a:solidFill>
            <a:srgbClr val="4CC9F0"/>
          </a:solidFill>
          <a:ln w="12700">
            <a:solidFill>
              <a:srgbClr val="0B0F17"/>
            </a:solidFill>
            <a:prstDash val="solid"/>
          </a:ln>
        </p:spPr>
        <p:txBody>
          <a:bodyPr/>
          <a:lstStyle/>
          <a:p>
            <a:endParaRPr lang="en-NP"/>
          </a:p>
        </p:txBody>
      </p:sp>
      <p:sp>
        <p:nvSpPr>
          <p:cNvPr id="7" name="Text 5"/>
          <p:cNvSpPr txBox="1"/>
          <p:nvPr/>
        </p:nvSpPr>
        <p:spPr>
          <a:xfrm>
            <a:off x="777240" y="2148840"/>
            <a:ext cx="411480" cy="411480"/>
          </a:xfrm>
          <a:prstGeom prst="rect">
            <a:avLst/>
          </a:prstGeom>
          <a:noFill/>
          <a:ln/>
        </p:spPr>
        <p:txBody>
          <a:bodyPr wrap="square" lIns="0" tIns="0" rIns="0" bIns="0" rtlCol="0" anchor="ctr"/>
          <a:lstStyle/>
          <a:p>
            <a:pPr marL="0" indent="0" algn="ctr">
              <a:buNone/>
            </a:pPr>
            <a:r>
              <a:rPr lang="en-US" sz="1500" b="1" dirty="0">
                <a:solidFill>
                  <a:srgbClr val="0B0F17"/>
                </a:solidFill>
                <a:latin typeface="Arial" pitchFamily="34" charset="0"/>
                <a:ea typeface="Arial" pitchFamily="34" charset="-122"/>
                <a:cs typeface="Arial" pitchFamily="34" charset="-120"/>
              </a:rPr>
              <a:t>A</a:t>
            </a:r>
            <a:endParaRPr lang="en-US" sz="1500" dirty="0"/>
          </a:p>
        </p:txBody>
      </p:sp>
      <p:sp>
        <p:nvSpPr>
          <p:cNvPr id="8" name="Shape 6"/>
          <p:cNvSpPr/>
          <p:nvPr/>
        </p:nvSpPr>
        <p:spPr>
          <a:xfrm>
            <a:off x="777240" y="2697480"/>
            <a:ext cx="3227832" cy="2148840"/>
          </a:xfrm>
          <a:prstGeom prst="roundRect">
            <a:avLst>
              <a:gd name="adj" fmla="val 2553"/>
            </a:avLst>
          </a:prstGeom>
          <a:solidFill>
            <a:srgbClr val="090D15"/>
          </a:solidFill>
          <a:ln w="12700">
            <a:solidFill>
              <a:srgbClr val="243049"/>
            </a:solidFill>
            <a:prstDash val="solid"/>
          </a:ln>
        </p:spPr>
        <p:txBody>
          <a:bodyPr/>
          <a:lstStyle/>
          <a:p>
            <a:endParaRPr lang="en-NP"/>
          </a:p>
        </p:txBody>
      </p:sp>
      <p:sp>
        <p:nvSpPr>
          <p:cNvPr id="9" name="Text 7"/>
          <p:cNvSpPr txBox="1"/>
          <p:nvPr/>
        </p:nvSpPr>
        <p:spPr>
          <a:xfrm>
            <a:off x="941832" y="2825496"/>
            <a:ext cx="2898648" cy="1911096"/>
          </a:xfrm>
          <a:prstGeom prst="rect">
            <a:avLst/>
          </a:prstGeom>
          <a:noFill/>
          <a:ln/>
        </p:spPr>
        <p:txBody>
          <a:bodyPr wrap="square" lIns="0" tIns="0" rIns="0" bIns="0" rtlCol="0" anchor="t"/>
          <a:lstStyle/>
          <a:p>
            <a:pPr marL="0" indent="0">
              <a:lnSpc>
                <a:spcPct val="130000"/>
              </a:lnSpc>
              <a:buNone/>
            </a:pPr>
            <a:r>
              <a:rPr lang="en-US" sz="1100" dirty="0">
                <a:solidFill>
                  <a:srgbClr val="C79BFF"/>
                </a:solidFill>
                <a:latin typeface="Courier New" pitchFamily="34" charset="0"/>
                <a:ea typeface="Courier New" pitchFamily="34" charset="-122"/>
                <a:cs typeface="Courier New" pitchFamily="34" charset="-120"/>
              </a:rPr>
              <a:t>[Authorize]</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Get(int id) {</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  return Ok(</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    db.Orders</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     .Find(id));</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a:t>
            </a:r>
            <a:endParaRPr lang="en-US" sz="1100" dirty="0"/>
          </a:p>
        </p:txBody>
      </p:sp>
      <p:sp>
        <p:nvSpPr>
          <p:cNvPr id="10" name="Shape 8"/>
          <p:cNvSpPr/>
          <p:nvPr/>
        </p:nvSpPr>
        <p:spPr>
          <a:xfrm>
            <a:off x="4251960" y="1965960"/>
            <a:ext cx="3685032" cy="3063240"/>
          </a:xfrm>
          <a:prstGeom prst="roundRect">
            <a:avLst>
              <a:gd name="adj" fmla="val 2388"/>
            </a:avLst>
          </a:prstGeom>
          <a:solidFill>
            <a:srgbClr val="141A26"/>
          </a:solidFill>
          <a:ln w="12700">
            <a:solidFill>
              <a:srgbClr val="2A3446"/>
            </a:solidFill>
            <a:prstDash val="solid"/>
          </a:ln>
        </p:spPr>
        <p:txBody>
          <a:bodyPr/>
          <a:lstStyle/>
          <a:p>
            <a:endParaRPr lang="en-NP"/>
          </a:p>
        </p:txBody>
      </p:sp>
      <p:sp>
        <p:nvSpPr>
          <p:cNvPr id="11" name="Shape 9"/>
          <p:cNvSpPr/>
          <p:nvPr/>
        </p:nvSpPr>
        <p:spPr>
          <a:xfrm>
            <a:off x="4480560" y="2148840"/>
            <a:ext cx="411480" cy="411480"/>
          </a:xfrm>
          <a:prstGeom prst="roundRect">
            <a:avLst>
              <a:gd name="adj" fmla="val 111111"/>
            </a:avLst>
          </a:prstGeom>
          <a:solidFill>
            <a:srgbClr val="9A6BFF"/>
          </a:solidFill>
          <a:ln w="12700">
            <a:solidFill>
              <a:srgbClr val="0B0F17"/>
            </a:solidFill>
            <a:prstDash val="solid"/>
          </a:ln>
        </p:spPr>
        <p:txBody>
          <a:bodyPr/>
          <a:lstStyle/>
          <a:p>
            <a:endParaRPr lang="en-NP"/>
          </a:p>
        </p:txBody>
      </p:sp>
      <p:sp>
        <p:nvSpPr>
          <p:cNvPr id="12" name="Text 10"/>
          <p:cNvSpPr txBox="1"/>
          <p:nvPr/>
        </p:nvSpPr>
        <p:spPr>
          <a:xfrm>
            <a:off x="4480560" y="2148840"/>
            <a:ext cx="411480" cy="411480"/>
          </a:xfrm>
          <a:prstGeom prst="rect">
            <a:avLst/>
          </a:prstGeom>
          <a:noFill/>
          <a:ln/>
        </p:spPr>
        <p:txBody>
          <a:bodyPr wrap="square" lIns="0" tIns="0" rIns="0" bIns="0" rtlCol="0" anchor="ctr"/>
          <a:lstStyle/>
          <a:p>
            <a:pPr marL="0" indent="0" algn="ctr">
              <a:buNone/>
            </a:pPr>
            <a:r>
              <a:rPr lang="en-US" sz="1500" b="1" dirty="0">
                <a:solidFill>
                  <a:srgbClr val="0B0F17"/>
                </a:solidFill>
                <a:latin typeface="Arial" pitchFamily="34" charset="0"/>
                <a:ea typeface="Arial" pitchFamily="34" charset="-122"/>
                <a:cs typeface="Arial" pitchFamily="34" charset="-120"/>
              </a:rPr>
              <a:t>B</a:t>
            </a:r>
            <a:endParaRPr lang="en-US" sz="1500" dirty="0"/>
          </a:p>
        </p:txBody>
      </p:sp>
      <p:sp>
        <p:nvSpPr>
          <p:cNvPr id="13" name="Shape 11"/>
          <p:cNvSpPr/>
          <p:nvPr/>
        </p:nvSpPr>
        <p:spPr>
          <a:xfrm>
            <a:off x="4480560" y="2697480"/>
            <a:ext cx="3227832" cy="2148840"/>
          </a:xfrm>
          <a:prstGeom prst="roundRect">
            <a:avLst>
              <a:gd name="adj" fmla="val 2553"/>
            </a:avLst>
          </a:prstGeom>
          <a:solidFill>
            <a:srgbClr val="090D15"/>
          </a:solidFill>
          <a:ln w="12700">
            <a:solidFill>
              <a:srgbClr val="243049"/>
            </a:solidFill>
            <a:prstDash val="solid"/>
          </a:ln>
        </p:spPr>
        <p:txBody>
          <a:bodyPr/>
          <a:lstStyle/>
          <a:p>
            <a:endParaRPr lang="en-NP"/>
          </a:p>
        </p:txBody>
      </p:sp>
      <p:sp>
        <p:nvSpPr>
          <p:cNvPr id="14" name="Text 12"/>
          <p:cNvSpPr txBox="1"/>
          <p:nvPr/>
        </p:nvSpPr>
        <p:spPr>
          <a:xfrm>
            <a:off x="4645152" y="2825496"/>
            <a:ext cx="2898648" cy="1911096"/>
          </a:xfrm>
          <a:prstGeom prst="rect">
            <a:avLst/>
          </a:prstGeom>
          <a:noFill/>
          <a:ln/>
        </p:spPr>
        <p:txBody>
          <a:bodyPr wrap="square" lIns="0" tIns="0" rIns="0" bIns="0" rtlCol="0" anchor="t"/>
          <a:lstStyle/>
          <a:p>
            <a:pPr marL="0" indent="0">
              <a:lnSpc>
                <a:spcPct val="130000"/>
              </a:lnSpc>
              <a:buNone/>
            </a:pPr>
            <a:r>
              <a:rPr lang="en-US" sz="1100" dirty="0">
                <a:solidFill>
                  <a:srgbClr val="C79BFF"/>
                </a:solidFill>
                <a:latin typeface="Courier New" pitchFamily="34" charset="0"/>
                <a:ea typeface="Courier New" pitchFamily="34" charset="-122"/>
                <a:cs typeface="Courier New" pitchFamily="34" charset="-120"/>
              </a:rPr>
              <a:t>[Authorize(Policy=</a:t>
            </a:r>
            <a:r>
              <a:rPr lang="en-US" sz="1100" dirty="0">
                <a:solidFill>
                  <a:srgbClr val="8BE38B"/>
                </a:solidFill>
                <a:latin typeface="Courier New" pitchFamily="34" charset="0"/>
                <a:ea typeface="Courier New" pitchFamily="34" charset="-122"/>
                <a:cs typeface="Courier New" pitchFamily="34" charset="-120"/>
              </a:rPr>
              <a:t>"Cust"</a:t>
            </a:r>
            <a:r>
              <a:rPr lang="en-US" sz="1100" dirty="0">
                <a:solidFill>
                  <a:srgbClr val="C79BFF"/>
                </a:solidFill>
                <a:latin typeface="Courier New" pitchFamily="34" charset="0"/>
                <a:ea typeface="Courier New" pitchFamily="34" charset="-122"/>
                <a:cs typeface="Courier New" pitchFamily="34" charset="-120"/>
              </a:rPr>
              <a:t>)]</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Get(int id) {</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  return Ok(</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    db.Orders</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     .Find(id));</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a:t>
            </a:r>
            <a:endParaRPr lang="en-US" sz="1100" dirty="0"/>
          </a:p>
        </p:txBody>
      </p:sp>
      <p:sp>
        <p:nvSpPr>
          <p:cNvPr id="15" name="Shape 13"/>
          <p:cNvSpPr/>
          <p:nvPr/>
        </p:nvSpPr>
        <p:spPr>
          <a:xfrm>
            <a:off x="7955280" y="1965960"/>
            <a:ext cx="3685032" cy="3063240"/>
          </a:xfrm>
          <a:prstGeom prst="roundRect">
            <a:avLst>
              <a:gd name="adj" fmla="val 2388"/>
            </a:avLst>
          </a:prstGeom>
          <a:solidFill>
            <a:srgbClr val="141A26"/>
          </a:solidFill>
          <a:ln w="12700">
            <a:solidFill>
              <a:srgbClr val="2A3446"/>
            </a:solidFill>
            <a:prstDash val="solid"/>
          </a:ln>
        </p:spPr>
        <p:txBody>
          <a:bodyPr/>
          <a:lstStyle/>
          <a:p>
            <a:endParaRPr lang="en-NP"/>
          </a:p>
        </p:txBody>
      </p:sp>
      <p:sp>
        <p:nvSpPr>
          <p:cNvPr id="16" name="Shape 14"/>
          <p:cNvSpPr/>
          <p:nvPr/>
        </p:nvSpPr>
        <p:spPr>
          <a:xfrm>
            <a:off x="8183880" y="2148840"/>
            <a:ext cx="411480" cy="411480"/>
          </a:xfrm>
          <a:prstGeom prst="roundRect">
            <a:avLst>
              <a:gd name="adj" fmla="val 111111"/>
            </a:avLst>
          </a:prstGeom>
          <a:solidFill>
            <a:srgbClr val="4FD68A"/>
          </a:solidFill>
          <a:ln w="12700">
            <a:solidFill>
              <a:srgbClr val="0B0F17"/>
            </a:solidFill>
            <a:prstDash val="solid"/>
          </a:ln>
        </p:spPr>
        <p:txBody>
          <a:bodyPr/>
          <a:lstStyle/>
          <a:p>
            <a:endParaRPr lang="en-NP"/>
          </a:p>
        </p:txBody>
      </p:sp>
      <p:sp>
        <p:nvSpPr>
          <p:cNvPr id="17" name="Text 15"/>
          <p:cNvSpPr txBox="1"/>
          <p:nvPr/>
        </p:nvSpPr>
        <p:spPr>
          <a:xfrm>
            <a:off x="8183880" y="2148840"/>
            <a:ext cx="411480" cy="411480"/>
          </a:xfrm>
          <a:prstGeom prst="rect">
            <a:avLst/>
          </a:prstGeom>
          <a:noFill/>
          <a:ln/>
        </p:spPr>
        <p:txBody>
          <a:bodyPr wrap="square" lIns="0" tIns="0" rIns="0" bIns="0" rtlCol="0" anchor="ctr"/>
          <a:lstStyle/>
          <a:p>
            <a:pPr marL="0" indent="0" algn="ctr">
              <a:buNone/>
            </a:pPr>
            <a:r>
              <a:rPr lang="en-US" sz="1500" b="1" dirty="0">
                <a:solidFill>
                  <a:srgbClr val="0B0F17"/>
                </a:solidFill>
                <a:latin typeface="Arial" pitchFamily="34" charset="0"/>
                <a:ea typeface="Arial" pitchFamily="34" charset="-122"/>
                <a:cs typeface="Arial" pitchFamily="34" charset="-120"/>
              </a:rPr>
              <a:t>C</a:t>
            </a:r>
            <a:endParaRPr lang="en-US" sz="1500" dirty="0"/>
          </a:p>
        </p:txBody>
      </p:sp>
      <p:sp>
        <p:nvSpPr>
          <p:cNvPr id="18" name="Shape 16"/>
          <p:cNvSpPr/>
          <p:nvPr/>
        </p:nvSpPr>
        <p:spPr>
          <a:xfrm>
            <a:off x="8183880" y="2697480"/>
            <a:ext cx="3227832" cy="2148840"/>
          </a:xfrm>
          <a:prstGeom prst="roundRect">
            <a:avLst>
              <a:gd name="adj" fmla="val 2553"/>
            </a:avLst>
          </a:prstGeom>
          <a:solidFill>
            <a:srgbClr val="090D15"/>
          </a:solidFill>
          <a:ln w="12700">
            <a:solidFill>
              <a:srgbClr val="243049"/>
            </a:solidFill>
            <a:prstDash val="solid"/>
          </a:ln>
        </p:spPr>
        <p:txBody>
          <a:bodyPr/>
          <a:lstStyle/>
          <a:p>
            <a:endParaRPr lang="en-NP"/>
          </a:p>
        </p:txBody>
      </p:sp>
      <p:sp>
        <p:nvSpPr>
          <p:cNvPr id="19" name="Text 17"/>
          <p:cNvSpPr txBox="1"/>
          <p:nvPr/>
        </p:nvSpPr>
        <p:spPr>
          <a:xfrm>
            <a:off x="8348472" y="2825496"/>
            <a:ext cx="2898648" cy="1911096"/>
          </a:xfrm>
          <a:prstGeom prst="rect">
            <a:avLst/>
          </a:prstGeom>
          <a:noFill/>
          <a:ln/>
        </p:spPr>
        <p:txBody>
          <a:bodyPr wrap="square" lIns="0" tIns="0" rIns="0" bIns="0" rtlCol="0" anchor="t"/>
          <a:lstStyle/>
          <a:p>
            <a:pPr marL="0" indent="0">
              <a:lnSpc>
                <a:spcPct val="130000"/>
              </a:lnSpc>
              <a:buNone/>
            </a:pPr>
            <a:r>
              <a:rPr lang="en-US" sz="1100" dirty="0">
                <a:solidFill>
                  <a:srgbClr val="C79BFF"/>
                </a:solidFill>
                <a:latin typeface="Courier New" pitchFamily="34" charset="0"/>
                <a:ea typeface="Courier New" pitchFamily="34" charset="-122"/>
                <a:cs typeface="Courier New" pitchFamily="34" charset="-120"/>
              </a:rPr>
              <a:t>[Authorize]</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Get(int id) {</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  var o = db.Orders</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   .SingleOrDefault(x =&gt;</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    x.Id==id &amp;&amp; </a:t>
            </a:r>
            <a:r>
              <a:rPr lang="en-US" sz="1100" dirty="0">
                <a:solidFill>
                  <a:srgbClr val="7EE787"/>
                </a:solidFill>
                <a:latin typeface="Courier New" pitchFamily="34" charset="0"/>
                <a:ea typeface="Courier New" pitchFamily="34" charset="-122"/>
                <a:cs typeface="Courier New" pitchFamily="34" charset="-120"/>
              </a:rPr>
              <a:t>x.UserId</a:t>
            </a:r>
            <a:endParaRPr lang="en-US" sz="1100" dirty="0"/>
          </a:p>
          <a:p>
            <a:pPr marL="0" indent="0">
              <a:lnSpc>
                <a:spcPct val="130000"/>
              </a:lnSpc>
              <a:buNone/>
            </a:pPr>
            <a:r>
              <a:rPr lang="en-US" sz="1100" dirty="0">
                <a:solidFill>
                  <a:srgbClr val="CBD7E8"/>
                </a:solidFill>
                <a:latin typeface="Courier New" pitchFamily="34" charset="0"/>
                <a:ea typeface="Courier New" pitchFamily="34" charset="-122"/>
                <a:cs typeface="Courier New" pitchFamily="34" charset="-120"/>
              </a:rPr>
              <a:t>    </a:t>
            </a:r>
            <a:r>
              <a:rPr lang="en-US" sz="1100" dirty="0">
                <a:solidFill>
                  <a:srgbClr val="7EE787"/>
                </a:solidFill>
                <a:latin typeface="Courier New" pitchFamily="34" charset="0"/>
                <a:ea typeface="Courier New" pitchFamily="34" charset="-122"/>
                <a:cs typeface="Courier New" pitchFamily="34" charset="-120"/>
              </a:rPr>
              <a:t>== CurrentUserId</a:t>
            </a:r>
            <a:r>
              <a:rPr lang="en-US" sz="1100" dirty="0">
                <a:solidFill>
                  <a:srgbClr val="CBD7E8"/>
                </a:solidFill>
                <a:latin typeface="Courier New" pitchFamily="34" charset="0"/>
                <a:ea typeface="Courier New" pitchFamily="34" charset="-122"/>
                <a:cs typeface="Courier New" pitchFamily="34" charset="-120"/>
              </a:rPr>
              <a:t>);</a:t>
            </a:r>
            <a:endParaRPr lang="en-US" sz="1100" dirty="0"/>
          </a:p>
        </p:txBody>
      </p:sp>
      <p:sp>
        <p:nvSpPr>
          <p:cNvPr id="20" name="Text 18"/>
          <p:cNvSpPr txBox="1"/>
          <p:nvPr/>
        </p:nvSpPr>
        <p:spPr>
          <a:xfrm>
            <a:off x="548640" y="5257800"/>
            <a:ext cx="11091672" cy="365760"/>
          </a:xfrm>
          <a:prstGeom prst="rect">
            <a:avLst/>
          </a:prstGeom>
          <a:noFill/>
          <a:ln/>
        </p:spPr>
        <p:txBody>
          <a:bodyPr wrap="square" lIns="0" tIns="0" rIns="0" bIns="0" rtlCol="0" anchor="ctr"/>
          <a:lstStyle/>
          <a:p>
            <a:pPr marL="0" indent="0" algn="ctr">
              <a:buNone/>
            </a:pPr>
            <a:r>
              <a:rPr lang="en-US" sz="1700" b="1" dirty="0">
                <a:solidFill>
                  <a:srgbClr val="E9EEF7"/>
                </a:solidFill>
                <a:latin typeface="Arial" pitchFamily="34" charset="0"/>
                <a:ea typeface="Arial" pitchFamily="34" charset="-122"/>
                <a:cs typeface="Arial" pitchFamily="34" charset="-120"/>
              </a:rPr>
              <a:t>A  /  B  /  C  —  vote now. Hands up, shout it out, or hold up fingers.</a:t>
            </a:r>
            <a:endParaRPr lang="en-US" sz="1700" dirty="0"/>
          </a:p>
        </p:txBody>
      </p:sp>
      <p:sp>
        <p:nvSpPr>
          <p:cNvPr id="21" name="Text 19"/>
          <p:cNvSpPr txBox="1"/>
          <p:nvPr/>
        </p:nvSpPr>
        <p:spPr>
          <a:xfrm>
            <a:off x="548640" y="5715000"/>
            <a:ext cx="11091672" cy="320040"/>
          </a:xfrm>
          <a:prstGeom prst="rect">
            <a:avLst/>
          </a:prstGeom>
          <a:noFill/>
          <a:ln/>
        </p:spPr>
        <p:txBody>
          <a:bodyPr wrap="square" lIns="0" tIns="0" rIns="0" bIns="0" rtlCol="0" anchor="ctr"/>
          <a:lstStyle/>
          <a:p>
            <a:pPr marL="0" indent="0" algn="ctr">
              <a:buNone/>
            </a:pPr>
            <a:r>
              <a:rPr lang="en-US" sz="1300" i="1" dirty="0">
                <a:solidFill>
                  <a:srgbClr val="FFA33A"/>
                </a:solidFill>
                <a:latin typeface="Arial" pitchFamily="34" charset="0"/>
                <a:ea typeface="Arial" pitchFamily="34" charset="-122"/>
                <a:cs typeface="Arial" pitchFamily="34" charset="-120"/>
              </a:rPr>
              <a:t>I'm not telling you the answer yet.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FFA33A"/>
                </a:solidFill>
                <a:latin typeface="Arial" pitchFamily="34" charset="0"/>
                <a:ea typeface="Arial" pitchFamily="34" charset="-122"/>
                <a:cs typeface="Arial" pitchFamily="34" charset="-120"/>
              </a:rPr>
              <a:t>A02:2025  ·  UP FROM #5 TO #2</a:t>
            </a:r>
            <a:endParaRPr lang="en-US" sz="1150" dirty="0"/>
          </a:p>
        </p:txBody>
      </p:sp>
      <p:sp>
        <p:nvSpPr>
          <p:cNvPr id="3" name="Text 1"/>
          <p:cNvSpPr txBox="1"/>
          <p:nvPr/>
        </p:nvSpPr>
        <p:spPr>
          <a:xfrm>
            <a:off x="548640" y="749808"/>
            <a:ext cx="11091672" cy="960120"/>
          </a:xfrm>
          <a:prstGeom prst="rect">
            <a:avLst/>
          </a:prstGeom>
          <a:noFill/>
          <a:ln/>
        </p:spPr>
        <p:txBody>
          <a:bodyPr wrap="square" lIns="0" tIns="0" rIns="0" bIns="0" rtlCol="0" anchor="ctr"/>
          <a:lstStyle/>
          <a:p>
            <a:pPr marL="0" indent="0">
              <a:lnSpc>
                <a:spcPct val="100000"/>
              </a:lnSpc>
              <a:buNone/>
            </a:pPr>
            <a:r>
              <a:rPr lang="en-US" sz="2800" b="1" dirty="0">
                <a:solidFill>
                  <a:srgbClr val="E9EEF7"/>
                </a:solidFill>
                <a:latin typeface="Arial" pitchFamily="34" charset="0"/>
                <a:ea typeface="Arial" pitchFamily="34" charset="-122"/>
                <a:cs typeface="Arial" pitchFamily="34" charset="-120"/>
              </a:rPr>
              <a:t>Your Code Can Be Secure.</a:t>
            </a:r>
            <a:endParaRPr lang="en-US" sz="2800" dirty="0"/>
          </a:p>
          <a:p>
            <a:pPr marL="0" indent="0">
              <a:lnSpc>
                <a:spcPct val="100000"/>
              </a:lnSpc>
              <a:buNone/>
            </a:pPr>
            <a:r>
              <a:rPr lang="en-US" sz="2800" b="1" dirty="0">
                <a:solidFill>
                  <a:srgbClr val="E9EEF7"/>
                </a:solidFill>
                <a:latin typeface="Arial" pitchFamily="34" charset="0"/>
                <a:ea typeface="Arial" pitchFamily="34" charset="-122"/>
                <a:cs typeface="Arial" pitchFamily="34" charset="-120"/>
              </a:rPr>
              <a:t>Your Configuration Can Still Betray You.</a:t>
            </a:r>
            <a:endParaRPr lang="en-US" sz="2800" dirty="0"/>
          </a:p>
        </p:txBody>
      </p:sp>
      <p:sp>
        <p:nvSpPr>
          <p:cNvPr id="4" name="Shape 2"/>
          <p:cNvSpPr/>
          <p:nvPr/>
        </p:nvSpPr>
        <p:spPr>
          <a:xfrm>
            <a:off x="548640" y="2057400"/>
            <a:ext cx="3685032" cy="658368"/>
          </a:xfrm>
          <a:prstGeom prst="roundRect">
            <a:avLst>
              <a:gd name="adj" fmla="val 11111"/>
            </a:avLst>
          </a:prstGeom>
          <a:solidFill>
            <a:srgbClr val="141A26"/>
          </a:solidFill>
          <a:ln w="12700">
            <a:solidFill>
              <a:srgbClr val="2A3446"/>
            </a:solidFill>
            <a:prstDash val="solid"/>
          </a:ln>
        </p:spPr>
        <p:txBody>
          <a:bodyPr/>
          <a:lstStyle/>
          <a:p>
            <a:endParaRPr lang="en-NP"/>
          </a:p>
        </p:txBody>
      </p:sp>
      <p:sp>
        <p:nvSpPr>
          <p:cNvPr id="5" name="Shape 3"/>
          <p:cNvSpPr/>
          <p:nvPr/>
        </p:nvSpPr>
        <p:spPr>
          <a:xfrm>
            <a:off x="731520" y="2327148"/>
            <a:ext cx="118872" cy="118872"/>
          </a:xfrm>
          <a:prstGeom prst="ellipse">
            <a:avLst/>
          </a:prstGeom>
          <a:solidFill>
            <a:srgbClr val="FF6B5E"/>
          </a:solidFill>
          <a:ln w="12700">
            <a:solidFill>
              <a:srgbClr val="FF6B5E"/>
            </a:solidFill>
            <a:prstDash val="solid"/>
          </a:ln>
        </p:spPr>
        <p:txBody>
          <a:bodyPr/>
          <a:lstStyle/>
          <a:p>
            <a:endParaRPr lang="en-NP"/>
          </a:p>
        </p:txBody>
      </p:sp>
      <p:sp>
        <p:nvSpPr>
          <p:cNvPr id="6" name="Text 4"/>
          <p:cNvSpPr txBox="1"/>
          <p:nvPr/>
        </p:nvSpPr>
        <p:spPr>
          <a:xfrm>
            <a:off x="960120" y="2057400"/>
            <a:ext cx="3136392" cy="658368"/>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Development settings in production</a:t>
            </a:r>
            <a:endParaRPr lang="en-US" sz="1250" dirty="0"/>
          </a:p>
        </p:txBody>
      </p:sp>
      <p:sp>
        <p:nvSpPr>
          <p:cNvPr id="7" name="Shape 5"/>
          <p:cNvSpPr/>
          <p:nvPr/>
        </p:nvSpPr>
        <p:spPr>
          <a:xfrm>
            <a:off x="4251960" y="2057400"/>
            <a:ext cx="3685032" cy="658368"/>
          </a:xfrm>
          <a:prstGeom prst="roundRect">
            <a:avLst>
              <a:gd name="adj" fmla="val 11111"/>
            </a:avLst>
          </a:prstGeom>
          <a:solidFill>
            <a:srgbClr val="141A26"/>
          </a:solidFill>
          <a:ln w="12700">
            <a:solidFill>
              <a:srgbClr val="2A3446"/>
            </a:solidFill>
            <a:prstDash val="solid"/>
          </a:ln>
        </p:spPr>
        <p:txBody>
          <a:bodyPr/>
          <a:lstStyle/>
          <a:p>
            <a:endParaRPr lang="en-NP"/>
          </a:p>
        </p:txBody>
      </p:sp>
      <p:sp>
        <p:nvSpPr>
          <p:cNvPr id="8" name="Shape 6"/>
          <p:cNvSpPr/>
          <p:nvPr/>
        </p:nvSpPr>
        <p:spPr>
          <a:xfrm>
            <a:off x="4434840" y="2327148"/>
            <a:ext cx="118872" cy="118872"/>
          </a:xfrm>
          <a:prstGeom prst="ellipse">
            <a:avLst/>
          </a:prstGeom>
          <a:solidFill>
            <a:srgbClr val="FF6B5E"/>
          </a:solidFill>
          <a:ln w="12700">
            <a:solidFill>
              <a:srgbClr val="FF6B5E"/>
            </a:solidFill>
            <a:prstDash val="solid"/>
          </a:ln>
        </p:spPr>
        <p:txBody>
          <a:bodyPr/>
          <a:lstStyle/>
          <a:p>
            <a:endParaRPr lang="en-NP"/>
          </a:p>
        </p:txBody>
      </p:sp>
      <p:sp>
        <p:nvSpPr>
          <p:cNvPr id="9" name="Text 7"/>
          <p:cNvSpPr txBox="1"/>
          <p:nvPr/>
        </p:nvSpPr>
        <p:spPr>
          <a:xfrm>
            <a:off x="4663440" y="2057400"/>
            <a:ext cx="3136392" cy="658368"/>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Developer exception page enabled</a:t>
            </a:r>
            <a:endParaRPr lang="en-US" sz="1250" dirty="0"/>
          </a:p>
        </p:txBody>
      </p:sp>
      <p:sp>
        <p:nvSpPr>
          <p:cNvPr id="10" name="Shape 8"/>
          <p:cNvSpPr/>
          <p:nvPr/>
        </p:nvSpPr>
        <p:spPr>
          <a:xfrm>
            <a:off x="7955280" y="2057400"/>
            <a:ext cx="3685032" cy="658368"/>
          </a:xfrm>
          <a:prstGeom prst="roundRect">
            <a:avLst>
              <a:gd name="adj" fmla="val 11111"/>
            </a:avLst>
          </a:prstGeom>
          <a:solidFill>
            <a:srgbClr val="141A26"/>
          </a:solidFill>
          <a:ln w="12700">
            <a:solidFill>
              <a:srgbClr val="2A3446"/>
            </a:solidFill>
            <a:prstDash val="solid"/>
          </a:ln>
        </p:spPr>
        <p:txBody>
          <a:bodyPr/>
          <a:lstStyle/>
          <a:p>
            <a:endParaRPr lang="en-NP"/>
          </a:p>
        </p:txBody>
      </p:sp>
      <p:sp>
        <p:nvSpPr>
          <p:cNvPr id="11" name="Shape 9"/>
          <p:cNvSpPr/>
          <p:nvPr/>
        </p:nvSpPr>
        <p:spPr>
          <a:xfrm>
            <a:off x="8138160" y="2327148"/>
            <a:ext cx="118872" cy="118872"/>
          </a:xfrm>
          <a:prstGeom prst="ellipse">
            <a:avLst/>
          </a:prstGeom>
          <a:solidFill>
            <a:srgbClr val="FF6B5E"/>
          </a:solidFill>
          <a:ln w="12700">
            <a:solidFill>
              <a:srgbClr val="FF6B5E"/>
            </a:solidFill>
            <a:prstDash val="solid"/>
          </a:ln>
        </p:spPr>
        <p:txBody>
          <a:bodyPr/>
          <a:lstStyle/>
          <a:p>
            <a:endParaRPr lang="en-NP"/>
          </a:p>
        </p:txBody>
      </p:sp>
      <p:sp>
        <p:nvSpPr>
          <p:cNvPr id="12" name="Text 10"/>
          <p:cNvSpPr txBox="1"/>
          <p:nvPr/>
        </p:nvSpPr>
        <p:spPr>
          <a:xfrm>
            <a:off x="8366760" y="2057400"/>
            <a:ext cx="3136392" cy="658368"/>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CORS set to allow anything</a:t>
            </a:r>
            <a:endParaRPr lang="en-US" sz="1250" dirty="0"/>
          </a:p>
        </p:txBody>
      </p:sp>
      <p:sp>
        <p:nvSpPr>
          <p:cNvPr id="13" name="Shape 11"/>
          <p:cNvSpPr/>
          <p:nvPr/>
        </p:nvSpPr>
        <p:spPr>
          <a:xfrm>
            <a:off x="548640" y="2880360"/>
            <a:ext cx="3685032" cy="658368"/>
          </a:xfrm>
          <a:prstGeom prst="roundRect">
            <a:avLst>
              <a:gd name="adj" fmla="val 11111"/>
            </a:avLst>
          </a:prstGeom>
          <a:solidFill>
            <a:srgbClr val="141A26"/>
          </a:solidFill>
          <a:ln w="12700">
            <a:solidFill>
              <a:srgbClr val="2A3446"/>
            </a:solidFill>
            <a:prstDash val="solid"/>
          </a:ln>
        </p:spPr>
        <p:txBody>
          <a:bodyPr/>
          <a:lstStyle/>
          <a:p>
            <a:endParaRPr lang="en-NP"/>
          </a:p>
        </p:txBody>
      </p:sp>
      <p:sp>
        <p:nvSpPr>
          <p:cNvPr id="14" name="Shape 12"/>
          <p:cNvSpPr/>
          <p:nvPr/>
        </p:nvSpPr>
        <p:spPr>
          <a:xfrm>
            <a:off x="731520" y="3150108"/>
            <a:ext cx="118872" cy="118872"/>
          </a:xfrm>
          <a:prstGeom prst="ellipse">
            <a:avLst/>
          </a:prstGeom>
          <a:solidFill>
            <a:srgbClr val="FFA33A"/>
          </a:solidFill>
          <a:ln w="12700">
            <a:solidFill>
              <a:srgbClr val="FFA33A"/>
            </a:solidFill>
            <a:prstDash val="solid"/>
          </a:ln>
        </p:spPr>
        <p:txBody>
          <a:bodyPr/>
          <a:lstStyle/>
          <a:p>
            <a:endParaRPr lang="en-NP"/>
          </a:p>
        </p:txBody>
      </p:sp>
      <p:sp>
        <p:nvSpPr>
          <p:cNvPr id="15" name="Text 13"/>
          <p:cNvSpPr txBox="1"/>
          <p:nvPr/>
        </p:nvSpPr>
        <p:spPr>
          <a:xfrm>
            <a:off x="960120" y="2880360"/>
            <a:ext cx="3136392" cy="658368"/>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Cookies without Secure / HttpOnly</a:t>
            </a:r>
            <a:endParaRPr lang="en-US" sz="1250" dirty="0"/>
          </a:p>
        </p:txBody>
      </p:sp>
      <p:sp>
        <p:nvSpPr>
          <p:cNvPr id="16" name="Shape 14"/>
          <p:cNvSpPr/>
          <p:nvPr/>
        </p:nvSpPr>
        <p:spPr>
          <a:xfrm>
            <a:off x="4251960" y="2880360"/>
            <a:ext cx="3685032" cy="658368"/>
          </a:xfrm>
          <a:prstGeom prst="roundRect">
            <a:avLst>
              <a:gd name="adj" fmla="val 11111"/>
            </a:avLst>
          </a:prstGeom>
          <a:solidFill>
            <a:srgbClr val="141A26"/>
          </a:solidFill>
          <a:ln w="12700">
            <a:solidFill>
              <a:srgbClr val="2A3446"/>
            </a:solidFill>
            <a:prstDash val="solid"/>
          </a:ln>
        </p:spPr>
        <p:txBody>
          <a:bodyPr/>
          <a:lstStyle/>
          <a:p>
            <a:endParaRPr lang="en-NP"/>
          </a:p>
        </p:txBody>
      </p:sp>
      <p:sp>
        <p:nvSpPr>
          <p:cNvPr id="17" name="Shape 15"/>
          <p:cNvSpPr/>
          <p:nvPr/>
        </p:nvSpPr>
        <p:spPr>
          <a:xfrm>
            <a:off x="4434840" y="3150108"/>
            <a:ext cx="118872" cy="118872"/>
          </a:xfrm>
          <a:prstGeom prst="ellipse">
            <a:avLst/>
          </a:prstGeom>
          <a:solidFill>
            <a:srgbClr val="FFA33A"/>
          </a:solidFill>
          <a:ln w="12700">
            <a:solidFill>
              <a:srgbClr val="FFA33A"/>
            </a:solidFill>
            <a:prstDash val="solid"/>
          </a:ln>
        </p:spPr>
        <p:txBody>
          <a:bodyPr/>
          <a:lstStyle/>
          <a:p>
            <a:endParaRPr lang="en-NP"/>
          </a:p>
        </p:txBody>
      </p:sp>
      <p:sp>
        <p:nvSpPr>
          <p:cNvPr id="18" name="Text 16"/>
          <p:cNvSpPr txBox="1"/>
          <p:nvPr/>
        </p:nvSpPr>
        <p:spPr>
          <a:xfrm>
            <a:off x="4663440" y="2880360"/>
            <a:ext cx="3136392" cy="658368"/>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HTTPS redirection not enforced</a:t>
            </a:r>
            <a:endParaRPr lang="en-US" sz="1250" dirty="0"/>
          </a:p>
        </p:txBody>
      </p:sp>
      <p:sp>
        <p:nvSpPr>
          <p:cNvPr id="19" name="Shape 17"/>
          <p:cNvSpPr/>
          <p:nvPr/>
        </p:nvSpPr>
        <p:spPr>
          <a:xfrm>
            <a:off x="7955280" y="2880360"/>
            <a:ext cx="3685032" cy="658368"/>
          </a:xfrm>
          <a:prstGeom prst="roundRect">
            <a:avLst>
              <a:gd name="adj" fmla="val 11111"/>
            </a:avLst>
          </a:prstGeom>
          <a:solidFill>
            <a:srgbClr val="141A26"/>
          </a:solidFill>
          <a:ln w="12700">
            <a:solidFill>
              <a:srgbClr val="2A3446"/>
            </a:solidFill>
            <a:prstDash val="solid"/>
          </a:ln>
        </p:spPr>
        <p:txBody>
          <a:bodyPr/>
          <a:lstStyle/>
          <a:p>
            <a:endParaRPr lang="en-NP"/>
          </a:p>
        </p:txBody>
      </p:sp>
      <p:sp>
        <p:nvSpPr>
          <p:cNvPr id="20" name="Shape 18"/>
          <p:cNvSpPr/>
          <p:nvPr/>
        </p:nvSpPr>
        <p:spPr>
          <a:xfrm>
            <a:off x="8138160" y="3150108"/>
            <a:ext cx="118872" cy="118872"/>
          </a:xfrm>
          <a:prstGeom prst="ellipse">
            <a:avLst/>
          </a:prstGeom>
          <a:solidFill>
            <a:srgbClr val="FFA33A"/>
          </a:solidFill>
          <a:ln w="12700">
            <a:solidFill>
              <a:srgbClr val="FFA33A"/>
            </a:solidFill>
            <a:prstDash val="solid"/>
          </a:ln>
        </p:spPr>
        <p:txBody>
          <a:bodyPr/>
          <a:lstStyle/>
          <a:p>
            <a:endParaRPr lang="en-NP"/>
          </a:p>
        </p:txBody>
      </p:sp>
      <p:sp>
        <p:nvSpPr>
          <p:cNvPr id="21" name="Text 19"/>
          <p:cNvSpPr txBox="1"/>
          <p:nvPr/>
        </p:nvSpPr>
        <p:spPr>
          <a:xfrm>
            <a:off x="8366760" y="2880360"/>
            <a:ext cx="3136392" cy="658368"/>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Missing security headers</a:t>
            </a:r>
            <a:endParaRPr lang="en-US" sz="1250" dirty="0"/>
          </a:p>
        </p:txBody>
      </p:sp>
      <p:sp>
        <p:nvSpPr>
          <p:cNvPr id="22" name="Shape 20"/>
          <p:cNvSpPr/>
          <p:nvPr/>
        </p:nvSpPr>
        <p:spPr>
          <a:xfrm>
            <a:off x="548640" y="3703320"/>
            <a:ext cx="3685032" cy="658368"/>
          </a:xfrm>
          <a:prstGeom prst="roundRect">
            <a:avLst>
              <a:gd name="adj" fmla="val 11111"/>
            </a:avLst>
          </a:prstGeom>
          <a:solidFill>
            <a:srgbClr val="141A26"/>
          </a:solidFill>
          <a:ln w="12700">
            <a:solidFill>
              <a:srgbClr val="2A3446"/>
            </a:solidFill>
            <a:prstDash val="solid"/>
          </a:ln>
        </p:spPr>
        <p:txBody>
          <a:bodyPr/>
          <a:lstStyle/>
          <a:p>
            <a:endParaRPr lang="en-NP"/>
          </a:p>
        </p:txBody>
      </p:sp>
      <p:sp>
        <p:nvSpPr>
          <p:cNvPr id="23" name="Shape 21"/>
          <p:cNvSpPr/>
          <p:nvPr/>
        </p:nvSpPr>
        <p:spPr>
          <a:xfrm>
            <a:off x="731520" y="3973068"/>
            <a:ext cx="118872" cy="118872"/>
          </a:xfrm>
          <a:prstGeom prst="ellipse">
            <a:avLst/>
          </a:prstGeom>
          <a:solidFill>
            <a:srgbClr val="FFC15E"/>
          </a:solidFill>
          <a:ln w="12700">
            <a:solidFill>
              <a:srgbClr val="FFC15E"/>
            </a:solidFill>
            <a:prstDash val="solid"/>
          </a:ln>
        </p:spPr>
        <p:txBody>
          <a:bodyPr/>
          <a:lstStyle/>
          <a:p>
            <a:endParaRPr lang="en-NP"/>
          </a:p>
        </p:txBody>
      </p:sp>
      <p:sp>
        <p:nvSpPr>
          <p:cNvPr id="24" name="Text 22"/>
          <p:cNvSpPr txBox="1"/>
          <p:nvPr/>
        </p:nvSpPr>
        <p:spPr>
          <a:xfrm>
            <a:off x="960120" y="3703320"/>
            <a:ext cx="3136392" cy="658368"/>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Swagger / OpenAPI exposed publicly</a:t>
            </a:r>
            <a:endParaRPr lang="en-US" sz="1250" dirty="0"/>
          </a:p>
        </p:txBody>
      </p:sp>
      <p:sp>
        <p:nvSpPr>
          <p:cNvPr id="25" name="Shape 23"/>
          <p:cNvSpPr/>
          <p:nvPr/>
        </p:nvSpPr>
        <p:spPr>
          <a:xfrm>
            <a:off x="4251960" y="3703320"/>
            <a:ext cx="3685032" cy="658368"/>
          </a:xfrm>
          <a:prstGeom prst="roundRect">
            <a:avLst>
              <a:gd name="adj" fmla="val 11111"/>
            </a:avLst>
          </a:prstGeom>
          <a:solidFill>
            <a:srgbClr val="141A26"/>
          </a:solidFill>
          <a:ln w="12700">
            <a:solidFill>
              <a:srgbClr val="2A3446"/>
            </a:solidFill>
            <a:prstDash val="solid"/>
          </a:ln>
        </p:spPr>
        <p:txBody>
          <a:bodyPr/>
          <a:lstStyle/>
          <a:p>
            <a:endParaRPr lang="en-NP"/>
          </a:p>
        </p:txBody>
      </p:sp>
      <p:sp>
        <p:nvSpPr>
          <p:cNvPr id="26" name="Shape 24"/>
          <p:cNvSpPr/>
          <p:nvPr/>
        </p:nvSpPr>
        <p:spPr>
          <a:xfrm>
            <a:off x="4434840" y="3973068"/>
            <a:ext cx="118872" cy="118872"/>
          </a:xfrm>
          <a:prstGeom prst="ellipse">
            <a:avLst/>
          </a:prstGeom>
          <a:solidFill>
            <a:srgbClr val="FFC15E"/>
          </a:solidFill>
          <a:ln w="12700">
            <a:solidFill>
              <a:srgbClr val="FFC15E"/>
            </a:solidFill>
            <a:prstDash val="solid"/>
          </a:ln>
        </p:spPr>
        <p:txBody>
          <a:bodyPr/>
          <a:lstStyle/>
          <a:p>
            <a:endParaRPr lang="en-NP"/>
          </a:p>
        </p:txBody>
      </p:sp>
      <p:sp>
        <p:nvSpPr>
          <p:cNvPr id="27" name="Text 25"/>
          <p:cNvSpPr txBox="1"/>
          <p:nvPr/>
        </p:nvSpPr>
        <p:spPr>
          <a:xfrm>
            <a:off x="4663440" y="3703320"/>
            <a:ext cx="3136392" cy="658368"/>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Over-permissive cloud identity</a:t>
            </a:r>
            <a:endParaRPr lang="en-US" sz="1250" dirty="0"/>
          </a:p>
        </p:txBody>
      </p:sp>
      <p:sp>
        <p:nvSpPr>
          <p:cNvPr id="28" name="Shape 26"/>
          <p:cNvSpPr/>
          <p:nvPr/>
        </p:nvSpPr>
        <p:spPr>
          <a:xfrm>
            <a:off x="7955280" y="3703320"/>
            <a:ext cx="3685032" cy="658368"/>
          </a:xfrm>
          <a:prstGeom prst="roundRect">
            <a:avLst>
              <a:gd name="adj" fmla="val 11111"/>
            </a:avLst>
          </a:prstGeom>
          <a:solidFill>
            <a:srgbClr val="141A26"/>
          </a:solidFill>
          <a:ln w="12700">
            <a:solidFill>
              <a:srgbClr val="2A3446"/>
            </a:solidFill>
            <a:prstDash val="solid"/>
          </a:ln>
        </p:spPr>
        <p:txBody>
          <a:bodyPr/>
          <a:lstStyle/>
          <a:p>
            <a:endParaRPr lang="en-NP"/>
          </a:p>
        </p:txBody>
      </p:sp>
      <p:sp>
        <p:nvSpPr>
          <p:cNvPr id="29" name="Shape 27"/>
          <p:cNvSpPr/>
          <p:nvPr/>
        </p:nvSpPr>
        <p:spPr>
          <a:xfrm>
            <a:off x="8138160" y="3973068"/>
            <a:ext cx="118872" cy="118872"/>
          </a:xfrm>
          <a:prstGeom prst="ellipse">
            <a:avLst/>
          </a:prstGeom>
          <a:solidFill>
            <a:srgbClr val="FFC15E"/>
          </a:solidFill>
          <a:ln w="12700">
            <a:solidFill>
              <a:srgbClr val="FFC15E"/>
            </a:solidFill>
            <a:prstDash val="solid"/>
          </a:ln>
        </p:spPr>
        <p:txBody>
          <a:bodyPr/>
          <a:lstStyle/>
          <a:p>
            <a:endParaRPr lang="en-NP"/>
          </a:p>
        </p:txBody>
      </p:sp>
      <p:sp>
        <p:nvSpPr>
          <p:cNvPr id="30" name="Text 28"/>
          <p:cNvSpPr txBox="1"/>
          <p:nvPr/>
        </p:nvSpPr>
        <p:spPr>
          <a:xfrm>
            <a:off x="8366760" y="3703320"/>
            <a:ext cx="3136392" cy="658368"/>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Default or shared credentials</a:t>
            </a:r>
            <a:endParaRPr lang="en-US" sz="1250" dirty="0"/>
          </a:p>
        </p:txBody>
      </p:sp>
      <p:sp>
        <p:nvSpPr>
          <p:cNvPr id="31" name="Shape 29"/>
          <p:cNvSpPr/>
          <p:nvPr/>
        </p:nvSpPr>
        <p:spPr>
          <a:xfrm>
            <a:off x="1463040" y="4709160"/>
            <a:ext cx="2743200" cy="777240"/>
          </a:xfrm>
          <a:prstGeom prst="roundRect">
            <a:avLst>
              <a:gd name="adj" fmla="val 9412"/>
            </a:avLst>
          </a:prstGeom>
          <a:solidFill>
            <a:srgbClr val="1A2130"/>
          </a:solidFill>
          <a:ln w="12700">
            <a:solidFill>
              <a:srgbClr val="4FD68A"/>
            </a:solidFill>
            <a:prstDash val="solid"/>
          </a:ln>
        </p:spPr>
        <p:txBody>
          <a:bodyPr/>
          <a:lstStyle/>
          <a:p>
            <a:endParaRPr lang="en-NP"/>
          </a:p>
        </p:txBody>
      </p:sp>
      <p:sp>
        <p:nvSpPr>
          <p:cNvPr id="32" name="Text 30"/>
          <p:cNvSpPr txBox="1"/>
          <p:nvPr/>
        </p:nvSpPr>
        <p:spPr>
          <a:xfrm>
            <a:off x="1463040" y="4709160"/>
            <a:ext cx="2743200" cy="777240"/>
          </a:xfrm>
          <a:prstGeom prst="rect">
            <a:avLst/>
          </a:prstGeom>
          <a:noFill/>
          <a:ln/>
        </p:spPr>
        <p:txBody>
          <a:bodyPr wrap="square" lIns="0" tIns="0" rIns="0" bIns="0" rtlCol="0" anchor="ctr"/>
          <a:lstStyle/>
          <a:p>
            <a:pPr marL="0" indent="0" algn="ctr">
              <a:buNone/>
            </a:pPr>
            <a:r>
              <a:rPr lang="en-US" sz="1400" b="1" dirty="0">
                <a:solidFill>
                  <a:srgbClr val="4FD68A"/>
                </a:solidFill>
                <a:latin typeface="Arial" pitchFamily="34" charset="0"/>
                <a:ea typeface="Arial" pitchFamily="34" charset="-122"/>
                <a:cs typeface="Arial" pitchFamily="34" charset="-120"/>
              </a:rPr>
              <a:t>Secure code</a:t>
            </a:r>
            <a:endParaRPr lang="en-US" sz="1400" dirty="0"/>
          </a:p>
        </p:txBody>
      </p:sp>
      <p:sp>
        <p:nvSpPr>
          <p:cNvPr id="33" name="Shape 31"/>
          <p:cNvSpPr/>
          <p:nvPr/>
        </p:nvSpPr>
        <p:spPr>
          <a:xfrm>
            <a:off x="4343400" y="5029200"/>
            <a:ext cx="457200" cy="146304"/>
          </a:xfrm>
          <a:prstGeom prst="rightArrow">
            <a:avLst/>
          </a:prstGeom>
          <a:solidFill>
            <a:srgbClr val="5C687D"/>
          </a:solidFill>
          <a:ln w="12700">
            <a:solidFill>
              <a:srgbClr val="0B0F17"/>
            </a:solidFill>
            <a:prstDash val="solid"/>
          </a:ln>
        </p:spPr>
        <p:txBody>
          <a:bodyPr/>
          <a:lstStyle/>
          <a:p>
            <a:endParaRPr lang="en-NP"/>
          </a:p>
        </p:txBody>
      </p:sp>
      <p:sp>
        <p:nvSpPr>
          <p:cNvPr id="34" name="Shape 32"/>
          <p:cNvSpPr/>
          <p:nvPr/>
        </p:nvSpPr>
        <p:spPr>
          <a:xfrm>
            <a:off x="4800600" y="4709160"/>
            <a:ext cx="2743200" cy="777240"/>
          </a:xfrm>
          <a:prstGeom prst="roundRect">
            <a:avLst>
              <a:gd name="adj" fmla="val 9412"/>
            </a:avLst>
          </a:prstGeom>
          <a:solidFill>
            <a:srgbClr val="1A2130"/>
          </a:solidFill>
          <a:ln w="12700">
            <a:solidFill>
              <a:srgbClr val="FFA33A"/>
            </a:solidFill>
            <a:prstDash val="solid"/>
          </a:ln>
        </p:spPr>
        <p:txBody>
          <a:bodyPr/>
          <a:lstStyle/>
          <a:p>
            <a:endParaRPr lang="en-NP"/>
          </a:p>
        </p:txBody>
      </p:sp>
      <p:sp>
        <p:nvSpPr>
          <p:cNvPr id="35" name="Text 33"/>
          <p:cNvSpPr txBox="1"/>
          <p:nvPr/>
        </p:nvSpPr>
        <p:spPr>
          <a:xfrm>
            <a:off x="4800600" y="4709160"/>
            <a:ext cx="2743200" cy="777240"/>
          </a:xfrm>
          <a:prstGeom prst="rect">
            <a:avLst/>
          </a:prstGeom>
          <a:noFill/>
          <a:ln/>
        </p:spPr>
        <p:txBody>
          <a:bodyPr wrap="square" lIns="0" tIns="0" rIns="0" bIns="0" rtlCol="0" anchor="ctr"/>
          <a:lstStyle/>
          <a:p>
            <a:pPr marL="0" indent="0" algn="ctr">
              <a:buNone/>
            </a:pPr>
            <a:r>
              <a:rPr lang="en-US" sz="1400" b="1" dirty="0">
                <a:solidFill>
                  <a:srgbClr val="FFA33A"/>
                </a:solidFill>
                <a:latin typeface="Arial" pitchFamily="34" charset="0"/>
                <a:ea typeface="Arial" pitchFamily="34" charset="-122"/>
                <a:cs typeface="Arial" pitchFamily="34" charset="-120"/>
              </a:rPr>
              <a:t>Insecure deployment</a:t>
            </a:r>
            <a:endParaRPr lang="en-US" sz="1400" dirty="0"/>
          </a:p>
        </p:txBody>
      </p:sp>
      <p:sp>
        <p:nvSpPr>
          <p:cNvPr id="36" name="Shape 34"/>
          <p:cNvSpPr/>
          <p:nvPr/>
        </p:nvSpPr>
        <p:spPr>
          <a:xfrm>
            <a:off x="7680960" y="5029200"/>
            <a:ext cx="457200" cy="146304"/>
          </a:xfrm>
          <a:prstGeom prst="rightArrow">
            <a:avLst/>
          </a:prstGeom>
          <a:solidFill>
            <a:srgbClr val="5C687D"/>
          </a:solidFill>
          <a:ln w="12700">
            <a:solidFill>
              <a:srgbClr val="0B0F17"/>
            </a:solidFill>
            <a:prstDash val="solid"/>
          </a:ln>
        </p:spPr>
        <p:txBody>
          <a:bodyPr/>
          <a:lstStyle/>
          <a:p>
            <a:endParaRPr lang="en-NP"/>
          </a:p>
        </p:txBody>
      </p:sp>
      <p:sp>
        <p:nvSpPr>
          <p:cNvPr id="37" name="Shape 35"/>
          <p:cNvSpPr/>
          <p:nvPr/>
        </p:nvSpPr>
        <p:spPr>
          <a:xfrm>
            <a:off x="8138160" y="4709160"/>
            <a:ext cx="2743200" cy="777240"/>
          </a:xfrm>
          <a:prstGeom prst="roundRect">
            <a:avLst>
              <a:gd name="adj" fmla="val 9412"/>
            </a:avLst>
          </a:prstGeom>
          <a:solidFill>
            <a:srgbClr val="1A2130"/>
          </a:solidFill>
          <a:ln w="12700">
            <a:solidFill>
              <a:srgbClr val="FF6B5E"/>
            </a:solidFill>
            <a:prstDash val="solid"/>
          </a:ln>
        </p:spPr>
        <p:txBody>
          <a:bodyPr/>
          <a:lstStyle/>
          <a:p>
            <a:endParaRPr lang="en-NP"/>
          </a:p>
        </p:txBody>
      </p:sp>
      <p:sp>
        <p:nvSpPr>
          <p:cNvPr id="38" name="Text 36"/>
          <p:cNvSpPr txBox="1"/>
          <p:nvPr/>
        </p:nvSpPr>
        <p:spPr>
          <a:xfrm>
            <a:off x="8138160" y="4709160"/>
            <a:ext cx="2743200" cy="777240"/>
          </a:xfrm>
          <a:prstGeom prst="rect">
            <a:avLst/>
          </a:prstGeom>
          <a:noFill/>
          <a:ln/>
        </p:spPr>
        <p:txBody>
          <a:bodyPr wrap="square" lIns="0" tIns="0" rIns="0" bIns="0" rtlCol="0" anchor="ctr"/>
          <a:lstStyle/>
          <a:p>
            <a:pPr marL="0" indent="0" algn="ctr">
              <a:buNone/>
            </a:pPr>
            <a:r>
              <a:rPr lang="en-US" sz="1400" b="1" dirty="0">
                <a:solidFill>
                  <a:srgbClr val="FF6B5E"/>
                </a:solidFill>
                <a:latin typeface="Arial" pitchFamily="34" charset="0"/>
                <a:ea typeface="Arial" pitchFamily="34" charset="-122"/>
                <a:cs typeface="Arial" pitchFamily="34" charset="-120"/>
              </a:rPr>
              <a:t>Compromised application</a:t>
            </a:r>
            <a:endParaRPr lang="en-US" sz="1400" dirty="0"/>
          </a:p>
        </p:txBody>
      </p:sp>
      <p:sp>
        <p:nvSpPr>
          <p:cNvPr id="39" name="Text 37"/>
          <p:cNvSpPr txBox="1"/>
          <p:nvPr/>
        </p:nvSpPr>
        <p:spPr>
          <a:xfrm>
            <a:off x="548640" y="5715000"/>
            <a:ext cx="11091672" cy="365760"/>
          </a:xfrm>
          <a:prstGeom prst="rect">
            <a:avLst/>
          </a:prstGeom>
          <a:noFill/>
          <a:ln/>
        </p:spPr>
        <p:txBody>
          <a:bodyPr wrap="square" lIns="0" tIns="0" rIns="0" bIns="0" rtlCol="0" anchor="ctr"/>
          <a:lstStyle/>
          <a:p>
            <a:pPr marL="0" indent="0" algn="ctr">
              <a:buNone/>
            </a:pPr>
            <a:r>
              <a:rPr lang="en-US" sz="1250" i="1" dirty="0">
                <a:solidFill>
                  <a:srgbClr val="8C97AC"/>
                </a:solidFill>
                <a:latin typeface="Arial" pitchFamily="34" charset="0"/>
                <a:ea typeface="Arial" pitchFamily="34" charset="-122"/>
                <a:cs typeface="Arial" pitchFamily="34" charset="-120"/>
              </a:rPr>
              <a:t>Misconfiguration moved up three places in OWASP Top 10:2025 — because more of our behaviour lives in config than ever before.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B0F17"/>
        </a:solidFill>
        <a:effectLst/>
      </p:bgPr>
    </p:bg>
    <p:spTree>
      <p:nvGrpSpPr>
        <p:cNvPr id="1" name=""/>
        <p:cNvGrpSpPr/>
        <p:nvPr/>
      </p:nvGrpSpPr>
      <p:grpSpPr>
        <a:xfrm>
          <a:off x="0" y="0"/>
          <a:ext cx="0" cy="0"/>
          <a:chOff x="0" y="0"/>
          <a:chExt cx="0" cy="0"/>
        </a:xfrm>
      </p:grpSpPr>
      <p:sp>
        <p:nvSpPr>
          <p:cNvPr id="9" name="Text 7"/>
          <p:cNvSpPr txBox="1"/>
          <p:nvPr/>
        </p:nvSpPr>
        <p:spPr>
          <a:xfrm>
            <a:off x="548640" y="5897880"/>
            <a:ext cx="11091672" cy="365760"/>
          </a:xfrm>
          <a:prstGeom prst="rect">
            <a:avLst/>
          </a:prstGeom>
          <a:noFill/>
          <a:ln/>
        </p:spPr>
        <p:txBody>
          <a:bodyPr wrap="square" lIns="0" tIns="0" rIns="0" bIns="0" rtlCol="0" anchor="ctr"/>
          <a:lstStyle/>
          <a:p>
            <a:pPr marL="0" indent="0" algn="ctr">
              <a:buNone/>
            </a:pPr>
            <a:r>
              <a:rPr lang="en-US" sz="1400" i="1" dirty="0">
                <a:solidFill>
                  <a:srgbClr val="C9B6FF"/>
                </a:solidFill>
                <a:latin typeface="Arial" pitchFamily="34" charset="0"/>
                <a:ea typeface="Arial" pitchFamily="34" charset="-122"/>
                <a:cs typeface="Arial" pitchFamily="34" charset="-120"/>
              </a:rPr>
              <a:t>Development configuration is not production configuration. Your machine is not the internet.</a:t>
            </a:r>
            <a:endParaRPr lang="en-US" sz="1400" dirty="0"/>
          </a:p>
        </p:txBody>
      </p:sp>
      <p:sp>
        <p:nvSpPr>
          <p:cNvPr id="15" name="Text 1">
            <a:extLst>
              <a:ext uri="{FF2B5EF4-FFF2-40B4-BE49-F238E27FC236}">
                <a16:creationId xmlns:a16="http://schemas.microsoft.com/office/drawing/2014/main" id="{90972C95-CAB0-91AF-5AAE-E1BC88FA4B6D}"/>
              </a:ext>
            </a:extLst>
          </p:cNvPr>
          <p:cNvSpPr txBox="1"/>
          <p:nvPr/>
        </p:nvSpPr>
        <p:spPr>
          <a:xfrm>
            <a:off x="548640" y="330805"/>
            <a:ext cx="5120640" cy="564638"/>
          </a:xfrm>
          <a:prstGeom prst="rect">
            <a:avLst/>
          </a:prstGeom>
          <a:noFill/>
          <a:ln/>
        </p:spPr>
        <p:txBody>
          <a:bodyPr wrap="square" lIns="0" tIns="0" rIns="0" bIns="0" rtlCol="0" anchor="ctr"/>
          <a:lstStyle/>
          <a:p>
            <a:r>
              <a:rPr lang="en-US" sz="3000" b="1" dirty="0">
                <a:solidFill>
                  <a:srgbClr val="E9EEF7"/>
                </a:solidFill>
                <a:latin typeface="Arial" pitchFamily="34" charset="0"/>
                <a:ea typeface="Arial" pitchFamily="34" charset="-122"/>
                <a:cs typeface="Arial" pitchFamily="34" charset="-120"/>
              </a:rPr>
              <a:t>Dev </a:t>
            </a:r>
            <a:r>
              <a:rPr lang="en-NP" sz="3000" b="1" dirty="0">
                <a:solidFill>
                  <a:srgbClr val="E9EEF7"/>
                </a:solidFill>
                <a:latin typeface="Arial" pitchFamily="34" charset="0"/>
                <a:cs typeface="Arial" pitchFamily="34" charset="-120"/>
              </a:rPr>
              <a:t>≠ Production</a:t>
            </a:r>
            <a:r>
              <a:rPr lang="en-US" sz="3000" b="1" dirty="0">
                <a:solidFill>
                  <a:srgbClr val="E9EEF7"/>
                </a:solidFill>
                <a:latin typeface="Arial" pitchFamily="34" charset="0"/>
                <a:cs typeface="Arial" pitchFamily="34" charset="-120"/>
              </a:rPr>
              <a:t> </a:t>
            </a:r>
          </a:p>
        </p:txBody>
      </p:sp>
      <p:pic>
        <p:nvPicPr>
          <p:cNvPr id="19" name="Picture 18">
            <a:extLst>
              <a:ext uri="{FF2B5EF4-FFF2-40B4-BE49-F238E27FC236}">
                <a16:creationId xmlns:a16="http://schemas.microsoft.com/office/drawing/2014/main" id="{090C11FB-357C-4913-CB0B-05044FB710FE}"/>
              </a:ext>
            </a:extLst>
          </p:cNvPr>
          <p:cNvPicPr>
            <a:picLocks noChangeAspect="1"/>
          </p:cNvPicPr>
          <p:nvPr/>
        </p:nvPicPr>
        <p:blipFill>
          <a:blip r:embed="rId3"/>
          <a:stretch>
            <a:fillRect/>
          </a:stretch>
        </p:blipFill>
        <p:spPr>
          <a:xfrm>
            <a:off x="3053542" y="1016605"/>
            <a:ext cx="6343153" cy="47601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THE CONFIGURATION TRAP</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000" b="1" dirty="0">
                <a:solidFill>
                  <a:srgbClr val="E9EEF7"/>
                </a:solidFill>
                <a:latin typeface="Arial" pitchFamily="34" charset="0"/>
                <a:ea typeface="Arial" pitchFamily="34" charset="-122"/>
                <a:cs typeface="Arial" pitchFamily="34" charset="-120"/>
              </a:rPr>
              <a:t>Configuration Is Code With Consequences</a:t>
            </a:r>
            <a:endParaRPr lang="en-US" sz="3000" dirty="0"/>
          </a:p>
        </p:txBody>
      </p:sp>
      <p:sp>
        <p:nvSpPr>
          <p:cNvPr id="4" name="Shape 2"/>
          <p:cNvSpPr/>
          <p:nvPr/>
        </p:nvSpPr>
        <p:spPr>
          <a:xfrm>
            <a:off x="548640" y="1783080"/>
            <a:ext cx="4937760" cy="566928"/>
          </a:xfrm>
          <a:prstGeom prst="roundRect">
            <a:avLst>
              <a:gd name="adj" fmla="val 12903"/>
            </a:avLst>
          </a:prstGeom>
          <a:solidFill>
            <a:srgbClr val="141A26"/>
          </a:solidFill>
          <a:ln w="12700">
            <a:solidFill>
              <a:srgbClr val="FF6B5E"/>
            </a:solidFill>
            <a:prstDash val="solid"/>
          </a:ln>
        </p:spPr>
        <p:txBody>
          <a:bodyPr/>
          <a:lstStyle/>
          <a:p>
            <a:endParaRPr lang="en-NP"/>
          </a:p>
        </p:txBody>
      </p:sp>
      <p:sp>
        <p:nvSpPr>
          <p:cNvPr id="5" name="Text 3"/>
          <p:cNvSpPr txBox="1"/>
          <p:nvPr/>
        </p:nvSpPr>
        <p:spPr>
          <a:xfrm>
            <a:off x="777240" y="1783080"/>
            <a:ext cx="4572000" cy="566928"/>
          </a:xfrm>
          <a:prstGeom prst="rect">
            <a:avLst/>
          </a:prstGeom>
          <a:noFill/>
          <a:ln/>
        </p:spPr>
        <p:txBody>
          <a:bodyPr wrap="square" lIns="0" tIns="0" rIns="0" bIns="0" rtlCol="0" anchor="ctr"/>
          <a:lstStyle/>
          <a:p>
            <a:pPr marL="0" indent="0">
              <a:buNone/>
            </a:pPr>
            <a:r>
              <a:rPr lang="en-US" sz="1350" b="1" dirty="0">
                <a:solidFill>
                  <a:srgbClr val="E9EEF7"/>
                </a:solidFill>
                <a:latin typeface="Courier New" pitchFamily="34" charset="0"/>
                <a:ea typeface="Courier New" pitchFamily="34" charset="-122"/>
                <a:cs typeface="Courier New" pitchFamily="34" charset="-120"/>
              </a:rPr>
              <a:t>appsettings.json</a:t>
            </a:r>
            <a:endParaRPr lang="en-US" sz="1350" dirty="0"/>
          </a:p>
        </p:txBody>
      </p:sp>
      <p:sp>
        <p:nvSpPr>
          <p:cNvPr id="6" name="Shape 4"/>
          <p:cNvSpPr/>
          <p:nvPr/>
        </p:nvSpPr>
        <p:spPr>
          <a:xfrm>
            <a:off x="960120" y="2368296"/>
            <a:ext cx="146304" cy="182880"/>
          </a:xfrm>
          <a:prstGeom prst="downArrow">
            <a:avLst/>
          </a:prstGeom>
          <a:solidFill>
            <a:srgbClr val="5C687D"/>
          </a:solidFill>
          <a:ln w="12700">
            <a:solidFill>
              <a:srgbClr val="0B0F17"/>
            </a:solidFill>
            <a:prstDash val="solid"/>
          </a:ln>
        </p:spPr>
        <p:txBody>
          <a:bodyPr/>
          <a:lstStyle/>
          <a:p>
            <a:endParaRPr lang="en-NP"/>
          </a:p>
        </p:txBody>
      </p:sp>
      <p:sp>
        <p:nvSpPr>
          <p:cNvPr id="7" name="Shape 5"/>
          <p:cNvSpPr/>
          <p:nvPr/>
        </p:nvSpPr>
        <p:spPr>
          <a:xfrm>
            <a:off x="548640" y="2496312"/>
            <a:ext cx="4937760" cy="566928"/>
          </a:xfrm>
          <a:prstGeom prst="roundRect">
            <a:avLst>
              <a:gd name="adj" fmla="val 12903"/>
            </a:avLst>
          </a:prstGeom>
          <a:solidFill>
            <a:srgbClr val="141A26"/>
          </a:solidFill>
          <a:ln w="12700">
            <a:solidFill>
              <a:srgbClr val="FFA33A"/>
            </a:solidFill>
            <a:prstDash val="solid"/>
          </a:ln>
        </p:spPr>
        <p:txBody>
          <a:bodyPr/>
          <a:lstStyle/>
          <a:p>
            <a:endParaRPr lang="en-NP"/>
          </a:p>
        </p:txBody>
      </p:sp>
      <p:sp>
        <p:nvSpPr>
          <p:cNvPr id="8" name="Text 6"/>
          <p:cNvSpPr txBox="1"/>
          <p:nvPr/>
        </p:nvSpPr>
        <p:spPr>
          <a:xfrm>
            <a:off x="777240" y="2496312"/>
            <a:ext cx="4572000" cy="566928"/>
          </a:xfrm>
          <a:prstGeom prst="rect">
            <a:avLst/>
          </a:prstGeom>
          <a:noFill/>
          <a:ln/>
        </p:spPr>
        <p:txBody>
          <a:bodyPr wrap="square" lIns="0" tIns="0" rIns="0" bIns="0" rtlCol="0" anchor="ctr"/>
          <a:lstStyle/>
          <a:p>
            <a:pPr marL="0" indent="0">
              <a:buNone/>
            </a:pPr>
            <a:r>
              <a:rPr lang="en-US" sz="1350" b="1" dirty="0">
                <a:solidFill>
                  <a:srgbClr val="E9EEF7"/>
                </a:solidFill>
                <a:latin typeface="Courier New" pitchFamily="34" charset="0"/>
                <a:ea typeface="Courier New" pitchFamily="34" charset="-122"/>
                <a:cs typeface="Courier New" pitchFamily="34" charset="-120"/>
              </a:rPr>
              <a:t>appsettings.Development.json</a:t>
            </a:r>
            <a:endParaRPr lang="en-US" sz="1350" dirty="0"/>
          </a:p>
        </p:txBody>
      </p:sp>
      <p:sp>
        <p:nvSpPr>
          <p:cNvPr id="9" name="Shape 7"/>
          <p:cNvSpPr/>
          <p:nvPr/>
        </p:nvSpPr>
        <p:spPr>
          <a:xfrm>
            <a:off x="960120" y="3081528"/>
            <a:ext cx="146304" cy="182880"/>
          </a:xfrm>
          <a:prstGeom prst="downArrow">
            <a:avLst/>
          </a:prstGeom>
          <a:solidFill>
            <a:srgbClr val="5C687D"/>
          </a:solidFill>
          <a:ln w="12700">
            <a:solidFill>
              <a:srgbClr val="0B0F17"/>
            </a:solidFill>
            <a:prstDash val="solid"/>
          </a:ln>
        </p:spPr>
        <p:txBody>
          <a:bodyPr/>
          <a:lstStyle/>
          <a:p>
            <a:endParaRPr lang="en-NP"/>
          </a:p>
        </p:txBody>
      </p:sp>
      <p:sp>
        <p:nvSpPr>
          <p:cNvPr id="10" name="Shape 8"/>
          <p:cNvSpPr/>
          <p:nvPr/>
        </p:nvSpPr>
        <p:spPr>
          <a:xfrm>
            <a:off x="548640" y="3209544"/>
            <a:ext cx="4937760" cy="566928"/>
          </a:xfrm>
          <a:prstGeom prst="roundRect">
            <a:avLst>
              <a:gd name="adj" fmla="val 12903"/>
            </a:avLst>
          </a:prstGeom>
          <a:solidFill>
            <a:srgbClr val="141A26"/>
          </a:solidFill>
          <a:ln w="12700">
            <a:solidFill>
              <a:srgbClr val="FFC15E"/>
            </a:solidFill>
            <a:prstDash val="solid"/>
          </a:ln>
        </p:spPr>
        <p:txBody>
          <a:bodyPr/>
          <a:lstStyle/>
          <a:p>
            <a:endParaRPr lang="en-NP"/>
          </a:p>
        </p:txBody>
      </p:sp>
      <p:sp>
        <p:nvSpPr>
          <p:cNvPr id="11" name="Text 9"/>
          <p:cNvSpPr txBox="1"/>
          <p:nvPr/>
        </p:nvSpPr>
        <p:spPr>
          <a:xfrm>
            <a:off x="777240" y="3209544"/>
            <a:ext cx="4572000" cy="566928"/>
          </a:xfrm>
          <a:prstGeom prst="rect">
            <a:avLst/>
          </a:prstGeom>
          <a:noFill/>
          <a:ln/>
        </p:spPr>
        <p:txBody>
          <a:bodyPr wrap="square" lIns="0" tIns="0" rIns="0" bIns="0" rtlCol="0" anchor="ctr"/>
          <a:lstStyle/>
          <a:p>
            <a:pPr marL="0" indent="0">
              <a:buNone/>
            </a:pPr>
            <a:r>
              <a:rPr lang="en-US" sz="1350" b="1" dirty="0">
                <a:solidFill>
                  <a:srgbClr val="E9EEF7"/>
                </a:solidFill>
                <a:latin typeface="Courier New" pitchFamily="34" charset="0"/>
                <a:ea typeface="Courier New" pitchFamily="34" charset="-122"/>
                <a:cs typeface="Courier New" pitchFamily="34" charset="-120"/>
              </a:rPr>
              <a:t>Environment variables</a:t>
            </a:r>
            <a:endParaRPr lang="en-US" sz="1350" dirty="0"/>
          </a:p>
        </p:txBody>
      </p:sp>
      <p:sp>
        <p:nvSpPr>
          <p:cNvPr id="12" name="Shape 10"/>
          <p:cNvSpPr/>
          <p:nvPr/>
        </p:nvSpPr>
        <p:spPr>
          <a:xfrm>
            <a:off x="960120" y="3794760"/>
            <a:ext cx="146304" cy="182880"/>
          </a:xfrm>
          <a:prstGeom prst="downArrow">
            <a:avLst/>
          </a:prstGeom>
          <a:solidFill>
            <a:srgbClr val="5C687D"/>
          </a:solidFill>
          <a:ln w="12700">
            <a:solidFill>
              <a:srgbClr val="0B0F17"/>
            </a:solidFill>
            <a:prstDash val="solid"/>
          </a:ln>
        </p:spPr>
        <p:txBody>
          <a:bodyPr/>
          <a:lstStyle/>
          <a:p>
            <a:endParaRPr lang="en-NP"/>
          </a:p>
        </p:txBody>
      </p:sp>
      <p:sp>
        <p:nvSpPr>
          <p:cNvPr id="13" name="Shape 11"/>
          <p:cNvSpPr/>
          <p:nvPr/>
        </p:nvSpPr>
        <p:spPr>
          <a:xfrm>
            <a:off x="548640" y="3922776"/>
            <a:ext cx="4937760" cy="566928"/>
          </a:xfrm>
          <a:prstGeom prst="roundRect">
            <a:avLst>
              <a:gd name="adj" fmla="val 12903"/>
            </a:avLst>
          </a:prstGeom>
          <a:solidFill>
            <a:srgbClr val="141A26"/>
          </a:solidFill>
          <a:ln w="12700">
            <a:solidFill>
              <a:srgbClr val="4FD68A"/>
            </a:solidFill>
            <a:prstDash val="solid"/>
          </a:ln>
        </p:spPr>
        <p:txBody>
          <a:bodyPr/>
          <a:lstStyle/>
          <a:p>
            <a:endParaRPr lang="en-NP"/>
          </a:p>
        </p:txBody>
      </p:sp>
      <p:sp>
        <p:nvSpPr>
          <p:cNvPr id="14" name="Text 12"/>
          <p:cNvSpPr txBox="1"/>
          <p:nvPr/>
        </p:nvSpPr>
        <p:spPr>
          <a:xfrm>
            <a:off x="777240" y="3922776"/>
            <a:ext cx="4572000" cy="566928"/>
          </a:xfrm>
          <a:prstGeom prst="rect">
            <a:avLst/>
          </a:prstGeom>
          <a:noFill/>
          <a:ln/>
        </p:spPr>
        <p:txBody>
          <a:bodyPr wrap="square" lIns="0" tIns="0" rIns="0" bIns="0" rtlCol="0" anchor="ctr"/>
          <a:lstStyle/>
          <a:p>
            <a:pPr marL="0" indent="0">
              <a:buNone/>
            </a:pPr>
            <a:r>
              <a:rPr lang="en-US" sz="1350" b="1" dirty="0">
                <a:solidFill>
                  <a:srgbClr val="E9EEF7"/>
                </a:solidFill>
                <a:latin typeface="Courier New" pitchFamily="34" charset="0"/>
                <a:ea typeface="Courier New" pitchFamily="34" charset="-122"/>
                <a:cs typeface="Courier New" pitchFamily="34" charset="-120"/>
              </a:rPr>
              <a:t>Secrets manager / Key Vault</a:t>
            </a:r>
            <a:endParaRPr lang="en-US" sz="1350" dirty="0"/>
          </a:p>
        </p:txBody>
      </p:sp>
      <p:sp>
        <p:nvSpPr>
          <p:cNvPr id="15" name="Shape 13"/>
          <p:cNvSpPr/>
          <p:nvPr/>
        </p:nvSpPr>
        <p:spPr>
          <a:xfrm>
            <a:off x="960120" y="4507992"/>
            <a:ext cx="146304" cy="182880"/>
          </a:xfrm>
          <a:prstGeom prst="downArrow">
            <a:avLst/>
          </a:prstGeom>
          <a:solidFill>
            <a:srgbClr val="5C687D"/>
          </a:solidFill>
          <a:ln w="12700">
            <a:solidFill>
              <a:srgbClr val="0B0F17"/>
            </a:solidFill>
            <a:prstDash val="solid"/>
          </a:ln>
        </p:spPr>
        <p:txBody>
          <a:bodyPr/>
          <a:lstStyle/>
          <a:p>
            <a:endParaRPr lang="en-NP"/>
          </a:p>
        </p:txBody>
      </p:sp>
      <p:sp>
        <p:nvSpPr>
          <p:cNvPr id="16" name="Shape 14"/>
          <p:cNvSpPr/>
          <p:nvPr/>
        </p:nvSpPr>
        <p:spPr>
          <a:xfrm>
            <a:off x="548640" y="4636008"/>
            <a:ext cx="4937760" cy="566928"/>
          </a:xfrm>
          <a:prstGeom prst="roundRect">
            <a:avLst>
              <a:gd name="adj" fmla="val 12903"/>
            </a:avLst>
          </a:prstGeom>
          <a:solidFill>
            <a:srgbClr val="141A26"/>
          </a:solidFill>
          <a:ln w="12700">
            <a:solidFill>
              <a:srgbClr val="4FD68A"/>
            </a:solidFill>
            <a:prstDash val="solid"/>
          </a:ln>
        </p:spPr>
        <p:txBody>
          <a:bodyPr/>
          <a:lstStyle/>
          <a:p>
            <a:endParaRPr lang="en-NP"/>
          </a:p>
        </p:txBody>
      </p:sp>
      <p:sp>
        <p:nvSpPr>
          <p:cNvPr id="17" name="Text 15"/>
          <p:cNvSpPr txBox="1"/>
          <p:nvPr/>
        </p:nvSpPr>
        <p:spPr>
          <a:xfrm>
            <a:off x="777240" y="4636008"/>
            <a:ext cx="4572000" cy="566928"/>
          </a:xfrm>
          <a:prstGeom prst="rect">
            <a:avLst/>
          </a:prstGeom>
          <a:noFill/>
          <a:ln/>
        </p:spPr>
        <p:txBody>
          <a:bodyPr wrap="square" lIns="0" tIns="0" rIns="0" bIns="0" rtlCol="0" anchor="ctr"/>
          <a:lstStyle/>
          <a:p>
            <a:pPr marL="0" indent="0">
              <a:buNone/>
            </a:pPr>
            <a:r>
              <a:rPr lang="en-US" sz="1350" b="1" dirty="0">
                <a:solidFill>
                  <a:srgbClr val="E9EEF7"/>
                </a:solidFill>
                <a:latin typeface="Courier New" pitchFamily="34" charset="0"/>
                <a:ea typeface="Courier New" pitchFamily="34" charset="-122"/>
                <a:cs typeface="Courier New" pitchFamily="34" charset="-120"/>
              </a:rPr>
              <a:t>Managed identity</a:t>
            </a:r>
            <a:endParaRPr lang="en-US" sz="1350" dirty="0"/>
          </a:p>
        </p:txBody>
      </p:sp>
      <p:sp>
        <p:nvSpPr>
          <p:cNvPr id="18" name="Text 16"/>
          <p:cNvSpPr txBox="1"/>
          <p:nvPr/>
        </p:nvSpPr>
        <p:spPr>
          <a:xfrm>
            <a:off x="566928" y="1536192"/>
            <a:ext cx="2743200" cy="228600"/>
          </a:xfrm>
          <a:prstGeom prst="rect">
            <a:avLst/>
          </a:prstGeom>
          <a:noFill/>
          <a:ln/>
        </p:spPr>
        <p:txBody>
          <a:bodyPr wrap="square" lIns="0" tIns="0" rIns="0" bIns="0" rtlCol="0" anchor="ctr"/>
          <a:lstStyle/>
          <a:p>
            <a:pPr marL="0" indent="0">
              <a:buNone/>
            </a:pPr>
            <a:r>
              <a:rPr lang="en-US" sz="1000" b="1" kern="0" spc="140" dirty="0">
                <a:solidFill>
                  <a:srgbClr val="FF6B5E"/>
                </a:solidFill>
                <a:latin typeface="Arial" pitchFamily="34" charset="0"/>
                <a:ea typeface="Arial" pitchFamily="34" charset="-122"/>
                <a:cs typeface="Arial" pitchFamily="34" charset="-120"/>
              </a:rPr>
              <a:t>Least safe</a:t>
            </a:r>
            <a:endParaRPr lang="en-US" sz="1000" dirty="0"/>
          </a:p>
        </p:txBody>
      </p:sp>
      <p:sp>
        <p:nvSpPr>
          <p:cNvPr id="19" name="Text 17"/>
          <p:cNvSpPr txBox="1"/>
          <p:nvPr/>
        </p:nvSpPr>
        <p:spPr>
          <a:xfrm>
            <a:off x="566928" y="5285232"/>
            <a:ext cx="2743200" cy="228600"/>
          </a:xfrm>
          <a:prstGeom prst="rect">
            <a:avLst/>
          </a:prstGeom>
          <a:noFill/>
          <a:ln/>
        </p:spPr>
        <p:txBody>
          <a:bodyPr wrap="square" lIns="0" tIns="0" rIns="0" bIns="0" rtlCol="0" anchor="ctr"/>
          <a:lstStyle/>
          <a:p>
            <a:pPr marL="0" indent="0">
              <a:buNone/>
            </a:pPr>
            <a:r>
              <a:rPr lang="en-US" sz="1000" b="1" kern="0" spc="140" dirty="0">
                <a:solidFill>
                  <a:srgbClr val="4FD68A"/>
                </a:solidFill>
                <a:latin typeface="Arial" pitchFamily="34" charset="0"/>
                <a:ea typeface="Arial" pitchFamily="34" charset="-122"/>
                <a:cs typeface="Arial" pitchFamily="34" charset="-120"/>
              </a:rPr>
              <a:t>Safest</a:t>
            </a:r>
            <a:endParaRPr lang="en-US" sz="1000" dirty="0"/>
          </a:p>
        </p:txBody>
      </p:sp>
      <p:sp>
        <p:nvSpPr>
          <p:cNvPr id="20" name="Shape 18"/>
          <p:cNvSpPr/>
          <p:nvPr/>
        </p:nvSpPr>
        <p:spPr>
          <a:xfrm>
            <a:off x="5852160" y="1874520"/>
            <a:ext cx="5788152" cy="3063240"/>
          </a:xfrm>
          <a:prstGeom prst="roundRect">
            <a:avLst>
              <a:gd name="adj" fmla="val 2388"/>
            </a:avLst>
          </a:prstGeom>
          <a:solidFill>
            <a:srgbClr val="141A26"/>
          </a:solidFill>
          <a:ln w="12700">
            <a:solidFill>
              <a:srgbClr val="FF6B5E"/>
            </a:solidFill>
            <a:prstDash val="solid"/>
          </a:ln>
        </p:spPr>
        <p:txBody>
          <a:bodyPr/>
          <a:lstStyle/>
          <a:p>
            <a:endParaRPr lang="en-NP"/>
          </a:p>
        </p:txBody>
      </p:sp>
      <p:sp>
        <p:nvSpPr>
          <p:cNvPr id="21" name="Text 19"/>
          <p:cNvSpPr txBox="1"/>
          <p:nvPr/>
        </p:nvSpPr>
        <p:spPr>
          <a:xfrm>
            <a:off x="6126480" y="2057400"/>
            <a:ext cx="5303520" cy="256032"/>
          </a:xfrm>
          <a:prstGeom prst="rect">
            <a:avLst/>
          </a:prstGeom>
          <a:noFill/>
          <a:ln/>
        </p:spPr>
        <p:txBody>
          <a:bodyPr wrap="square" lIns="0" tIns="0" rIns="0" bIns="0" rtlCol="0" anchor="ctr"/>
          <a:lstStyle/>
          <a:p>
            <a:pPr marL="0" indent="0">
              <a:buNone/>
            </a:pPr>
            <a:r>
              <a:rPr lang="en-US" sz="1050" b="1" kern="0" spc="140" dirty="0">
                <a:solidFill>
                  <a:srgbClr val="FF6B5E"/>
                </a:solidFill>
                <a:latin typeface="Arial" pitchFamily="34" charset="0"/>
                <a:ea typeface="Arial" pitchFamily="34" charset="-122"/>
                <a:cs typeface="Arial" pitchFamily="34" charset="-120"/>
              </a:rPr>
              <a:t>WHAT ENDS UP IN SOURCE CONTROL ANYWAY</a:t>
            </a:r>
            <a:endParaRPr lang="en-US" sz="1050" dirty="0"/>
          </a:p>
        </p:txBody>
      </p:sp>
      <p:sp>
        <p:nvSpPr>
          <p:cNvPr id="22" name="Shape 20"/>
          <p:cNvSpPr/>
          <p:nvPr/>
        </p:nvSpPr>
        <p:spPr>
          <a:xfrm>
            <a:off x="6144768" y="2578608"/>
            <a:ext cx="91440" cy="91440"/>
          </a:xfrm>
          <a:prstGeom prst="ellipse">
            <a:avLst/>
          </a:prstGeom>
          <a:solidFill>
            <a:srgbClr val="FF6B5E"/>
          </a:solidFill>
          <a:ln w="12700">
            <a:solidFill>
              <a:srgbClr val="FF6B5E"/>
            </a:solidFill>
            <a:prstDash val="solid"/>
          </a:ln>
        </p:spPr>
        <p:txBody>
          <a:bodyPr/>
          <a:lstStyle/>
          <a:p>
            <a:endParaRPr lang="en-NP"/>
          </a:p>
        </p:txBody>
      </p:sp>
      <p:sp>
        <p:nvSpPr>
          <p:cNvPr id="23" name="Text 21"/>
          <p:cNvSpPr txBox="1"/>
          <p:nvPr/>
        </p:nvSpPr>
        <p:spPr>
          <a:xfrm>
            <a:off x="6400800" y="2487168"/>
            <a:ext cx="5029200" cy="292608"/>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Database connection strings</a:t>
            </a:r>
            <a:endParaRPr lang="en-US" sz="1350" dirty="0"/>
          </a:p>
        </p:txBody>
      </p:sp>
      <p:sp>
        <p:nvSpPr>
          <p:cNvPr id="24" name="Shape 22"/>
          <p:cNvSpPr/>
          <p:nvPr/>
        </p:nvSpPr>
        <p:spPr>
          <a:xfrm>
            <a:off x="6144768" y="2980944"/>
            <a:ext cx="91440" cy="91440"/>
          </a:xfrm>
          <a:prstGeom prst="ellipse">
            <a:avLst/>
          </a:prstGeom>
          <a:solidFill>
            <a:srgbClr val="FF6B5E"/>
          </a:solidFill>
          <a:ln w="12700">
            <a:solidFill>
              <a:srgbClr val="FF6B5E"/>
            </a:solidFill>
            <a:prstDash val="solid"/>
          </a:ln>
        </p:spPr>
        <p:txBody>
          <a:bodyPr/>
          <a:lstStyle/>
          <a:p>
            <a:endParaRPr lang="en-NP"/>
          </a:p>
        </p:txBody>
      </p:sp>
      <p:sp>
        <p:nvSpPr>
          <p:cNvPr id="25" name="Text 23"/>
          <p:cNvSpPr txBox="1"/>
          <p:nvPr/>
        </p:nvSpPr>
        <p:spPr>
          <a:xfrm>
            <a:off x="6400800" y="2889504"/>
            <a:ext cx="5029200" cy="292608"/>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Third-party API keys</a:t>
            </a:r>
            <a:endParaRPr lang="en-US" sz="1350" dirty="0"/>
          </a:p>
        </p:txBody>
      </p:sp>
      <p:sp>
        <p:nvSpPr>
          <p:cNvPr id="26" name="Shape 24"/>
          <p:cNvSpPr/>
          <p:nvPr/>
        </p:nvSpPr>
        <p:spPr>
          <a:xfrm>
            <a:off x="6144768" y="3383280"/>
            <a:ext cx="91440" cy="91440"/>
          </a:xfrm>
          <a:prstGeom prst="ellipse">
            <a:avLst/>
          </a:prstGeom>
          <a:solidFill>
            <a:srgbClr val="FF6B5E"/>
          </a:solidFill>
          <a:ln w="12700">
            <a:solidFill>
              <a:srgbClr val="FF6B5E"/>
            </a:solidFill>
            <a:prstDash val="solid"/>
          </a:ln>
        </p:spPr>
        <p:txBody>
          <a:bodyPr/>
          <a:lstStyle/>
          <a:p>
            <a:endParaRPr lang="en-NP"/>
          </a:p>
        </p:txBody>
      </p:sp>
      <p:sp>
        <p:nvSpPr>
          <p:cNvPr id="27" name="Text 25"/>
          <p:cNvSpPr txBox="1"/>
          <p:nvPr/>
        </p:nvSpPr>
        <p:spPr>
          <a:xfrm>
            <a:off x="6400800" y="3291840"/>
            <a:ext cx="5029200" cy="292608"/>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JWT signing secrets</a:t>
            </a:r>
            <a:endParaRPr lang="en-US" sz="1350" dirty="0"/>
          </a:p>
        </p:txBody>
      </p:sp>
      <p:sp>
        <p:nvSpPr>
          <p:cNvPr id="28" name="Shape 26"/>
          <p:cNvSpPr/>
          <p:nvPr/>
        </p:nvSpPr>
        <p:spPr>
          <a:xfrm>
            <a:off x="6144768" y="3785616"/>
            <a:ext cx="91440" cy="91440"/>
          </a:xfrm>
          <a:prstGeom prst="ellipse">
            <a:avLst/>
          </a:prstGeom>
          <a:solidFill>
            <a:srgbClr val="FF6B5E"/>
          </a:solidFill>
          <a:ln w="12700">
            <a:solidFill>
              <a:srgbClr val="FF6B5E"/>
            </a:solidFill>
            <a:prstDash val="solid"/>
          </a:ln>
        </p:spPr>
        <p:txBody>
          <a:bodyPr/>
          <a:lstStyle/>
          <a:p>
            <a:endParaRPr lang="en-NP"/>
          </a:p>
        </p:txBody>
      </p:sp>
      <p:sp>
        <p:nvSpPr>
          <p:cNvPr id="29" name="Text 27"/>
          <p:cNvSpPr txBox="1"/>
          <p:nvPr/>
        </p:nvSpPr>
        <p:spPr>
          <a:xfrm>
            <a:off x="6400800" y="3694176"/>
            <a:ext cx="5029200" cy="292608"/>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Cloud access keys</a:t>
            </a:r>
            <a:endParaRPr lang="en-US" sz="1350" dirty="0"/>
          </a:p>
        </p:txBody>
      </p:sp>
      <p:sp>
        <p:nvSpPr>
          <p:cNvPr id="30" name="Shape 28"/>
          <p:cNvSpPr/>
          <p:nvPr/>
        </p:nvSpPr>
        <p:spPr>
          <a:xfrm>
            <a:off x="6144768" y="4187952"/>
            <a:ext cx="91440" cy="91440"/>
          </a:xfrm>
          <a:prstGeom prst="ellipse">
            <a:avLst/>
          </a:prstGeom>
          <a:solidFill>
            <a:srgbClr val="FF6B5E"/>
          </a:solidFill>
          <a:ln w="12700">
            <a:solidFill>
              <a:srgbClr val="FF6B5E"/>
            </a:solidFill>
            <a:prstDash val="solid"/>
          </a:ln>
        </p:spPr>
        <p:txBody>
          <a:bodyPr/>
          <a:lstStyle/>
          <a:p>
            <a:endParaRPr lang="en-NP"/>
          </a:p>
        </p:txBody>
      </p:sp>
      <p:sp>
        <p:nvSpPr>
          <p:cNvPr id="31" name="Text 29"/>
          <p:cNvSpPr txBox="1"/>
          <p:nvPr/>
        </p:nvSpPr>
        <p:spPr>
          <a:xfrm>
            <a:off x="6400800" y="4096512"/>
            <a:ext cx="5029200" cy="292608"/>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SMTP passwords</a:t>
            </a:r>
            <a:endParaRPr lang="en-US" sz="1350" dirty="0"/>
          </a:p>
        </p:txBody>
      </p:sp>
      <p:sp>
        <p:nvSpPr>
          <p:cNvPr id="32" name="Shape 30"/>
          <p:cNvSpPr/>
          <p:nvPr/>
        </p:nvSpPr>
        <p:spPr>
          <a:xfrm>
            <a:off x="6144768" y="4590288"/>
            <a:ext cx="91440" cy="91440"/>
          </a:xfrm>
          <a:prstGeom prst="ellipse">
            <a:avLst/>
          </a:prstGeom>
          <a:solidFill>
            <a:srgbClr val="FF6B5E"/>
          </a:solidFill>
          <a:ln w="12700">
            <a:solidFill>
              <a:srgbClr val="FF6B5E"/>
            </a:solidFill>
            <a:prstDash val="solid"/>
          </a:ln>
        </p:spPr>
        <p:txBody>
          <a:bodyPr/>
          <a:lstStyle/>
          <a:p>
            <a:endParaRPr lang="en-NP"/>
          </a:p>
        </p:txBody>
      </p:sp>
      <p:sp>
        <p:nvSpPr>
          <p:cNvPr id="33" name="Text 31"/>
          <p:cNvSpPr txBox="1"/>
          <p:nvPr/>
        </p:nvSpPr>
        <p:spPr>
          <a:xfrm>
            <a:off x="6400800" y="4498848"/>
            <a:ext cx="5029200" cy="292608"/>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Payment provider tokens</a:t>
            </a:r>
            <a:endParaRPr lang="en-US" sz="1350" dirty="0"/>
          </a:p>
        </p:txBody>
      </p:sp>
      <p:sp>
        <p:nvSpPr>
          <p:cNvPr id="34" name="Shape 32"/>
          <p:cNvSpPr/>
          <p:nvPr/>
        </p:nvSpPr>
        <p:spPr>
          <a:xfrm>
            <a:off x="548640" y="5623560"/>
            <a:ext cx="11091672" cy="548640"/>
          </a:xfrm>
          <a:prstGeom prst="roundRect">
            <a:avLst>
              <a:gd name="adj" fmla="val 13333"/>
            </a:avLst>
          </a:prstGeom>
          <a:solidFill>
            <a:srgbClr val="2A2050"/>
          </a:solidFill>
          <a:ln w="12700">
            <a:solidFill>
              <a:srgbClr val="FFA33A"/>
            </a:solidFill>
            <a:prstDash val="solid"/>
          </a:ln>
        </p:spPr>
        <p:txBody>
          <a:bodyPr/>
          <a:lstStyle/>
          <a:p>
            <a:endParaRPr lang="en-NP"/>
          </a:p>
        </p:txBody>
      </p:sp>
      <p:sp>
        <p:nvSpPr>
          <p:cNvPr id="35" name="Text 33"/>
          <p:cNvSpPr txBox="1"/>
          <p:nvPr/>
        </p:nvSpPr>
        <p:spPr>
          <a:xfrm>
            <a:off x="822960" y="5623560"/>
            <a:ext cx="10543032" cy="548640"/>
          </a:xfrm>
          <a:prstGeom prst="rect">
            <a:avLst/>
          </a:prstGeom>
          <a:noFill/>
          <a:ln/>
        </p:spPr>
        <p:txBody>
          <a:bodyPr wrap="square" lIns="0" tIns="0" rIns="0" bIns="0" rtlCol="0" anchor="ctr"/>
          <a:lstStyle/>
          <a:p>
            <a:pPr marL="0" indent="0" algn="ctr">
              <a:buNone/>
            </a:pPr>
            <a:r>
              <a:rPr lang="en-US" sz="1600" b="1" i="1" dirty="0">
                <a:solidFill>
                  <a:srgbClr val="FFA33A"/>
                </a:solidFill>
                <a:latin typeface="Arial" pitchFamily="34" charset="0"/>
                <a:ea typeface="Arial" pitchFamily="34" charset="-122"/>
                <a:cs typeface="Arial" pitchFamily="34" charset="-120"/>
              </a:rPr>
              <a:t>"Git never forgets. Rotating the secret is the fix — deleting the commit is not."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FFC15E"/>
                </a:solidFill>
                <a:latin typeface="Arial" pitchFamily="34" charset="0"/>
                <a:ea typeface="Arial" pitchFamily="34" charset="-122"/>
                <a:cs typeface="Arial" pitchFamily="34" charset="-120"/>
              </a:rPr>
              <a:t>A03:2025 SOFTWARE SUPPLY CHAIN FAILURES  ·  NEW CATEGORY</a:t>
            </a:r>
            <a:endParaRPr lang="en-US" sz="1150" dirty="0"/>
          </a:p>
        </p:txBody>
      </p:sp>
      <p:sp>
        <p:nvSpPr>
          <p:cNvPr id="3" name="Text 1"/>
          <p:cNvSpPr txBox="1"/>
          <p:nvPr/>
        </p:nvSpPr>
        <p:spPr>
          <a:xfrm>
            <a:off x="548640" y="749808"/>
            <a:ext cx="11091672" cy="960120"/>
          </a:xfrm>
          <a:prstGeom prst="rect">
            <a:avLst/>
          </a:prstGeom>
          <a:noFill/>
          <a:ln/>
        </p:spPr>
        <p:txBody>
          <a:bodyPr wrap="square" lIns="0" tIns="0" rIns="0" bIns="0" rtlCol="0" anchor="ctr"/>
          <a:lstStyle/>
          <a:p>
            <a:pPr marL="0" indent="0">
              <a:lnSpc>
                <a:spcPct val="100000"/>
              </a:lnSpc>
              <a:buNone/>
            </a:pPr>
            <a:r>
              <a:rPr lang="en-US" sz="2800" b="1" dirty="0">
                <a:solidFill>
                  <a:srgbClr val="E9EEF7"/>
                </a:solidFill>
                <a:latin typeface="Arial" pitchFamily="34" charset="0"/>
                <a:ea typeface="Arial" pitchFamily="34" charset="-122"/>
                <a:cs typeface="Arial" pitchFamily="34" charset="-120"/>
              </a:rPr>
              <a:t>You Wrote 10,000 Lines.</a:t>
            </a:r>
            <a:endParaRPr lang="en-US" sz="2800" dirty="0"/>
          </a:p>
          <a:p>
            <a:pPr marL="0" indent="0">
              <a:lnSpc>
                <a:spcPct val="100000"/>
              </a:lnSpc>
              <a:buNone/>
            </a:pPr>
            <a:r>
              <a:rPr lang="en-US" sz="2800" b="1" dirty="0">
                <a:solidFill>
                  <a:srgbClr val="E9EEF7"/>
                </a:solidFill>
                <a:latin typeface="Arial" pitchFamily="34" charset="0"/>
                <a:ea typeface="Arial" pitchFamily="34" charset="-122"/>
                <a:cs typeface="Arial" pitchFamily="34" charset="-120"/>
              </a:rPr>
              <a:t>Your App Trusts 100,000 More.</a:t>
            </a:r>
            <a:endParaRPr lang="en-US" sz="2800" dirty="0"/>
          </a:p>
        </p:txBody>
      </p:sp>
      <p:sp>
        <p:nvSpPr>
          <p:cNvPr id="4" name="Shape 2"/>
          <p:cNvSpPr/>
          <p:nvPr/>
        </p:nvSpPr>
        <p:spPr>
          <a:xfrm>
            <a:off x="548640" y="2148840"/>
            <a:ext cx="5577840" cy="475488"/>
          </a:xfrm>
          <a:prstGeom prst="roundRect">
            <a:avLst>
              <a:gd name="adj" fmla="val 15385"/>
            </a:avLst>
          </a:prstGeom>
          <a:solidFill>
            <a:srgbClr val="141A26"/>
          </a:solidFill>
          <a:ln w="12700">
            <a:solidFill>
              <a:srgbClr val="4CC9F0"/>
            </a:solidFill>
            <a:prstDash val="solid"/>
          </a:ln>
        </p:spPr>
        <p:txBody>
          <a:bodyPr/>
          <a:lstStyle/>
          <a:p>
            <a:endParaRPr lang="en-NP"/>
          </a:p>
        </p:txBody>
      </p:sp>
      <p:sp>
        <p:nvSpPr>
          <p:cNvPr id="5" name="Text 3"/>
          <p:cNvSpPr txBox="1"/>
          <p:nvPr/>
        </p:nvSpPr>
        <p:spPr>
          <a:xfrm>
            <a:off x="731520" y="2148840"/>
            <a:ext cx="5212080" cy="475488"/>
          </a:xfrm>
          <a:prstGeom prst="rect">
            <a:avLst/>
          </a:prstGeom>
          <a:noFill/>
          <a:ln/>
        </p:spPr>
        <p:txBody>
          <a:bodyPr wrap="square" lIns="0" tIns="0" rIns="0" bIns="0" rtlCol="0" anchor="ctr"/>
          <a:lstStyle/>
          <a:p>
            <a:pPr marL="0" indent="0">
              <a:buNone/>
            </a:pPr>
            <a:r>
              <a:rPr lang="en-US" sz="1250" dirty="0">
                <a:solidFill>
                  <a:srgbClr val="E9EEF7"/>
                </a:solidFill>
                <a:latin typeface="Courier New" pitchFamily="34" charset="0"/>
                <a:ea typeface="Courier New" pitchFamily="34" charset="-122"/>
                <a:cs typeface="Courier New" pitchFamily="34" charset="-120"/>
              </a:rPr>
              <a:t>YourApp.csproj</a:t>
            </a:r>
            <a:endParaRPr lang="en-US" sz="1250" dirty="0"/>
          </a:p>
        </p:txBody>
      </p:sp>
      <p:sp>
        <p:nvSpPr>
          <p:cNvPr id="6" name="Shape 4"/>
          <p:cNvSpPr/>
          <p:nvPr/>
        </p:nvSpPr>
        <p:spPr>
          <a:xfrm>
            <a:off x="800100" y="2752344"/>
            <a:ext cx="5326380" cy="475488"/>
          </a:xfrm>
          <a:prstGeom prst="roundRect">
            <a:avLst>
              <a:gd name="adj" fmla="val 15385"/>
            </a:avLst>
          </a:prstGeom>
          <a:solidFill>
            <a:srgbClr val="141A26"/>
          </a:solidFill>
          <a:ln w="12700">
            <a:solidFill>
              <a:srgbClr val="9A6BFF"/>
            </a:solidFill>
            <a:prstDash val="solid"/>
          </a:ln>
        </p:spPr>
        <p:txBody>
          <a:bodyPr/>
          <a:lstStyle/>
          <a:p>
            <a:endParaRPr lang="en-NP"/>
          </a:p>
        </p:txBody>
      </p:sp>
      <p:sp>
        <p:nvSpPr>
          <p:cNvPr id="7" name="Text 5"/>
          <p:cNvSpPr txBox="1"/>
          <p:nvPr/>
        </p:nvSpPr>
        <p:spPr>
          <a:xfrm>
            <a:off x="982980" y="2752344"/>
            <a:ext cx="5212080" cy="475488"/>
          </a:xfrm>
          <a:prstGeom prst="rect">
            <a:avLst/>
          </a:prstGeom>
          <a:noFill/>
          <a:ln/>
        </p:spPr>
        <p:txBody>
          <a:bodyPr wrap="square" lIns="0" tIns="0" rIns="0" bIns="0" rtlCol="0" anchor="ctr"/>
          <a:lstStyle/>
          <a:p>
            <a:pPr marL="0" indent="0">
              <a:buNone/>
            </a:pPr>
            <a:r>
              <a:rPr lang="en-US" sz="1250" dirty="0">
                <a:solidFill>
                  <a:srgbClr val="E9EEF7"/>
                </a:solidFill>
                <a:latin typeface="Courier New" pitchFamily="34" charset="0"/>
                <a:ea typeface="Courier New" pitchFamily="34" charset="-122"/>
                <a:cs typeface="Courier New" pitchFamily="34" charset="-120"/>
              </a:rPr>
              <a:t>PackageA  (you chose this one)</a:t>
            </a:r>
            <a:endParaRPr lang="en-US" sz="1250" dirty="0"/>
          </a:p>
        </p:txBody>
      </p:sp>
      <p:sp>
        <p:nvSpPr>
          <p:cNvPr id="8" name="Shape 6"/>
          <p:cNvSpPr/>
          <p:nvPr/>
        </p:nvSpPr>
        <p:spPr>
          <a:xfrm>
            <a:off x="1051560" y="3355848"/>
            <a:ext cx="5074920" cy="475488"/>
          </a:xfrm>
          <a:prstGeom prst="roundRect">
            <a:avLst>
              <a:gd name="adj" fmla="val 15385"/>
            </a:avLst>
          </a:prstGeom>
          <a:solidFill>
            <a:srgbClr val="141A26"/>
          </a:solidFill>
          <a:ln w="12700">
            <a:solidFill>
              <a:srgbClr val="9A6BFF"/>
            </a:solidFill>
            <a:prstDash val="solid"/>
          </a:ln>
        </p:spPr>
        <p:txBody>
          <a:bodyPr/>
          <a:lstStyle/>
          <a:p>
            <a:endParaRPr lang="en-NP"/>
          </a:p>
        </p:txBody>
      </p:sp>
      <p:sp>
        <p:nvSpPr>
          <p:cNvPr id="9" name="Text 7"/>
          <p:cNvSpPr txBox="1"/>
          <p:nvPr/>
        </p:nvSpPr>
        <p:spPr>
          <a:xfrm>
            <a:off x="1234440" y="3355848"/>
            <a:ext cx="5212080" cy="475488"/>
          </a:xfrm>
          <a:prstGeom prst="rect">
            <a:avLst/>
          </a:prstGeom>
          <a:noFill/>
          <a:ln/>
        </p:spPr>
        <p:txBody>
          <a:bodyPr wrap="square" lIns="0" tIns="0" rIns="0" bIns="0" rtlCol="0" anchor="ctr"/>
          <a:lstStyle/>
          <a:p>
            <a:pPr marL="0" indent="0">
              <a:buNone/>
            </a:pPr>
            <a:r>
              <a:rPr lang="en-US" sz="1250" dirty="0">
                <a:solidFill>
                  <a:srgbClr val="E9EEF7"/>
                </a:solidFill>
                <a:latin typeface="Courier New" pitchFamily="34" charset="0"/>
                <a:ea typeface="Courier New" pitchFamily="34" charset="-122"/>
                <a:cs typeface="Courier New" pitchFamily="34" charset="-120"/>
              </a:rPr>
              <a:t>PackageB  (A needed it)</a:t>
            </a:r>
            <a:endParaRPr lang="en-US" sz="1250" dirty="0"/>
          </a:p>
        </p:txBody>
      </p:sp>
      <p:sp>
        <p:nvSpPr>
          <p:cNvPr id="10" name="Shape 8"/>
          <p:cNvSpPr/>
          <p:nvPr/>
        </p:nvSpPr>
        <p:spPr>
          <a:xfrm>
            <a:off x="1303020" y="3959352"/>
            <a:ext cx="4823460" cy="475488"/>
          </a:xfrm>
          <a:prstGeom prst="roundRect">
            <a:avLst>
              <a:gd name="adj" fmla="val 15385"/>
            </a:avLst>
          </a:prstGeom>
          <a:solidFill>
            <a:srgbClr val="141A26"/>
          </a:solidFill>
          <a:ln w="12700">
            <a:solidFill>
              <a:srgbClr val="FFA33A"/>
            </a:solidFill>
            <a:prstDash val="solid"/>
          </a:ln>
        </p:spPr>
        <p:txBody>
          <a:bodyPr/>
          <a:lstStyle/>
          <a:p>
            <a:endParaRPr lang="en-NP"/>
          </a:p>
        </p:txBody>
      </p:sp>
      <p:sp>
        <p:nvSpPr>
          <p:cNvPr id="11" name="Text 9"/>
          <p:cNvSpPr txBox="1"/>
          <p:nvPr/>
        </p:nvSpPr>
        <p:spPr>
          <a:xfrm>
            <a:off x="1485900" y="3959352"/>
            <a:ext cx="5212080" cy="475488"/>
          </a:xfrm>
          <a:prstGeom prst="rect">
            <a:avLst/>
          </a:prstGeom>
          <a:noFill/>
          <a:ln/>
        </p:spPr>
        <p:txBody>
          <a:bodyPr wrap="square" lIns="0" tIns="0" rIns="0" bIns="0" rtlCol="0" anchor="ctr"/>
          <a:lstStyle/>
          <a:p>
            <a:pPr marL="0" indent="0">
              <a:buNone/>
            </a:pPr>
            <a:r>
              <a:rPr lang="en-US" sz="1250" dirty="0">
                <a:solidFill>
                  <a:srgbClr val="E9EEF7"/>
                </a:solidFill>
                <a:latin typeface="Courier New" pitchFamily="34" charset="0"/>
                <a:ea typeface="Courier New" pitchFamily="34" charset="-122"/>
                <a:cs typeface="Courier New" pitchFamily="34" charset="-120"/>
              </a:rPr>
              <a:t>PackageC  (B needed it)</a:t>
            </a:r>
            <a:endParaRPr lang="en-US" sz="1250" dirty="0"/>
          </a:p>
        </p:txBody>
      </p:sp>
      <p:sp>
        <p:nvSpPr>
          <p:cNvPr id="12" name="Shape 10"/>
          <p:cNvSpPr/>
          <p:nvPr/>
        </p:nvSpPr>
        <p:spPr>
          <a:xfrm>
            <a:off x="1554480" y="4562856"/>
            <a:ext cx="4572000" cy="475488"/>
          </a:xfrm>
          <a:prstGeom prst="roundRect">
            <a:avLst>
              <a:gd name="adj" fmla="val 15385"/>
            </a:avLst>
          </a:prstGeom>
          <a:solidFill>
            <a:srgbClr val="2A1618"/>
          </a:solidFill>
          <a:ln w="12700">
            <a:solidFill>
              <a:srgbClr val="FF6B5E"/>
            </a:solidFill>
            <a:prstDash val="solid"/>
          </a:ln>
        </p:spPr>
        <p:txBody>
          <a:bodyPr/>
          <a:lstStyle/>
          <a:p>
            <a:endParaRPr lang="en-NP"/>
          </a:p>
        </p:txBody>
      </p:sp>
      <p:sp>
        <p:nvSpPr>
          <p:cNvPr id="13" name="Text 11"/>
          <p:cNvSpPr txBox="1"/>
          <p:nvPr/>
        </p:nvSpPr>
        <p:spPr>
          <a:xfrm>
            <a:off x="1737360" y="4562856"/>
            <a:ext cx="5212080" cy="475488"/>
          </a:xfrm>
          <a:prstGeom prst="rect">
            <a:avLst/>
          </a:prstGeom>
          <a:noFill/>
          <a:ln/>
        </p:spPr>
        <p:txBody>
          <a:bodyPr wrap="square" lIns="0" tIns="0" rIns="0" bIns="0" rtlCol="0" anchor="ctr"/>
          <a:lstStyle/>
          <a:p>
            <a:pPr marL="0" indent="0">
              <a:buNone/>
            </a:pPr>
            <a:r>
              <a:rPr lang="en-US" sz="1250" b="1" dirty="0">
                <a:solidFill>
                  <a:srgbClr val="FF6B5E"/>
                </a:solidFill>
                <a:latin typeface="Courier New" pitchFamily="34" charset="0"/>
                <a:ea typeface="Courier New" pitchFamily="34" charset="-122"/>
                <a:cs typeface="Courier New" pitchFamily="34" charset="-120"/>
              </a:rPr>
              <a:t>LegacyUtil 1.2.0  (nobody chose this)</a:t>
            </a:r>
            <a:endParaRPr lang="en-US" sz="1250" dirty="0"/>
          </a:p>
        </p:txBody>
      </p:sp>
      <p:sp>
        <p:nvSpPr>
          <p:cNvPr id="14" name="Shape 12"/>
          <p:cNvSpPr/>
          <p:nvPr/>
        </p:nvSpPr>
        <p:spPr>
          <a:xfrm>
            <a:off x="1805940" y="5166360"/>
            <a:ext cx="4320540" cy="475488"/>
          </a:xfrm>
          <a:prstGeom prst="roundRect">
            <a:avLst>
              <a:gd name="adj" fmla="val 15385"/>
            </a:avLst>
          </a:prstGeom>
          <a:solidFill>
            <a:srgbClr val="2A1618"/>
          </a:solidFill>
          <a:ln w="12700">
            <a:solidFill>
              <a:srgbClr val="FF6B5E"/>
            </a:solidFill>
            <a:prstDash val="solid"/>
          </a:ln>
        </p:spPr>
        <p:txBody>
          <a:bodyPr/>
          <a:lstStyle/>
          <a:p>
            <a:endParaRPr lang="en-NP"/>
          </a:p>
        </p:txBody>
      </p:sp>
      <p:sp>
        <p:nvSpPr>
          <p:cNvPr id="15" name="Text 13"/>
          <p:cNvSpPr txBox="1"/>
          <p:nvPr/>
        </p:nvSpPr>
        <p:spPr>
          <a:xfrm>
            <a:off x="1988820" y="5166360"/>
            <a:ext cx="5212080" cy="475488"/>
          </a:xfrm>
          <a:prstGeom prst="rect">
            <a:avLst/>
          </a:prstGeom>
          <a:noFill/>
          <a:ln/>
        </p:spPr>
        <p:txBody>
          <a:bodyPr wrap="square" lIns="0" tIns="0" rIns="0" bIns="0" rtlCol="0" anchor="ctr"/>
          <a:lstStyle/>
          <a:p>
            <a:pPr marL="0" indent="0">
              <a:buNone/>
            </a:pPr>
            <a:r>
              <a:rPr lang="en-US" sz="1250" b="1" dirty="0">
                <a:solidFill>
                  <a:srgbClr val="FF6B5E"/>
                </a:solidFill>
                <a:latin typeface="Courier New" pitchFamily="34" charset="0"/>
                <a:ea typeface="Courier New" pitchFamily="34" charset="-122"/>
                <a:cs typeface="Courier New" pitchFamily="34" charset="-120"/>
              </a:rPr>
              <a:t>CVE  —  known, unpatched, reachable</a:t>
            </a:r>
            <a:endParaRPr lang="en-US" sz="1250" dirty="0"/>
          </a:p>
        </p:txBody>
      </p:sp>
      <p:sp>
        <p:nvSpPr>
          <p:cNvPr id="16" name="Shape 14"/>
          <p:cNvSpPr/>
          <p:nvPr/>
        </p:nvSpPr>
        <p:spPr>
          <a:xfrm>
            <a:off x="6583680" y="2148840"/>
            <a:ext cx="5056632" cy="3017520"/>
          </a:xfrm>
          <a:prstGeom prst="roundRect">
            <a:avLst>
              <a:gd name="adj" fmla="val 2424"/>
            </a:avLst>
          </a:prstGeom>
          <a:solidFill>
            <a:srgbClr val="141A26"/>
          </a:solidFill>
          <a:ln w="12700">
            <a:solidFill>
              <a:srgbClr val="2A3446"/>
            </a:solidFill>
            <a:prstDash val="solid"/>
          </a:ln>
        </p:spPr>
        <p:txBody>
          <a:bodyPr/>
          <a:lstStyle/>
          <a:p>
            <a:endParaRPr lang="en-NP"/>
          </a:p>
        </p:txBody>
      </p:sp>
      <p:sp>
        <p:nvSpPr>
          <p:cNvPr id="17" name="Text 15"/>
          <p:cNvSpPr txBox="1"/>
          <p:nvPr/>
        </p:nvSpPr>
        <p:spPr>
          <a:xfrm>
            <a:off x="6858000" y="2331720"/>
            <a:ext cx="4572000" cy="256032"/>
          </a:xfrm>
          <a:prstGeom prst="rect">
            <a:avLst/>
          </a:prstGeom>
          <a:noFill/>
          <a:ln/>
        </p:spPr>
        <p:txBody>
          <a:bodyPr wrap="square" lIns="0" tIns="0" rIns="0" bIns="0" rtlCol="0" anchor="ctr"/>
          <a:lstStyle/>
          <a:p>
            <a:pPr marL="0" indent="0">
              <a:buNone/>
            </a:pPr>
            <a:r>
              <a:rPr lang="en-US" sz="1050" b="1" kern="0" spc="140" dirty="0">
                <a:solidFill>
                  <a:srgbClr val="FFC15E"/>
                </a:solidFill>
                <a:latin typeface="Arial" pitchFamily="34" charset="0"/>
                <a:ea typeface="Arial" pitchFamily="34" charset="-122"/>
                <a:cs typeface="Arial" pitchFamily="34" charset="-120"/>
              </a:rPr>
              <a:t>HOW SUPPLY CHAINS FAIL</a:t>
            </a:r>
            <a:endParaRPr lang="en-US" sz="1050" dirty="0"/>
          </a:p>
        </p:txBody>
      </p:sp>
      <p:sp>
        <p:nvSpPr>
          <p:cNvPr id="18" name="Shape 16"/>
          <p:cNvSpPr/>
          <p:nvPr/>
        </p:nvSpPr>
        <p:spPr>
          <a:xfrm>
            <a:off x="6876288" y="2834640"/>
            <a:ext cx="91440" cy="91440"/>
          </a:xfrm>
          <a:prstGeom prst="ellipse">
            <a:avLst/>
          </a:prstGeom>
          <a:solidFill>
            <a:srgbClr val="FFC15E"/>
          </a:solidFill>
          <a:ln w="12700">
            <a:solidFill>
              <a:srgbClr val="FFC15E"/>
            </a:solidFill>
            <a:prstDash val="solid"/>
          </a:ln>
        </p:spPr>
        <p:txBody>
          <a:bodyPr/>
          <a:lstStyle/>
          <a:p>
            <a:endParaRPr lang="en-NP"/>
          </a:p>
        </p:txBody>
      </p:sp>
      <p:sp>
        <p:nvSpPr>
          <p:cNvPr id="19" name="Text 17"/>
          <p:cNvSpPr txBox="1"/>
          <p:nvPr/>
        </p:nvSpPr>
        <p:spPr>
          <a:xfrm>
            <a:off x="7132320" y="2743200"/>
            <a:ext cx="4297680" cy="310896"/>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Outdated packages nobody upgrades</a:t>
            </a:r>
            <a:endParaRPr lang="en-US" sz="1250" dirty="0"/>
          </a:p>
        </p:txBody>
      </p:sp>
      <p:sp>
        <p:nvSpPr>
          <p:cNvPr id="20" name="Shape 18"/>
          <p:cNvSpPr/>
          <p:nvPr/>
        </p:nvSpPr>
        <p:spPr>
          <a:xfrm>
            <a:off x="6876288" y="3227832"/>
            <a:ext cx="91440" cy="91440"/>
          </a:xfrm>
          <a:prstGeom prst="ellipse">
            <a:avLst/>
          </a:prstGeom>
          <a:solidFill>
            <a:srgbClr val="FFC15E"/>
          </a:solidFill>
          <a:ln w="12700">
            <a:solidFill>
              <a:srgbClr val="FFC15E"/>
            </a:solidFill>
            <a:prstDash val="solid"/>
          </a:ln>
        </p:spPr>
        <p:txBody>
          <a:bodyPr/>
          <a:lstStyle/>
          <a:p>
            <a:endParaRPr lang="en-NP"/>
          </a:p>
        </p:txBody>
      </p:sp>
      <p:sp>
        <p:nvSpPr>
          <p:cNvPr id="21" name="Text 19"/>
          <p:cNvSpPr txBox="1"/>
          <p:nvPr/>
        </p:nvSpPr>
        <p:spPr>
          <a:xfrm>
            <a:off x="7132320" y="3136392"/>
            <a:ext cx="4297680" cy="310896"/>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Known CVEs in transitive dependencies</a:t>
            </a:r>
            <a:endParaRPr lang="en-US" sz="1250" dirty="0"/>
          </a:p>
        </p:txBody>
      </p:sp>
      <p:sp>
        <p:nvSpPr>
          <p:cNvPr id="22" name="Shape 20"/>
          <p:cNvSpPr/>
          <p:nvPr/>
        </p:nvSpPr>
        <p:spPr>
          <a:xfrm>
            <a:off x="6876288" y="3621024"/>
            <a:ext cx="91440" cy="91440"/>
          </a:xfrm>
          <a:prstGeom prst="ellipse">
            <a:avLst/>
          </a:prstGeom>
          <a:solidFill>
            <a:srgbClr val="FFC15E"/>
          </a:solidFill>
          <a:ln w="12700">
            <a:solidFill>
              <a:srgbClr val="FFC15E"/>
            </a:solidFill>
            <a:prstDash val="solid"/>
          </a:ln>
        </p:spPr>
        <p:txBody>
          <a:bodyPr/>
          <a:lstStyle/>
          <a:p>
            <a:endParaRPr lang="en-NP"/>
          </a:p>
        </p:txBody>
      </p:sp>
      <p:sp>
        <p:nvSpPr>
          <p:cNvPr id="23" name="Text 21"/>
          <p:cNvSpPr txBox="1"/>
          <p:nvPr/>
        </p:nvSpPr>
        <p:spPr>
          <a:xfrm>
            <a:off x="7132320" y="3529584"/>
            <a:ext cx="4297680" cy="310896"/>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Typosquatted or malicious packages</a:t>
            </a:r>
            <a:endParaRPr lang="en-US" sz="1250" dirty="0"/>
          </a:p>
        </p:txBody>
      </p:sp>
      <p:sp>
        <p:nvSpPr>
          <p:cNvPr id="24" name="Shape 22"/>
          <p:cNvSpPr/>
          <p:nvPr/>
        </p:nvSpPr>
        <p:spPr>
          <a:xfrm>
            <a:off x="6876288" y="4014216"/>
            <a:ext cx="91440" cy="91440"/>
          </a:xfrm>
          <a:prstGeom prst="ellipse">
            <a:avLst/>
          </a:prstGeom>
          <a:solidFill>
            <a:srgbClr val="FFC15E"/>
          </a:solidFill>
          <a:ln w="12700">
            <a:solidFill>
              <a:srgbClr val="FFC15E"/>
            </a:solidFill>
            <a:prstDash val="solid"/>
          </a:ln>
        </p:spPr>
        <p:txBody>
          <a:bodyPr/>
          <a:lstStyle/>
          <a:p>
            <a:endParaRPr lang="en-NP"/>
          </a:p>
        </p:txBody>
      </p:sp>
      <p:sp>
        <p:nvSpPr>
          <p:cNvPr id="25" name="Text 23"/>
          <p:cNvSpPr txBox="1"/>
          <p:nvPr/>
        </p:nvSpPr>
        <p:spPr>
          <a:xfrm>
            <a:off x="7132320" y="3922776"/>
            <a:ext cx="4297680" cy="310896"/>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Dependency confusion via feed order</a:t>
            </a:r>
            <a:endParaRPr lang="en-US" sz="1250" dirty="0"/>
          </a:p>
        </p:txBody>
      </p:sp>
      <p:sp>
        <p:nvSpPr>
          <p:cNvPr id="26" name="Shape 24"/>
          <p:cNvSpPr/>
          <p:nvPr/>
        </p:nvSpPr>
        <p:spPr>
          <a:xfrm>
            <a:off x="6876288" y="4407408"/>
            <a:ext cx="91440" cy="91440"/>
          </a:xfrm>
          <a:prstGeom prst="ellipse">
            <a:avLst/>
          </a:prstGeom>
          <a:solidFill>
            <a:srgbClr val="FFC15E"/>
          </a:solidFill>
          <a:ln w="12700">
            <a:solidFill>
              <a:srgbClr val="FFC15E"/>
            </a:solidFill>
            <a:prstDash val="solid"/>
          </a:ln>
        </p:spPr>
        <p:txBody>
          <a:bodyPr/>
          <a:lstStyle/>
          <a:p>
            <a:endParaRPr lang="en-NP"/>
          </a:p>
        </p:txBody>
      </p:sp>
      <p:sp>
        <p:nvSpPr>
          <p:cNvPr id="27" name="Text 25"/>
          <p:cNvSpPr txBox="1"/>
          <p:nvPr/>
        </p:nvSpPr>
        <p:spPr>
          <a:xfrm>
            <a:off x="7132320" y="4315968"/>
            <a:ext cx="4297680" cy="310896"/>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Compromised build pipeline or signing key</a:t>
            </a:r>
            <a:endParaRPr lang="en-US" sz="1250" dirty="0"/>
          </a:p>
        </p:txBody>
      </p:sp>
      <p:sp>
        <p:nvSpPr>
          <p:cNvPr id="28" name="Shape 26"/>
          <p:cNvSpPr/>
          <p:nvPr/>
        </p:nvSpPr>
        <p:spPr>
          <a:xfrm>
            <a:off x="6876288" y="4800600"/>
            <a:ext cx="91440" cy="91440"/>
          </a:xfrm>
          <a:prstGeom prst="ellipse">
            <a:avLst/>
          </a:prstGeom>
          <a:solidFill>
            <a:srgbClr val="FFC15E"/>
          </a:solidFill>
          <a:ln w="12700">
            <a:solidFill>
              <a:srgbClr val="FFC15E"/>
            </a:solidFill>
            <a:prstDash val="solid"/>
          </a:ln>
        </p:spPr>
        <p:txBody>
          <a:bodyPr/>
          <a:lstStyle/>
          <a:p>
            <a:endParaRPr lang="en-NP"/>
          </a:p>
        </p:txBody>
      </p:sp>
      <p:sp>
        <p:nvSpPr>
          <p:cNvPr id="29" name="Text 27"/>
          <p:cNvSpPr txBox="1"/>
          <p:nvPr/>
        </p:nvSpPr>
        <p:spPr>
          <a:xfrm>
            <a:off x="7132320" y="4709160"/>
            <a:ext cx="4297680" cy="310896"/>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Floating versions that change under you</a:t>
            </a:r>
            <a:endParaRPr lang="en-US" sz="1250" dirty="0"/>
          </a:p>
        </p:txBody>
      </p:sp>
      <p:sp>
        <p:nvSpPr>
          <p:cNvPr id="30" name="Text 28"/>
          <p:cNvSpPr txBox="1"/>
          <p:nvPr/>
        </p:nvSpPr>
        <p:spPr>
          <a:xfrm>
            <a:off x="548640" y="5669280"/>
            <a:ext cx="11091672" cy="365760"/>
          </a:xfrm>
          <a:prstGeom prst="rect">
            <a:avLst/>
          </a:prstGeom>
          <a:noFill/>
          <a:ln/>
        </p:spPr>
        <p:txBody>
          <a:bodyPr wrap="square" lIns="0" tIns="0" rIns="0" bIns="0" rtlCol="0" anchor="ctr"/>
          <a:lstStyle/>
          <a:p>
            <a:pPr marL="0" indent="0" algn="ctr">
              <a:buNone/>
            </a:pPr>
            <a:r>
              <a:rPr lang="en-US" sz="1250" i="1" dirty="0">
                <a:solidFill>
                  <a:srgbClr val="8C97AC"/>
                </a:solidFill>
                <a:latin typeface="Arial" pitchFamily="34" charset="0"/>
                <a:ea typeface="Arial" pitchFamily="34" charset="-122"/>
                <a:cs typeface="Arial" pitchFamily="34" charset="-120"/>
              </a:rPr>
              <a:t>Supply chain failures are new at #3 in OWASP Top 10:2025 — fewest occurrences in the data, but the highest average exploit and impact scores.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70A11"/>
        </a:solidFill>
        <a:effectLst/>
      </p:bgPr>
    </p:bg>
    <p:spTree>
      <p:nvGrpSpPr>
        <p:cNvPr id="1" name=""/>
        <p:cNvGrpSpPr/>
        <p:nvPr/>
      </p:nvGrpSpPr>
      <p:grpSpPr>
        <a:xfrm>
          <a:off x="0" y="0"/>
          <a:ext cx="0" cy="0"/>
          <a:chOff x="0" y="0"/>
          <a:chExt cx="0" cy="0"/>
        </a:xfrm>
      </p:grpSpPr>
      <p:sp>
        <p:nvSpPr>
          <p:cNvPr id="2" name="Text 0"/>
          <p:cNvSpPr txBox="1"/>
          <p:nvPr/>
        </p:nvSpPr>
        <p:spPr>
          <a:xfrm>
            <a:off x="822960" y="2148840"/>
            <a:ext cx="10515600" cy="320040"/>
          </a:xfrm>
          <a:prstGeom prst="rect">
            <a:avLst/>
          </a:prstGeom>
          <a:noFill/>
          <a:ln/>
        </p:spPr>
        <p:txBody>
          <a:bodyPr wrap="square" lIns="0" tIns="0" rIns="0" bIns="0" rtlCol="0" anchor="ctr"/>
          <a:lstStyle/>
          <a:p>
            <a:pPr marL="0" indent="0">
              <a:buNone/>
            </a:pPr>
            <a:r>
              <a:rPr lang="en-US" sz="1300" b="1" kern="0" spc="300" dirty="0">
                <a:solidFill>
                  <a:srgbClr val="9A6BFF"/>
                </a:solidFill>
                <a:latin typeface="Arial" pitchFamily="34" charset="0"/>
                <a:cs typeface="Arial" pitchFamily="34" charset="-120"/>
              </a:rPr>
              <a:t>$</a:t>
            </a:r>
            <a:r>
              <a:rPr lang="en-US" sz="1300" b="1" kern="0" spc="300" dirty="0" err="1">
                <a:solidFill>
                  <a:srgbClr val="9A6BFF"/>
                </a:solidFill>
                <a:latin typeface="Arial" pitchFamily="34" charset="0"/>
                <a:cs typeface="Arial" pitchFamily="34" charset="-120"/>
              </a:rPr>
              <a:t>pwd</a:t>
            </a:r>
            <a:endParaRPr lang="en-US" sz="1300" dirty="0"/>
          </a:p>
        </p:txBody>
      </p:sp>
      <p:sp>
        <p:nvSpPr>
          <p:cNvPr id="3" name="Text 1"/>
          <p:cNvSpPr txBox="1"/>
          <p:nvPr/>
        </p:nvSpPr>
        <p:spPr>
          <a:xfrm>
            <a:off x="822960" y="2606040"/>
            <a:ext cx="10515600" cy="1463040"/>
          </a:xfrm>
          <a:prstGeom prst="rect">
            <a:avLst/>
          </a:prstGeom>
          <a:noFill/>
          <a:ln/>
        </p:spPr>
        <p:txBody>
          <a:bodyPr wrap="square" lIns="0" tIns="0" rIns="0" bIns="0" rtlCol="0" anchor="ctr"/>
          <a:lstStyle/>
          <a:p>
            <a:pPr marL="0" indent="0">
              <a:lnSpc>
                <a:spcPct val="105000"/>
              </a:lnSpc>
              <a:buNone/>
            </a:pPr>
            <a:r>
              <a:rPr lang="en-US" sz="4600" b="1" dirty="0">
                <a:solidFill>
                  <a:srgbClr val="E9EEF7"/>
                </a:solidFill>
                <a:latin typeface="Arial" pitchFamily="34" charset="0"/>
                <a:ea typeface="Arial" pitchFamily="34" charset="-122"/>
                <a:cs typeface="Arial" pitchFamily="34" charset="-120"/>
              </a:rPr>
              <a:t>One Bug.</a:t>
            </a:r>
            <a:endParaRPr lang="en-US" sz="4600" dirty="0"/>
          </a:p>
          <a:p>
            <a:pPr marL="0" indent="0">
              <a:lnSpc>
                <a:spcPct val="105000"/>
              </a:lnSpc>
              <a:buNone/>
            </a:pPr>
            <a:r>
              <a:rPr lang="en-US" sz="4600" b="1" dirty="0">
                <a:solidFill>
                  <a:srgbClr val="E9EEF7"/>
                </a:solidFill>
                <a:latin typeface="Arial" pitchFamily="34" charset="0"/>
                <a:ea typeface="Arial" pitchFamily="34" charset="-122"/>
                <a:cs typeface="Arial" pitchFamily="34" charset="-120"/>
              </a:rPr>
              <a:t>Many Consequences.</a:t>
            </a:r>
            <a:endParaRPr lang="en-US" sz="4600" dirty="0"/>
          </a:p>
        </p:txBody>
      </p:sp>
      <p:sp>
        <p:nvSpPr>
          <p:cNvPr id="4" name="Text 2"/>
          <p:cNvSpPr txBox="1"/>
          <p:nvPr/>
        </p:nvSpPr>
        <p:spPr>
          <a:xfrm>
            <a:off x="822960" y="4206240"/>
            <a:ext cx="9601200" cy="457200"/>
          </a:xfrm>
          <a:prstGeom prst="rect">
            <a:avLst/>
          </a:prstGeom>
          <a:noFill/>
          <a:ln/>
        </p:spPr>
        <p:txBody>
          <a:bodyPr wrap="square" lIns="0" tIns="0" rIns="0" bIns="0" rtlCol="0" anchor="ctr"/>
          <a:lstStyle/>
          <a:p>
            <a:pPr marL="0" indent="0">
              <a:buNone/>
            </a:pPr>
            <a:r>
              <a:rPr lang="en-US" sz="1600" i="1" dirty="0">
                <a:solidFill>
                  <a:srgbClr val="8C97AC"/>
                </a:solidFill>
                <a:latin typeface="Arial" pitchFamily="34" charset="0"/>
                <a:ea typeface="Arial" pitchFamily="34" charset="-122"/>
                <a:cs typeface="Arial" pitchFamily="34" charset="-120"/>
              </a:rPr>
              <a:t>Attackers don’t need your whole application to be vulnerable. They need one mistake — and a way to reach the next one.</a:t>
            </a:r>
            <a:endParaRPr lang="en-US" sz="1600" dirty="0"/>
          </a:p>
        </p:txBody>
      </p:sp>
      <p:sp>
        <p:nvSpPr>
          <p:cNvPr id="5" name="Shape 3"/>
          <p:cNvSpPr/>
          <p:nvPr/>
        </p:nvSpPr>
        <p:spPr>
          <a:xfrm>
            <a:off x="822960" y="4892040"/>
            <a:ext cx="1463040" cy="41148"/>
          </a:xfrm>
          <a:prstGeom prst="rect">
            <a:avLst/>
          </a:prstGeom>
          <a:solidFill>
            <a:srgbClr val="9A6BFF"/>
          </a:solidFill>
          <a:ln w="12700">
            <a:solidFill>
              <a:srgbClr val="0B0F17"/>
            </a:solidFill>
            <a:prstDash val="solid"/>
          </a:ln>
        </p:spPr>
        <p:txBody>
          <a:bodyPr/>
          <a:lstStyle/>
          <a:p>
            <a:endParaRPr lang="en-NP"/>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FF6B5E"/>
                </a:solidFill>
                <a:latin typeface="Arial" pitchFamily="34" charset="0"/>
                <a:ea typeface="Arial" pitchFamily="34" charset="-122"/>
                <a:cs typeface="Arial" pitchFamily="34" charset="-120"/>
              </a:rPr>
              <a:t>THE CHAIN</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200" b="1" dirty="0">
                <a:solidFill>
                  <a:srgbClr val="E9EEF7"/>
                </a:solidFill>
                <a:latin typeface="Arial" pitchFamily="34" charset="0"/>
                <a:ea typeface="Arial" pitchFamily="34" charset="-122"/>
                <a:cs typeface="Arial" pitchFamily="34" charset="-120"/>
              </a:rPr>
              <a:t>Severity Doesn’t Live In The First Bug</a:t>
            </a:r>
            <a:endParaRPr lang="en-US" sz="3200" dirty="0"/>
          </a:p>
        </p:txBody>
      </p:sp>
      <p:sp>
        <p:nvSpPr>
          <p:cNvPr id="4" name="Shape 2"/>
          <p:cNvSpPr/>
          <p:nvPr/>
        </p:nvSpPr>
        <p:spPr>
          <a:xfrm>
            <a:off x="548640" y="1783080"/>
            <a:ext cx="2606040" cy="1508760"/>
          </a:xfrm>
          <a:prstGeom prst="roundRect">
            <a:avLst>
              <a:gd name="adj" fmla="val 4848"/>
            </a:avLst>
          </a:prstGeom>
          <a:solidFill>
            <a:srgbClr val="141A26"/>
          </a:solidFill>
          <a:ln w="12700">
            <a:solidFill>
              <a:srgbClr val="4CC9F0"/>
            </a:solidFill>
            <a:prstDash val="solid"/>
          </a:ln>
        </p:spPr>
        <p:txBody>
          <a:bodyPr/>
          <a:lstStyle/>
          <a:p>
            <a:endParaRPr lang="en-NP"/>
          </a:p>
        </p:txBody>
      </p:sp>
      <p:sp>
        <p:nvSpPr>
          <p:cNvPr id="5" name="Text 3"/>
          <p:cNvSpPr txBox="1"/>
          <p:nvPr/>
        </p:nvSpPr>
        <p:spPr>
          <a:xfrm>
            <a:off x="749808" y="1947672"/>
            <a:ext cx="914400" cy="274320"/>
          </a:xfrm>
          <a:prstGeom prst="rect">
            <a:avLst/>
          </a:prstGeom>
          <a:noFill/>
          <a:ln/>
        </p:spPr>
        <p:txBody>
          <a:bodyPr wrap="square" lIns="0" tIns="0" rIns="0" bIns="0" rtlCol="0" anchor="ctr"/>
          <a:lstStyle/>
          <a:p>
            <a:pPr marL="0" indent="0">
              <a:buNone/>
            </a:pPr>
            <a:r>
              <a:rPr lang="en-US" sz="1300" b="1" dirty="0">
                <a:solidFill>
                  <a:srgbClr val="4CC9F0"/>
                </a:solidFill>
                <a:latin typeface="Courier New" pitchFamily="34" charset="0"/>
                <a:ea typeface="Courier New" pitchFamily="34" charset="-122"/>
                <a:cs typeface="Courier New" pitchFamily="34" charset="-120"/>
              </a:rPr>
              <a:t>01</a:t>
            </a:r>
            <a:endParaRPr lang="en-US" sz="1300" dirty="0"/>
          </a:p>
        </p:txBody>
      </p:sp>
      <p:sp>
        <p:nvSpPr>
          <p:cNvPr id="6" name="Text 4"/>
          <p:cNvSpPr txBox="1"/>
          <p:nvPr/>
        </p:nvSpPr>
        <p:spPr>
          <a:xfrm>
            <a:off x="749808" y="2313432"/>
            <a:ext cx="2240280" cy="502920"/>
          </a:xfrm>
          <a:prstGeom prst="rect">
            <a:avLst/>
          </a:prstGeom>
          <a:noFill/>
          <a:ln/>
        </p:spPr>
        <p:txBody>
          <a:bodyPr wrap="square" lIns="0" tIns="0" rIns="0" bIns="0" rtlCol="0" anchor="ctr"/>
          <a:lstStyle/>
          <a:p>
            <a:pPr marL="0" indent="0">
              <a:lnSpc>
                <a:spcPct val="105000"/>
              </a:lnSpc>
              <a:buNone/>
            </a:pPr>
            <a:r>
              <a:rPr lang="en-US" sz="1350" b="1" dirty="0">
                <a:solidFill>
                  <a:srgbClr val="E9EEF7"/>
                </a:solidFill>
                <a:latin typeface="Arial" pitchFamily="34" charset="0"/>
                <a:ea typeface="Arial" pitchFamily="34" charset="-122"/>
                <a:cs typeface="Arial" pitchFamily="34" charset="-120"/>
              </a:rPr>
              <a:t>Small mistake</a:t>
            </a:r>
            <a:endParaRPr lang="en-US" sz="1350" dirty="0"/>
          </a:p>
        </p:txBody>
      </p:sp>
      <p:sp>
        <p:nvSpPr>
          <p:cNvPr id="7" name="Text 5"/>
          <p:cNvSpPr txBox="1"/>
          <p:nvPr/>
        </p:nvSpPr>
        <p:spPr>
          <a:xfrm>
            <a:off x="749808" y="2825496"/>
            <a:ext cx="2240280" cy="384048"/>
          </a:xfrm>
          <a:prstGeom prst="rect">
            <a:avLst/>
          </a:prstGeom>
          <a:noFill/>
          <a:ln/>
        </p:spPr>
        <p:txBody>
          <a:bodyPr wrap="square" lIns="0" tIns="0" rIns="0" bIns="0" rtlCol="0" anchor="ctr"/>
          <a:lstStyle/>
          <a:p>
            <a:pPr marL="0" indent="0">
              <a:lnSpc>
                <a:spcPct val="110000"/>
              </a:lnSpc>
              <a:buNone/>
            </a:pPr>
            <a:r>
              <a:rPr lang="en-US" sz="1050" dirty="0">
                <a:solidFill>
                  <a:srgbClr val="8C97AC"/>
                </a:solidFill>
                <a:latin typeface="Arial" pitchFamily="34" charset="0"/>
                <a:ea typeface="Arial" pitchFamily="34" charset="-122"/>
                <a:cs typeface="Arial" pitchFamily="34" charset="-120"/>
              </a:rPr>
              <a:t>A verbose error, a sequential ID</a:t>
            </a:r>
            <a:endParaRPr lang="en-US" sz="1050" dirty="0"/>
          </a:p>
        </p:txBody>
      </p:sp>
      <p:sp>
        <p:nvSpPr>
          <p:cNvPr id="8" name="Shape 6"/>
          <p:cNvSpPr/>
          <p:nvPr/>
        </p:nvSpPr>
        <p:spPr>
          <a:xfrm>
            <a:off x="3227832" y="2468880"/>
            <a:ext cx="201168" cy="146304"/>
          </a:xfrm>
          <a:prstGeom prst="rightArrow">
            <a:avLst/>
          </a:prstGeom>
          <a:solidFill>
            <a:srgbClr val="5C687D"/>
          </a:solidFill>
          <a:ln w="12700">
            <a:solidFill>
              <a:srgbClr val="0B0F17"/>
            </a:solidFill>
            <a:prstDash val="solid"/>
          </a:ln>
        </p:spPr>
        <p:txBody>
          <a:bodyPr/>
          <a:lstStyle/>
          <a:p>
            <a:endParaRPr lang="en-NP"/>
          </a:p>
        </p:txBody>
      </p:sp>
      <p:sp>
        <p:nvSpPr>
          <p:cNvPr id="9" name="Shape 7"/>
          <p:cNvSpPr/>
          <p:nvPr/>
        </p:nvSpPr>
        <p:spPr>
          <a:xfrm>
            <a:off x="3429000" y="1783080"/>
            <a:ext cx="2606040" cy="1508760"/>
          </a:xfrm>
          <a:prstGeom prst="roundRect">
            <a:avLst>
              <a:gd name="adj" fmla="val 4848"/>
            </a:avLst>
          </a:prstGeom>
          <a:solidFill>
            <a:srgbClr val="141A26"/>
          </a:solidFill>
          <a:ln w="12700">
            <a:solidFill>
              <a:srgbClr val="4CC9F0"/>
            </a:solidFill>
            <a:prstDash val="solid"/>
          </a:ln>
        </p:spPr>
        <p:txBody>
          <a:bodyPr/>
          <a:lstStyle/>
          <a:p>
            <a:endParaRPr lang="en-NP"/>
          </a:p>
        </p:txBody>
      </p:sp>
      <p:sp>
        <p:nvSpPr>
          <p:cNvPr id="10" name="Text 8"/>
          <p:cNvSpPr txBox="1"/>
          <p:nvPr/>
        </p:nvSpPr>
        <p:spPr>
          <a:xfrm>
            <a:off x="3630168" y="1947672"/>
            <a:ext cx="914400" cy="274320"/>
          </a:xfrm>
          <a:prstGeom prst="rect">
            <a:avLst/>
          </a:prstGeom>
          <a:noFill/>
          <a:ln/>
        </p:spPr>
        <p:txBody>
          <a:bodyPr wrap="square" lIns="0" tIns="0" rIns="0" bIns="0" rtlCol="0" anchor="ctr"/>
          <a:lstStyle/>
          <a:p>
            <a:pPr marL="0" indent="0">
              <a:buNone/>
            </a:pPr>
            <a:r>
              <a:rPr lang="en-US" sz="1300" b="1" dirty="0">
                <a:solidFill>
                  <a:srgbClr val="4CC9F0"/>
                </a:solidFill>
                <a:latin typeface="Courier New" pitchFamily="34" charset="0"/>
                <a:ea typeface="Courier New" pitchFamily="34" charset="-122"/>
                <a:cs typeface="Courier New" pitchFamily="34" charset="-120"/>
              </a:rPr>
              <a:t>02</a:t>
            </a:r>
            <a:endParaRPr lang="en-US" sz="1300" dirty="0"/>
          </a:p>
        </p:txBody>
      </p:sp>
      <p:sp>
        <p:nvSpPr>
          <p:cNvPr id="11" name="Text 9"/>
          <p:cNvSpPr txBox="1"/>
          <p:nvPr/>
        </p:nvSpPr>
        <p:spPr>
          <a:xfrm>
            <a:off x="3630168" y="2313432"/>
            <a:ext cx="2240280" cy="502920"/>
          </a:xfrm>
          <a:prstGeom prst="rect">
            <a:avLst/>
          </a:prstGeom>
          <a:noFill/>
          <a:ln/>
        </p:spPr>
        <p:txBody>
          <a:bodyPr wrap="square" lIns="0" tIns="0" rIns="0" bIns="0" rtlCol="0" anchor="ctr"/>
          <a:lstStyle/>
          <a:p>
            <a:pPr marL="0" indent="0">
              <a:lnSpc>
                <a:spcPct val="105000"/>
              </a:lnSpc>
              <a:buNone/>
            </a:pPr>
            <a:r>
              <a:rPr lang="en-US" sz="1350" b="1" dirty="0">
                <a:solidFill>
                  <a:srgbClr val="E9EEF7"/>
                </a:solidFill>
                <a:latin typeface="Arial" pitchFamily="34" charset="0"/>
                <a:ea typeface="Arial" pitchFamily="34" charset="-122"/>
                <a:cs typeface="Arial" pitchFamily="34" charset="-120"/>
              </a:rPr>
              <a:t>Information disclosure</a:t>
            </a:r>
            <a:endParaRPr lang="en-US" sz="1350" dirty="0"/>
          </a:p>
        </p:txBody>
      </p:sp>
      <p:sp>
        <p:nvSpPr>
          <p:cNvPr id="12" name="Text 10"/>
          <p:cNvSpPr txBox="1"/>
          <p:nvPr/>
        </p:nvSpPr>
        <p:spPr>
          <a:xfrm>
            <a:off x="3630168" y="2825496"/>
            <a:ext cx="2240280" cy="384048"/>
          </a:xfrm>
          <a:prstGeom prst="rect">
            <a:avLst/>
          </a:prstGeom>
          <a:noFill/>
          <a:ln/>
        </p:spPr>
        <p:txBody>
          <a:bodyPr wrap="square" lIns="0" tIns="0" rIns="0" bIns="0" rtlCol="0" anchor="ctr"/>
          <a:lstStyle/>
          <a:p>
            <a:pPr marL="0" indent="0">
              <a:lnSpc>
                <a:spcPct val="110000"/>
              </a:lnSpc>
              <a:buNone/>
            </a:pPr>
            <a:r>
              <a:rPr lang="en-US" sz="1050" dirty="0">
                <a:solidFill>
                  <a:srgbClr val="8C97AC"/>
                </a:solidFill>
                <a:latin typeface="Arial" pitchFamily="34" charset="0"/>
                <a:ea typeface="Arial" pitchFamily="34" charset="-122"/>
                <a:cs typeface="Arial" pitchFamily="34" charset="-120"/>
              </a:rPr>
              <a:t>Internal names, versions, structure</a:t>
            </a:r>
            <a:endParaRPr lang="en-US" sz="1050" dirty="0"/>
          </a:p>
        </p:txBody>
      </p:sp>
      <p:sp>
        <p:nvSpPr>
          <p:cNvPr id="13" name="Shape 11"/>
          <p:cNvSpPr/>
          <p:nvPr/>
        </p:nvSpPr>
        <p:spPr>
          <a:xfrm>
            <a:off x="6108192" y="2468880"/>
            <a:ext cx="201168" cy="146304"/>
          </a:xfrm>
          <a:prstGeom prst="rightArrow">
            <a:avLst/>
          </a:prstGeom>
          <a:solidFill>
            <a:srgbClr val="5C687D"/>
          </a:solidFill>
          <a:ln w="12700">
            <a:solidFill>
              <a:srgbClr val="0B0F17"/>
            </a:solidFill>
            <a:prstDash val="solid"/>
          </a:ln>
        </p:spPr>
        <p:txBody>
          <a:bodyPr/>
          <a:lstStyle/>
          <a:p>
            <a:endParaRPr lang="en-NP"/>
          </a:p>
        </p:txBody>
      </p:sp>
      <p:sp>
        <p:nvSpPr>
          <p:cNvPr id="14" name="Shape 12"/>
          <p:cNvSpPr/>
          <p:nvPr/>
        </p:nvSpPr>
        <p:spPr>
          <a:xfrm>
            <a:off x="6309360" y="1783080"/>
            <a:ext cx="2606040" cy="1508760"/>
          </a:xfrm>
          <a:prstGeom prst="roundRect">
            <a:avLst>
              <a:gd name="adj" fmla="val 4848"/>
            </a:avLst>
          </a:prstGeom>
          <a:solidFill>
            <a:srgbClr val="141A26"/>
          </a:solidFill>
          <a:ln w="12700">
            <a:solidFill>
              <a:srgbClr val="FFC15E"/>
            </a:solidFill>
            <a:prstDash val="solid"/>
          </a:ln>
        </p:spPr>
        <p:txBody>
          <a:bodyPr/>
          <a:lstStyle/>
          <a:p>
            <a:endParaRPr lang="en-NP"/>
          </a:p>
        </p:txBody>
      </p:sp>
      <p:sp>
        <p:nvSpPr>
          <p:cNvPr id="15" name="Text 13"/>
          <p:cNvSpPr txBox="1"/>
          <p:nvPr/>
        </p:nvSpPr>
        <p:spPr>
          <a:xfrm>
            <a:off x="6510528" y="1947672"/>
            <a:ext cx="914400" cy="274320"/>
          </a:xfrm>
          <a:prstGeom prst="rect">
            <a:avLst/>
          </a:prstGeom>
          <a:noFill/>
          <a:ln/>
        </p:spPr>
        <p:txBody>
          <a:bodyPr wrap="square" lIns="0" tIns="0" rIns="0" bIns="0" rtlCol="0" anchor="ctr"/>
          <a:lstStyle/>
          <a:p>
            <a:pPr marL="0" indent="0">
              <a:buNone/>
            </a:pPr>
            <a:r>
              <a:rPr lang="en-US" sz="1300" b="1" dirty="0">
                <a:solidFill>
                  <a:srgbClr val="FFC15E"/>
                </a:solidFill>
                <a:latin typeface="Courier New" pitchFamily="34" charset="0"/>
                <a:ea typeface="Courier New" pitchFamily="34" charset="-122"/>
                <a:cs typeface="Courier New" pitchFamily="34" charset="-120"/>
              </a:rPr>
              <a:t>03</a:t>
            </a:r>
            <a:endParaRPr lang="en-US" sz="1300" dirty="0"/>
          </a:p>
        </p:txBody>
      </p:sp>
      <p:sp>
        <p:nvSpPr>
          <p:cNvPr id="16" name="Text 14"/>
          <p:cNvSpPr txBox="1"/>
          <p:nvPr/>
        </p:nvSpPr>
        <p:spPr>
          <a:xfrm>
            <a:off x="6510528" y="2313432"/>
            <a:ext cx="2240280" cy="502920"/>
          </a:xfrm>
          <a:prstGeom prst="rect">
            <a:avLst/>
          </a:prstGeom>
          <a:noFill/>
          <a:ln/>
        </p:spPr>
        <p:txBody>
          <a:bodyPr wrap="square" lIns="0" tIns="0" rIns="0" bIns="0" rtlCol="0" anchor="ctr"/>
          <a:lstStyle/>
          <a:p>
            <a:pPr marL="0" indent="0">
              <a:lnSpc>
                <a:spcPct val="105000"/>
              </a:lnSpc>
              <a:buNone/>
            </a:pPr>
            <a:r>
              <a:rPr lang="en-US" sz="1350" b="1" dirty="0">
                <a:solidFill>
                  <a:srgbClr val="E9EEF7"/>
                </a:solidFill>
                <a:latin typeface="Arial" pitchFamily="34" charset="0"/>
                <a:ea typeface="Arial" pitchFamily="34" charset="-122"/>
                <a:cs typeface="Arial" pitchFamily="34" charset="-120"/>
              </a:rPr>
              <a:t>Unauthorized access</a:t>
            </a:r>
            <a:endParaRPr lang="en-US" sz="1350" dirty="0"/>
          </a:p>
        </p:txBody>
      </p:sp>
      <p:sp>
        <p:nvSpPr>
          <p:cNvPr id="17" name="Text 15"/>
          <p:cNvSpPr txBox="1"/>
          <p:nvPr/>
        </p:nvSpPr>
        <p:spPr>
          <a:xfrm>
            <a:off x="6510528" y="2825496"/>
            <a:ext cx="2240280" cy="384048"/>
          </a:xfrm>
          <a:prstGeom prst="rect">
            <a:avLst/>
          </a:prstGeom>
          <a:noFill/>
          <a:ln/>
        </p:spPr>
        <p:txBody>
          <a:bodyPr wrap="square" lIns="0" tIns="0" rIns="0" bIns="0" rtlCol="0" anchor="ctr"/>
          <a:lstStyle/>
          <a:p>
            <a:pPr marL="0" indent="0">
              <a:lnSpc>
                <a:spcPct val="110000"/>
              </a:lnSpc>
              <a:buNone/>
            </a:pPr>
            <a:r>
              <a:rPr lang="en-US" sz="1050" dirty="0">
                <a:solidFill>
                  <a:srgbClr val="8C97AC"/>
                </a:solidFill>
                <a:latin typeface="Arial" pitchFamily="34" charset="0"/>
                <a:ea typeface="Arial" pitchFamily="34" charset="-122"/>
                <a:cs typeface="Arial" pitchFamily="34" charset="-120"/>
              </a:rPr>
              <a:t>One record that isn’t theirs</a:t>
            </a:r>
            <a:endParaRPr lang="en-US" sz="1050" dirty="0"/>
          </a:p>
        </p:txBody>
      </p:sp>
      <p:sp>
        <p:nvSpPr>
          <p:cNvPr id="18" name="Shape 16"/>
          <p:cNvSpPr/>
          <p:nvPr/>
        </p:nvSpPr>
        <p:spPr>
          <a:xfrm>
            <a:off x="8988552" y="2468880"/>
            <a:ext cx="201168" cy="146304"/>
          </a:xfrm>
          <a:prstGeom prst="rightArrow">
            <a:avLst/>
          </a:prstGeom>
          <a:solidFill>
            <a:srgbClr val="5C687D"/>
          </a:solidFill>
          <a:ln w="12700">
            <a:solidFill>
              <a:srgbClr val="0B0F17"/>
            </a:solidFill>
            <a:prstDash val="solid"/>
          </a:ln>
        </p:spPr>
        <p:txBody>
          <a:bodyPr/>
          <a:lstStyle/>
          <a:p>
            <a:endParaRPr lang="en-NP"/>
          </a:p>
        </p:txBody>
      </p:sp>
      <p:sp>
        <p:nvSpPr>
          <p:cNvPr id="19" name="Shape 17"/>
          <p:cNvSpPr/>
          <p:nvPr/>
        </p:nvSpPr>
        <p:spPr>
          <a:xfrm>
            <a:off x="9189720" y="1783080"/>
            <a:ext cx="2606040" cy="1508760"/>
          </a:xfrm>
          <a:prstGeom prst="roundRect">
            <a:avLst>
              <a:gd name="adj" fmla="val 4848"/>
            </a:avLst>
          </a:prstGeom>
          <a:solidFill>
            <a:srgbClr val="141A26"/>
          </a:solidFill>
          <a:ln w="12700">
            <a:solidFill>
              <a:srgbClr val="FFC15E"/>
            </a:solidFill>
            <a:prstDash val="solid"/>
          </a:ln>
        </p:spPr>
        <p:txBody>
          <a:bodyPr/>
          <a:lstStyle/>
          <a:p>
            <a:endParaRPr lang="en-NP"/>
          </a:p>
        </p:txBody>
      </p:sp>
      <p:sp>
        <p:nvSpPr>
          <p:cNvPr id="20" name="Text 18"/>
          <p:cNvSpPr txBox="1"/>
          <p:nvPr/>
        </p:nvSpPr>
        <p:spPr>
          <a:xfrm>
            <a:off x="9390888" y="1947672"/>
            <a:ext cx="914400" cy="274320"/>
          </a:xfrm>
          <a:prstGeom prst="rect">
            <a:avLst/>
          </a:prstGeom>
          <a:noFill/>
          <a:ln/>
        </p:spPr>
        <p:txBody>
          <a:bodyPr wrap="square" lIns="0" tIns="0" rIns="0" bIns="0" rtlCol="0" anchor="ctr"/>
          <a:lstStyle/>
          <a:p>
            <a:pPr marL="0" indent="0">
              <a:buNone/>
            </a:pPr>
            <a:r>
              <a:rPr lang="en-US" sz="1300" b="1" dirty="0">
                <a:solidFill>
                  <a:srgbClr val="FFC15E"/>
                </a:solidFill>
                <a:latin typeface="Courier New" pitchFamily="34" charset="0"/>
                <a:ea typeface="Courier New" pitchFamily="34" charset="-122"/>
                <a:cs typeface="Courier New" pitchFamily="34" charset="-120"/>
              </a:rPr>
              <a:t>04</a:t>
            </a:r>
            <a:endParaRPr lang="en-US" sz="1300" dirty="0"/>
          </a:p>
        </p:txBody>
      </p:sp>
      <p:sp>
        <p:nvSpPr>
          <p:cNvPr id="21" name="Text 19"/>
          <p:cNvSpPr txBox="1"/>
          <p:nvPr/>
        </p:nvSpPr>
        <p:spPr>
          <a:xfrm>
            <a:off x="9390888" y="2313432"/>
            <a:ext cx="2240280" cy="502920"/>
          </a:xfrm>
          <a:prstGeom prst="rect">
            <a:avLst/>
          </a:prstGeom>
          <a:noFill/>
          <a:ln/>
        </p:spPr>
        <p:txBody>
          <a:bodyPr wrap="square" lIns="0" tIns="0" rIns="0" bIns="0" rtlCol="0" anchor="ctr"/>
          <a:lstStyle/>
          <a:p>
            <a:pPr marL="0" indent="0">
              <a:lnSpc>
                <a:spcPct val="105000"/>
              </a:lnSpc>
              <a:buNone/>
            </a:pPr>
            <a:r>
              <a:rPr lang="en-US" sz="1350" b="1" dirty="0">
                <a:solidFill>
                  <a:srgbClr val="E9EEF7"/>
                </a:solidFill>
                <a:latin typeface="Arial" pitchFamily="34" charset="0"/>
                <a:ea typeface="Arial" pitchFamily="34" charset="-122"/>
                <a:cs typeface="Arial" pitchFamily="34" charset="-120"/>
              </a:rPr>
              <a:t>Privilege escalation</a:t>
            </a:r>
            <a:endParaRPr lang="en-US" sz="1350" dirty="0"/>
          </a:p>
        </p:txBody>
      </p:sp>
      <p:sp>
        <p:nvSpPr>
          <p:cNvPr id="22" name="Text 20"/>
          <p:cNvSpPr txBox="1"/>
          <p:nvPr/>
        </p:nvSpPr>
        <p:spPr>
          <a:xfrm>
            <a:off x="9390888" y="2825496"/>
            <a:ext cx="2240280" cy="384048"/>
          </a:xfrm>
          <a:prstGeom prst="rect">
            <a:avLst/>
          </a:prstGeom>
          <a:noFill/>
          <a:ln/>
        </p:spPr>
        <p:txBody>
          <a:bodyPr wrap="square" lIns="0" tIns="0" rIns="0" bIns="0" rtlCol="0" anchor="ctr"/>
          <a:lstStyle/>
          <a:p>
            <a:pPr marL="0" indent="0">
              <a:lnSpc>
                <a:spcPct val="110000"/>
              </a:lnSpc>
              <a:buNone/>
            </a:pPr>
            <a:r>
              <a:rPr lang="en-US" sz="1050" dirty="0">
                <a:solidFill>
                  <a:srgbClr val="8C97AC"/>
                </a:solidFill>
                <a:latin typeface="Arial" pitchFamily="34" charset="0"/>
                <a:ea typeface="Arial" pitchFamily="34" charset="-122"/>
                <a:cs typeface="Arial" pitchFamily="34" charset="-120"/>
              </a:rPr>
              <a:t>A role, a flag, an admin route</a:t>
            </a:r>
            <a:endParaRPr lang="en-US" sz="1050" dirty="0"/>
          </a:p>
        </p:txBody>
      </p:sp>
      <p:sp>
        <p:nvSpPr>
          <p:cNvPr id="23" name="Shape 21"/>
          <p:cNvSpPr/>
          <p:nvPr/>
        </p:nvSpPr>
        <p:spPr>
          <a:xfrm>
            <a:off x="548640" y="3703320"/>
            <a:ext cx="2606040" cy="1508760"/>
          </a:xfrm>
          <a:prstGeom prst="roundRect">
            <a:avLst>
              <a:gd name="adj" fmla="val 4848"/>
            </a:avLst>
          </a:prstGeom>
          <a:solidFill>
            <a:srgbClr val="141A26"/>
          </a:solidFill>
          <a:ln w="12700">
            <a:solidFill>
              <a:srgbClr val="FFA33A"/>
            </a:solidFill>
            <a:prstDash val="solid"/>
          </a:ln>
        </p:spPr>
        <p:txBody>
          <a:bodyPr/>
          <a:lstStyle/>
          <a:p>
            <a:endParaRPr lang="en-NP"/>
          </a:p>
        </p:txBody>
      </p:sp>
      <p:sp>
        <p:nvSpPr>
          <p:cNvPr id="24" name="Text 22"/>
          <p:cNvSpPr txBox="1"/>
          <p:nvPr/>
        </p:nvSpPr>
        <p:spPr>
          <a:xfrm>
            <a:off x="749808" y="3867912"/>
            <a:ext cx="914400" cy="274320"/>
          </a:xfrm>
          <a:prstGeom prst="rect">
            <a:avLst/>
          </a:prstGeom>
          <a:noFill/>
          <a:ln/>
        </p:spPr>
        <p:txBody>
          <a:bodyPr wrap="square" lIns="0" tIns="0" rIns="0" bIns="0" rtlCol="0" anchor="ctr"/>
          <a:lstStyle/>
          <a:p>
            <a:pPr marL="0" indent="0">
              <a:buNone/>
            </a:pPr>
            <a:r>
              <a:rPr lang="en-US" sz="1300" b="1" dirty="0">
                <a:solidFill>
                  <a:srgbClr val="FFA33A"/>
                </a:solidFill>
                <a:latin typeface="Courier New" pitchFamily="34" charset="0"/>
                <a:ea typeface="Courier New" pitchFamily="34" charset="-122"/>
                <a:cs typeface="Courier New" pitchFamily="34" charset="-120"/>
              </a:rPr>
              <a:t>05</a:t>
            </a:r>
            <a:endParaRPr lang="en-US" sz="1300" dirty="0"/>
          </a:p>
        </p:txBody>
      </p:sp>
      <p:sp>
        <p:nvSpPr>
          <p:cNvPr id="25" name="Text 23"/>
          <p:cNvSpPr txBox="1"/>
          <p:nvPr/>
        </p:nvSpPr>
        <p:spPr>
          <a:xfrm>
            <a:off x="749808" y="4233672"/>
            <a:ext cx="2240280" cy="502920"/>
          </a:xfrm>
          <a:prstGeom prst="rect">
            <a:avLst/>
          </a:prstGeom>
          <a:noFill/>
          <a:ln/>
        </p:spPr>
        <p:txBody>
          <a:bodyPr wrap="square" lIns="0" tIns="0" rIns="0" bIns="0" rtlCol="0" anchor="ctr"/>
          <a:lstStyle/>
          <a:p>
            <a:pPr marL="0" indent="0">
              <a:lnSpc>
                <a:spcPct val="105000"/>
              </a:lnSpc>
              <a:buNone/>
            </a:pPr>
            <a:r>
              <a:rPr lang="en-US" sz="1350" b="1" dirty="0">
                <a:solidFill>
                  <a:srgbClr val="E9EEF7"/>
                </a:solidFill>
                <a:latin typeface="Arial" pitchFamily="34" charset="0"/>
                <a:ea typeface="Arial" pitchFamily="34" charset="-122"/>
                <a:cs typeface="Arial" pitchFamily="34" charset="-120"/>
              </a:rPr>
              <a:t>Sensitive data access</a:t>
            </a:r>
            <a:endParaRPr lang="en-US" sz="1350" dirty="0"/>
          </a:p>
        </p:txBody>
      </p:sp>
      <p:sp>
        <p:nvSpPr>
          <p:cNvPr id="26" name="Text 24"/>
          <p:cNvSpPr txBox="1"/>
          <p:nvPr/>
        </p:nvSpPr>
        <p:spPr>
          <a:xfrm>
            <a:off x="749808" y="4745736"/>
            <a:ext cx="2240280" cy="384048"/>
          </a:xfrm>
          <a:prstGeom prst="rect">
            <a:avLst/>
          </a:prstGeom>
          <a:noFill/>
          <a:ln/>
        </p:spPr>
        <p:txBody>
          <a:bodyPr wrap="square" lIns="0" tIns="0" rIns="0" bIns="0" rtlCol="0" anchor="ctr"/>
          <a:lstStyle/>
          <a:p>
            <a:pPr marL="0" indent="0">
              <a:lnSpc>
                <a:spcPct val="110000"/>
              </a:lnSpc>
              <a:buNone/>
            </a:pPr>
            <a:r>
              <a:rPr lang="en-US" sz="1050" dirty="0">
                <a:solidFill>
                  <a:srgbClr val="8C97AC"/>
                </a:solidFill>
                <a:latin typeface="Arial" pitchFamily="34" charset="0"/>
                <a:ea typeface="Arial" pitchFamily="34" charset="-122"/>
                <a:cs typeface="Arial" pitchFamily="34" charset="-120"/>
              </a:rPr>
              <a:t>PII, financials, everything</a:t>
            </a:r>
            <a:endParaRPr lang="en-US" sz="1050" dirty="0"/>
          </a:p>
        </p:txBody>
      </p:sp>
      <p:sp>
        <p:nvSpPr>
          <p:cNvPr id="27" name="Shape 25"/>
          <p:cNvSpPr/>
          <p:nvPr/>
        </p:nvSpPr>
        <p:spPr>
          <a:xfrm>
            <a:off x="3227832" y="4389120"/>
            <a:ext cx="201168" cy="146304"/>
          </a:xfrm>
          <a:prstGeom prst="rightArrow">
            <a:avLst/>
          </a:prstGeom>
          <a:solidFill>
            <a:srgbClr val="5C687D"/>
          </a:solidFill>
          <a:ln w="12700">
            <a:solidFill>
              <a:srgbClr val="0B0F17"/>
            </a:solidFill>
            <a:prstDash val="solid"/>
          </a:ln>
        </p:spPr>
        <p:txBody>
          <a:bodyPr/>
          <a:lstStyle/>
          <a:p>
            <a:endParaRPr lang="en-NP"/>
          </a:p>
        </p:txBody>
      </p:sp>
      <p:sp>
        <p:nvSpPr>
          <p:cNvPr id="28" name="Shape 26"/>
          <p:cNvSpPr/>
          <p:nvPr/>
        </p:nvSpPr>
        <p:spPr>
          <a:xfrm>
            <a:off x="3429000" y="3703320"/>
            <a:ext cx="2606040" cy="1508760"/>
          </a:xfrm>
          <a:prstGeom prst="roundRect">
            <a:avLst>
              <a:gd name="adj" fmla="val 4848"/>
            </a:avLst>
          </a:prstGeom>
          <a:solidFill>
            <a:srgbClr val="141A26"/>
          </a:solidFill>
          <a:ln w="12700">
            <a:solidFill>
              <a:srgbClr val="FFA33A"/>
            </a:solidFill>
            <a:prstDash val="solid"/>
          </a:ln>
        </p:spPr>
        <p:txBody>
          <a:bodyPr/>
          <a:lstStyle/>
          <a:p>
            <a:endParaRPr lang="en-NP"/>
          </a:p>
        </p:txBody>
      </p:sp>
      <p:sp>
        <p:nvSpPr>
          <p:cNvPr id="29" name="Text 27"/>
          <p:cNvSpPr txBox="1"/>
          <p:nvPr/>
        </p:nvSpPr>
        <p:spPr>
          <a:xfrm>
            <a:off x="3630168" y="3867912"/>
            <a:ext cx="914400" cy="274320"/>
          </a:xfrm>
          <a:prstGeom prst="rect">
            <a:avLst/>
          </a:prstGeom>
          <a:noFill/>
          <a:ln/>
        </p:spPr>
        <p:txBody>
          <a:bodyPr wrap="square" lIns="0" tIns="0" rIns="0" bIns="0" rtlCol="0" anchor="ctr"/>
          <a:lstStyle/>
          <a:p>
            <a:pPr marL="0" indent="0">
              <a:buNone/>
            </a:pPr>
            <a:r>
              <a:rPr lang="en-US" sz="1300" b="1" dirty="0">
                <a:solidFill>
                  <a:srgbClr val="FFA33A"/>
                </a:solidFill>
                <a:latin typeface="Courier New" pitchFamily="34" charset="0"/>
                <a:ea typeface="Courier New" pitchFamily="34" charset="-122"/>
                <a:cs typeface="Courier New" pitchFamily="34" charset="-120"/>
              </a:rPr>
              <a:t>06</a:t>
            </a:r>
            <a:endParaRPr lang="en-US" sz="1300" dirty="0"/>
          </a:p>
        </p:txBody>
      </p:sp>
      <p:sp>
        <p:nvSpPr>
          <p:cNvPr id="30" name="Text 28"/>
          <p:cNvSpPr txBox="1"/>
          <p:nvPr/>
        </p:nvSpPr>
        <p:spPr>
          <a:xfrm>
            <a:off x="3630168" y="4233672"/>
            <a:ext cx="2240280" cy="502920"/>
          </a:xfrm>
          <a:prstGeom prst="rect">
            <a:avLst/>
          </a:prstGeom>
          <a:noFill/>
          <a:ln/>
        </p:spPr>
        <p:txBody>
          <a:bodyPr wrap="square" lIns="0" tIns="0" rIns="0" bIns="0" rtlCol="0" anchor="ctr"/>
          <a:lstStyle/>
          <a:p>
            <a:pPr marL="0" indent="0">
              <a:lnSpc>
                <a:spcPct val="105000"/>
              </a:lnSpc>
              <a:buNone/>
            </a:pPr>
            <a:r>
              <a:rPr lang="en-US" sz="1350" b="1" dirty="0">
                <a:solidFill>
                  <a:srgbClr val="E9EEF7"/>
                </a:solidFill>
                <a:latin typeface="Arial" pitchFamily="34" charset="0"/>
                <a:ea typeface="Arial" pitchFamily="34" charset="-122"/>
                <a:cs typeface="Arial" pitchFamily="34" charset="-120"/>
              </a:rPr>
              <a:t>Credential discovery</a:t>
            </a:r>
            <a:endParaRPr lang="en-US" sz="1350" dirty="0"/>
          </a:p>
        </p:txBody>
      </p:sp>
      <p:sp>
        <p:nvSpPr>
          <p:cNvPr id="31" name="Text 29"/>
          <p:cNvSpPr txBox="1"/>
          <p:nvPr/>
        </p:nvSpPr>
        <p:spPr>
          <a:xfrm>
            <a:off x="3630168" y="4745736"/>
            <a:ext cx="2240280" cy="384048"/>
          </a:xfrm>
          <a:prstGeom prst="rect">
            <a:avLst/>
          </a:prstGeom>
          <a:noFill/>
          <a:ln/>
        </p:spPr>
        <p:txBody>
          <a:bodyPr wrap="square" lIns="0" tIns="0" rIns="0" bIns="0" rtlCol="0" anchor="ctr"/>
          <a:lstStyle/>
          <a:p>
            <a:pPr marL="0" indent="0">
              <a:lnSpc>
                <a:spcPct val="110000"/>
              </a:lnSpc>
              <a:buNone/>
            </a:pPr>
            <a:r>
              <a:rPr lang="en-US" sz="1050" dirty="0">
                <a:solidFill>
                  <a:srgbClr val="8C97AC"/>
                </a:solidFill>
                <a:latin typeface="Arial" pitchFamily="34" charset="0"/>
                <a:ea typeface="Arial" pitchFamily="34" charset="-122"/>
                <a:cs typeface="Arial" pitchFamily="34" charset="-120"/>
              </a:rPr>
              <a:t>Tokens and keys in the data</a:t>
            </a:r>
            <a:endParaRPr lang="en-US" sz="1050" dirty="0"/>
          </a:p>
        </p:txBody>
      </p:sp>
      <p:sp>
        <p:nvSpPr>
          <p:cNvPr id="32" name="Shape 30"/>
          <p:cNvSpPr/>
          <p:nvPr/>
        </p:nvSpPr>
        <p:spPr>
          <a:xfrm>
            <a:off x="6108192" y="4389120"/>
            <a:ext cx="201168" cy="146304"/>
          </a:xfrm>
          <a:prstGeom prst="rightArrow">
            <a:avLst/>
          </a:prstGeom>
          <a:solidFill>
            <a:srgbClr val="5C687D"/>
          </a:solidFill>
          <a:ln w="12700">
            <a:solidFill>
              <a:srgbClr val="0B0F17"/>
            </a:solidFill>
            <a:prstDash val="solid"/>
          </a:ln>
        </p:spPr>
        <p:txBody>
          <a:bodyPr/>
          <a:lstStyle/>
          <a:p>
            <a:endParaRPr lang="en-NP"/>
          </a:p>
        </p:txBody>
      </p:sp>
      <p:sp>
        <p:nvSpPr>
          <p:cNvPr id="33" name="Shape 31"/>
          <p:cNvSpPr/>
          <p:nvPr/>
        </p:nvSpPr>
        <p:spPr>
          <a:xfrm>
            <a:off x="6309360" y="3703320"/>
            <a:ext cx="2606040" cy="1508760"/>
          </a:xfrm>
          <a:prstGeom prst="roundRect">
            <a:avLst>
              <a:gd name="adj" fmla="val 4848"/>
            </a:avLst>
          </a:prstGeom>
          <a:solidFill>
            <a:srgbClr val="141A26"/>
          </a:solidFill>
          <a:ln w="12700">
            <a:solidFill>
              <a:srgbClr val="FF6B5E"/>
            </a:solidFill>
            <a:prstDash val="solid"/>
          </a:ln>
        </p:spPr>
        <p:txBody>
          <a:bodyPr/>
          <a:lstStyle/>
          <a:p>
            <a:endParaRPr lang="en-NP"/>
          </a:p>
        </p:txBody>
      </p:sp>
      <p:sp>
        <p:nvSpPr>
          <p:cNvPr id="34" name="Text 32"/>
          <p:cNvSpPr txBox="1"/>
          <p:nvPr/>
        </p:nvSpPr>
        <p:spPr>
          <a:xfrm>
            <a:off x="6510528" y="3867912"/>
            <a:ext cx="914400" cy="274320"/>
          </a:xfrm>
          <a:prstGeom prst="rect">
            <a:avLst/>
          </a:prstGeom>
          <a:noFill/>
          <a:ln/>
        </p:spPr>
        <p:txBody>
          <a:bodyPr wrap="square" lIns="0" tIns="0" rIns="0" bIns="0" rtlCol="0" anchor="ctr"/>
          <a:lstStyle/>
          <a:p>
            <a:pPr marL="0" indent="0">
              <a:buNone/>
            </a:pPr>
            <a:r>
              <a:rPr lang="en-US" sz="1300" b="1" dirty="0">
                <a:solidFill>
                  <a:srgbClr val="FF6B5E"/>
                </a:solidFill>
                <a:latin typeface="Courier New" pitchFamily="34" charset="0"/>
                <a:ea typeface="Courier New" pitchFamily="34" charset="-122"/>
                <a:cs typeface="Courier New" pitchFamily="34" charset="-120"/>
              </a:rPr>
              <a:t>07</a:t>
            </a:r>
            <a:endParaRPr lang="en-US" sz="1300" dirty="0"/>
          </a:p>
        </p:txBody>
      </p:sp>
      <p:sp>
        <p:nvSpPr>
          <p:cNvPr id="35" name="Text 33"/>
          <p:cNvSpPr txBox="1"/>
          <p:nvPr/>
        </p:nvSpPr>
        <p:spPr>
          <a:xfrm>
            <a:off x="6510528" y="4233672"/>
            <a:ext cx="2240280" cy="502920"/>
          </a:xfrm>
          <a:prstGeom prst="rect">
            <a:avLst/>
          </a:prstGeom>
          <a:noFill/>
          <a:ln/>
        </p:spPr>
        <p:txBody>
          <a:bodyPr wrap="square" lIns="0" tIns="0" rIns="0" bIns="0" rtlCol="0" anchor="ctr"/>
          <a:lstStyle/>
          <a:p>
            <a:pPr marL="0" indent="0">
              <a:lnSpc>
                <a:spcPct val="105000"/>
              </a:lnSpc>
              <a:buNone/>
            </a:pPr>
            <a:r>
              <a:rPr lang="en-US" sz="1350" b="1" dirty="0">
                <a:solidFill>
                  <a:srgbClr val="E9EEF7"/>
                </a:solidFill>
                <a:latin typeface="Arial" pitchFamily="34" charset="0"/>
                <a:ea typeface="Arial" pitchFamily="34" charset="-122"/>
                <a:cs typeface="Arial" pitchFamily="34" charset="-120"/>
              </a:rPr>
              <a:t>Internal service access</a:t>
            </a:r>
            <a:endParaRPr lang="en-US" sz="1350" dirty="0"/>
          </a:p>
        </p:txBody>
      </p:sp>
      <p:sp>
        <p:nvSpPr>
          <p:cNvPr id="36" name="Text 34"/>
          <p:cNvSpPr txBox="1"/>
          <p:nvPr/>
        </p:nvSpPr>
        <p:spPr>
          <a:xfrm>
            <a:off x="6510528" y="4745736"/>
            <a:ext cx="2240280" cy="384048"/>
          </a:xfrm>
          <a:prstGeom prst="rect">
            <a:avLst/>
          </a:prstGeom>
          <a:noFill/>
          <a:ln/>
        </p:spPr>
        <p:txBody>
          <a:bodyPr wrap="square" lIns="0" tIns="0" rIns="0" bIns="0" rtlCol="0" anchor="ctr"/>
          <a:lstStyle/>
          <a:p>
            <a:pPr marL="0" indent="0">
              <a:lnSpc>
                <a:spcPct val="110000"/>
              </a:lnSpc>
              <a:buNone/>
            </a:pPr>
            <a:r>
              <a:rPr lang="en-US" sz="1050" dirty="0">
                <a:solidFill>
                  <a:srgbClr val="8C97AC"/>
                </a:solidFill>
                <a:latin typeface="Arial" pitchFamily="34" charset="0"/>
                <a:ea typeface="Arial" pitchFamily="34" charset="-122"/>
                <a:cs typeface="Arial" pitchFamily="34" charset="-120"/>
              </a:rPr>
              <a:t>The systems behind the app</a:t>
            </a:r>
            <a:endParaRPr lang="en-US" sz="1050" dirty="0"/>
          </a:p>
        </p:txBody>
      </p:sp>
      <p:sp>
        <p:nvSpPr>
          <p:cNvPr id="37" name="Shape 35"/>
          <p:cNvSpPr/>
          <p:nvPr/>
        </p:nvSpPr>
        <p:spPr>
          <a:xfrm>
            <a:off x="8988552" y="4389120"/>
            <a:ext cx="201168" cy="146304"/>
          </a:xfrm>
          <a:prstGeom prst="rightArrow">
            <a:avLst/>
          </a:prstGeom>
          <a:solidFill>
            <a:srgbClr val="5C687D"/>
          </a:solidFill>
          <a:ln w="12700">
            <a:solidFill>
              <a:srgbClr val="0B0F17"/>
            </a:solidFill>
            <a:prstDash val="solid"/>
          </a:ln>
        </p:spPr>
        <p:txBody>
          <a:bodyPr/>
          <a:lstStyle/>
          <a:p>
            <a:endParaRPr lang="en-NP"/>
          </a:p>
        </p:txBody>
      </p:sp>
      <p:sp>
        <p:nvSpPr>
          <p:cNvPr id="38" name="Shape 36"/>
          <p:cNvSpPr/>
          <p:nvPr/>
        </p:nvSpPr>
        <p:spPr>
          <a:xfrm>
            <a:off x="9189720" y="3703320"/>
            <a:ext cx="2606040" cy="1508760"/>
          </a:xfrm>
          <a:prstGeom prst="roundRect">
            <a:avLst>
              <a:gd name="adj" fmla="val 4848"/>
            </a:avLst>
          </a:prstGeom>
          <a:solidFill>
            <a:srgbClr val="141A26"/>
          </a:solidFill>
          <a:ln w="12700">
            <a:solidFill>
              <a:srgbClr val="FF6B5E"/>
            </a:solidFill>
            <a:prstDash val="solid"/>
          </a:ln>
        </p:spPr>
        <p:txBody>
          <a:bodyPr/>
          <a:lstStyle/>
          <a:p>
            <a:endParaRPr lang="en-NP"/>
          </a:p>
        </p:txBody>
      </p:sp>
      <p:sp>
        <p:nvSpPr>
          <p:cNvPr id="39" name="Text 37"/>
          <p:cNvSpPr txBox="1"/>
          <p:nvPr/>
        </p:nvSpPr>
        <p:spPr>
          <a:xfrm>
            <a:off x="9390888" y="3867912"/>
            <a:ext cx="914400" cy="274320"/>
          </a:xfrm>
          <a:prstGeom prst="rect">
            <a:avLst/>
          </a:prstGeom>
          <a:noFill/>
          <a:ln/>
        </p:spPr>
        <p:txBody>
          <a:bodyPr wrap="square" lIns="0" tIns="0" rIns="0" bIns="0" rtlCol="0" anchor="ctr"/>
          <a:lstStyle/>
          <a:p>
            <a:pPr marL="0" indent="0">
              <a:buNone/>
            </a:pPr>
            <a:r>
              <a:rPr lang="en-US" sz="1300" b="1" dirty="0">
                <a:solidFill>
                  <a:srgbClr val="FF6B5E"/>
                </a:solidFill>
                <a:latin typeface="Courier New" pitchFamily="34" charset="0"/>
                <a:ea typeface="Courier New" pitchFamily="34" charset="-122"/>
                <a:cs typeface="Courier New" pitchFamily="34" charset="-120"/>
              </a:rPr>
              <a:t>08</a:t>
            </a:r>
            <a:endParaRPr lang="en-US" sz="1300" dirty="0"/>
          </a:p>
        </p:txBody>
      </p:sp>
      <p:sp>
        <p:nvSpPr>
          <p:cNvPr id="40" name="Text 38"/>
          <p:cNvSpPr txBox="1"/>
          <p:nvPr/>
        </p:nvSpPr>
        <p:spPr>
          <a:xfrm>
            <a:off x="9390888" y="4233672"/>
            <a:ext cx="2240280" cy="502920"/>
          </a:xfrm>
          <a:prstGeom prst="rect">
            <a:avLst/>
          </a:prstGeom>
          <a:noFill/>
          <a:ln/>
        </p:spPr>
        <p:txBody>
          <a:bodyPr wrap="square" lIns="0" tIns="0" rIns="0" bIns="0" rtlCol="0" anchor="ctr"/>
          <a:lstStyle/>
          <a:p>
            <a:pPr marL="0" indent="0">
              <a:lnSpc>
                <a:spcPct val="105000"/>
              </a:lnSpc>
              <a:buNone/>
            </a:pPr>
            <a:r>
              <a:rPr lang="en-US" sz="1350" b="1" dirty="0">
                <a:solidFill>
                  <a:srgbClr val="E9EEF7"/>
                </a:solidFill>
                <a:latin typeface="Arial" pitchFamily="34" charset="0"/>
                <a:ea typeface="Arial" pitchFamily="34" charset="-122"/>
                <a:cs typeface="Arial" pitchFamily="34" charset="-120"/>
              </a:rPr>
              <a:t>Business impact</a:t>
            </a:r>
            <a:endParaRPr lang="en-US" sz="1350" dirty="0"/>
          </a:p>
        </p:txBody>
      </p:sp>
      <p:sp>
        <p:nvSpPr>
          <p:cNvPr id="41" name="Text 39"/>
          <p:cNvSpPr txBox="1"/>
          <p:nvPr/>
        </p:nvSpPr>
        <p:spPr>
          <a:xfrm>
            <a:off x="9390888" y="4745736"/>
            <a:ext cx="2240280" cy="384048"/>
          </a:xfrm>
          <a:prstGeom prst="rect">
            <a:avLst/>
          </a:prstGeom>
          <a:noFill/>
          <a:ln/>
        </p:spPr>
        <p:txBody>
          <a:bodyPr wrap="square" lIns="0" tIns="0" rIns="0" bIns="0" rtlCol="0" anchor="ctr"/>
          <a:lstStyle/>
          <a:p>
            <a:pPr marL="0" indent="0">
              <a:lnSpc>
                <a:spcPct val="110000"/>
              </a:lnSpc>
              <a:buNone/>
            </a:pPr>
            <a:r>
              <a:rPr lang="en-US" sz="1050" dirty="0">
                <a:solidFill>
                  <a:srgbClr val="8C97AC"/>
                </a:solidFill>
                <a:latin typeface="Arial" pitchFamily="34" charset="0"/>
                <a:ea typeface="Arial" pitchFamily="34" charset="-122"/>
                <a:cs typeface="Arial" pitchFamily="34" charset="-120"/>
              </a:rPr>
              <a:t>Money, trust, regulators</a:t>
            </a:r>
            <a:endParaRPr lang="en-US" sz="1050" dirty="0"/>
          </a:p>
        </p:txBody>
      </p:sp>
      <p:sp>
        <p:nvSpPr>
          <p:cNvPr id="42" name="Text 40"/>
          <p:cNvSpPr txBox="1"/>
          <p:nvPr/>
        </p:nvSpPr>
        <p:spPr>
          <a:xfrm>
            <a:off x="548640" y="5486400"/>
            <a:ext cx="11091672" cy="365760"/>
          </a:xfrm>
          <a:prstGeom prst="rect">
            <a:avLst/>
          </a:prstGeom>
          <a:noFill/>
          <a:ln/>
        </p:spPr>
        <p:txBody>
          <a:bodyPr wrap="square" lIns="0" tIns="0" rIns="0" bIns="0" rtlCol="0" anchor="ctr"/>
          <a:lstStyle/>
          <a:p>
            <a:pPr marL="0" indent="0" algn="ctr">
              <a:buNone/>
            </a:pPr>
            <a:r>
              <a:rPr lang="en-US" sz="1500" b="1" i="1" dirty="0">
                <a:solidFill>
                  <a:srgbClr val="C9B6FF"/>
                </a:solidFill>
                <a:latin typeface="Arial" pitchFamily="34" charset="0"/>
                <a:ea typeface="Arial" pitchFamily="34" charset="-122"/>
                <a:cs typeface="Arial" pitchFamily="34" charset="-120"/>
              </a:rPr>
              <a:t>Each step is low severity on its own. The chain is what gets you on the news.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FF6B5E"/>
                </a:solidFill>
                <a:latin typeface="Arial" pitchFamily="34" charset="0"/>
                <a:ea typeface="Arial" pitchFamily="34" charset="-122"/>
                <a:cs typeface="Arial" pitchFamily="34" charset="-120"/>
              </a:rPr>
              <a:t>A STORY  ·  FICTIONAL COMPANY, REAL MISTAKES</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000" b="1" dirty="0">
                <a:solidFill>
                  <a:srgbClr val="E9EEF7"/>
                </a:solidFill>
                <a:latin typeface="Arial" pitchFamily="34" charset="0"/>
                <a:ea typeface="Arial" pitchFamily="34" charset="-122"/>
                <a:cs typeface="Arial" pitchFamily="34" charset="-120"/>
              </a:rPr>
              <a:t>FinTrack: An ASP.NET Core Money App</a:t>
            </a:r>
            <a:endParaRPr lang="en-US" sz="3000" dirty="0"/>
          </a:p>
        </p:txBody>
      </p:sp>
      <p:sp>
        <p:nvSpPr>
          <p:cNvPr id="4" name="Text 2"/>
          <p:cNvSpPr txBox="1"/>
          <p:nvPr/>
        </p:nvSpPr>
        <p:spPr>
          <a:xfrm>
            <a:off x="548640" y="1444752"/>
            <a:ext cx="10607040" cy="365760"/>
          </a:xfrm>
          <a:prstGeom prst="rect">
            <a:avLst/>
          </a:prstGeom>
          <a:noFill/>
          <a:ln/>
        </p:spPr>
        <p:txBody>
          <a:bodyPr wrap="square" lIns="0" tIns="0" rIns="0" bIns="0" rtlCol="0" anchor="ctr"/>
          <a:lstStyle/>
          <a:p>
            <a:pPr marL="0" indent="0">
              <a:buNone/>
            </a:pPr>
            <a:r>
              <a:rPr lang="en-US" sz="1500" dirty="0">
                <a:solidFill>
                  <a:srgbClr val="8C97AC"/>
                </a:solidFill>
                <a:latin typeface="Arial" pitchFamily="34" charset="0"/>
                <a:ea typeface="Arial" pitchFamily="34" charset="-122"/>
                <a:cs typeface="Arial" pitchFamily="34" charset="-120"/>
              </a:rPr>
              <a:t>Nothing here is a zero-day. Every single step is a ticket somebody deprioritised.</a:t>
            </a:r>
            <a:endParaRPr lang="en-US" sz="1500" dirty="0"/>
          </a:p>
        </p:txBody>
      </p:sp>
      <p:sp>
        <p:nvSpPr>
          <p:cNvPr id="5" name="Shape 3"/>
          <p:cNvSpPr/>
          <p:nvPr/>
        </p:nvSpPr>
        <p:spPr>
          <a:xfrm>
            <a:off x="548640" y="1965960"/>
            <a:ext cx="2121408" cy="2148840"/>
          </a:xfrm>
          <a:prstGeom prst="roundRect">
            <a:avLst>
              <a:gd name="adj" fmla="val 3448"/>
            </a:avLst>
          </a:prstGeom>
          <a:solidFill>
            <a:srgbClr val="141A26"/>
          </a:solidFill>
          <a:ln w="12700">
            <a:solidFill>
              <a:srgbClr val="FFC15E"/>
            </a:solidFill>
            <a:prstDash val="solid"/>
          </a:ln>
        </p:spPr>
        <p:txBody>
          <a:bodyPr/>
          <a:lstStyle/>
          <a:p>
            <a:endParaRPr lang="en-NP"/>
          </a:p>
        </p:txBody>
      </p:sp>
      <p:sp>
        <p:nvSpPr>
          <p:cNvPr id="6" name="Text 4"/>
          <p:cNvSpPr txBox="1"/>
          <p:nvPr/>
        </p:nvSpPr>
        <p:spPr>
          <a:xfrm>
            <a:off x="731520" y="2121408"/>
            <a:ext cx="1737360" cy="274320"/>
          </a:xfrm>
          <a:prstGeom prst="rect">
            <a:avLst/>
          </a:prstGeom>
          <a:noFill/>
          <a:ln/>
        </p:spPr>
        <p:txBody>
          <a:bodyPr wrap="square" lIns="0" tIns="0" rIns="0" bIns="0" rtlCol="0" anchor="ctr"/>
          <a:lstStyle/>
          <a:p>
            <a:pPr marL="0" indent="0">
              <a:buNone/>
            </a:pPr>
            <a:r>
              <a:rPr lang="en-US" sz="1500" b="1" dirty="0">
                <a:solidFill>
                  <a:srgbClr val="FFC15E"/>
                </a:solidFill>
                <a:latin typeface="Courier New" pitchFamily="34" charset="0"/>
                <a:ea typeface="Courier New" pitchFamily="34" charset="-122"/>
                <a:cs typeface="Courier New" pitchFamily="34" charset="-120"/>
              </a:rPr>
              <a:t>#1</a:t>
            </a:r>
            <a:endParaRPr lang="en-US" sz="1500" dirty="0"/>
          </a:p>
        </p:txBody>
      </p:sp>
      <p:sp>
        <p:nvSpPr>
          <p:cNvPr id="7" name="Text 5"/>
          <p:cNvSpPr txBox="1"/>
          <p:nvPr/>
        </p:nvSpPr>
        <p:spPr>
          <a:xfrm>
            <a:off x="731520" y="2514600"/>
            <a:ext cx="1783080" cy="640080"/>
          </a:xfrm>
          <a:prstGeom prst="rect">
            <a:avLst/>
          </a:prstGeom>
          <a:noFill/>
          <a:ln/>
        </p:spPr>
        <p:txBody>
          <a:bodyPr wrap="square" lIns="0" tIns="0" rIns="0" bIns="0" rtlCol="0" anchor="ctr"/>
          <a:lstStyle/>
          <a:p>
            <a:pPr marL="0" indent="0">
              <a:lnSpc>
                <a:spcPct val="108000"/>
              </a:lnSpc>
              <a:buNone/>
            </a:pPr>
            <a:r>
              <a:rPr lang="en-US" sz="1350" b="1" dirty="0">
                <a:solidFill>
                  <a:srgbClr val="E9EEF7"/>
                </a:solidFill>
                <a:latin typeface="Arial" pitchFamily="34" charset="0"/>
                <a:ea typeface="Arial" pitchFamily="34" charset="-122"/>
                <a:cs typeface="Arial" pitchFamily="34" charset="-120"/>
              </a:rPr>
              <a:t>Predictable IDs</a:t>
            </a:r>
            <a:endParaRPr lang="en-US" sz="1350" dirty="0"/>
          </a:p>
        </p:txBody>
      </p:sp>
      <p:sp>
        <p:nvSpPr>
          <p:cNvPr id="8" name="Text 6"/>
          <p:cNvSpPr txBox="1"/>
          <p:nvPr/>
        </p:nvSpPr>
        <p:spPr>
          <a:xfrm>
            <a:off x="731520" y="3200400"/>
            <a:ext cx="1783080" cy="777240"/>
          </a:xfrm>
          <a:prstGeom prst="rect">
            <a:avLst/>
          </a:prstGeom>
          <a:noFill/>
          <a:ln/>
        </p:spPr>
        <p:txBody>
          <a:bodyPr wrap="square" lIns="0" tIns="0" rIns="0" bIns="0" rtlCol="0" anchor="ctr"/>
          <a:lstStyle/>
          <a:p>
            <a:pPr marL="0" indent="0">
              <a:lnSpc>
                <a:spcPct val="115000"/>
              </a:lnSpc>
              <a:buNone/>
            </a:pPr>
            <a:r>
              <a:rPr lang="en-US" sz="1050" dirty="0">
                <a:solidFill>
                  <a:srgbClr val="8C97AC"/>
                </a:solidFill>
                <a:latin typeface="Arial" pitchFamily="34" charset="0"/>
                <a:ea typeface="Arial" pitchFamily="34" charset="-122"/>
                <a:cs typeface="Arial" pitchFamily="34" charset="-120"/>
              </a:rPr>
              <a:t>Invoices numbered 1001, 1002, 1003...</a:t>
            </a:r>
            <a:endParaRPr lang="en-US" sz="1050" dirty="0"/>
          </a:p>
        </p:txBody>
      </p:sp>
      <p:sp>
        <p:nvSpPr>
          <p:cNvPr id="9" name="Shape 7"/>
          <p:cNvSpPr/>
          <p:nvPr/>
        </p:nvSpPr>
        <p:spPr>
          <a:xfrm>
            <a:off x="2807208" y="1965960"/>
            <a:ext cx="2121408" cy="2148840"/>
          </a:xfrm>
          <a:prstGeom prst="roundRect">
            <a:avLst>
              <a:gd name="adj" fmla="val 3448"/>
            </a:avLst>
          </a:prstGeom>
          <a:solidFill>
            <a:srgbClr val="141A26"/>
          </a:solidFill>
          <a:ln w="12700">
            <a:solidFill>
              <a:srgbClr val="FFA33A"/>
            </a:solidFill>
            <a:prstDash val="solid"/>
          </a:ln>
        </p:spPr>
        <p:txBody>
          <a:bodyPr/>
          <a:lstStyle/>
          <a:p>
            <a:endParaRPr lang="en-NP"/>
          </a:p>
        </p:txBody>
      </p:sp>
      <p:sp>
        <p:nvSpPr>
          <p:cNvPr id="10" name="Text 8"/>
          <p:cNvSpPr txBox="1"/>
          <p:nvPr/>
        </p:nvSpPr>
        <p:spPr>
          <a:xfrm>
            <a:off x="2990088" y="2121408"/>
            <a:ext cx="1737360" cy="274320"/>
          </a:xfrm>
          <a:prstGeom prst="rect">
            <a:avLst/>
          </a:prstGeom>
          <a:noFill/>
          <a:ln/>
        </p:spPr>
        <p:txBody>
          <a:bodyPr wrap="square" lIns="0" tIns="0" rIns="0" bIns="0" rtlCol="0" anchor="ctr"/>
          <a:lstStyle/>
          <a:p>
            <a:pPr marL="0" indent="0">
              <a:buNone/>
            </a:pPr>
            <a:r>
              <a:rPr lang="en-US" sz="1500" b="1" dirty="0">
                <a:solidFill>
                  <a:srgbClr val="FFA33A"/>
                </a:solidFill>
                <a:latin typeface="Courier New" pitchFamily="34" charset="0"/>
                <a:ea typeface="Courier New" pitchFamily="34" charset="-122"/>
                <a:cs typeface="Courier New" pitchFamily="34" charset="-120"/>
              </a:rPr>
              <a:t>#2</a:t>
            </a:r>
            <a:endParaRPr lang="en-US" sz="1500" dirty="0"/>
          </a:p>
        </p:txBody>
      </p:sp>
      <p:sp>
        <p:nvSpPr>
          <p:cNvPr id="11" name="Text 9"/>
          <p:cNvSpPr txBox="1"/>
          <p:nvPr/>
        </p:nvSpPr>
        <p:spPr>
          <a:xfrm>
            <a:off x="2990088" y="2514600"/>
            <a:ext cx="1783080" cy="640080"/>
          </a:xfrm>
          <a:prstGeom prst="rect">
            <a:avLst/>
          </a:prstGeom>
          <a:noFill/>
          <a:ln/>
        </p:spPr>
        <p:txBody>
          <a:bodyPr wrap="square" lIns="0" tIns="0" rIns="0" bIns="0" rtlCol="0" anchor="ctr"/>
          <a:lstStyle/>
          <a:p>
            <a:pPr marL="0" indent="0">
              <a:lnSpc>
                <a:spcPct val="108000"/>
              </a:lnSpc>
              <a:buNone/>
            </a:pPr>
            <a:r>
              <a:rPr lang="en-US" sz="1350" b="1" dirty="0">
                <a:solidFill>
                  <a:srgbClr val="E9EEF7"/>
                </a:solidFill>
                <a:latin typeface="Arial" pitchFamily="34" charset="0"/>
                <a:ea typeface="Arial" pitchFamily="34" charset="-122"/>
                <a:cs typeface="Arial" pitchFamily="34" charset="-120"/>
              </a:rPr>
              <a:t>No ownership check</a:t>
            </a:r>
            <a:endParaRPr lang="en-US" sz="1350" dirty="0"/>
          </a:p>
        </p:txBody>
      </p:sp>
      <p:sp>
        <p:nvSpPr>
          <p:cNvPr id="12" name="Text 10"/>
          <p:cNvSpPr txBox="1"/>
          <p:nvPr/>
        </p:nvSpPr>
        <p:spPr>
          <a:xfrm>
            <a:off x="2990088" y="3200400"/>
            <a:ext cx="1783080" cy="777240"/>
          </a:xfrm>
          <a:prstGeom prst="rect">
            <a:avLst/>
          </a:prstGeom>
          <a:noFill/>
          <a:ln/>
        </p:spPr>
        <p:txBody>
          <a:bodyPr wrap="square" lIns="0" tIns="0" rIns="0" bIns="0" rtlCol="0" anchor="ctr"/>
          <a:lstStyle/>
          <a:p>
            <a:pPr marL="0" indent="0">
              <a:lnSpc>
                <a:spcPct val="115000"/>
              </a:lnSpc>
              <a:buNone/>
            </a:pPr>
            <a:r>
              <a:rPr lang="en-US" sz="1050" dirty="0">
                <a:solidFill>
                  <a:srgbClr val="8C97AC"/>
                </a:solidFill>
                <a:latin typeface="Arial" pitchFamily="34" charset="0"/>
                <a:ea typeface="Arial" pitchFamily="34" charset="-122"/>
                <a:cs typeface="Arial" pitchFamily="34" charset="-120"/>
              </a:rPr>
              <a:t>[Authorize] only. No resource check.</a:t>
            </a:r>
            <a:endParaRPr lang="en-US" sz="1050" dirty="0"/>
          </a:p>
        </p:txBody>
      </p:sp>
      <p:sp>
        <p:nvSpPr>
          <p:cNvPr id="13" name="Shape 11"/>
          <p:cNvSpPr/>
          <p:nvPr/>
        </p:nvSpPr>
        <p:spPr>
          <a:xfrm>
            <a:off x="5065776" y="1965960"/>
            <a:ext cx="2121408" cy="2148840"/>
          </a:xfrm>
          <a:prstGeom prst="roundRect">
            <a:avLst>
              <a:gd name="adj" fmla="val 3448"/>
            </a:avLst>
          </a:prstGeom>
          <a:solidFill>
            <a:srgbClr val="141A26"/>
          </a:solidFill>
          <a:ln w="12700">
            <a:solidFill>
              <a:srgbClr val="FFA33A"/>
            </a:solidFill>
            <a:prstDash val="solid"/>
          </a:ln>
        </p:spPr>
        <p:txBody>
          <a:bodyPr/>
          <a:lstStyle/>
          <a:p>
            <a:endParaRPr lang="en-NP"/>
          </a:p>
        </p:txBody>
      </p:sp>
      <p:sp>
        <p:nvSpPr>
          <p:cNvPr id="14" name="Text 12"/>
          <p:cNvSpPr txBox="1"/>
          <p:nvPr/>
        </p:nvSpPr>
        <p:spPr>
          <a:xfrm>
            <a:off x="5248656" y="2121408"/>
            <a:ext cx="1737360" cy="274320"/>
          </a:xfrm>
          <a:prstGeom prst="rect">
            <a:avLst/>
          </a:prstGeom>
          <a:noFill/>
          <a:ln/>
        </p:spPr>
        <p:txBody>
          <a:bodyPr wrap="square" lIns="0" tIns="0" rIns="0" bIns="0" rtlCol="0" anchor="ctr"/>
          <a:lstStyle/>
          <a:p>
            <a:pPr marL="0" indent="0">
              <a:buNone/>
            </a:pPr>
            <a:r>
              <a:rPr lang="en-US" sz="1500" b="1" dirty="0">
                <a:solidFill>
                  <a:srgbClr val="FFA33A"/>
                </a:solidFill>
                <a:latin typeface="Courier New" pitchFamily="34" charset="0"/>
                <a:ea typeface="Courier New" pitchFamily="34" charset="-122"/>
                <a:cs typeface="Courier New" pitchFamily="34" charset="-120"/>
              </a:rPr>
              <a:t>#3</a:t>
            </a:r>
            <a:endParaRPr lang="en-US" sz="1500" dirty="0"/>
          </a:p>
        </p:txBody>
      </p:sp>
      <p:sp>
        <p:nvSpPr>
          <p:cNvPr id="15" name="Text 13"/>
          <p:cNvSpPr txBox="1"/>
          <p:nvPr/>
        </p:nvSpPr>
        <p:spPr>
          <a:xfrm>
            <a:off x="5248656" y="2514600"/>
            <a:ext cx="1783080" cy="640080"/>
          </a:xfrm>
          <a:prstGeom prst="rect">
            <a:avLst/>
          </a:prstGeom>
          <a:noFill/>
          <a:ln/>
        </p:spPr>
        <p:txBody>
          <a:bodyPr wrap="square" lIns="0" tIns="0" rIns="0" bIns="0" rtlCol="0" anchor="ctr"/>
          <a:lstStyle/>
          <a:p>
            <a:pPr marL="0" indent="0">
              <a:lnSpc>
                <a:spcPct val="108000"/>
              </a:lnSpc>
              <a:buNone/>
            </a:pPr>
            <a:r>
              <a:rPr lang="en-US" sz="1350" b="1" dirty="0">
                <a:solidFill>
                  <a:srgbClr val="E9EEF7"/>
                </a:solidFill>
                <a:latin typeface="Arial" pitchFamily="34" charset="0"/>
                <a:ea typeface="Arial" pitchFamily="34" charset="-122"/>
                <a:cs typeface="Arial" pitchFamily="34" charset="-120"/>
              </a:rPr>
              <a:t>Over-sharing API</a:t>
            </a:r>
            <a:endParaRPr lang="en-US" sz="1350" dirty="0"/>
          </a:p>
        </p:txBody>
      </p:sp>
      <p:sp>
        <p:nvSpPr>
          <p:cNvPr id="16" name="Text 14"/>
          <p:cNvSpPr txBox="1"/>
          <p:nvPr/>
        </p:nvSpPr>
        <p:spPr>
          <a:xfrm>
            <a:off x="5248656" y="3200400"/>
            <a:ext cx="1783080" cy="777240"/>
          </a:xfrm>
          <a:prstGeom prst="rect">
            <a:avLst/>
          </a:prstGeom>
          <a:noFill/>
          <a:ln/>
        </p:spPr>
        <p:txBody>
          <a:bodyPr wrap="square" lIns="0" tIns="0" rIns="0" bIns="0" rtlCol="0" anchor="ctr"/>
          <a:lstStyle/>
          <a:p>
            <a:pPr marL="0" indent="0">
              <a:lnSpc>
                <a:spcPct val="115000"/>
              </a:lnSpc>
              <a:buNone/>
            </a:pPr>
            <a:r>
              <a:rPr lang="en-US" sz="1050" dirty="0">
                <a:solidFill>
                  <a:srgbClr val="8C97AC"/>
                </a:solidFill>
                <a:latin typeface="Arial" pitchFamily="34" charset="0"/>
                <a:ea typeface="Arial" pitchFamily="34" charset="-122"/>
                <a:cs typeface="Arial" pitchFamily="34" charset="-120"/>
              </a:rPr>
              <a:t>DTO returns the full entity, incl. internal fields</a:t>
            </a:r>
            <a:endParaRPr lang="en-US" sz="1050" dirty="0"/>
          </a:p>
        </p:txBody>
      </p:sp>
      <p:sp>
        <p:nvSpPr>
          <p:cNvPr id="17" name="Shape 15"/>
          <p:cNvSpPr/>
          <p:nvPr/>
        </p:nvSpPr>
        <p:spPr>
          <a:xfrm>
            <a:off x="7324344" y="1965960"/>
            <a:ext cx="2121408" cy="2148840"/>
          </a:xfrm>
          <a:prstGeom prst="roundRect">
            <a:avLst>
              <a:gd name="adj" fmla="val 3448"/>
            </a:avLst>
          </a:prstGeom>
          <a:solidFill>
            <a:srgbClr val="141A26"/>
          </a:solidFill>
          <a:ln w="12700">
            <a:solidFill>
              <a:srgbClr val="FF6B5E"/>
            </a:solidFill>
            <a:prstDash val="solid"/>
          </a:ln>
        </p:spPr>
        <p:txBody>
          <a:bodyPr/>
          <a:lstStyle/>
          <a:p>
            <a:endParaRPr lang="en-NP"/>
          </a:p>
        </p:txBody>
      </p:sp>
      <p:sp>
        <p:nvSpPr>
          <p:cNvPr id="18" name="Text 16"/>
          <p:cNvSpPr txBox="1"/>
          <p:nvPr/>
        </p:nvSpPr>
        <p:spPr>
          <a:xfrm>
            <a:off x="7507224" y="2121408"/>
            <a:ext cx="1737360" cy="274320"/>
          </a:xfrm>
          <a:prstGeom prst="rect">
            <a:avLst/>
          </a:prstGeom>
          <a:noFill/>
          <a:ln/>
        </p:spPr>
        <p:txBody>
          <a:bodyPr wrap="square" lIns="0" tIns="0" rIns="0" bIns="0" rtlCol="0" anchor="ctr"/>
          <a:lstStyle/>
          <a:p>
            <a:pPr marL="0" indent="0">
              <a:buNone/>
            </a:pPr>
            <a:r>
              <a:rPr lang="en-US" sz="1500" b="1" dirty="0">
                <a:solidFill>
                  <a:srgbClr val="FF6B5E"/>
                </a:solidFill>
                <a:latin typeface="Courier New" pitchFamily="34" charset="0"/>
                <a:ea typeface="Courier New" pitchFamily="34" charset="-122"/>
                <a:cs typeface="Courier New" pitchFamily="34" charset="-120"/>
              </a:rPr>
              <a:t>#4</a:t>
            </a:r>
            <a:endParaRPr lang="en-US" sz="1500" dirty="0"/>
          </a:p>
        </p:txBody>
      </p:sp>
      <p:sp>
        <p:nvSpPr>
          <p:cNvPr id="19" name="Text 17"/>
          <p:cNvSpPr txBox="1"/>
          <p:nvPr/>
        </p:nvSpPr>
        <p:spPr>
          <a:xfrm>
            <a:off x="7507224" y="2514600"/>
            <a:ext cx="1783080" cy="640080"/>
          </a:xfrm>
          <a:prstGeom prst="rect">
            <a:avLst/>
          </a:prstGeom>
          <a:noFill/>
          <a:ln/>
        </p:spPr>
        <p:txBody>
          <a:bodyPr wrap="square" lIns="0" tIns="0" rIns="0" bIns="0" rtlCol="0" anchor="ctr"/>
          <a:lstStyle/>
          <a:p>
            <a:pPr marL="0" indent="0">
              <a:lnSpc>
                <a:spcPct val="108000"/>
              </a:lnSpc>
              <a:buNone/>
            </a:pPr>
            <a:r>
              <a:rPr lang="en-US" sz="1350" b="1" dirty="0">
                <a:solidFill>
                  <a:srgbClr val="E9EEF7"/>
                </a:solidFill>
                <a:latin typeface="Arial" pitchFamily="34" charset="0"/>
                <a:ea typeface="Arial" pitchFamily="34" charset="-122"/>
                <a:cs typeface="Arial" pitchFamily="34" charset="-120"/>
              </a:rPr>
              <a:t>Verbose logging</a:t>
            </a:r>
            <a:endParaRPr lang="en-US" sz="1350" dirty="0"/>
          </a:p>
        </p:txBody>
      </p:sp>
      <p:sp>
        <p:nvSpPr>
          <p:cNvPr id="20" name="Text 18"/>
          <p:cNvSpPr txBox="1"/>
          <p:nvPr/>
        </p:nvSpPr>
        <p:spPr>
          <a:xfrm>
            <a:off x="7507224" y="3200400"/>
            <a:ext cx="1783080" cy="777240"/>
          </a:xfrm>
          <a:prstGeom prst="rect">
            <a:avLst/>
          </a:prstGeom>
          <a:noFill/>
          <a:ln/>
        </p:spPr>
        <p:txBody>
          <a:bodyPr wrap="square" lIns="0" tIns="0" rIns="0" bIns="0" rtlCol="0" anchor="ctr"/>
          <a:lstStyle/>
          <a:p>
            <a:pPr marL="0" indent="0">
              <a:lnSpc>
                <a:spcPct val="115000"/>
              </a:lnSpc>
              <a:buNone/>
            </a:pPr>
            <a:r>
              <a:rPr lang="en-US" sz="1050" dirty="0">
                <a:solidFill>
                  <a:srgbClr val="8C97AC"/>
                </a:solidFill>
                <a:latin typeface="Arial" pitchFamily="34" charset="0"/>
                <a:ea typeface="Arial" pitchFamily="34" charset="-122"/>
                <a:cs typeface="Arial" pitchFamily="34" charset="-120"/>
              </a:rPr>
              <a:t>Tokens and payloads written to logs</a:t>
            </a:r>
            <a:endParaRPr lang="en-US" sz="1050" dirty="0"/>
          </a:p>
        </p:txBody>
      </p:sp>
      <p:sp>
        <p:nvSpPr>
          <p:cNvPr id="21" name="Shape 19"/>
          <p:cNvSpPr/>
          <p:nvPr/>
        </p:nvSpPr>
        <p:spPr>
          <a:xfrm>
            <a:off x="9582912" y="1965960"/>
            <a:ext cx="2121408" cy="2148840"/>
          </a:xfrm>
          <a:prstGeom prst="roundRect">
            <a:avLst>
              <a:gd name="adj" fmla="val 3448"/>
            </a:avLst>
          </a:prstGeom>
          <a:solidFill>
            <a:srgbClr val="141A26"/>
          </a:solidFill>
          <a:ln w="12700">
            <a:solidFill>
              <a:srgbClr val="FF6B5E"/>
            </a:solidFill>
            <a:prstDash val="solid"/>
          </a:ln>
        </p:spPr>
        <p:txBody>
          <a:bodyPr/>
          <a:lstStyle/>
          <a:p>
            <a:endParaRPr lang="en-NP"/>
          </a:p>
        </p:txBody>
      </p:sp>
      <p:sp>
        <p:nvSpPr>
          <p:cNvPr id="22" name="Text 20"/>
          <p:cNvSpPr txBox="1"/>
          <p:nvPr/>
        </p:nvSpPr>
        <p:spPr>
          <a:xfrm>
            <a:off x="9765792" y="2121408"/>
            <a:ext cx="1737360" cy="274320"/>
          </a:xfrm>
          <a:prstGeom prst="rect">
            <a:avLst/>
          </a:prstGeom>
          <a:noFill/>
          <a:ln/>
        </p:spPr>
        <p:txBody>
          <a:bodyPr wrap="square" lIns="0" tIns="0" rIns="0" bIns="0" rtlCol="0" anchor="ctr"/>
          <a:lstStyle/>
          <a:p>
            <a:pPr marL="0" indent="0">
              <a:buNone/>
            </a:pPr>
            <a:r>
              <a:rPr lang="en-US" sz="1500" b="1" dirty="0">
                <a:solidFill>
                  <a:srgbClr val="FF6B5E"/>
                </a:solidFill>
                <a:latin typeface="Courier New" pitchFamily="34" charset="0"/>
                <a:ea typeface="Courier New" pitchFamily="34" charset="-122"/>
                <a:cs typeface="Courier New" pitchFamily="34" charset="-120"/>
              </a:rPr>
              <a:t>#5</a:t>
            </a:r>
            <a:endParaRPr lang="en-US" sz="1500" dirty="0"/>
          </a:p>
        </p:txBody>
      </p:sp>
      <p:sp>
        <p:nvSpPr>
          <p:cNvPr id="23" name="Text 21"/>
          <p:cNvSpPr txBox="1"/>
          <p:nvPr/>
        </p:nvSpPr>
        <p:spPr>
          <a:xfrm>
            <a:off x="9765792" y="2514600"/>
            <a:ext cx="1783080" cy="640080"/>
          </a:xfrm>
          <a:prstGeom prst="rect">
            <a:avLst/>
          </a:prstGeom>
          <a:noFill/>
          <a:ln/>
        </p:spPr>
        <p:txBody>
          <a:bodyPr wrap="square" lIns="0" tIns="0" rIns="0" bIns="0" rtlCol="0" anchor="ctr"/>
          <a:lstStyle/>
          <a:p>
            <a:pPr marL="0" indent="0">
              <a:lnSpc>
                <a:spcPct val="108000"/>
              </a:lnSpc>
              <a:buNone/>
            </a:pPr>
            <a:r>
              <a:rPr lang="en-US" sz="1350" b="1" dirty="0">
                <a:solidFill>
                  <a:srgbClr val="E9EEF7"/>
                </a:solidFill>
                <a:latin typeface="Arial" pitchFamily="34" charset="0"/>
                <a:ea typeface="Arial" pitchFamily="34" charset="-122"/>
                <a:cs typeface="Arial" pitchFamily="34" charset="-120"/>
              </a:rPr>
              <a:t>God-mode identity</a:t>
            </a:r>
            <a:endParaRPr lang="en-US" sz="1350" dirty="0"/>
          </a:p>
        </p:txBody>
      </p:sp>
      <p:sp>
        <p:nvSpPr>
          <p:cNvPr id="24" name="Text 22"/>
          <p:cNvSpPr txBox="1"/>
          <p:nvPr/>
        </p:nvSpPr>
        <p:spPr>
          <a:xfrm>
            <a:off x="9765792" y="3200400"/>
            <a:ext cx="1783080" cy="777240"/>
          </a:xfrm>
          <a:prstGeom prst="rect">
            <a:avLst/>
          </a:prstGeom>
          <a:noFill/>
          <a:ln/>
        </p:spPr>
        <p:txBody>
          <a:bodyPr wrap="square" lIns="0" tIns="0" rIns="0" bIns="0" rtlCol="0" anchor="ctr"/>
          <a:lstStyle/>
          <a:p>
            <a:pPr marL="0" indent="0">
              <a:lnSpc>
                <a:spcPct val="115000"/>
              </a:lnSpc>
              <a:buNone/>
            </a:pPr>
            <a:r>
              <a:rPr lang="en-US" sz="1050" dirty="0">
                <a:solidFill>
                  <a:srgbClr val="8C97AC"/>
                </a:solidFill>
                <a:latin typeface="Arial" pitchFamily="34" charset="0"/>
                <a:ea typeface="Arial" pitchFamily="34" charset="-122"/>
                <a:cs typeface="Arial" pitchFamily="34" charset="-120"/>
              </a:rPr>
              <a:t>Service account can read every bucket</a:t>
            </a:r>
            <a:endParaRPr lang="en-US" sz="1050" dirty="0"/>
          </a:p>
        </p:txBody>
      </p:sp>
      <p:sp>
        <p:nvSpPr>
          <p:cNvPr id="25" name="Shape 23"/>
          <p:cNvSpPr/>
          <p:nvPr/>
        </p:nvSpPr>
        <p:spPr>
          <a:xfrm>
            <a:off x="548640" y="4343400"/>
            <a:ext cx="11091672" cy="1417320"/>
          </a:xfrm>
          <a:prstGeom prst="roundRect">
            <a:avLst>
              <a:gd name="adj" fmla="val 5161"/>
            </a:avLst>
          </a:prstGeom>
          <a:solidFill>
            <a:srgbClr val="2A1618"/>
          </a:solidFill>
          <a:ln w="12700">
            <a:solidFill>
              <a:srgbClr val="FF6B5E"/>
            </a:solidFill>
            <a:prstDash val="solid"/>
          </a:ln>
        </p:spPr>
        <p:txBody>
          <a:bodyPr/>
          <a:lstStyle/>
          <a:p>
            <a:endParaRPr lang="en-NP"/>
          </a:p>
        </p:txBody>
      </p:sp>
      <p:sp>
        <p:nvSpPr>
          <p:cNvPr id="26" name="Text 24"/>
          <p:cNvSpPr txBox="1"/>
          <p:nvPr/>
        </p:nvSpPr>
        <p:spPr>
          <a:xfrm>
            <a:off x="822960" y="4498848"/>
            <a:ext cx="3657600" cy="237744"/>
          </a:xfrm>
          <a:prstGeom prst="rect">
            <a:avLst/>
          </a:prstGeom>
          <a:noFill/>
          <a:ln/>
        </p:spPr>
        <p:txBody>
          <a:bodyPr wrap="square" lIns="0" tIns="0" rIns="0" bIns="0" rtlCol="0" anchor="ctr"/>
          <a:lstStyle/>
          <a:p>
            <a:pPr marL="0" indent="0">
              <a:buNone/>
            </a:pPr>
            <a:r>
              <a:rPr lang="en-US" sz="1050" b="1" kern="0" spc="160" dirty="0">
                <a:solidFill>
                  <a:srgbClr val="FF6B5E"/>
                </a:solidFill>
                <a:latin typeface="Arial" pitchFamily="34" charset="0"/>
                <a:ea typeface="Arial" pitchFamily="34" charset="-122"/>
                <a:cs typeface="Arial" pitchFamily="34" charset="-120"/>
              </a:rPr>
              <a:t>HOW THEY CONNECT</a:t>
            </a:r>
            <a:endParaRPr lang="en-US" sz="1050" dirty="0"/>
          </a:p>
        </p:txBody>
      </p:sp>
      <p:sp>
        <p:nvSpPr>
          <p:cNvPr id="27" name="Text 25"/>
          <p:cNvSpPr txBox="1"/>
          <p:nvPr/>
        </p:nvSpPr>
        <p:spPr>
          <a:xfrm>
            <a:off x="822960" y="4828032"/>
            <a:ext cx="10515600" cy="777240"/>
          </a:xfrm>
          <a:prstGeom prst="rect">
            <a:avLst/>
          </a:prstGeom>
          <a:noFill/>
          <a:ln/>
        </p:spPr>
        <p:txBody>
          <a:bodyPr wrap="square" lIns="0" tIns="0" rIns="0" bIns="0" rtlCol="0" anchor="ctr"/>
          <a:lstStyle/>
          <a:p>
            <a:pPr marL="0" indent="0">
              <a:lnSpc>
                <a:spcPct val="120000"/>
              </a:lnSpc>
              <a:buNone/>
            </a:pPr>
            <a:r>
              <a:rPr lang="en-US" sz="1450" dirty="0">
                <a:solidFill>
                  <a:srgbClr val="E9EEF7"/>
                </a:solidFill>
                <a:latin typeface="Arial" pitchFamily="34" charset="0"/>
                <a:ea typeface="Arial" pitchFamily="34" charset="-122"/>
                <a:cs typeface="Arial" pitchFamily="34" charset="-120"/>
              </a:rPr>
              <a:t>Guessable ID  →  reads another customer’s invoice  →  response leaks internal account references  →  those references appear in a log endpoint  →  a token in the log belongs to a service account that can read every customer file.</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70A11"/>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FF6B5E"/>
                </a:solidFill>
                <a:latin typeface="Arial" pitchFamily="34" charset="0"/>
                <a:ea typeface="Arial" pitchFamily="34" charset="-122"/>
                <a:cs typeface="Arial" pitchFamily="34" charset="-120"/>
              </a:rPr>
              <a:t>THE WHOLE TALK IN ONE SLIDE</a:t>
            </a:r>
            <a:endParaRPr lang="en-US" sz="1150" dirty="0"/>
          </a:p>
        </p:txBody>
      </p:sp>
      <p:sp>
        <p:nvSpPr>
          <p:cNvPr id="3" name="Shape 1"/>
          <p:cNvSpPr/>
          <p:nvPr/>
        </p:nvSpPr>
        <p:spPr>
          <a:xfrm>
            <a:off x="2011680" y="1371600"/>
            <a:ext cx="8138160" cy="1051560"/>
          </a:xfrm>
          <a:prstGeom prst="roundRect">
            <a:avLst>
              <a:gd name="adj" fmla="val 6957"/>
            </a:avLst>
          </a:prstGeom>
          <a:solidFill>
            <a:srgbClr val="141A26"/>
          </a:solidFill>
          <a:ln w="12700">
            <a:solidFill>
              <a:srgbClr val="4FD68A"/>
            </a:solidFill>
            <a:prstDash val="solid"/>
          </a:ln>
        </p:spPr>
        <p:txBody>
          <a:bodyPr/>
          <a:lstStyle/>
          <a:p>
            <a:endParaRPr lang="en-NP"/>
          </a:p>
        </p:txBody>
      </p:sp>
      <p:sp>
        <p:nvSpPr>
          <p:cNvPr id="4" name="Text 2"/>
          <p:cNvSpPr txBox="1"/>
          <p:nvPr/>
        </p:nvSpPr>
        <p:spPr>
          <a:xfrm>
            <a:off x="2377440" y="1371600"/>
            <a:ext cx="5029200" cy="1051560"/>
          </a:xfrm>
          <a:prstGeom prst="rect">
            <a:avLst/>
          </a:prstGeom>
          <a:noFill/>
          <a:ln/>
        </p:spPr>
        <p:txBody>
          <a:bodyPr wrap="square" lIns="0" tIns="0" rIns="0" bIns="0" rtlCol="0" anchor="ctr"/>
          <a:lstStyle/>
          <a:p>
            <a:pPr marL="0" indent="0">
              <a:buNone/>
            </a:pPr>
            <a:r>
              <a:rPr lang="en-US" sz="2600" b="1" dirty="0">
                <a:solidFill>
                  <a:srgbClr val="E9EEF7"/>
                </a:solidFill>
                <a:latin typeface="Courier New" pitchFamily="34" charset="0"/>
                <a:ea typeface="Courier New" pitchFamily="34" charset="-122"/>
                <a:cs typeface="Courier New" pitchFamily="34" charset="-120"/>
              </a:rPr>
              <a:t>GET  /api/invoices/</a:t>
            </a:r>
            <a:endParaRPr lang="en-US" sz="2600" dirty="0"/>
          </a:p>
        </p:txBody>
      </p:sp>
      <p:sp>
        <p:nvSpPr>
          <p:cNvPr id="5" name="Text 3"/>
          <p:cNvSpPr txBox="1"/>
          <p:nvPr/>
        </p:nvSpPr>
        <p:spPr>
          <a:xfrm>
            <a:off x="6858000" y="1371600"/>
            <a:ext cx="1828800" cy="1051560"/>
          </a:xfrm>
          <a:prstGeom prst="rect">
            <a:avLst/>
          </a:prstGeom>
          <a:noFill/>
          <a:ln/>
        </p:spPr>
        <p:txBody>
          <a:bodyPr wrap="square" lIns="0" tIns="0" rIns="0" bIns="0" rtlCol="0" anchor="ctr"/>
          <a:lstStyle/>
          <a:p>
            <a:pPr marL="0" indent="0">
              <a:buNone/>
            </a:pPr>
            <a:r>
              <a:rPr lang="en-US" sz="3000" b="1" dirty="0">
                <a:solidFill>
                  <a:srgbClr val="4FD68A"/>
                </a:solidFill>
                <a:latin typeface="Courier New" pitchFamily="34" charset="0"/>
                <a:ea typeface="Courier New" pitchFamily="34" charset="-122"/>
                <a:cs typeface="Courier New" pitchFamily="34" charset="-120"/>
              </a:rPr>
              <a:t>1001</a:t>
            </a:r>
            <a:endParaRPr lang="en-US" sz="3000" dirty="0"/>
          </a:p>
        </p:txBody>
      </p:sp>
      <p:sp>
        <p:nvSpPr>
          <p:cNvPr id="6" name="Text 4"/>
          <p:cNvSpPr txBox="1"/>
          <p:nvPr/>
        </p:nvSpPr>
        <p:spPr>
          <a:xfrm>
            <a:off x="8595360" y="1371600"/>
            <a:ext cx="1371600" cy="1051560"/>
          </a:xfrm>
          <a:prstGeom prst="rect">
            <a:avLst/>
          </a:prstGeom>
          <a:noFill/>
          <a:ln/>
        </p:spPr>
        <p:txBody>
          <a:bodyPr wrap="square" lIns="0" tIns="0" rIns="0" bIns="0" rtlCol="0" anchor="ctr"/>
          <a:lstStyle/>
          <a:p>
            <a:pPr marL="0" indent="0" algn="r">
              <a:buNone/>
            </a:pPr>
            <a:r>
              <a:rPr lang="en-US" sz="1500" b="1" dirty="0">
                <a:solidFill>
                  <a:srgbClr val="4FD68A"/>
                </a:solidFill>
                <a:latin typeface="Arial" pitchFamily="34" charset="0"/>
                <a:ea typeface="Arial" pitchFamily="34" charset="-122"/>
                <a:cs typeface="Arial" pitchFamily="34" charset="-120"/>
              </a:rPr>
              <a:t>200 OK</a:t>
            </a:r>
            <a:endParaRPr lang="en-US" sz="1500" dirty="0"/>
          </a:p>
        </p:txBody>
      </p:sp>
      <p:sp>
        <p:nvSpPr>
          <p:cNvPr id="7" name="Shape 5"/>
          <p:cNvSpPr/>
          <p:nvPr/>
        </p:nvSpPr>
        <p:spPr>
          <a:xfrm>
            <a:off x="6016752" y="2542032"/>
            <a:ext cx="146304" cy="182880"/>
          </a:xfrm>
          <a:prstGeom prst="downArrow">
            <a:avLst/>
          </a:prstGeom>
          <a:solidFill>
            <a:srgbClr val="8C97AC"/>
          </a:solidFill>
          <a:ln w="12700">
            <a:solidFill>
              <a:srgbClr val="0B0F17"/>
            </a:solidFill>
            <a:prstDash val="solid"/>
          </a:ln>
        </p:spPr>
        <p:txBody>
          <a:bodyPr/>
          <a:lstStyle/>
          <a:p>
            <a:endParaRPr lang="en-NP"/>
          </a:p>
        </p:txBody>
      </p:sp>
      <p:sp>
        <p:nvSpPr>
          <p:cNvPr id="8" name="Shape 6"/>
          <p:cNvSpPr/>
          <p:nvPr/>
        </p:nvSpPr>
        <p:spPr>
          <a:xfrm>
            <a:off x="2011680" y="2926080"/>
            <a:ext cx="8138160" cy="1051560"/>
          </a:xfrm>
          <a:prstGeom prst="roundRect">
            <a:avLst>
              <a:gd name="adj" fmla="val 6957"/>
            </a:avLst>
          </a:prstGeom>
          <a:solidFill>
            <a:srgbClr val="2A1618"/>
          </a:solidFill>
          <a:ln w="12700">
            <a:solidFill>
              <a:srgbClr val="FF6B5E"/>
            </a:solidFill>
            <a:prstDash val="solid"/>
          </a:ln>
        </p:spPr>
        <p:txBody>
          <a:bodyPr/>
          <a:lstStyle/>
          <a:p>
            <a:endParaRPr lang="en-NP"/>
          </a:p>
        </p:txBody>
      </p:sp>
      <p:sp>
        <p:nvSpPr>
          <p:cNvPr id="9" name="Text 7"/>
          <p:cNvSpPr txBox="1"/>
          <p:nvPr/>
        </p:nvSpPr>
        <p:spPr>
          <a:xfrm>
            <a:off x="2377440" y="2926080"/>
            <a:ext cx="5029200" cy="1051560"/>
          </a:xfrm>
          <a:prstGeom prst="rect">
            <a:avLst/>
          </a:prstGeom>
          <a:noFill/>
          <a:ln/>
        </p:spPr>
        <p:txBody>
          <a:bodyPr wrap="square" lIns="0" tIns="0" rIns="0" bIns="0" rtlCol="0" anchor="ctr"/>
          <a:lstStyle/>
          <a:p>
            <a:pPr marL="0" indent="0">
              <a:buNone/>
            </a:pPr>
            <a:r>
              <a:rPr lang="en-US" sz="2600" b="1" dirty="0">
                <a:solidFill>
                  <a:srgbClr val="E9EEF7"/>
                </a:solidFill>
                <a:latin typeface="Courier New" pitchFamily="34" charset="0"/>
                <a:ea typeface="Courier New" pitchFamily="34" charset="-122"/>
                <a:cs typeface="Courier New" pitchFamily="34" charset="-120"/>
              </a:rPr>
              <a:t>GET  /api/invoices/</a:t>
            </a:r>
            <a:endParaRPr lang="en-US" sz="2600" dirty="0"/>
          </a:p>
        </p:txBody>
      </p:sp>
      <p:sp>
        <p:nvSpPr>
          <p:cNvPr id="10" name="Text 8"/>
          <p:cNvSpPr txBox="1"/>
          <p:nvPr/>
        </p:nvSpPr>
        <p:spPr>
          <a:xfrm>
            <a:off x="6858000" y="2926080"/>
            <a:ext cx="1828800" cy="1051560"/>
          </a:xfrm>
          <a:prstGeom prst="rect">
            <a:avLst/>
          </a:prstGeom>
          <a:noFill/>
          <a:ln/>
        </p:spPr>
        <p:txBody>
          <a:bodyPr wrap="square" lIns="0" tIns="0" rIns="0" bIns="0" rtlCol="0" anchor="ctr"/>
          <a:lstStyle/>
          <a:p>
            <a:pPr marL="0" indent="0">
              <a:buNone/>
            </a:pPr>
            <a:r>
              <a:rPr lang="en-US" sz="3000" b="1" dirty="0">
                <a:solidFill>
                  <a:srgbClr val="FF6B5E"/>
                </a:solidFill>
                <a:latin typeface="Courier New" pitchFamily="34" charset="0"/>
                <a:ea typeface="Courier New" pitchFamily="34" charset="-122"/>
                <a:cs typeface="Courier New" pitchFamily="34" charset="-120"/>
              </a:rPr>
              <a:t>1002</a:t>
            </a:r>
            <a:endParaRPr lang="en-US" sz="3000" dirty="0"/>
          </a:p>
        </p:txBody>
      </p:sp>
      <p:sp>
        <p:nvSpPr>
          <p:cNvPr id="11" name="Text 9"/>
          <p:cNvSpPr txBox="1"/>
          <p:nvPr/>
        </p:nvSpPr>
        <p:spPr>
          <a:xfrm>
            <a:off x="8595360" y="2926080"/>
            <a:ext cx="1371600" cy="1051560"/>
          </a:xfrm>
          <a:prstGeom prst="rect">
            <a:avLst/>
          </a:prstGeom>
          <a:noFill/>
          <a:ln/>
        </p:spPr>
        <p:txBody>
          <a:bodyPr wrap="square" lIns="0" tIns="0" rIns="0" bIns="0" rtlCol="0" anchor="ctr"/>
          <a:lstStyle/>
          <a:p>
            <a:pPr marL="0" indent="0" algn="r">
              <a:buNone/>
            </a:pPr>
            <a:r>
              <a:rPr lang="en-US" sz="1500" b="1" dirty="0">
                <a:solidFill>
                  <a:srgbClr val="FF6B5E"/>
                </a:solidFill>
                <a:latin typeface="Arial" pitchFamily="34" charset="0"/>
                <a:ea typeface="Arial" pitchFamily="34" charset="-122"/>
                <a:cs typeface="Arial" pitchFamily="34" charset="-120"/>
              </a:rPr>
              <a:t>200 OK</a:t>
            </a:r>
            <a:endParaRPr lang="en-US" sz="1500" dirty="0"/>
          </a:p>
        </p:txBody>
      </p:sp>
      <p:sp>
        <p:nvSpPr>
          <p:cNvPr id="12" name="Shape 10"/>
          <p:cNvSpPr/>
          <p:nvPr/>
        </p:nvSpPr>
        <p:spPr>
          <a:xfrm>
            <a:off x="2011680" y="4343400"/>
            <a:ext cx="3931920" cy="1371600"/>
          </a:xfrm>
          <a:prstGeom prst="roundRect">
            <a:avLst>
              <a:gd name="adj" fmla="val 5333"/>
            </a:avLst>
          </a:prstGeom>
          <a:solidFill>
            <a:srgbClr val="141A26"/>
          </a:solidFill>
          <a:ln w="12700">
            <a:solidFill>
              <a:srgbClr val="4CC9F0"/>
            </a:solidFill>
            <a:prstDash val="solid"/>
          </a:ln>
        </p:spPr>
        <p:txBody>
          <a:bodyPr/>
          <a:lstStyle/>
          <a:p>
            <a:endParaRPr lang="en-NP"/>
          </a:p>
        </p:txBody>
      </p:sp>
      <p:sp>
        <p:nvSpPr>
          <p:cNvPr id="13" name="Text 11"/>
          <p:cNvSpPr txBox="1"/>
          <p:nvPr/>
        </p:nvSpPr>
        <p:spPr>
          <a:xfrm>
            <a:off x="2286000" y="4498848"/>
            <a:ext cx="3474720" cy="228600"/>
          </a:xfrm>
          <a:prstGeom prst="rect">
            <a:avLst/>
          </a:prstGeom>
          <a:noFill/>
          <a:ln/>
        </p:spPr>
        <p:txBody>
          <a:bodyPr wrap="square" lIns="0" tIns="0" rIns="0" bIns="0" rtlCol="0" anchor="ctr"/>
          <a:lstStyle/>
          <a:p>
            <a:pPr marL="0" indent="0">
              <a:buNone/>
            </a:pPr>
            <a:r>
              <a:rPr lang="en-US" sz="950" b="1" kern="0" spc="140" dirty="0">
                <a:solidFill>
                  <a:srgbClr val="4CC9F0"/>
                </a:solidFill>
                <a:latin typeface="Arial" pitchFamily="34" charset="0"/>
                <a:ea typeface="Arial" pitchFamily="34" charset="-122"/>
                <a:cs typeface="Arial" pitchFamily="34" charset="-120"/>
              </a:rPr>
              <a:t>WHAT THE DEVELOPER ASSUMED</a:t>
            </a:r>
            <a:endParaRPr lang="en-US" sz="950" dirty="0"/>
          </a:p>
        </p:txBody>
      </p:sp>
      <p:sp>
        <p:nvSpPr>
          <p:cNvPr id="14" name="Text 12"/>
          <p:cNvSpPr txBox="1"/>
          <p:nvPr/>
        </p:nvSpPr>
        <p:spPr>
          <a:xfrm>
            <a:off x="2286000" y="4800600"/>
            <a:ext cx="3474720" cy="731520"/>
          </a:xfrm>
          <a:prstGeom prst="rect">
            <a:avLst/>
          </a:prstGeom>
          <a:noFill/>
          <a:ln/>
        </p:spPr>
        <p:txBody>
          <a:bodyPr wrap="square" lIns="0" tIns="0" rIns="0" bIns="0" rtlCol="0" anchor="ctr"/>
          <a:lstStyle/>
          <a:p>
            <a:pPr marL="0" indent="0">
              <a:lnSpc>
                <a:spcPct val="115000"/>
              </a:lnSpc>
              <a:buNone/>
            </a:pPr>
            <a:r>
              <a:rPr lang="en-US" sz="1450" b="1" dirty="0">
                <a:solidFill>
                  <a:srgbClr val="E9EEF7"/>
                </a:solidFill>
                <a:latin typeface="Arial" pitchFamily="34" charset="0"/>
                <a:ea typeface="Arial" pitchFamily="34" charset="-122"/>
                <a:cs typeface="Arial" pitchFamily="34" charset="-120"/>
              </a:rPr>
              <a:t>"The UI only ever sends</a:t>
            </a:r>
            <a:endParaRPr lang="en-US" sz="1450" dirty="0"/>
          </a:p>
          <a:p>
            <a:pPr marL="0" indent="0">
              <a:lnSpc>
                <a:spcPct val="115000"/>
              </a:lnSpc>
              <a:buNone/>
            </a:pPr>
            <a:r>
              <a:rPr lang="en-US" sz="1450" b="1" dirty="0">
                <a:solidFill>
                  <a:srgbClr val="E9EEF7"/>
                </a:solidFill>
                <a:latin typeface="Arial" pitchFamily="34" charset="0"/>
                <a:ea typeface="Arial" pitchFamily="34" charset="-122"/>
                <a:cs typeface="Arial" pitchFamily="34" charset="-120"/>
              </a:rPr>
              <a:t>IDs the user owns."</a:t>
            </a:r>
            <a:endParaRPr lang="en-US" sz="1450" dirty="0"/>
          </a:p>
        </p:txBody>
      </p:sp>
      <p:sp>
        <p:nvSpPr>
          <p:cNvPr id="15" name="Shape 13"/>
          <p:cNvSpPr/>
          <p:nvPr/>
        </p:nvSpPr>
        <p:spPr>
          <a:xfrm>
            <a:off x="6217920" y="4343400"/>
            <a:ext cx="3931920" cy="1371600"/>
          </a:xfrm>
          <a:prstGeom prst="roundRect">
            <a:avLst>
              <a:gd name="adj" fmla="val 5333"/>
            </a:avLst>
          </a:prstGeom>
          <a:solidFill>
            <a:srgbClr val="141A26"/>
          </a:solidFill>
          <a:ln w="12700">
            <a:solidFill>
              <a:srgbClr val="FF6B5E"/>
            </a:solidFill>
            <a:prstDash val="solid"/>
          </a:ln>
        </p:spPr>
        <p:txBody>
          <a:bodyPr/>
          <a:lstStyle/>
          <a:p>
            <a:endParaRPr lang="en-NP"/>
          </a:p>
        </p:txBody>
      </p:sp>
      <p:sp>
        <p:nvSpPr>
          <p:cNvPr id="16" name="Text 14"/>
          <p:cNvSpPr txBox="1"/>
          <p:nvPr/>
        </p:nvSpPr>
        <p:spPr>
          <a:xfrm>
            <a:off x="6492240" y="4498848"/>
            <a:ext cx="3474720" cy="228600"/>
          </a:xfrm>
          <a:prstGeom prst="rect">
            <a:avLst/>
          </a:prstGeom>
          <a:noFill/>
          <a:ln/>
        </p:spPr>
        <p:txBody>
          <a:bodyPr wrap="square" lIns="0" tIns="0" rIns="0" bIns="0" rtlCol="0" anchor="ctr"/>
          <a:lstStyle/>
          <a:p>
            <a:pPr marL="0" indent="0">
              <a:buNone/>
            </a:pPr>
            <a:r>
              <a:rPr lang="en-US" sz="950" b="1" kern="0" spc="140" dirty="0">
                <a:solidFill>
                  <a:srgbClr val="FF6B5E"/>
                </a:solidFill>
                <a:latin typeface="Arial" pitchFamily="34" charset="0"/>
                <a:ea typeface="Arial" pitchFamily="34" charset="-122"/>
                <a:cs typeface="Arial" pitchFamily="34" charset="-120"/>
              </a:rPr>
              <a:t>WHAT THE ATTACKER DISCOVERED</a:t>
            </a:r>
            <a:endParaRPr lang="en-US" sz="950" dirty="0"/>
          </a:p>
        </p:txBody>
      </p:sp>
      <p:sp>
        <p:nvSpPr>
          <p:cNvPr id="17" name="Text 15"/>
          <p:cNvSpPr txBox="1"/>
          <p:nvPr/>
        </p:nvSpPr>
        <p:spPr>
          <a:xfrm>
            <a:off x="6492240" y="4800600"/>
            <a:ext cx="3474720" cy="731520"/>
          </a:xfrm>
          <a:prstGeom prst="rect">
            <a:avLst/>
          </a:prstGeom>
          <a:noFill/>
          <a:ln/>
        </p:spPr>
        <p:txBody>
          <a:bodyPr wrap="square" lIns="0" tIns="0" rIns="0" bIns="0" rtlCol="0" anchor="ctr"/>
          <a:lstStyle/>
          <a:p>
            <a:pPr marL="0" indent="0">
              <a:lnSpc>
                <a:spcPct val="115000"/>
              </a:lnSpc>
              <a:buNone/>
            </a:pPr>
            <a:r>
              <a:rPr lang="en-US" sz="1450" b="1" dirty="0">
                <a:solidFill>
                  <a:srgbClr val="E9EEF7"/>
                </a:solidFill>
                <a:latin typeface="Arial" pitchFamily="34" charset="0"/>
                <a:ea typeface="Arial" pitchFamily="34" charset="-122"/>
                <a:cs typeface="Arial" pitchFamily="34" charset="-120"/>
              </a:rPr>
              <a:t>"There is no UI.</a:t>
            </a:r>
            <a:endParaRPr lang="en-US" sz="1450" dirty="0"/>
          </a:p>
          <a:p>
            <a:pPr marL="0" indent="0">
              <a:lnSpc>
                <a:spcPct val="115000"/>
              </a:lnSpc>
              <a:buNone/>
            </a:pPr>
            <a:r>
              <a:rPr lang="en-US" sz="1450" b="1" dirty="0">
                <a:solidFill>
                  <a:srgbClr val="E9EEF7"/>
                </a:solidFill>
                <a:latin typeface="Arial" pitchFamily="34" charset="0"/>
                <a:ea typeface="Arial" pitchFamily="34" charset="-122"/>
                <a:cs typeface="Arial" pitchFamily="34" charset="-120"/>
              </a:rPr>
              <a:t>There is only HTTP."</a:t>
            </a:r>
            <a:endParaRPr lang="en-US" sz="1450" dirty="0"/>
          </a:p>
        </p:txBody>
      </p:sp>
      <p:sp>
        <p:nvSpPr>
          <p:cNvPr id="18" name="Text 16"/>
          <p:cNvSpPr txBox="1"/>
          <p:nvPr/>
        </p:nvSpPr>
        <p:spPr>
          <a:xfrm>
            <a:off x="548640" y="5943600"/>
            <a:ext cx="11091672" cy="365760"/>
          </a:xfrm>
          <a:prstGeom prst="rect">
            <a:avLst/>
          </a:prstGeom>
          <a:noFill/>
          <a:ln/>
        </p:spPr>
        <p:txBody>
          <a:bodyPr wrap="square" lIns="0" tIns="0" rIns="0" bIns="0" rtlCol="0" anchor="ctr"/>
          <a:lstStyle/>
          <a:p>
            <a:pPr marL="0" indent="0" algn="ctr">
              <a:buNone/>
            </a:pPr>
            <a:r>
              <a:rPr lang="en-US" sz="1400" i="1" dirty="0">
                <a:solidFill>
                  <a:srgbClr val="8C97AC"/>
                </a:solidFill>
                <a:latin typeface="Arial" pitchFamily="34" charset="0"/>
                <a:ea typeface="Arial" pitchFamily="34" charset="-122"/>
                <a:cs typeface="Arial" pitchFamily="34" charset="-120"/>
              </a:rPr>
              <a:t>One character changed. No exploit. No tooling. Just a question your app never learned to answer.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B0F17"/>
        </a:solidFill>
        <a:effectLst/>
      </p:bgPr>
    </p:bg>
    <p:spTree>
      <p:nvGrpSpPr>
        <p:cNvPr id="1" name=""/>
        <p:cNvGrpSpPr/>
        <p:nvPr/>
      </p:nvGrpSpPr>
      <p:grpSpPr>
        <a:xfrm>
          <a:off x="0" y="0"/>
          <a:ext cx="0" cy="0"/>
          <a:chOff x="0" y="0"/>
          <a:chExt cx="0" cy="0"/>
        </a:xfrm>
      </p:grpSpPr>
      <p:sp>
        <p:nvSpPr>
          <p:cNvPr id="3" name="Text 1"/>
          <p:cNvSpPr txBox="1"/>
          <p:nvPr/>
        </p:nvSpPr>
        <p:spPr>
          <a:xfrm>
            <a:off x="548640" y="510815"/>
            <a:ext cx="11091672" cy="685800"/>
          </a:xfrm>
          <a:prstGeom prst="rect">
            <a:avLst/>
          </a:prstGeom>
          <a:noFill/>
          <a:ln/>
        </p:spPr>
        <p:txBody>
          <a:bodyPr wrap="square" lIns="0" tIns="0" rIns="0" bIns="0" rtlCol="0" anchor="ctr"/>
          <a:lstStyle/>
          <a:p>
            <a:pPr marL="0" indent="0">
              <a:lnSpc>
                <a:spcPct val="100000"/>
              </a:lnSpc>
              <a:buNone/>
            </a:pPr>
            <a:r>
              <a:rPr lang="en-US" sz="3000" b="1" dirty="0">
                <a:solidFill>
                  <a:srgbClr val="E9EEF7"/>
                </a:solidFill>
                <a:latin typeface="Arial" pitchFamily="34" charset="0"/>
                <a:ea typeface="Arial" pitchFamily="34" charset="-122"/>
                <a:cs typeface="Arial" pitchFamily="34" charset="-120"/>
              </a:rPr>
              <a:t>The Ticket That Never Gets Picked Up</a:t>
            </a:r>
            <a:endParaRPr lang="en-US" sz="3000" dirty="0"/>
          </a:p>
        </p:txBody>
      </p:sp>
      <p:sp>
        <p:nvSpPr>
          <p:cNvPr id="9" name="Text 7"/>
          <p:cNvSpPr txBox="1"/>
          <p:nvPr/>
        </p:nvSpPr>
        <p:spPr>
          <a:xfrm>
            <a:off x="548640" y="5897880"/>
            <a:ext cx="11091672" cy="365760"/>
          </a:xfrm>
          <a:prstGeom prst="rect">
            <a:avLst/>
          </a:prstGeom>
          <a:noFill/>
          <a:ln/>
        </p:spPr>
        <p:txBody>
          <a:bodyPr wrap="square" lIns="0" tIns="0" rIns="0" bIns="0" rtlCol="0" anchor="ctr"/>
          <a:lstStyle/>
          <a:p>
            <a:pPr marL="0" indent="0" algn="ctr">
              <a:buNone/>
            </a:pPr>
            <a:r>
              <a:rPr lang="en-US" sz="1400" i="1" dirty="0">
                <a:solidFill>
                  <a:srgbClr val="C9B6FF"/>
                </a:solidFill>
                <a:latin typeface="Arial" pitchFamily="34" charset="0"/>
                <a:ea typeface="Arial" pitchFamily="34" charset="-122"/>
                <a:cs typeface="Arial" pitchFamily="34" charset="-120"/>
              </a:rPr>
              <a:t>Nobody schedules the breach. It schedules itself.</a:t>
            </a:r>
            <a:endParaRPr lang="en-US" sz="1400" dirty="0"/>
          </a:p>
        </p:txBody>
      </p:sp>
      <p:pic>
        <p:nvPicPr>
          <p:cNvPr id="18" name="Picture 17">
            <a:extLst>
              <a:ext uri="{FF2B5EF4-FFF2-40B4-BE49-F238E27FC236}">
                <a16:creationId xmlns:a16="http://schemas.microsoft.com/office/drawing/2014/main" id="{B54CB6F0-94D6-81D9-ED03-5ADB392EBACA}"/>
              </a:ext>
            </a:extLst>
          </p:cNvPr>
          <p:cNvPicPr>
            <a:picLocks noChangeAspect="1"/>
          </p:cNvPicPr>
          <p:nvPr/>
        </p:nvPicPr>
        <p:blipFill>
          <a:blip r:embed="rId3"/>
          <a:stretch>
            <a:fillRect/>
          </a:stretch>
        </p:blipFill>
        <p:spPr>
          <a:xfrm>
            <a:off x="2621543" y="1416743"/>
            <a:ext cx="6543398" cy="43622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FFA33A"/>
                </a:solidFill>
                <a:latin typeface="Arial" pitchFamily="34" charset="0"/>
                <a:ea typeface="Arial" pitchFamily="34" charset="-122"/>
                <a:cs typeface="Arial" pitchFamily="34" charset="-120"/>
              </a:rPr>
              <a:t>QUIZ #2 </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400" b="1" dirty="0">
                <a:solidFill>
                  <a:srgbClr val="E9EEF7"/>
                </a:solidFill>
                <a:latin typeface="Arial" pitchFamily="34" charset="0"/>
                <a:ea typeface="Arial" pitchFamily="34" charset="-122"/>
                <a:cs typeface="Arial" pitchFamily="34" charset="-120"/>
              </a:rPr>
              <a:t>How Bad Is This?</a:t>
            </a:r>
            <a:endParaRPr lang="en-US" sz="3400" dirty="0"/>
          </a:p>
        </p:txBody>
      </p:sp>
      <p:sp>
        <p:nvSpPr>
          <p:cNvPr id="4" name="Shape 2"/>
          <p:cNvSpPr/>
          <p:nvPr/>
        </p:nvSpPr>
        <p:spPr>
          <a:xfrm>
            <a:off x="548640" y="1600200"/>
            <a:ext cx="11091672" cy="868680"/>
          </a:xfrm>
          <a:prstGeom prst="roundRect">
            <a:avLst>
              <a:gd name="adj" fmla="val 8421"/>
            </a:avLst>
          </a:prstGeom>
          <a:solidFill>
            <a:srgbClr val="141A26"/>
          </a:solidFill>
          <a:ln w="12700">
            <a:solidFill>
              <a:srgbClr val="2A3446"/>
            </a:solidFill>
            <a:prstDash val="solid"/>
          </a:ln>
        </p:spPr>
        <p:txBody>
          <a:bodyPr/>
          <a:lstStyle/>
          <a:p>
            <a:endParaRPr lang="en-NP"/>
          </a:p>
        </p:txBody>
      </p:sp>
      <p:sp>
        <p:nvSpPr>
          <p:cNvPr id="5" name="Text 3"/>
          <p:cNvSpPr txBox="1"/>
          <p:nvPr/>
        </p:nvSpPr>
        <p:spPr>
          <a:xfrm>
            <a:off x="822960" y="1600200"/>
            <a:ext cx="10515600" cy="868680"/>
          </a:xfrm>
          <a:prstGeom prst="rect">
            <a:avLst/>
          </a:prstGeom>
          <a:noFill/>
          <a:ln/>
        </p:spPr>
        <p:txBody>
          <a:bodyPr wrap="square" lIns="0" tIns="0" rIns="0" bIns="0" rtlCol="0" anchor="ctr"/>
          <a:lstStyle/>
          <a:p>
            <a:pPr marL="0" indent="0">
              <a:buNone/>
            </a:pPr>
            <a:r>
              <a:rPr lang="en-US" sz="1700" b="1" dirty="0">
                <a:solidFill>
                  <a:srgbClr val="E9EEF7"/>
                </a:solidFill>
                <a:latin typeface="Arial" pitchFamily="34" charset="0"/>
                <a:ea typeface="Arial" pitchFamily="34" charset="-122"/>
                <a:cs typeface="Arial" pitchFamily="34" charset="-120"/>
              </a:rPr>
              <a:t>An authenticated user can retrieve another user’s invoice by changing one ID in the URL.</a:t>
            </a:r>
            <a:endParaRPr lang="en-US" sz="1700" dirty="0"/>
          </a:p>
        </p:txBody>
      </p:sp>
      <p:sp>
        <p:nvSpPr>
          <p:cNvPr id="6" name="Shape 4"/>
          <p:cNvSpPr/>
          <p:nvPr/>
        </p:nvSpPr>
        <p:spPr>
          <a:xfrm>
            <a:off x="548640" y="2697480"/>
            <a:ext cx="2651760" cy="1051560"/>
          </a:xfrm>
          <a:prstGeom prst="roundRect">
            <a:avLst>
              <a:gd name="adj" fmla="val 6957"/>
            </a:avLst>
          </a:prstGeom>
          <a:solidFill>
            <a:srgbClr val="1A2130"/>
          </a:solidFill>
          <a:ln w="12700">
            <a:solidFill>
              <a:srgbClr val="4FD68A"/>
            </a:solidFill>
            <a:prstDash val="solid"/>
          </a:ln>
        </p:spPr>
        <p:txBody>
          <a:bodyPr/>
          <a:lstStyle/>
          <a:p>
            <a:endParaRPr lang="en-NP"/>
          </a:p>
        </p:txBody>
      </p:sp>
      <p:sp>
        <p:nvSpPr>
          <p:cNvPr id="7" name="Shape 5"/>
          <p:cNvSpPr/>
          <p:nvPr/>
        </p:nvSpPr>
        <p:spPr>
          <a:xfrm>
            <a:off x="777240" y="3017520"/>
            <a:ext cx="411480" cy="411480"/>
          </a:xfrm>
          <a:prstGeom prst="roundRect">
            <a:avLst>
              <a:gd name="adj" fmla="val 111111"/>
            </a:avLst>
          </a:prstGeom>
          <a:solidFill>
            <a:srgbClr val="4FD68A"/>
          </a:solidFill>
          <a:ln w="12700">
            <a:solidFill>
              <a:srgbClr val="0B0F17"/>
            </a:solidFill>
            <a:prstDash val="solid"/>
          </a:ln>
        </p:spPr>
        <p:txBody>
          <a:bodyPr/>
          <a:lstStyle/>
          <a:p>
            <a:endParaRPr lang="en-NP"/>
          </a:p>
        </p:txBody>
      </p:sp>
      <p:sp>
        <p:nvSpPr>
          <p:cNvPr id="8" name="Text 6"/>
          <p:cNvSpPr txBox="1"/>
          <p:nvPr/>
        </p:nvSpPr>
        <p:spPr>
          <a:xfrm>
            <a:off x="777240" y="3017520"/>
            <a:ext cx="411480" cy="411480"/>
          </a:xfrm>
          <a:prstGeom prst="rect">
            <a:avLst/>
          </a:prstGeom>
          <a:noFill/>
          <a:ln/>
        </p:spPr>
        <p:txBody>
          <a:bodyPr wrap="square" lIns="0" tIns="0" rIns="0" bIns="0" rtlCol="0" anchor="ctr"/>
          <a:lstStyle/>
          <a:p>
            <a:pPr marL="0" indent="0" algn="ctr">
              <a:buNone/>
            </a:pPr>
            <a:r>
              <a:rPr lang="en-US" sz="1500" b="1" dirty="0">
                <a:solidFill>
                  <a:srgbClr val="0B0F17"/>
                </a:solidFill>
                <a:latin typeface="Arial" pitchFamily="34" charset="0"/>
                <a:ea typeface="Arial" pitchFamily="34" charset="-122"/>
                <a:cs typeface="Arial" pitchFamily="34" charset="-120"/>
              </a:rPr>
              <a:t>A</a:t>
            </a:r>
            <a:endParaRPr lang="en-US" sz="1500" dirty="0"/>
          </a:p>
        </p:txBody>
      </p:sp>
      <p:sp>
        <p:nvSpPr>
          <p:cNvPr id="9" name="Text 7"/>
          <p:cNvSpPr txBox="1"/>
          <p:nvPr/>
        </p:nvSpPr>
        <p:spPr>
          <a:xfrm>
            <a:off x="1325880" y="2697480"/>
            <a:ext cx="1737360" cy="1051560"/>
          </a:xfrm>
          <a:prstGeom prst="rect">
            <a:avLst/>
          </a:prstGeom>
          <a:noFill/>
          <a:ln/>
        </p:spPr>
        <p:txBody>
          <a:bodyPr wrap="square" lIns="0" tIns="0" rIns="0" bIns="0" rtlCol="0" anchor="ctr"/>
          <a:lstStyle/>
          <a:p>
            <a:pPr marL="0" indent="0">
              <a:buNone/>
            </a:pPr>
            <a:r>
              <a:rPr lang="en-US" sz="1900" b="1" dirty="0">
                <a:solidFill>
                  <a:srgbClr val="E9EEF7"/>
                </a:solidFill>
                <a:latin typeface="Arial" pitchFamily="34" charset="0"/>
                <a:ea typeface="Arial" pitchFamily="34" charset="-122"/>
                <a:cs typeface="Arial" pitchFamily="34" charset="-120"/>
              </a:rPr>
              <a:t>Low</a:t>
            </a:r>
            <a:endParaRPr lang="en-US" sz="1900" dirty="0"/>
          </a:p>
        </p:txBody>
      </p:sp>
      <p:sp>
        <p:nvSpPr>
          <p:cNvPr id="10" name="Shape 8"/>
          <p:cNvSpPr/>
          <p:nvPr/>
        </p:nvSpPr>
        <p:spPr>
          <a:xfrm>
            <a:off x="3364992" y="2697480"/>
            <a:ext cx="2651760" cy="1051560"/>
          </a:xfrm>
          <a:prstGeom prst="roundRect">
            <a:avLst>
              <a:gd name="adj" fmla="val 6957"/>
            </a:avLst>
          </a:prstGeom>
          <a:solidFill>
            <a:srgbClr val="1A2130"/>
          </a:solidFill>
          <a:ln w="12700">
            <a:solidFill>
              <a:srgbClr val="FFC15E"/>
            </a:solidFill>
            <a:prstDash val="solid"/>
          </a:ln>
        </p:spPr>
        <p:txBody>
          <a:bodyPr/>
          <a:lstStyle/>
          <a:p>
            <a:endParaRPr lang="en-NP"/>
          </a:p>
        </p:txBody>
      </p:sp>
      <p:sp>
        <p:nvSpPr>
          <p:cNvPr id="11" name="Shape 9"/>
          <p:cNvSpPr/>
          <p:nvPr/>
        </p:nvSpPr>
        <p:spPr>
          <a:xfrm>
            <a:off x="3593592" y="3017520"/>
            <a:ext cx="411480" cy="411480"/>
          </a:xfrm>
          <a:prstGeom prst="roundRect">
            <a:avLst>
              <a:gd name="adj" fmla="val 111111"/>
            </a:avLst>
          </a:prstGeom>
          <a:solidFill>
            <a:srgbClr val="FFC15E"/>
          </a:solidFill>
          <a:ln w="12700">
            <a:solidFill>
              <a:srgbClr val="0B0F17"/>
            </a:solidFill>
            <a:prstDash val="solid"/>
          </a:ln>
        </p:spPr>
        <p:txBody>
          <a:bodyPr/>
          <a:lstStyle/>
          <a:p>
            <a:endParaRPr lang="en-NP"/>
          </a:p>
        </p:txBody>
      </p:sp>
      <p:sp>
        <p:nvSpPr>
          <p:cNvPr id="12" name="Text 10"/>
          <p:cNvSpPr txBox="1"/>
          <p:nvPr/>
        </p:nvSpPr>
        <p:spPr>
          <a:xfrm>
            <a:off x="3593592" y="3017520"/>
            <a:ext cx="411480" cy="411480"/>
          </a:xfrm>
          <a:prstGeom prst="rect">
            <a:avLst/>
          </a:prstGeom>
          <a:noFill/>
          <a:ln/>
        </p:spPr>
        <p:txBody>
          <a:bodyPr wrap="square" lIns="0" tIns="0" rIns="0" bIns="0" rtlCol="0" anchor="ctr"/>
          <a:lstStyle/>
          <a:p>
            <a:pPr marL="0" indent="0" algn="ctr">
              <a:buNone/>
            </a:pPr>
            <a:r>
              <a:rPr lang="en-US" sz="1500" b="1" dirty="0">
                <a:solidFill>
                  <a:srgbClr val="0B0F17"/>
                </a:solidFill>
                <a:latin typeface="Arial" pitchFamily="34" charset="0"/>
                <a:ea typeface="Arial" pitchFamily="34" charset="-122"/>
                <a:cs typeface="Arial" pitchFamily="34" charset="-120"/>
              </a:rPr>
              <a:t>B</a:t>
            </a:r>
            <a:endParaRPr lang="en-US" sz="1500" dirty="0"/>
          </a:p>
        </p:txBody>
      </p:sp>
      <p:sp>
        <p:nvSpPr>
          <p:cNvPr id="13" name="Text 11"/>
          <p:cNvSpPr txBox="1"/>
          <p:nvPr/>
        </p:nvSpPr>
        <p:spPr>
          <a:xfrm>
            <a:off x="4142232" y="2697480"/>
            <a:ext cx="1737360" cy="1051560"/>
          </a:xfrm>
          <a:prstGeom prst="rect">
            <a:avLst/>
          </a:prstGeom>
          <a:noFill/>
          <a:ln/>
        </p:spPr>
        <p:txBody>
          <a:bodyPr wrap="square" lIns="0" tIns="0" rIns="0" bIns="0" rtlCol="0" anchor="ctr"/>
          <a:lstStyle/>
          <a:p>
            <a:pPr marL="0" indent="0">
              <a:buNone/>
            </a:pPr>
            <a:r>
              <a:rPr lang="en-US" sz="1900" b="1" dirty="0">
                <a:solidFill>
                  <a:srgbClr val="E9EEF7"/>
                </a:solidFill>
                <a:latin typeface="Arial" pitchFamily="34" charset="0"/>
                <a:ea typeface="Arial" pitchFamily="34" charset="-122"/>
                <a:cs typeface="Arial" pitchFamily="34" charset="-120"/>
              </a:rPr>
              <a:t>Medium</a:t>
            </a:r>
            <a:endParaRPr lang="en-US" sz="1900" dirty="0"/>
          </a:p>
        </p:txBody>
      </p:sp>
      <p:sp>
        <p:nvSpPr>
          <p:cNvPr id="14" name="Shape 12"/>
          <p:cNvSpPr/>
          <p:nvPr/>
        </p:nvSpPr>
        <p:spPr>
          <a:xfrm>
            <a:off x="6181344" y="2697480"/>
            <a:ext cx="2651760" cy="1051560"/>
          </a:xfrm>
          <a:prstGeom prst="roundRect">
            <a:avLst>
              <a:gd name="adj" fmla="val 6957"/>
            </a:avLst>
          </a:prstGeom>
          <a:solidFill>
            <a:srgbClr val="1A2130"/>
          </a:solidFill>
          <a:ln w="12700">
            <a:solidFill>
              <a:srgbClr val="FFA33A"/>
            </a:solidFill>
            <a:prstDash val="solid"/>
          </a:ln>
        </p:spPr>
        <p:txBody>
          <a:bodyPr/>
          <a:lstStyle/>
          <a:p>
            <a:endParaRPr lang="en-NP"/>
          </a:p>
        </p:txBody>
      </p:sp>
      <p:sp>
        <p:nvSpPr>
          <p:cNvPr id="15" name="Shape 13"/>
          <p:cNvSpPr/>
          <p:nvPr/>
        </p:nvSpPr>
        <p:spPr>
          <a:xfrm>
            <a:off x="6409944" y="3017520"/>
            <a:ext cx="411480" cy="411480"/>
          </a:xfrm>
          <a:prstGeom prst="roundRect">
            <a:avLst>
              <a:gd name="adj" fmla="val 111111"/>
            </a:avLst>
          </a:prstGeom>
          <a:solidFill>
            <a:srgbClr val="FFA33A"/>
          </a:solidFill>
          <a:ln w="12700">
            <a:solidFill>
              <a:srgbClr val="0B0F17"/>
            </a:solidFill>
            <a:prstDash val="solid"/>
          </a:ln>
        </p:spPr>
        <p:txBody>
          <a:bodyPr/>
          <a:lstStyle/>
          <a:p>
            <a:endParaRPr lang="en-NP"/>
          </a:p>
        </p:txBody>
      </p:sp>
      <p:sp>
        <p:nvSpPr>
          <p:cNvPr id="16" name="Text 14"/>
          <p:cNvSpPr txBox="1"/>
          <p:nvPr/>
        </p:nvSpPr>
        <p:spPr>
          <a:xfrm>
            <a:off x="6409944" y="3017520"/>
            <a:ext cx="411480" cy="411480"/>
          </a:xfrm>
          <a:prstGeom prst="rect">
            <a:avLst/>
          </a:prstGeom>
          <a:noFill/>
          <a:ln/>
        </p:spPr>
        <p:txBody>
          <a:bodyPr wrap="square" lIns="0" tIns="0" rIns="0" bIns="0" rtlCol="0" anchor="ctr"/>
          <a:lstStyle/>
          <a:p>
            <a:pPr marL="0" indent="0" algn="ctr">
              <a:buNone/>
            </a:pPr>
            <a:r>
              <a:rPr lang="en-US" sz="1500" b="1" dirty="0">
                <a:solidFill>
                  <a:srgbClr val="0B0F17"/>
                </a:solidFill>
                <a:latin typeface="Arial" pitchFamily="34" charset="0"/>
                <a:ea typeface="Arial" pitchFamily="34" charset="-122"/>
                <a:cs typeface="Arial" pitchFamily="34" charset="-120"/>
              </a:rPr>
              <a:t>C</a:t>
            </a:r>
            <a:endParaRPr lang="en-US" sz="1500" dirty="0"/>
          </a:p>
        </p:txBody>
      </p:sp>
      <p:sp>
        <p:nvSpPr>
          <p:cNvPr id="17" name="Text 15"/>
          <p:cNvSpPr txBox="1"/>
          <p:nvPr/>
        </p:nvSpPr>
        <p:spPr>
          <a:xfrm>
            <a:off x="6958584" y="2697480"/>
            <a:ext cx="1737360" cy="1051560"/>
          </a:xfrm>
          <a:prstGeom prst="rect">
            <a:avLst/>
          </a:prstGeom>
          <a:noFill/>
          <a:ln/>
        </p:spPr>
        <p:txBody>
          <a:bodyPr wrap="square" lIns="0" tIns="0" rIns="0" bIns="0" rtlCol="0" anchor="ctr"/>
          <a:lstStyle/>
          <a:p>
            <a:pPr marL="0" indent="0">
              <a:buNone/>
            </a:pPr>
            <a:r>
              <a:rPr lang="en-US" sz="1900" b="1" dirty="0">
                <a:solidFill>
                  <a:srgbClr val="E9EEF7"/>
                </a:solidFill>
                <a:latin typeface="Arial" pitchFamily="34" charset="0"/>
                <a:ea typeface="Arial" pitchFamily="34" charset="-122"/>
                <a:cs typeface="Arial" pitchFamily="34" charset="-120"/>
              </a:rPr>
              <a:t>High</a:t>
            </a:r>
            <a:endParaRPr lang="en-US" sz="1900" dirty="0"/>
          </a:p>
        </p:txBody>
      </p:sp>
      <p:sp>
        <p:nvSpPr>
          <p:cNvPr id="18" name="Shape 16"/>
          <p:cNvSpPr/>
          <p:nvPr/>
        </p:nvSpPr>
        <p:spPr>
          <a:xfrm>
            <a:off x="8997696" y="2697480"/>
            <a:ext cx="2651760" cy="1051560"/>
          </a:xfrm>
          <a:prstGeom prst="roundRect">
            <a:avLst>
              <a:gd name="adj" fmla="val 6957"/>
            </a:avLst>
          </a:prstGeom>
          <a:solidFill>
            <a:srgbClr val="1A2130"/>
          </a:solidFill>
          <a:ln w="12700">
            <a:solidFill>
              <a:srgbClr val="FF6B5E"/>
            </a:solidFill>
            <a:prstDash val="solid"/>
          </a:ln>
        </p:spPr>
        <p:txBody>
          <a:bodyPr/>
          <a:lstStyle/>
          <a:p>
            <a:endParaRPr lang="en-NP"/>
          </a:p>
        </p:txBody>
      </p:sp>
      <p:sp>
        <p:nvSpPr>
          <p:cNvPr id="19" name="Shape 17"/>
          <p:cNvSpPr/>
          <p:nvPr/>
        </p:nvSpPr>
        <p:spPr>
          <a:xfrm>
            <a:off x="9226296" y="3017520"/>
            <a:ext cx="411480" cy="411480"/>
          </a:xfrm>
          <a:prstGeom prst="roundRect">
            <a:avLst>
              <a:gd name="adj" fmla="val 111111"/>
            </a:avLst>
          </a:prstGeom>
          <a:solidFill>
            <a:srgbClr val="FF6B5E"/>
          </a:solidFill>
          <a:ln w="12700">
            <a:solidFill>
              <a:srgbClr val="0B0F17"/>
            </a:solidFill>
            <a:prstDash val="solid"/>
          </a:ln>
        </p:spPr>
        <p:txBody>
          <a:bodyPr/>
          <a:lstStyle/>
          <a:p>
            <a:endParaRPr lang="en-NP"/>
          </a:p>
        </p:txBody>
      </p:sp>
      <p:sp>
        <p:nvSpPr>
          <p:cNvPr id="20" name="Text 18"/>
          <p:cNvSpPr txBox="1"/>
          <p:nvPr/>
        </p:nvSpPr>
        <p:spPr>
          <a:xfrm>
            <a:off x="9226296" y="3017520"/>
            <a:ext cx="411480" cy="411480"/>
          </a:xfrm>
          <a:prstGeom prst="rect">
            <a:avLst/>
          </a:prstGeom>
          <a:noFill/>
          <a:ln/>
        </p:spPr>
        <p:txBody>
          <a:bodyPr wrap="square" lIns="0" tIns="0" rIns="0" bIns="0" rtlCol="0" anchor="ctr"/>
          <a:lstStyle/>
          <a:p>
            <a:pPr marL="0" indent="0" algn="ctr">
              <a:buNone/>
            </a:pPr>
            <a:r>
              <a:rPr lang="en-US" sz="1500" b="1" dirty="0">
                <a:solidFill>
                  <a:srgbClr val="0B0F17"/>
                </a:solidFill>
                <a:latin typeface="Arial" pitchFamily="34" charset="0"/>
                <a:ea typeface="Arial" pitchFamily="34" charset="-122"/>
                <a:cs typeface="Arial" pitchFamily="34" charset="-120"/>
              </a:rPr>
              <a:t>D</a:t>
            </a:r>
            <a:endParaRPr lang="en-US" sz="1500" dirty="0"/>
          </a:p>
        </p:txBody>
      </p:sp>
      <p:sp>
        <p:nvSpPr>
          <p:cNvPr id="21" name="Text 19"/>
          <p:cNvSpPr txBox="1"/>
          <p:nvPr/>
        </p:nvSpPr>
        <p:spPr>
          <a:xfrm>
            <a:off x="9774936" y="2697480"/>
            <a:ext cx="1737360" cy="1051560"/>
          </a:xfrm>
          <a:prstGeom prst="rect">
            <a:avLst/>
          </a:prstGeom>
          <a:noFill/>
          <a:ln/>
        </p:spPr>
        <p:txBody>
          <a:bodyPr wrap="square" lIns="0" tIns="0" rIns="0" bIns="0" rtlCol="0" anchor="ctr"/>
          <a:lstStyle/>
          <a:p>
            <a:pPr marL="0" indent="0">
              <a:buNone/>
            </a:pPr>
            <a:r>
              <a:rPr lang="en-US" sz="1900" b="1" dirty="0">
                <a:solidFill>
                  <a:srgbClr val="E9EEF7"/>
                </a:solidFill>
                <a:latin typeface="Arial" pitchFamily="34" charset="0"/>
                <a:ea typeface="Arial" pitchFamily="34" charset="-122"/>
                <a:cs typeface="Arial" pitchFamily="34" charset="-120"/>
              </a:rPr>
              <a:t>Critical</a:t>
            </a:r>
            <a:endParaRPr lang="en-US" sz="1900" dirty="0"/>
          </a:p>
        </p:txBody>
      </p:sp>
      <p:sp>
        <p:nvSpPr>
          <p:cNvPr id="22" name="Text 20"/>
          <p:cNvSpPr txBox="1"/>
          <p:nvPr/>
        </p:nvSpPr>
        <p:spPr>
          <a:xfrm>
            <a:off x="548640" y="3977640"/>
            <a:ext cx="11091672" cy="320040"/>
          </a:xfrm>
          <a:prstGeom prst="rect">
            <a:avLst/>
          </a:prstGeom>
          <a:noFill/>
          <a:ln/>
        </p:spPr>
        <p:txBody>
          <a:bodyPr wrap="square" lIns="0" tIns="0" rIns="0" bIns="0" rtlCol="0" anchor="ctr"/>
          <a:lstStyle/>
          <a:p>
            <a:pPr marL="0" indent="0">
              <a:buNone/>
            </a:pPr>
            <a:r>
              <a:rPr lang="en-US" sz="1500" b="1" dirty="0">
                <a:solidFill>
                  <a:srgbClr val="9A6BFF"/>
                </a:solidFill>
                <a:latin typeface="Arial" pitchFamily="34" charset="0"/>
                <a:ea typeface="Arial" pitchFamily="34" charset="-122"/>
                <a:cs typeface="Arial" pitchFamily="34" charset="-120"/>
              </a:rPr>
              <a:t>THE ANSWER: it depends — and that is not a cop-out.</a:t>
            </a:r>
            <a:endParaRPr lang="en-US" sz="1500" dirty="0"/>
          </a:p>
        </p:txBody>
      </p:sp>
      <p:sp>
        <p:nvSpPr>
          <p:cNvPr id="23" name="Shape 21"/>
          <p:cNvSpPr/>
          <p:nvPr/>
        </p:nvSpPr>
        <p:spPr>
          <a:xfrm>
            <a:off x="548640" y="4434840"/>
            <a:ext cx="3685032" cy="530352"/>
          </a:xfrm>
          <a:prstGeom prst="roundRect">
            <a:avLst>
              <a:gd name="adj" fmla="val 13793"/>
            </a:avLst>
          </a:prstGeom>
          <a:solidFill>
            <a:srgbClr val="141A26"/>
          </a:solidFill>
          <a:ln w="12700">
            <a:solidFill>
              <a:srgbClr val="2A3446"/>
            </a:solidFill>
            <a:prstDash val="solid"/>
          </a:ln>
        </p:spPr>
        <p:txBody>
          <a:bodyPr/>
          <a:lstStyle/>
          <a:p>
            <a:endParaRPr lang="en-NP"/>
          </a:p>
        </p:txBody>
      </p:sp>
      <p:sp>
        <p:nvSpPr>
          <p:cNvPr id="24" name="Shape 22"/>
          <p:cNvSpPr/>
          <p:nvPr/>
        </p:nvSpPr>
        <p:spPr>
          <a:xfrm>
            <a:off x="731520" y="4640580"/>
            <a:ext cx="118872" cy="118872"/>
          </a:xfrm>
          <a:prstGeom prst="ellipse">
            <a:avLst/>
          </a:prstGeom>
          <a:solidFill>
            <a:srgbClr val="9A6BFF"/>
          </a:solidFill>
          <a:ln w="12700">
            <a:solidFill>
              <a:srgbClr val="9A6BFF"/>
            </a:solidFill>
            <a:prstDash val="solid"/>
          </a:ln>
        </p:spPr>
        <p:txBody>
          <a:bodyPr/>
          <a:lstStyle/>
          <a:p>
            <a:endParaRPr lang="en-NP"/>
          </a:p>
        </p:txBody>
      </p:sp>
      <p:sp>
        <p:nvSpPr>
          <p:cNvPr id="25" name="Text 23"/>
          <p:cNvSpPr txBox="1"/>
          <p:nvPr/>
        </p:nvSpPr>
        <p:spPr>
          <a:xfrm>
            <a:off x="960120" y="4434840"/>
            <a:ext cx="3136392" cy="530352"/>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Data sensitivity</a:t>
            </a:r>
            <a:endParaRPr lang="en-US" sz="1250" dirty="0"/>
          </a:p>
        </p:txBody>
      </p:sp>
      <p:sp>
        <p:nvSpPr>
          <p:cNvPr id="26" name="Shape 24"/>
          <p:cNvSpPr/>
          <p:nvPr/>
        </p:nvSpPr>
        <p:spPr>
          <a:xfrm>
            <a:off x="4251960" y="4434840"/>
            <a:ext cx="3685032" cy="530352"/>
          </a:xfrm>
          <a:prstGeom prst="roundRect">
            <a:avLst>
              <a:gd name="adj" fmla="val 13793"/>
            </a:avLst>
          </a:prstGeom>
          <a:solidFill>
            <a:srgbClr val="141A26"/>
          </a:solidFill>
          <a:ln w="12700">
            <a:solidFill>
              <a:srgbClr val="2A3446"/>
            </a:solidFill>
            <a:prstDash val="solid"/>
          </a:ln>
        </p:spPr>
        <p:txBody>
          <a:bodyPr/>
          <a:lstStyle/>
          <a:p>
            <a:endParaRPr lang="en-NP"/>
          </a:p>
        </p:txBody>
      </p:sp>
      <p:sp>
        <p:nvSpPr>
          <p:cNvPr id="27" name="Shape 25"/>
          <p:cNvSpPr/>
          <p:nvPr/>
        </p:nvSpPr>
        <p:spPr>
          <a:xfrm>
            <a:off x="4434840" y="4640580"/>
            <a:ext cx="118872" cy="118872"/>
          </a:xfrm>
          <a:prstGeom prst="ellipse">
            <a:avLst/>
          </a:prstGeom>
          <a:solidFill>
            <a:srgbClr val="9A6BFF"/>
          </a:solidFill>
          <a:ln w="12700">
            <a:solidFill>
              <a:srgbClr val="9A6BFF"/>
            </a:solidFill>
            <a:prstDash val="solid"/>
          </a:ln>
        </p:spPr>
        <p:txBody>
          <a:bodyPr/>
          <a:lstStyle/>
          <a:p>
            <a:endParaRPr lang="en-NP"/>
          </a:p>
        </p:txBody>
      </p:sp>
      <p:sp>
        <p:nvSpPr>
          <p:cNvPr id="28" name="Text 26"/>
          <p:cNvSpPr txBox="1"/>
          <p:nvPr/>
        </p:nvSpPr>
        <p:spPr>
          <a:xfrm>
            <a:off x="4663440" y="4434840"/>
            <a:ext cx="3136392" cy="530352"/>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Number of records</a:t>
            </a:r>
            <a:endParaRPr lang="en-US" sz="1250" dirty="0"/>
          </a:p>
        </p:txBody>
      </p:sp>
      <p:sp>
        <p:nvSpPr>
          <p:cNvPr id="29" name="Shape 27"/>
          <p:cNvSpPr/>
          <p:nvPr/>
        </p:nvSpPr>
        <p:spPr>
          <a:xfrm>
            <a:off x="7955280" y="4434840"/>
            <a:ext cx="3685032" cy="530352"/>
          </a:xfrm>
          <a:prstGeom prst="roundRect">
            <a:avLst>
              <a:gd name="adj" fmla="val 13793"/>
            </a:avLst>
          </a:prstGeom>
          <a:solidFill>
            <a:srgbClr val="141A26"/>
          </a:solidFill>
          <a:ln w="12700">
            <a:solidFill>
              <a:srgbClr val="2A3446"/>
            </a:solidFill>
            <a:prstDash val="solid"/>
          </a:ln>
        </p:spPr>
        <p:txBody>
          <a:bodyPr/>
          <a:lstStyle/>
          <a:p>
            <a:endParaRPr lang="en-NP"/>
          </a:p>
        </p:txBody>
      </p:sp>
      <p:sp>
        <p:nvSpPr>
          <p:cNvPr id="30" name="Shape 28"/>
          <p:cNvSpPr/>
          <p:nvPr/>
        </p:nvSpPr>
        <p:spPr>
          <a:xfrm>
            <a:off x="8138160" y="4640580"/>
            <a:ext cx="118872" cy="118872"/>
          </a:xfrm>
          <a:prstGeom prst="ellipse">
            <a:avLst/>
          </a:prstGeom>
          <a:solidFill>
            <a:srgbClr val="9A6BFF"/>
          </a:solidFill>
          <a:ln w="12700">
            <a:solidFill>
              <a:srgbClr val="9A6BFF"/>
            </a:solidFill>
            <a:prstDash val="solid"/>
          </a:ln>
        </p:spPr>
        <p:txBody>
          <a:bodyPr/>
          <a:lstStyle/>
          <a:p>
            <a:endParaRPr lang="en-NP"/>
          </a:p>
        </p:txBody>
      </p:sp>
      <p:sp>
        <p:nvSpPr>
          <p:cNvPr id="31" name="Text 29"/>
          <p:cNvSpPr txBox="1"/>
          <p:nvPr/>
        </p:nvSpPr>
        <p:spPr>
          <a:xfrm>
            <a:off x="8366760" y="4434840"/>
            <a:ext cx="3136392" cy="530352"/>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Privileges reachable</a:t>
            </a:r>
            <a:endParaRPr lang="en-US" sz="1250" dirty="0"/>
          </a:p>
        </p:txBody>
      </p:sp>
      <p:sp>
        <p:nvSpPr>
          <p:cNvPr id="32" name="Shape 30"/>
          <p:cNvSpPr/>
          <p:nvPr/>
        </p:nvSpPr>
        <p:spPr>
          <a:xfrm>
            <a:off x="548640" y="5074920"/>
            <a:ext cx="3685032" cy="530352"/>
          </a:xfrm>
          <a:prstGeom prst="roundRect">
            <a:avLst>
              <a:gd name="adj" fmla="val 13793"/>
            </a:avLst>
          </a:prstGeom>
          <a:solidFill>
            <a:srgbClr val="141A26"/>
          </a:solidFill>
          <a:ln w="12700">
            <a:solidFill>
              <a:srgbClr val="2A3446"/>
            </a:solidFill>
            <a:prstDash val="solid"/>
          </a:ln>
        </p:spPr>
        <p:txBody>
          <a:bodyPr/>
          <a:lstStyle/>
          <a:p>
            <a:endParaRPr lang="en-NP"/>
          </a:p>
        </p:txBody>
      </p:sp>
      <p:sp>
        <p:nvSpPr>
          <p:cNvPr id="33" name="Shape 31"/>
          <p:cNvSpPr/>
          <p:nvPr/>
        </p:nvSpPr>
        <p:spPr>
          <a:xfrm>
            <a:off x="731520" y="5280660"/>
            <a:ext cx="118872" cy="118872"/>
          </a:xfrm>
          <a:prstGeom prst="ellipse">
            <a:avLst/>
          </a:prstGeom>
          <a:solidFill>
            <a:srgbClr val="9A6BFF"/>
          </a:solidFill>
          <a:ln w="12700">
            <a:solidFill>
              <a:srgbClr val="9A6BFF"/>
            </a:solidFill>
            <a:prstDash val="solid"/>
          </a:ln>
        </p:spPr>
        <p:txBody>
          <a:bodyPr/>
          <a:lstStyle/>
          <a:p>
            <a:endParaRPr lang="en-NP"/>
          </a:p>
        </p:txBody>
      </p:sp>
      <p:sp>
        <p:nvSpPr>
          <p:cNvPr id="34" name="Text 32"/>
          <p:cNvSpPr txBox="1"/>
          <p:nvPr/>
        </p:nvSpPr>
        <p:spPr>
          <a:xfrm>
            <a:off x="960120" y="5074920"/>
            <a:ext cx="3136392" cy="530352"/>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Ease of automation</a:t>
            </a:r>
            <a:endParaRPr lang="en-US" sz="1250" dirty="0"/>
          </a:p>
        </p:txBody>
      </p:sp>
      <p:sp>
        <p:nvSpPr>
          <p:cNvPr id="35" name="Shape 33"/>
          <p:cNvSpPr/>
          <p:nvPr/>
        </p:nvSpPr>
        <p:spPr>
          <a:xfrm>
            <a:off x="4251960" y="5074920"/>
            <a:ext cx="3685032" cy="530352"/>
          </a:xfrm>
          <a:prstGeom prst="roundRect">
            <a:avLst>
              <a:gd name="adj" fmla="val 13793"/>
            </a:avLst>
          </a:prstGeom>
          <a:solidFill>
            <a:srgbClr val="141A26"/>
          </a:solidFill>
          <a:ln w="12700">
            <a:solidFill>
              <a:srgbClr val="2A3446"/>
            </a:solidFill>
            <a:prstDash val="solid"/>
          </a:ln>
        </p:spPr>
        <p:txBody>
          <a:bodyPr/>
          <a:lstStyle/>
          <a:p>
            <a:endParaRPr lang="en-NP"/>
          </a:p>
        </p:txBody>
      </p:sp>
      <p:sp>
        <p:nvSpPr>
          <p:cNvPr id="36" name="Shape 34"/>
          <p:cNvSpPr/>
          <p:nvPr/>
        </p:nvSpPr>
        <p:spPr>
          <a:xfrm>
            <a:off x="4434840" y="5280660"/>
            <a:ext cx="118872" cy="118872"/>
          </a:xfrm>
          <a:prstGeom prst="ellipse">
            <a:avLst/>
          </a:prstGeom>
          <a:solidFill>
            <a:srgbClr val="9A6BFF"/>
          </a:solidFill>
          <a:ln w="12700">
            <a:solidFill>
              <a:srgbClr val="9A6BFF"/>
            </a:solidFill>
            <a:prstDash val="solid"/>
          </a:ln>
        </p:spPr>
        <p:txBody>
          <a:bodyPr/>
          <a:lstStyle/>
          <a:p>
            <a:endParaRPr lang="en-NP"/>
          </a:p>
        </p:txBody>
      </p:sp>
      <p:sp>
        <p:nvSpPr>
          <p:cNvPr id="37" name="Text 35"/>
          <p:cNvSpPr txBox="1"/>
          <p:nvPr/>
        </p:nvSpPr>
        <p:spPr>
          <a:xfrm>
            <a:off x="4663440" y="5074920"/>
            <a:ext cx="3136392" cy="530352"/>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Business context</a:t>
            </a:r>
            <a:endParaRPr lang="en-US" sz="1250" dirty="0"/>
          </a:p>
        </p:txBody>
      </p:sp>
      <p:sp>
        <p:nvSpPr>
          <p:cNvPr id="38" name="Shape 36"/>
          <p:cNvSpPr/>
          <p:nvPr/>
        </p:nvSpPr>
        <p:spPr>
          <a:xfrm>
            <a:off x="7955280" y="5074920"/>
            <a:ext cx="3685032" cy="530352"/>
          </a:xfrm>
          <a:prstGeom prst="roundRect">
            <a:avLst>
              <a:gd name="adj" fmla="val 13793"/>
            </a:avLst>
          </a:prstGeom>
          <a:solidFill>
            <a:srgbClr val="141A26"/>
          </a:solidFill>
          <a:ln w="12700">
            <a:solidFill>
              <a:srgbClr val="2A3446"/>
            </a:solidFill>
            <a:prstDash val="solid"/>
          </a:ln>
        </p:spPr>
        <p:txBody>
          <a:bodyPr/>
          <a:lstStyle/>
          <a:p>
            <a:endParaRPr lang="en-NP"/>
          </a:p>
        </p:txBody>
      </p:sp>
      <p:sp>
        <p:nvSpPr>
          <p:cNvPr id="39" name="Shape 37"/>
          <p:cNvSpPr/>
          <p:nvPr/>
        </p:nvSpPr>
        <p:spPr>
          <a:xfrm>
            <a:off x="8138160" y="5280660"/>
            <a:ext cx="118872" cy="118872"/>
          </a:xfrm>
          <a:prstGeom prst="ellipse">
            <a:avLst/>
          </a:prstGeom>
          <a:solidFill>
            <a:srgbClr val="9A6BFF"/>
          </a:solidFill>
          <a:ln w="12700">
            <a:solidFill>
              <a:srgbClr val="9A6BFF"/>
            </a:solidFill>
            <a:prstDash val="solid"/>
          </a:ln>
        </p:spPr>
        <p:txBody>
          <a:bodyPr/>
          <a:lstStyle/>
          <a:p>
            <a:endParaRPr lang="en-NP"/>
          </a:p>
        </p:txBody>
      </p:sp>
      <p:sp>
        <p:nvSpPr>
          <p:cNvPr id="40" name="Text 38"/>
          <p:cNvSpPr txBox="1"/>
          <p:nvPr/>
        </p:nvSpPr>
        <p:spPr>
          <a:xfrm>
            <a:off x="8366760" y="5074920"/>
            <a:ext cx="3136392" cy="530352"/>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What it chains into</a:t>
            </a:r>
            <a:endParaRPr lang="en-US" sz="1250" dirty="0"/>
          </a:p>
        </p:txBody>
      </p:sp>
      <p:sp>
        <p:nvSpPr>
          <p:cNvPr id="41" name="Shape 39"/>
          <p:cNvSpPr/>
          <p:nvPr/>
        </p:nvSpPr>
        <p:spPr>
          <a:xfrm>
            <a:off x="548640" y="5669280"/>
            <a:ext cx="11091672" cy="566928"/>
          </a:xfrm>
          <a:prstGeom prst="roundRect">
            <a:avLst>
              <a:gd name="adj" fmla="val 12903"/>
            </a:avLst>
          </a:prstGeom>
          <a:solidFill>
            <a:srgbClr val="2A2050"/>
          </a:solidFill>
          <a:ln w="12700">
            <a:solidFill>
              <a:srgbClr val="9A6BFF"/>
            </a:solidFill>
            <a:prstDash val="solid"/>
          </a:ln>
        </p:spPr>
        <p:txBody>
          <a:bodyPr/>
          <a:lstStyle/>
          <a:p>
            <a:endParaRPr lang="en-NP"/>
          </a:p>
        </p:txBody>
      </p:sp>
      <p:sp>
        <p:nvSpPr>
          <p:cNvPr id="42" name="Text 40"/>
          <p:cNvSpPr txBox="1"/>
          <p:nvPr/>
        </p:nvSpPr>
        <p:spPr>
          <a:xfrm>
            <a:off x="822960" y="5669280"/>
            <a:ext cx="10543032" cy="566928"/>
          </a:xfrm>
          <a:prstGeom prst="rect">
            <a:avLst/>
          </a:prstGeom>
          <a:noFill/>
          <a:ln/>
        </p:spPr>
        <p:txBody>
          <a:bodyPr wrap="square" lIns="0" tIns="0" rIns="0" bIns="0" rtlCol="0" anchor="ctr"/>
          <a:lstStyle/>
          <a:p>
            <a:pPr marL="0" indent="0" algn="ctr">
              <a:buNone/>
            </a:pPr>
            <a:r>
              <a:rPr lang="en-US" sz="1600" b="1" i="1" dirty="0">
                <a:solidFill>
                  <a:srgbClr val="D9C8FF"/>
                </a:solidFill>
                <a:latin typeface="Arial" pitchFamily="34" charset="0"/>
                <a:ea typeface="Arial" pitchFamily="34" charset="-122"/>
                <a:cs typeface="Arial" pitchFamily="34" charset="-120"/>
              </a:rPr>
              <a:t>"Vulnerability severity is not the same thing as business risk."</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HOW IMPACT ACTUALLY ADDS UP</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200" b="1" dirty="0">
                <a:solidFill>
                  <a:srgbClr val="E9EEF7"/>
                </a:solidFill>
                <a:latin typeface="Arial" pitchFamily="34" charset="0"/>
                <a:ea typeface="Arial" pitchFamily="34" charset="-122"/>
                <a:cs typeface="Arial" pitchFamily="34" charset="-120"/>
              </a:rPr>
              <a:t>From Bug To Business Impact</a:t>
            </a:r>
            <a:endParaRPr lang="en-US" sz="3200" dirty="0"/>
          </a:p>
        </p:txBody>
      </p:sp>
      <p:sp>
        <p:nvSpPr>
          <p:cNvPr id="4" name="Shape 2"/>
          <p:cNvSpPr/>
          <p:nvPr/>
        </p:nvSpPr>
        <p:spPr>
          <a:xfrm>
            <a:off x="548640" y="1965960"/>
            <a:ext cx="1627632" cy="1600200"/>
          </a:xfrm>
          <a:prstGeom prst="roundRect">
            <a:avLst>
              <a:gd name="adj" fmla="val 4571"/>
            </a:avLst>
          </a:prstGeom>
          <a:solidFill>
            <a:srgbClr val="141A26"/>
          </a:solidFill>
          <a:ln w="12700">
            <a:solidFill>
              <a:srgbClr val="9A6BFF"/>
            </a:solidFill>
            <a:prstDash val="solid"/>
          </a:ln>
        </p:spPr>
        <p:txBody>
          <a:bodyPr/>
          <a:lstStyle/>
          <a:p>
            <a:endParaRPr lang="en-NP"/>
          </a:p>
        </p:txBody>
      </p:sp>
      <p:sp>
        <p:nvSpPr>
          <p:cNvPr id="5" name="Text 3"/>
          <p:cNvSpPr txBox="1"/>
          <p:nvPr/>
        </p:nvSpPr>
        <p:spPr>
          <a:xfrm>
            <a:off x="658368" y="2194560"/>
            <a:ext cx="1408176" cy="594360"/>
          </a:xfrm>
          <a:prstGeom prst="rect">
            <a:avLst/>
          </a:prstGeom>
          <a:noFill/>
          <a:ln/>
        </p:spPr>
        <p:txBody>
          <a:bodyPr wrap="square" lIns="0" tIns="0" rIns="0" bIns="0" rtlCol="0" anchor="ctr"/>
          <a:lstStyle/>
          <a:p>
            <a:pPr marL="0" indent="0" algn="ctr">
              <a:lnSpc>
                <a:spcPct val="105000"/>
              </a:lnSpc>
              <a:buNone/>
            </a:pPr>
            <a:r>
              <a:rPr lang="en-US" sz="1250" b="1" dirty="0">
                <a:solidFill>
                  <a:srgbClr val="E9EEF7"/>
                </a:solidFill>
                <a:latin typeface="Arial" pitchFamily="34" charset="0"/>
                <a:ea typeface="Arial" pitchFamily="34" charset="-122"/>
                <a:cs typeface="Arial" pitchFamily="34" charset="-120"/>
              </a:rPr>
              <a:t>Vulnerability</a:t>
            </a:r>
            <a:endParaRPr lang="en-US" sz="1250" dirty="0"/>
          </a:p>
        </p:txBody>
      </p:sp>
      <p:sp>
        <p:nvSpPr>
          <p:cNvPr id="6" name="Text 4"/>
          <p:cNvSpPr txBox="1"/>
          <p:nvPr/>
        </p:nvSpPr>
        <p:spPr>
          <a:xfrm>
            <a:off x="658368" y="2834640"/>
            <a:ext cx="1408176" cy="594360"/>
          </a:xfrm>
          <a:prstGeom prst="rect">
            <a:avLst/>
          </a:prstGeom>
          <a:noFill/>
          <a:ln/>
        </p:spPr>
        <p:txBody>
          <a:bodyPr wrap="square" lIns="0" tIns="0" rIns="0" bIns="0" rtlCol="0" anchor="ctr"/>
          <a:lstStyle/>
          <a:p>
            <a:pPr marL="0" indent="0" algn="ctr">
              <a:lnSpc>
                <a:spcPct val="115000"/>
              </a:lnSpc>
              <a:buNone/>
            </a:pPr>
            <a:r>
              <a:rPr lang="en-US" sz="950" dirty="0">
                <a:solidFill>
                  <a:srgbClr val="8C97AC"/>
                </a:solidFill>
                <a:latin typeface="Arial" pitchFamily="34" charset="0"/>
                <a:ea typeface="Arial" pitchFamily="34" charset="-122"/>
                <a:cs typeface="Arial" pitchFamily="34" charset="-120"/>
              </a:rPr>
              <a:t>Does the flaw exist?</a:t>
            </a:r>
            <a:endParaRPr lang="en-US" sz="950" dirty="0"/>
          </a:p>
        </p:txBody>
      </p:sp>
      <p:sp>
        <p:nvSpPr>
          <p:cNvPr id="7" name="Text 5"/>
          <p:cNvSpPr txBox="1"/>
          <p:nvPr/>
        </p:nvSpPr>
        <p:spPr>
          <a:xfrm>
            <a:off x="2212848" y="1965960"/>
            <a:ext cx="329184" cy="1600200"/>
          </a:xfrm>
          <a:prstGeom prst="rect">
            <a:avLst/>
          </a:prstGeom>
          <a:noFill/>
          <a:ln/>
        </p:spPr>
        <p:txBody>
          <a:bodyPr wrap="square" lIns="0" tIns="0" rIns="0" bIns="0" rtlCol="0" anchor="ctr"/>
          <a:lstStyle/>
          <a:p>
            <a:pPr marL="0" indent="0" algn="ctr">
              <a:buNone/>
            </a:pPr>
            <a:r>
              <a:rPr lang="en-US" sz="2000" b="1" dirty="0">
                <a:solidFill>
                  <a:srgbClr val="9A6BFF"/>
                </a:solidFill>
                <a:latin typeface="Arial" pitchFamily="34" charset="0"/>
                <a:ea typeface="Arial" pitchFamily="34" charset="-122"/>
                <a:cs typeface="Arial" pitchFamily="34" charset="-120"/>
              </a:rPr>
              <a:t>×</a:t>
            </a:r>
            <a:endParaRPr lang="en-US" sz="2000" dirty="0"/>
          </a:p>
        </p:txBody>
      </p:sp>
      <p:sp>
        <p:nvSpPr>
          <p:cNvPr id="8" name="Shape 6"/>
          <p:cNvSpPr/>
          <p:nvPr/>
        </p:nvSpPr>
        <p:spPr>
          <a:xfrm>
            <a:off x="2542032" y="1965960"/>
            <a:ext cx="1627632" cy="1600200"/>
          </a:xfrm>
          <a:prstGeom prst="roundRect">
            <a:avLst>
              <a:gd name="adj" fmla="val 4571"/>
            </a:avLst>
          </a:prstGeom>
          <a:solidFill>
            <a:srgbClr val="141A26"/>
          </a:solidFill>
          <a:ln w="12700">
            <a:solidFill>
              <a:srgbClr val="9A6BFF"/>
            </a:solidFill>
            <a:prstDash val="solid"/>
          </a:ln>
        </p:spPr>
        <p:txBody>
          <a:bodyPr/>
          <a:lstStyle/>
          <a:p>
            <a:endParaRPr lang="en-NP"/>
          </a:p>
        </p:txBody>
      </p:sp>
      <p:sp>
        <p:nvSpPr>
          <p:cNvPr id="9" name="Text 7"/>
          <p:cNvSpPr txBox="1"/>
          <p:nvPr/>
        </p:nvSpPr>
        <p:spPr>
          <a:xfrm>
            <a:off x="2651760" y="2194560"/>
            <a:ext cx="1408176" cy="594360"/>
          </a:xfrm>
          <a:prstGeom prst="rect">
            <a:avLst/>
          </a:prstGeom>
          <a:noFill/>
          <a:ln/>
        </p:spPr>
        <p:txBody>
          <a:bodyPr wrap="square" lIns="0" tIns="0" rIns="0" bIns="0" rtlCol="0" anchor="ctr"/>
          <a:lstStyle/>
          <a:p>
            <a:pPr marL="0" indent="0" algn="ctr">
              <a:lnSpc>
                <a:spcPct val="105000"/>
              </a:lnSpc>
              <a:buNone/>
            </a:pPr>
            <a:r>
              <a:rPr lang="en-US" sz="1250" b="1" dirty="0">
                <a:solidFill>
                  <a:srgbClr val="E9EEF7"/>
                </a:solidFill>
                <a:latin typeface="Arial" pitchFamily="34" charset="0"/>
                <a:ea typeface="Arial" pitchFamily="34" charset="-122"/>
                <a:cs typeface="Arial" pitchFamily="34" charset="-120"/>
              </a:rPr>
              <a:t>Exploitability</a:t>
            </a:r>
            <a:endParaRPr lang="en-US" sz="1250" dirty="0"/>
          </a:p>
        </p:txBody>
      </p:sp>
      <p:sp>
        <p:nvSpPr>
          <p:cNvPr id="10" name="Text 8"/>
          <p:cNvSpPr txBox="1"/>
          <p:nvPr/>
        </p:nvSpPr>
        <p:spPr>
          <a:xfrm>
            <a:off x="2651760" y="2834640"/>
            <a:ext cx="1408176" cy="594360"/>
          </a:xfrm>
          <a:prstGeom prst="rect">
            <a:avLst/>
          </a:prstGeom>
          <a:noFill/>
          <a:ln/>
        </p:spPr>
        <p:txBody>
          <a:bodyPr wrap="square" lIns="0" tIns="0" rIns="0" bIns="0" rtlCol="0" anchor="ctr"/>
          <a:lstStyle/>
          <a:p>
            <a:pPr marL="0" indent="0" algn="ctr">
              <a:lnSpc>
                <a:spcPct val="115000"/>
              </a:lnSpc>
              <a:buNone/>
            </a:pPr>
            <a:r>
              <a:rPr lang="en-US" sz="950" dirty="0">
                <a:solidFill>
                  <a:srgbClr val="8C97AC"/>
                </a:solidFill>
                <a:latin typeface="Arial" pitchFamily="34" charset="0"/>
                <a:ea typeface="Arial" pitchFamily="34" charset="-122"/>
                <a:cs typeface="Arial" pitchFamily="34" charset="-120"/>
              </a:rPr>
              <a:t>How hard is it really?</a:t>
            </a:r>
            <a:endParaRPr lang="en-US" sz="950" dirty="0"/>
          </a:p>
        </p:txBody>
      </p:sp>
      <p:sp>
        <p:nvSpPr>
          <p:cNvPr id="11" name="Text 9"/>
          <p:cNvSpPr txBox="1"/>
          <p:nvPr/>
        </p:nvSpPr>
        <p:spPr>
          <a:xfrm>
            <a:off x="4206240" y="1965960"/>
            <a:ext cx="329184" cy="1600200"/>
          </a:xfrm>
          <a:prstGeom prst="rect">
            <a:avLst/>
          </a:prstGeom>
          <a:noFill/>
          <a:ln/>
        </p:spPr>
        <p:txBody>
          <a:bodyPr wrap="square" lIns="0" tIns="0" rIns="0" bIns="0" rtlCol="0" anchor="ctr"/>
          <a:lstStyle/>
          <a:p>
            <a:pPr marL="0" indent="0" algn="ctr">
              <a:buNone/>
            </a:pPr>
            <a:r>
              <a:rPr lang="en-US" sz="2000" b="1" dirty="0">
                <a:solidFill>
                  <a:srgbClr val="9A6BFF"/>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4535424" y="1965960"/>
            <a:ext cx="1627632" cy="1600200"/>
          </a:xfrm>
          <a:prstGeom prst="roundRect">
            <a:avLst>
              <a:gd name="adj" fmla="val 4571"/>
            </a:avLst>
          </a:prstGeom>
          <a:solidFill>
            <a:srgbClr val="141A26"/>
          </a:solidFill>
          <a:ln w="12700">
            <a:solidFill>
              <a:srgbClr val="9A6BFF"/>
            </a:solidFill>
            <a:prstDash val="solid"/>
          </a:ln>
        </p:spPr>
        <p:txBody>
          <a:bodyPr/>
          <a:lstStyle/>
          <a:p>
            <a:endParaRPr lang="en-NP"/>
          </a:p>
        </p:txBody>
      </p:sp>
      <p:sp>
        <p:nvSpPr>
          <p:cNvPr id="13" name="Text 11"/>
          <p:cNvSpPr txBox="1"/>
          <p:nvPr/>
        </p:nvSpPr>
        <p:spPr>
          <a:xfrm>
            <a:off x="4645152" y="2194560"/>
            <a:ext cx="1408176" cy="594360"/>
          </a:xfrm>
          <a:prstGeom prst="rect">
            <a:avLst/>
          </a:prstGeom>
          <a:noFill/>
          <a:ln/>
        </p:spPr>
        <p:txBody>
          <a:bodyPr wrap="square" lIns="0" tIns="0" rIns="0" bIns="0" rtlCol="0" anchor="ctr"/>
          <a:lstStyle/>
          <a:p>
            <a:pPr marL="0" indent="0" algn="ctr">
              <a:lnSpc>
                <a:spcPct val="105000"/>
              </a:lnSpc>
              <a:buNone/>
            </a:pPr>
            <a:r>
              <a:rPr lang="en-US" sz="1250" b="1" dirty="0">
                <a:solidFill>
                  <a:srgbClr val="E9EEF7"/>
                </a:solidFill>
                <a:latin typeface="Arial" pitchFamily="34" charset="0"/>
                <a:ea typeface="Arial" pitchFamily="34" charset="-122"/>
                <a:cs typeface="Arial" pitchFamily="34" charset="-120"/>
              </a:rPr>
              <a:t>Privilege</a:t>
            </a:r>
            <a:endParaRPr lang="en-US" sz="1250" dirty="0"/>
          </a:p>
        </p:txBody>
      </p:sp>
      <p:sp>
        <p:nvSpPr>
          <p:cNvPr id="14" name="Text 12"/>
          <p:cNvSpPr txBox="1"/>
          <p:nvPr/>
        </p:nvSpPr>
        <p:spPr>
          <a:xfrm>
            <a:off x="4645152" y="2834640"/>
            <a:ext cx="1408176" cy="594360"/>
          </a:xfrm>
          <a:prstGeom prst="rect">
            <a:avLst/>
          </a:prstGeom>
          <a:noFill/>
          <a:ln/>
        </p:spPr>
        <p:txBody>
          <a:bodyPr wrap="square" lIns="0" tIns="0" rIns="0" bIns="0" rtlCol="0" anchor="ctr"/>
          <a:lstStyle/>
          <a:p>
            <a:pPr marL="0" indent="0" algn="ctr">
              <a:lnSpc>
                <a:spcPct val="115000"/>
              </a:lnSpc>
              <a:buNone/>
            </a:pPr>
            <a:r>
              <a:rPr lang="en-US" sz="950" dirty="0">
                <a:solidFill>
                  <a:srgbClr val="8C97AC"/>
                </a:solidFill>
                <a:latin typeface="Arial" pitchFamily="34" charset="0"/>
                <a:ea typeface="Arial" pitchFamily="34" charset="-122"/>
                <a:cs typeface="Arial" pitchFamily="34" charset="-120"/>
              </a:rPr>
              <a:t>What does it run as?</a:t>
            </a:r>
            <a:endParaRPr lang="en-US" sz="950" dirty="0"/>
          </a:p>
        </p:txBody>
      </p:sp>
      <p:sp>
        <p:nvSpPr>
          <p:cNvPr id="15" name="Text 13"/>
          <p:cNvSpPr txBox="1"/>
          <p:nvPr/>
        </p:nvSpPr>
        <p:spPr>
          <a:xfrm>
            <a:off x="6199632" y="1965960"/>
            <a:ext cx="329184" cy="1600200"/>
          </a:xfrm>
          <a:prstGeom prst="rect">
            <a:avLst/>
          </a:prstGeom>
          <a:noFill/>
          <a:ln/>
        </p:spPr>
        <p:txBody>
          <a:bodyPr wrap="square" lIns="0" tIns="0" rIns="0" bIns="0" rtlCol="0" anchor="ctr"/>
          <a:lstStyle/>
          <a:p>
            <a:pPr marL="0" indent="0" algn="ctr">
              <a:buNone/>
            </a:pPr>
            <a:r>
              <a:rPr lang="en-US" sz="2000" b="1" dirty="0">
                <a:solidFill>
                  <a:srgbClr val="9A6BFF"/>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6528816" y="1965960"/>
            <a:ext cx="1627632" cy="1600200"/>
          </a:xfrm>
          <a:prstGeom prst="roundRect">
            <a:avLst>
              <a:gd name="adj" fmla="val 4571"/>
            </a:avLst>
          </a:prstGeom>
          <a:solidFill>
            <a:srgbClr val="141A26"/>
          </a:solidFill>
          <a:ln w="12700">
            <a:solidFill>
              <a:srgbClr val="9A6BFF"/>
            </a:solidFill>
            <a:prstDash val="solid"/>
          </a:ln>
        </p:spPr>
        <p:txBody>
          <a:bodyPr/>
          <a:lstStyle/>
          <a:p>
            <a:endParaRPr lang="en-NP"/>
          </a:p>
        </p:txBody>
      </p:sp>
      <p:sp>
        <p:nvSpPr>
          <p:cNvPr id="17" name="Text 15"/>
          <p:cNvSpPr txBox="1"/>
          <p:nvPr/>
        </p:nvSpPr>
        <p:spPr>
          <a:xfrm>
            <a:off x="6638544" y="2194560"/>
            <a:ext cx="1408176" cy="594360"/>
          </a:xfrm>
          <a:prstGeom prst="rect">
            <a:avLst/>
          </a:prstGeom>
          <a:noFill/>
          <a:ln/>
        </p:spPr>
        <p:txBody>
          <a:bodyPr wrap="square" lIns="0" tIns="0" rIns="0" bIns="0" rtlCol="0" anchor="ctr"/>
          <a:lstStyle/>
          <a:p>
            <a:pPr marL="0" indent="0" algn="ctr">
              <a:lnSpc>
                <a:spcPct val="105000"/>
              </a:lnSpc>
              <a:buNone/>
            </a:pPr>
            <a:r>
              <a:rPr lang="en-US" sz="1250" b="1" dirty="0">
                <a:solidFill>
                  <a:srgbClr val="E9EEF7"/>
                </a:solidFill>
                <a:latin typeface="Arial" pitchFamily="34" charset="0"/>
                <a:ea typeface="Arial" pitchFamily="34" charset="-122"/>
                <a:cs typeface="Arial" pitchFamily="34" charset="-120"/>
              </a:rPr>
              <a:t>Reach</a:t>
            </a:r>
            <a:endParaRPr lang="en-US" sz="1250" dirty="0"/>
          </a:p>
        </p:txBody>
      </p:sp>
      <p:sp>
        <p:nvSpPr>
          <p:cNvPr id="18" name="Text 16"/>
          <p:cNvSpPr txBox="1"/>
          <p:nvPr/>
        </p:nvSpPr>
        <p:spPr>
          <a:xfrm>
            <a:off x="6638544" y="2834640"/>
            <a:ext cx="1408176" cy="594360"/>
          </a:xfrm>
          <a:prstGeom prst="rect">
            <a:avLst/>
          </a:prstGeom>
          <a:noFill/>
          <a:ln/>
        </p:spPr>
        <p:txBody>
          <a:bodyPr wrap="square" lIns="0" tIns="0" rIns="0" bIns="0" rtlCol="0" anchor="ctr"/>
          <a:lstStyle/>
          <a:p>
            <a:pPr marL="0" indent="0" algn="ctr">
              <a:lnSpc>
                <a:spcPct val="115000"/>
              </a:lnSpc>
              <a:buNone/>
            </a:pPr>
            <a:r>
              <a:rPr lang="en-US" sz="950" dirty="0">
                <a:solidFill>
                  <a:srgbClr val="8C97AC"/>
                </a:solidFill>
                <a:latin typeface="Arial" pitchFamily="34" charset="0"/>
                <a:ea typeface="Arial" pitchFamily="34" charset="-122"/>
                <a:cs typeface="Arial" pitchFamily="34" charset="-120"/>
              </a:rPr>
              <a:t>What can it touch next?</a:t>
            </a:r>
            <a:endParaRPr lang="en-US" sz="950" dirty="0"/>
          </a:p>
        </p:txBody>
      </p:sp>
      <p:sp>
        <p:nvSpPr>
          <p:cNvPr id="19" name="Text 17"/>
          <p:cNvSpPr txBox="1"/>
          <p:nvPr/>
        </p:nvSpPr>
        <p:spPr>
          <a:xfrm>
            <a:off x="8193024" y="1965960"/>
            <a:ext cx="329184" cy="1600200"/>
          </a:xfrm>
          <a:prstGeom prst="rect">
            <a:avLst/>
          </a:prstGeom>
          <a:noFill/>
          <a:ln/>
        </p:spPr>
        <p:txBody>
          <a:bodyPr wrap="square" lIns="0" tIns="0" rIns="0" bIns="0" rtlCol="0" anchor="ctr"/>
          <a:lstStyle/>
          <a:p>
            <a:pPr marL="0" indent="0" algn="ctr">
              <a:buNone/>
            </a:pPr>
            <a:r>
              <a:rPr lang="en-US" sz="2000" b="1" dirty="0">
                <a:solidFill>
                  <a:srgbClr val="9A6BFF"/>
                </a:solidFill>
                <a:latin typeface="Arial" pitchFamily="34" charset="0"/>
                <a:ea typeface="Arial" pitchFamily="34" charset="-122"/>
                <a:cs typeface="Arial" pitchFamily="34" charset="-120"/>
              </a:rPr>
              <a:t>×</a:t>
            </a:r>
            <a:endParaRPr lang="en-US" sz="2000" dirty="0"/>
          </a:p>
        </p:txBody>
      </p:sp>
      <p:sp>
        <p:nvSpPr>
          <p:cNvPr id="20" name="Shape 18"/>
          <p:cNvSpPr/>
          <p:nvPr/>
        </p:nvSpPr>
        <p:spPr>
          <a:xfrm>
            <a:off x="8522208" y="1965960"/>
            <a:ext cx="1627632" cy="1600200"/>
          </a:xfrm>
          <a:prstGeom prst="roundRect">
            <a:avLst>
              <a:gd name="adj" fmla="val 4571"/>
            </a:avLst>
          </a:prstGeom>
          <a:solidFill>
            <a:srgbClr val="141A26"/>
          </a:solidFill>
          <a:ln w="12700">
            <a:solidFill>
              <a:srgbClr val="9A6BFF"/>
            </a:solidFill>
            <a:prstDash val="solid"/>
          </a:ln>
        </p:spPr>
        <p:txBody>
          <a:bodyPr/>
          <a:lstStyle/>
          <a:p>
            <a:endParaRPr lang="en-NP"/>
          </a:p>
        </p:txBody>
      </p:sp>
      <p:sp>
        <p:nvSpPr>
          <p:cNvPr id="21" name="Text 19"/>
          <p:cNvSpPr txBox="1"/>
          <p:nvPr/>
        </p:nvSpPr>
        <p:spPr>
          <a:xfrm>
            <a:off x="8631936" y="2194560"/>
            <a:ext cx="1408176" cy="594360"/>
          </a:xfrm>
          <a:prstGeom prst="rect">
            <a:avLst/>
          </a:prstGeom>
          <a:noFill/>
          <a:ln/>
        </p:spPr>
        <p:txBody>
          <a:bodyPr wrap="square" lIns="0" tIns="0" rIns="0" bIns="0" rtlCol="0" anchor="ctr"/>
          <a:lstStyle/>
          <a:p>
            <a:pPr marL="0" indent="0" algn="ctr">
              <a:lnSpc>
                <a:spcPct val="105000"/>
              </a:lnSpc>
              <a:buNone/>
            </a:pPr>
            <a:r>
              <a:rPr lang="en-US" sz="1250" b="1" dirty="0">
                <a:solidFill>
                  <a:srgbClr val="E9EEF7"/>
                </a:solidFill>
                <a:latin typeface="Arial" pitchFamily="34" charset="0"/>
                <a:ea typeface="Arial" pitchFamily="34" charset="-122"/>
                <a:cs typeface="Arial" pitchFamily="34" charset="-120"/>
              </a:rPr>
              <a:t>Data sensitivity</a:t>
            </a:r>
            <a:endParaRPr lang="en-US" sz="1250" dirty="0"/>
          </a:p>
        </p:txBody>
      </p:sp>
      <p:sp>
        <p:nvSpPr>
          <p:cNvPr id="22" name="Text 20"/>
          <p:cNvSpPr txBox="1"/>
          <p:nvPr/>
        </p:nvSpPr>
        <p:spPr>
          <a:xfrm>
            <a:off x="8631936" y="2834640"/>
            <a:ext cx="1408176" cy="594360"/>
          </a:xfrm>
          <a:prstGeom prst="rect">
            <a:avLst/>
          </a:prstGeom>
          <a:noFill/>
          <a:ln/>
        </p:spPr>
        <p:txBody>
          <a:bodyPr wrap="square" lIns="0" tIns="0" rIns="0" bIns="0" rtlCol="0" anchor="ctr"/>
          <a:lstStyle/>
          <a:p>
            <a:pPr marL="0" indent="0" algn="ctr">
              <a:lnSpc>
                <a:spcPct val="115000"/>
              </a:lnSpc>
              <a:buNone/>
            </a:pPr>
            <a:r>
              <a:rPr lang="en-US" sz="950" dirty="0">
                <a:solidFill>
                  <a:srgbClr val="8C97AC"/>
                </a:solidFill>
                <a:latin typeface="Arial" pitchFamily="34" charset="0"/>
                <a:ea typeface="Arial" pitchFamily="34" charset="-122"/>
                <a:cs typeface="Arial" pitchFamily="34" charset="-120"/>
              </a:rPr>
              <a:t>What is actually in there?</a:t>
            </a:r>
            <a:endParaRPr lang="en-US" sz="950" dirty="0"/>
          </a:p>
        </p:txBody>
      </p:sp>
      <p:sp>
        <p:nvSpPr>
          <p:cNvPr id="23" name="Text 21"/>
          <p:cNvSpPr txBox="1"/>
          <p:nvPr/>
        </p:nvSpPr>
        <p:spPr>
          <a:xfrm>
            <a:off x="10186416" y="1965960"/>
            <a:ext cx="329184" cy="1600200"/>
          </a:xfrm>
          <a:prstGeom prst="rect">
            <a:avLst/>
          </a:prstGeom>
          <a:noFill/>
          <a:ln/>
        </p:spPr>
        <p:txBody>
          <a:bodyPr wrap="square" lIns="0" tIns="0" rIns="0" bIns="0" rtlCol="0" anchor="ctr"/>
          <a:lstStyle/>
          <a:p>
            <a:pPr marL="0" indent="0" algn="ctr">
              <a:buNone/>
            </a:pPr>
            <a:r>
              <a:rPr lang="en-US" sz="2000" b="1" dirty="0">
                <a:solidFill>
                  <a:srgbClr val="9A6BFF"/>
                </a:solidFill>
                <a:latin typeface="Arial" pitchFamily="34" charset="0"/>
                <a:ea typeface="Arial" pitchFamily="34" charset="-122"/>
                <a:cs typeface="Arial" pitchFamily="34" charset="-120"/>
              </a:rPr>
              <a:t>×</a:t>
            </a:r>
            <a:endParaRPr lang="en-US" sz="2000" dirty="0"/>
          </a:p>
        </p:txBody>
      </p:sp>
      <p:sp>
        <p:nvSpPr>
          <p:cNvPr id="24" name="Shape 22"/>
          <p:cNvSpPr/>
          <p:nvPr/>
        </p:nvSpPr>
        <p:spPr>
          <a:xfrm>
            <a:off x="10515600" y="1965960"/>
            <a:ext cx="1627632" cy="1600200"/>
          </a:xfrm>
          <a:prstGeom prst="roundRect">
            <a:avLst>
              <a:gd name="adj" fmla="val 4571"/>
            </a:avLst>
          </a:prstGeom>
          <a:solidFill>
            <a:srgbClr val="141A26"/>
          </a:solidFill>
          <a:ln w="12700">
            <a:solidFill>
              <a:srgbClr val="9A6BFF"/>
            </a:solidFill>
            <a:prstDash val="solid"/>
          </a:ln>
        </p:spPr>
        <p:txBody>
          <a:bodyPr/>
          <a:lstStyle/>
          <a:p>
            <a:endParaRPr lang="en-NP"/>
          </a:p>
        </p:txBody>
      </p:sp>
      <p:sp>
        <p:nvSpPr>
          <p:cNvPr id="25" name="Text 23"/>
          <p:cNvSpPr txBox="1"/>
          <p:nvPr/>
        </p:nvSpPr>
        <p:spPr>
          <a:xfrm>
            <a:off x="10625328" y="2194560"/>
            <a:ext cx="1408176" cy="594360"/>
          </a:xfrm>
          <a:prstGeom prst="rect">
            <a:avLst/>
          </a:prstGeom>
          <a:noFill/>
          <a:ln/>
        </p:spPr>
        <p:txBody>
          <a:bodyPr wrap="square" lIns="0" tIns="0" rIns="0" bIns="0" rtlCol="0" anchor="ctr"/>
          <a:lstStyle/>
          <a:p>
            <a:pPr marL="0" indent="0" algn="ctr">
              <a:lnSpc>
                <a:spcPct val="105000"/>
              </a:lnSpc>
              <a:buNone/>
            </a:pPr>
            <a:r>
              <a:rPr lang="en-US" sz="1250" b="1" dirty="0">
                <a:solidFill>
                  <a:srgbClr val="E9EEF7"/>
                </a:solidFill>
                <a:latin typeface="Arial" pitchFamily="34" charset="0"/>
                <a:ea typeface="Arial" pitchFamily="34" charset="-122"/>
                <a:cs typeface="Arial" pitchFamily="34" charset="-120"/>
              </a:rPr>
              <a:t>Scale</a:t>
            </a:r>
            <a:endParaRPr lang="en-US" sz="1250" dirty="0"/>
          </a:p>
        </p:txBody>
      </p:sp>
      <p:sp>
        <p:nvSpPr>
          <p:cNvPr id="26" name="Text 24"/>
          <p:cNvSpPr txBox="1"/>
          <p:nvPr/>
        </p:nvSpPr>
        <p:spPr>
          <a:xfrm>
            <a:off x="10625328" y="2834640"/>
            <a:ext cx="1408176" cy="594360"/>
          </a:xfrm>
          <a:prstGeom prst="rect">
            <a:avLst/>
          </a:prstGeom>
          <a:noFill/>
          <a:ln/>
        </p:spPr>
        <p:txBody>
          <a:bodyPr wrap="square" lIns="0" tIns="0" rIns="0" bIns="0" rtlCol="0" anchor="ctr"/>
          <a:lstStyle/>
          <a:p>
            <a:pPr marL="0" indent="0" algn="ctr">
              <a:lnSpc>
                <a:spcPct val="115000"/>
              </a:lnSpc>
              <a:buNone/>
            </a:pPr>
            <a:r>
              <a:rPr lang="en-US" sz="950" dirty="0">
                <a:solidFill>
                  <a:srgbClr val="8C97AC"/>
                </a:solidFill>
                <a:latin typeface="Arial" pitchFamily="34" charset="0"/>
                <a:ea typeface="Arial" pitchFamily="34" charset="-122"/>
                <a:cs typeface="Arial" pitchFamily="34" charset="-120"/>
              </a:rPr>
              <a:t>One record or a million?</a:t>
            </a:r>
            <a:endParaRPr lang="en-US" sz="950" dirty="0"/>
          </a:p>
        </p:txBody>
      </p:sp>
      <p:sp>
        <p:nvSpPr>
          <p:cNvPr id="27" name="Shape 25"/>
          <p:cNvSpPr/>
          <p:nvPr/>
        </p:nvSpPr>
        <p:spPr>
          <a:xfrm>
            <a:off x="3108960" y="3977640"/>
            <a:ext cx="5971032" cy="1051560"/>
          </a:xfrm>
          <a:prstGeom prst="roundRect">
            <a:avLst>
              <a:gd name="adj" fmla="val 6957"/>
            </a:avLst>
          </a:prstGeom>
          <a:solidFill>
            <a:srgbClr val="2A2050"/>
          </a:solidFill>
          <a:ln w="12700">
            <a:solidFill>
              <a:srgbClr val="9A6BFF"/>
            </a:solidFill>
            <a:prstDash val="solid"/>
          </a:ln>
        </p:spPr>
        <p:txBody>
          <a:bodyPr/>
          <a:lstStyle/>
          <a:p>
            <a:endParaRPr lang="en-NP"/>
          </a:p>
        </p:txBody>
      </p:sp>
      <p:sp>
        <p:nvSpPr>
          <p:cNvPr id="28" name="Text 26"/>
          <p:cNvSpPr txBox="1"/>
          <p:nvPr/>
        </p:nvSpPr>
        <p:spPr>
          <a:xfrm>
            <a:off x="3108960" y="3977640"/>
            <a:ext cx="5971032" cy="1051560"/>
          </a:xfrm>
          <a:prstGeom prst="rect">
            <a:avLst/>
          </a:prstGeom>
          <a:noFill/>
          <a:ln/>
        </p:spPr>
        <p:txBody>
          <a:bodyPr wrap="square" lIns="0" tIns="0" rIns="0" bIns="0" rtlCol="0" anchor="ctr"/>
          <a:lstStyle/>
          <a:p>
            <a:pPr marL="0" indent="0" algn="ctr">
              <a:buNone/>
            </a:pPr>
            <a:r>
              <a:rPr lang="en-US" sz="2000" b="1" dirty="0">
                <a:solidFill>
                  <a:srgbClr val="D9C8FF"/>
                </a:solidFill>
                <a:latin typeface="Arial" pitchFamily="34" charset="0"/>
                <a:ea typeface="Arial" pitchFamily="34" charset="-122"/>
                <a:cs typeface="Arial" pitchFamily="34" charset="-120"/>
              </a:rPr>
              <a:t>=   POTENTIAL BUSINESS IMPACT</a:t>
            </a:r>
            <a:endParaRPr lang="en-US" sz="2000" dirty="0"/>
          </a:p>
        </p:txBody>
      </p:sp>
      <p:sp>
        <p:nvSpPr>
          <p:cNvPr id="29" name="Shape 27"/>
          <p:cNvSpPr/>
          <p:nvPr/>
        </p:nvSpPr>
        <p:spPr>
          <a:xfrm>
            <a:off x="548640" y="5303520"/>
            <a:ext cx="11091672" cy="868680"/>
          </a:xfrm>
          <a:prstGeom prst="roundRect">
            <a:avLst>
              <a:gd name="adj" fmla="val 8421"/>
            </a:avLst>
          </a:prstGeom>
          <a:solidFill>
            <a:srgbClr val="141A26"/>
          </a:solidFill>
          <a:ln w="12700">
            <a:solidFill>
              <a:srgbClr val="FFA33A"/>
            </a:solidFill>
            <a:prstDash val="solid"/>
          </a:ln>
        </p:spPr>
        <p:txBody>
          <a:bodyPr/>
          <a:lstStyle/>
          <a:p>
            <a:endParaRPr lang="en-NP"/>
          </a:p>
        </p:txBody>
      </p:sp>
      <p:sp>
        <p:nvSpPr>
          <p:cNvPr id="30" name="Text 28"/>
          <p:cNvSpPr txBox="1"/>
          <p:nvPr/>
        </p:nvSpPr>
        <p:spPr>
          <a:xfrm>
            <a:off x="822960" y="5303520"/>
            <a:ext cx="10515600" cy="868680"/>
          </a:xfrm>
          <a:prstGeom prst="rect">
            <a:avLst/>
          </a:prstGeom>
          <a:noFill/>
          <a:ln/>
        </p:spPr>
        <p:txBody>
          <a:bodyPr wrap="square" lIns="0" tIns="0" rIns="0" bIns="0" rtlCol="0" anchor="ctr"/>
          <a:lstStyle/>
          <a:p>
            <a:pPr marL="0" indent="0">
              <a:buNone/>
            </a:pPr>
            <a:r>
              <a:rPr lang="en-US" sz="1300" i="1" dirty="0">
                <a:solidFill>
                  <a:srgbClr val="8C97AC"/>
                </a:solidFill>
                <a:latin typeface="Arial" pitchFamily="34" charset="0"/>
                <a:ea typeface="Arial" pitchFamily="34" charset="-122"/>
                <a:cs typeface="Arial" pitchFamily="34" charset="-120"/>
              </a:rPr>
              <a:t>This is a way of thinking, not a formula. There is no universal risk equation — use your threat model, your data classification, and your CVSS scores together, not one instead of the others.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70A11"/>
        </a:solidFill>
        <a:effectLst/>
      </p:bgPr>
    </p:bg>
    <p:spTree>
      <p:nvGrpSpPr>
        <p:cNvPr id="1" name=""/>
        <p:cNvGrpSpPr/>
        <p:nvPr/>
      </p:nvGrpSpPr>
      <p:grpSpPr>
        <a:xfrm>
          <a:off x="0" y="0"/>
          <a:ext cx="0" cy="0"/>
          <a:chOff x="0" y="0"/>
          <a:chExt cx="0" cy="0"/>
        </a:xfrm>
      </p:grpSpPr>
      <p:sp>
        <p:nvSpPr>
          <p:cNvPr id="2" name="Text 0"/>
          <p:cNvSpPr txBox="1"/>
          <p:nvPr/>
        </p:nvSpPr>
        <p:spPr>
          <a:xfrm>
            <a:off x="822960" y="2148840"/>
            <a:ext cx="10515600" cy="320040"/>
          </a:xfrm>
          <a:prstGeom prst="rect">
            <a:avLst/>
          </a:prstGeom>
          <a:noFill/>
          <a:ln/>
        </p:spPr>
        <p:txBody>
          <a:bodyPr wrap="square" lIns="0" tIns="0" rIns="0" bIns="0" rtlCol="0" anchor="ctr"/>
          <a:lstStyle/>
          <a:p>
            <a:pPr marL="0" indent="0">
              <a:buNone/>
            </a:pPr>
            <a:r>
              <a:rPr lang="en-US" sz="1300" b="1" kern="0" spc="300" dirty="0">
                <a:solidFill>
                  <a:srgbClr val="9A6BFF"/>
                </a:solidFill>
                <a:latin typeface="Arial" pitchFamily="34" charset="0"/>
                <a:cs typeface="Arial" pitchFamily="34" charset="-120"/>
              </a:rPr>
              <a:t>$</a:t>
            </a:r>
            <a:r>
              <a:rPr lang="en-US" sz="1300" b="1" kern="0" spc="300" dirty="0" err="1">
                <a:solidFill>
                  <a:srgbClr val="9A6BFF"/>
                </a:solidFill>
                <a:latin typeface="Arial" pitchFamily="34" charset="0"/>
                <a:cs typeface="Arial" pitchFamily="34" charset="-120"/>
              </a:rPr>
              <a:t>pwd</a:t>
            </a:r>
            <a:endParaRPr lang="en-US" sz="1300" dirty="0"/>
          </a:p>
        </p:txBody>
      </p:sp>
      <p:sp>
        <p:nvSpPr>
          <p:cNvPr id="3" name="Text 1"/>
          <p:cNvSpPr txBox="1"/>
          <p:nvPr/>
        </p:nvSpPr>
        <p:spPr>
          <a:xfrm>
            <a:off x="822960" y="2606040"/>
            <a:ext cx="10515600" cy="1463040"/>
          </a:xfrm>
          <a:prstGeom prst="rect">
            <a:avLst/>
          </a:prstGeom>
          <a:noFill/>
          <a:ln/>
        </p:spPr>
        <p:txBody>
          <a:bodyPr wrap="square" lIns="0" tIns="0" rIns="0" bIns="0" rtlCol="0" anchor="ctr"/>
          <a:lstStyle/>
          <a:p>
            <a:pPr marL="0" indent="0">
              <a:lnSpc>
                <a:spcPct val="105000"/>
              </a:lnSpc>
              <a:buNone/>
            </a:pPr>
            <a:r>
              <a:rPr lang="en-US" sz="4600" b="1" dirty="0">
                <a:solidFill>
                  <a:srgbClr val="E9EEF7"/>
                </a:solidFill>
                <a:latin typeface="Arial" pitchFamily="34" charset="0"/>
                <a:ea typeface="Arial" pitchFamily="34" charset="-122"/>
                <a:cs typeface="Arial" pitchFamily="34" charset="-120"/>
              </a:rPr>
              <a:t>Attackers Are Economists,</a:t>
            </a:r>
            <a:endParaRPr lang="en-US" sz="4600" dirty="0"/>
          </a:p>
          <a:p>
            <a:pPr marL="0" indent="0">
              <a:lnSpc>
                <a:spcPct val="105000"/>
              </a:lnSpc>
              <a:buNone/>
            </a:pPr>
            <a:r>
              <a:rPr lang="en-US" sz="4600" b="1" dirty="0">
                <a:solidFill>
                  <a:srgbClr val="E9EEF7"/>
                </a:solidFill>
                <a:latin typeface="Arial" pitchFamily="34" charset="0"/>
                <a:ea typeface="Arial" pitchFamily="34" charset="-122"/>
                <a:cs typeface="Arial" pitchFamily="34" charset="-120"/>
              </a:rPr>
              <a:t>Not Magicians.</a:t>
            </a:r>
            <a:endParaRPr lang="en-US" sz="4600" dirty="0"/>
          </a:p>
        </p:txBody>
      </p:sp>
      <p:sp>
        <p:nvSpPr>
          <p:cNvPr id="4" name="Text 2"/>
          <p:cNvSpPr txBox="1"/>
          <p:nvPr/>
        </p:nvSpPr>
        <p:spPr>
          <a:xfrm>
            <a:off x="822960" y="4206240"/>
            <a:ext cx="9601200" cy="457200"/>
          </a:xfrm>
          <a:prstGeom prst="rect">
            <a:avLst/>
          </a:prstGeom>
          <a:noFill/>
          <a:ln/>
        </p:spPr>
        <p:txBody>
          <a:bodyPr wrap="square" lIns="0" tIns="0" rIns="0" bIns="0" rtlCol="0" anchor="ctr"/>
          <a:lstStyle/>
          <a:p>
            <a:pPr marL="0" indent="0">
              <a:buNone/>
            </a:pPr>
            <a:r>
              <a:rPr lang="en-US" sz="1600" i="1" dirty="0">
                <a:solidFill>
                  <a:srgbClr val="8C97AC"/>
                </a:solidFill>
                <a:latin typeface="Arial" pitchFamily="34" charset="0"/>
                <a:ea typeface="Arial" pitchFamily="34" charset="-122"/>
                <a:cs typeface="Arial" pitchFamily="34" charset="-120"/>
              </a:rPr>
              <a:t>They have deadlines, budgets, and better things to do. Use that.</a:t>
            </a:r>
            <a:endParaRPr lang="en-US" sz="1600" dirty="0"/>
          </a:p>
        </p:txBody>
      </p:sp>
      <p:sp>
        <p:nvSpPr>
          <p:cNvPr id="5" name="Shape 3"/>
          <p:cNvSpPr/>
          <p:nvPr/>
        </p:nvSpPr>
        <p:spPr>
          <a:xfrm>
            <a:off x="822960" y="4892040"/>
            <a:ext cx="1463040" cy="41148"/>
          </a:xfrm>
          <a:prstGeom prst="rect">
            <a:avLst/>
          </a:prstGeom>
          <a:solidFill>
            <a:srgbClr val="9A6BFF"/>
          </a:solidFill>
          <a:ln w="12700">
            <a:solidFill>
              <a:srgbClr val="0B0F17"/>
            </a:solidFill>
            <a:prstDash val="solid"/>
          </a:ln>
        </p:spPr>
        <p:txBody>
          <a:bodyPr/>
          <a:lstStyle/>
          <a:p>
            <a:endParaRPr lang="en-NP"/>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FF6B5E"/>
                </a:solidFill>
                <a:latin typeface="Arial" pitchFamily="34" charset="0"/>
                <a:ea typeface="Arial" pitchFamily="34" charset="-122"/>
                <a:cs typeface="Arial" pitchFamily="34" charset="-120"/>
              </a:rPr>
              <a:t>THE ATTACKER’S MATHS</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200" b="1" dirty="0">
                <a:solidFill>
                  <a:srgbClr val="E9EEF7"/>
                </a:solidFill>
                <a:latin typeface="Arial" pitchFamily="34" charset="0"/>
                <a:ea typeface="Arial" pitchFamily="34" charset="-122"/>
                <a:cs typeface="Arial" pitchFamily="34" charset="-120"/>
              </a:rPr>
              <a:t>Reward vs. Effort vs. Risk</a:t>
            </a:r>
            <a:endParaRPr lang="en-US" sz="3200" dirty="0"/>
          </a:p>
        </p:txBody>
      </p:sp>
      <p:sp>
        <p:nvSpPr>
          <p:cNvPr id="4" name="Shape 2"/>
          <p:cNvSpPr/>
          <p:nvPr/>
        </p:nvSpPr>
        <p:spPr>
          <a:xfrm>
            <a:off x="548640" y="1783080"/>
            <a:ext cx="4206240" cy="749808"/>
          </a:xfrm>
          <a:prstGeom prst="roundRect">
            <a:avLst>
              <a:gd name="adj" fmla="val 9756"/>
            </a:avLst>
          </a:prstGeom>
          <a:solidFill>
            <a:srgbClr val="141A26"/>
          </a:solidFill>
          <a:ln w="12700">
            <a:solidFill>
              <a:srgbClr val="4FD68A"/>
            </a:solidFill>
            <a:prstDash val="solid"/>
          </a:ln>
        </p:spPr>
        <p:txBody>
          <a:bodyPr/>
          <a:lstStyle/>
          <a:p>
            <a:endParaRPr lang="en-NP"/>
          </a:p>
        </p:txBody>
      </p:sp>
      <p:sp>
        <p:nvSpPr>
          <p:cNvPr id="5" name="Text 3"/>
          <p:cNvSpPr txBox="1"/>
          <p:nvPr/>
        </p:nvSpPr>
        <p:spPr>
          <a:xfrm>
            <a:off x="777240" y="1901952"/>
            <a:ext cx="3749040" cy="274320"/>
          </a:xfrm>
          <a:prstGeom prst="rect">
            <a:avLst/>
          </a:prstGeom>
          <a:noFill/>
          <a:ln/>
        </p:spPr>
        <p:txBody>
          <a:bodyPr wrap="square" lIns="0" tIns="0" rIns="0" bIns="0" rtlCol="0" anchor="ctr"/>
          <a:lstStyle/>
          <a:p>
            <a:pPr marL="0" indent="0">
              <a:buNone/>
            </a:pPr>
            <a:r>
              <a:rPr lang="en-US" sz="1350" b="1" dirty="0">
                <a:solidFill>
                  <a:srgbClr val="E9EEF7"/>
                </a:solidFill>
                <a:latin typeface="Arial" pitchFamily="34" charset="0"/>
                <a:ea typeface="Arial" pitchFamily="34" charset="-122"/>
                <a:cs typeface="Arial" pitchFamily="34" charset="-120"/>
              </a:rPr>
              <a:t>Potential reward</a:t>
            </a:r>
            <a:endParaRPr lang="en-US" sz="1350" dirty="0"/>
          </a:p>
        </p:txBody>
      </p:sp>
      <p:sp>
        <p:nvSpPr>
          <p:cNvPr id="6" name="Text 4"/>
          <p:cNvSpPr txBox="1"/>
          <p:nvPr/>
        </p:nvSpPr>
        <p:spPr>
          <a:xfrm>
            <a:off x="777240" y="2194560"/>
            <a:ext cx="3749040" cy="237744"/>
          </a:xfrm>
          <a:prstGeom prst="rect">
            <a:avLst/>
          </a:prstGeom>
          <a:noFill/>
          <a:ln/>
        </p:spPr>
        <p:txBody>
          <a:bodyPr wrap="square" lIns="0" tIns="0" rIns="0" bIns="0" rtlCol="0" anchor="ctr"/>
          <a:lstStyle/>
          <a:p>
            <a:pPr marL="0" indent="0">
              <a:buNone/>
            </a:pPr>
            <a:r>
              <a:rPr lang="en-US" sz="1100" dirty="0">
                <a:solidFill>
                  <a:srgbClr val="8C97AC"/>
                </a:solidFill>
                <a:latin typeface="Arial" pitchFamily="34" charset="0"/>
                <a:ea typeface="Arial" pitchFamily="34" charset="-122"/>
                <a:cs typeface="Arial" pitchFamily="34" charset="-120"/>
              </a:rPr>
              <a:t>What do I get?</a:t>
            </a:r>
            <a:endParaRPr lang="en-US" sz="1100" dirty="0"/>
          </a:p>
        </p:txBody>
      </p:sp>
      <p:sp>
        <p:nvSpPr>
          <p:cNvPr id="7" name="Shape 5"/>
          <p:cNvSpPr/>
          <p:nvPr/>
        </p:nvSpPr>
        <p:spPr>
          <a:xfrm>
            <a:off x="548640" y="2569464"/>
            <a:ext cx="4206240" cy="749808"/>
          </a:xfrm>
          <a:prstGeom prst="roundRect">
            <a:avLst>
              <a:gd name="adj" fmla="val 9756"/>
            </a:avLst>
          </a:prstGeom>
          <a:solidFill>
            <a:srgbClr val="141A26"/>
          </a:solidFill>
          <a:ln w="12700">
            <a:solidFill>
              <a:srgbClr val="FFC15E"/>
            </a:solidFill>
            <a:prstDash val="solid"/>
          </a:ln>
        </p:spPr>
        <p:txBody>
          <a:bodyPr/>
          <a:lstStyle/>
          <a:p>
            <a:endParaRPr lang="en-NP"/>
          </a:p>
        </p:txBody>
      </p:sp>
      <p:sp>
        <p:nvSpPr>
          <p:cNvPr id="8" name="Text 6"/>
          <p:cNvSpPr txBox="1"/>
          <p:nvPr/>
        </p:nvSpPr>
        <p:spPr>
          <a:xfrm>
            <a:off x="777240" y="2688336"/>
            <a:ext cx="3749040" cy="274320"/>
          </a:xfrm>
          <a:prstGeom prst="rect">
            <a:avLst/>
          </a:prstGeom>
          <a:noFill/>
          <a:ln/>
        </p:spPr>
        <p:txBody>
          <a:bodyPr wrap="square" lIns="0" tIns="0" rIns="0" bIns="0" rtlCol="0" anchor="ctr"/>
          <a:lstStyle/>
          <a:p>
            <a:pPr marL="0" indent="0">
              <a:buNone/>
            </a:pPr>
            <a:r>
              <a:rPr lang="en-US" sz="1350" b="1" dirty="0">
                <a:solidFill>
                  <a:srgbClr val="E9EEF7"/>
                </a:solidFill>
                <a:latin typeface="Arial" pitchFamily="34" charset="0"/>
                <a:ea typeface="Arial" pitchFamily="34" charset="-122"/>
                <a:cs typeface="Arial" pitchFamily="34" charset="-120"/>
              </a:rPr>
              <a:t>Time</a:t>
            </a:r>
            <a:endParaRPr lang="en-US" sz="1350" dirty="0"/>
          </a:p>
        </p:txBody>
      </p:sp>
      <p:sp>
        <p:nvSpPr>
          <p:cNvPr id="9" name="Text 7"/>
          <p:cNvSpPr txBox="1"/>
          <p:nvPr/>
        </p:nvSpPr>
        <p:spPr>
          <a:xfrm>
            <a:off x="777240" y="2980944"/>
            <a:ext cx="3749040" cy="237744"/>
          </a:xfrm>
          <a:prstGeom prst="rect">
            <a:avLst/>
          </a:prstGeom>
          <a:noFill/>
          <a:ln/>
        </p:spPr>
        <p:txBody>
          <a:bodyPr wrap="square" lIns="0" tIns="0" rIns="0" bIns="0" rtlCol="0" anchor="ctr"/>
          <a:lstStyle/>
          <a:p>
            <a:pPr marL="0" indent="0">
              <a:buNone/>
            </a:pPr>
            <a:r>
              <a:rPr lang="en-US" sz="1100" dirty="0">
                <a:solidFill>
                  <a:srgbClr val="8C97AC"/>
                </a:solidFill>
                <a:latin typeface="Arial" pitchFamily="34" charset="0"/>
                <a:ea typeface="Arial" pitchFamily="34" charset="-122"/>
                <a:cs typeface="Arial" pitchFamily="34" charset="-120"/>
              </a:rPr>
              <a:t>How many hours?</a:t>
            </a:r>
            <a:endParaRPr lang="en-US" sz="1100" dirty="0"/>
          </a:p>
        </p:txBody>
      </p:sp>
      <p:sp>
        <p:nvSpPr>
          <p:cNvPr id="10" name="Shape 8"/>
          <p:cNvSpPr/>
          <p:nvPr/>
        </p:nvSpPr>
        <p:spPr>
          <a:xfrm>
            <a:off x="548640" y="3355848"/>
            <a:ext cx="4206240" cy="749808"/>
          </a:xfrm>
          <a:prstGeom prst="roundRect">
            <a:avLst>
              <a:gd name="adj" fmla="val 9756"/>
            </a:avLst>
          </a:prstGeom>
          <a:solidFill>
            <a:srgbClr val="141A26"/>
          </a:solidFill>
          <a:ln w="12700">
            <a:solidFill>
              <a:srgbClr val="FFC15E"/>
            </a:solidFill>
            <a:prstDash val="solid"/>
          </a:ln>
        </p:spPr>
        <p:txBody>
          <a:bodyPr/>
          <a:lstStyle/>
          <a:p>
            <a:endParaRPr lang="en-NP"/>
          </a:p>
        </p:txBody>
      </p:sp>
      <p:sp>
        <p:nvSpPr>
          <p:cNvPr id="11" name="Text 9"/>
          <p:cNvSpPr txBox="1"/>
          <p:nvPr/>
        </p:nvSpPr>
        <p:spPr>
          <a:xfrm>
            <a:off x="777240" y="3474720"/>
            <a:ext cx="3749040" cy="274320"/>
          </a:xfrm>
          <a:prstGeom prst="rect">
            <a:avLst/>
          </a:prstGeom>
          <a:noFill/>
          <a:ln/>
        </p:spPr>
        <p:txBody>
          <a:bodyPr wrap="square" lIns="0" tIns="0" rIns="0" bIns="0" rtlCol="0" anchor="ctr"/>
          <a:lstStyle/>
          <a:p>
            <a:pPr marL="0" indent="0">
              <a:buNone/>
            </a:pPr>
            <a:r>
              <a:rPr lang="en-US" sz="1350" b="1" dirty="0">
                <a:solidFill>
                  <a:srgbClr val="E9EEF7"/>
                </a:solidFill>
                <a:latin typeface="Arial" pitchFamily="34" charset="0"/>
                <a:ea typeface="Arial" pitchFamily="34" charset="-122"/>
                <a:cs typeface="Arial" pitchFamily="34" charset="-120"/>
              </a:rPr>
              <a:t>Effort</a:t>
            </a:r>
            <a:endParaRPr lang="en-US" sz="1350" dirty="0"/>
          </a:p>
        </p:txBody>
      </p:sp>
      <p:sp>
        <p:nvSpPr>
          <p:cNvPr id="12" name="Text 10"/>
          <p:cNvSpPr txBox="1"/>
          <p:nvPr/>
        </p:nvSpPr>
        <p:spPr>
          <a:xfrm>
            <a:off x="777240" y="3767328"/>
            <a:ext cx="3749040" cy="237744"/>
          </a:xfrm>
          <a:prstGeom prst="rect">
            <a:avLst/>
          </a:prstGeom>
          <a:noFill/>
          <a:ln/>
        </p:spPr>
        <p:txBody>
          <a:bodyPr wrap="square" lIns="0" tIns="0" rIns="0" bIns="0" rtlCol="0" anchor="ctr"/>
          <a:lstStyle/>
          <a:p>
            <a:pPr marL="0" indent="0">
              <a:buNone/>
            </a:pPr>
            <a:r>
              <a:rPr lang="en-US" sz="1100" dirty="0">
                <a:solidFill>
                  <a:srgbClr val="8C97AC"/>
                </a:solidFill>
                <a:latin typeface="Arial" pitchFamily="34" charset="0"/>
                <a:ea typeface="Arial" pitchFamily="34" charset="-122"/>
                <a:cs typeface="Arial" pitchFamily="34" charset="-120"/>
              </a:rPr>
              <a:t>How much skill?</a:t>
            </a:r>
            <a:endParaRPr lang="en-US" sz="1100" dirty="0"/>
          </a:p>
        </p:txBody>
      </p:sp>
      <p:sp>
        <p:nvSpPr>
          <p:cNvPr id="13" name="Shape 11"/>
          <p:cNvSpPr/>
          <p:nvPr/>
        </p:nvSpPr>
        <p:spPr>
          <a:xfrm>
            <a:off x="548640" y="4142232"/>
            <a:ext cx="4206240" cy="749808"/>
          </a:xfrm>
          <a:prstGeom prst="roundRect">
            <a:avLst>
              <a:gd name="adj" fmla="val 9756"/>
            </a:avLst>
          </a:prstGeom>
          <a:solidFill>
            <a:srgbClr val="141A26"/>
          </a:solidFill>
          <a:ln w="12700">
            <a:solidFill>
              <a:srgbClr val="FFA33A"/>
            </a:solidFill>
            <a:prstDash val="solid"/>
          </a:ln>
        </p:spPr>
        <p:txBody>
          <a:bodyPr/>
          <a:lstStyle/>
          <a:p>
            <a:endParaRPr lang="en-NP"/>
          </a:p>
        </p:txBody>
      </p:sp>
      <p:sp>
        <p:nvSpPr>
          <p:cNvPr id="14" name="Text 12"/>
          <p:cNvSpPr txBox="1"/>
          <p:nvPr/>
        </p:nvSpPr>
        <p:spPr>
          <a:xfrm>
            <a:off x="777240" y="4261104"/>
            <a:ext cx="3749040" cy="274320"/>
          </a:xfrm>
          <a:prstGeom prst="rect">
            <a:avLst/>
          </a:prstGeom>
          <a:noFill/>
          <a:ln/>
        </p:spPr>
        <p:txBody>
          <a:bodyPr wrap="square" lIns="0" tIns="0" rIns="0" bIns="0" rtlCol="0" anchor="ctr"/>
          <a:lstStyle/>
          <a:p>
            <a:pPr marL="0" indent="0">
              <a:buNone/>
            </a:pPr>
            <a:r>
              <a:rPr lang="en-US" sz="1350" b="1" dirty="0">
                <a:solidFill>
                  <a:srgbClr val="E9EEF7"/>
                </a:solidFill>
                <a:latin typeface="Arial" pitchFamily="34" charset="0"/>
                <a:ea typeface="Arial" pitchFamily="34" charset="-122"/>
                <a:cs typeface="Arial" pitchFamily="34" charset="-120"/>
              </a:rPr>
              <a:t>Risk</a:t>
            </a:r>
            <a:endParaRPr lang="en-US" sz="1350" dirty="0"/>
          </a:p>
        </p:txBody>
      </p:sp>
      <p:sp>
        <p:nvSpPr>
          <p:cNvPr id="15" name="Text 13"/>
          <p:cNvSpPr txBox="1"/>
          <p:nvPr/>
        </p:nvSpPr>
        <p:spPr>
          <a:xfrm>
            <a:off x="777240" y="4553712"/>
            <a:ext cx="3749040" cy="237744"/>
          </a:xfrm>
          <a:prstGeom prst="rect">
            <a:avLst/>
          </a:prstGeom>
          <a:noFill/>
          <a:ln/>
        </p:spPr>
        <p:txBody>
          <a:bodyPr wrap="square" lIns="0" tIns="0" rIns="0" bIns="0" rtlCol="0" anchor="ctr"/>
          <a:lstStyle/>
          <a:p>
            <a:pPr marL="0" indent="0">
              <a:buNone/>
            </a:pPr>
            <a:r>
              <a:rPr lang="en-US" sz="1100" dirty="0">
                <a:solidFill>
                  <a:srgbClr val="8C97AC"/>
                </a:solidFill>
                <a:latin typeface="Arial" pitchFamily="34" charset="0"/>
                <a:ea typeface="Arial" pitchFamily="34" charset="-122"/>
                <a:cs typeface="Arial" pitchFamily="34" charset="-120"/>
              </a:rPr>
              <a:t>What happens if I’m caught?</a:t>
            </a:r>
            <a:endParaRPr lang="en-US" sz="1100" dirty="0"/>
          </a:p>
        </p:txBody>
      </p:sp>
      <p:sp>
        <p:nvSpPr>
          <p:cNvPr id="16" name="Shape 14"/>
          <p:cNvSpPr/>
          <p:nvPr/>
        </p:nvSpPr>
        <p:spPr>
          <a:xfrm>
            <a:off x="548640" y="4928616"/>
            <a:ext cx="4206240" cy="749808"/>
          </a:xfrm>
          <a:prstGeom prst="roundRect">
            <a:avLst>
              <a:gd name="adj" fmla="val 9756"/>
            </a:avLst>
          </a:prstGeom>
          <a:solidFill>
            <a:srgbClr val="141A26"/>
          </a:solidFill>
          <a:ln w="12700">
            <a:solidFill>
              <a:srgbClr val="FF6B5E"/>
            </a:solidFill>
            <a:prstDash val="solid"/>
          </a:ln>
        </p:spPr>
        <p:txBody>
          <a:bodyPr/>
          <a:lstStyle/>
          <a:p>
            <a:endParaRPr lang="en-NP"/>
          </a:p>
        </p:txBody>
      </p:sp>
      <p:sp>
        <p:nvSpPr>
          <p:cNvPr id="17" name="Text 15"/>
          <p:cNvSpPr txBox="1"/>
          <p:nvPr/>
        </p:nvSpPr>
        <p:spPr>
          <a:xfrm>
            <a:off x="777240" y="5047488"/>
            <a:ext cx="3749040" cy="274320"/>
          </a:xfrm>
          <a:prstGeom prst="rect">
            <a:avLst/>
          </a:prstGeom>
          <a:noFill/>
          <a:ln/>
        </p:spPr>
        <p:txBody>
          <a:bodyPr wrap="square" lIns="0" tIns="0" rIns="0" bIns="0" rtlCol="0" anchor="ctr"/>
          <a:lstStyle/>
          <a:p>
            <a:pPr marL="0" indent="0">
              <a:buNone/>
            </a:pPr>
            <a:r>
              <a:rPr lang="en-US" sz="1350" b="1" dirty="0">
                <a:solidFill>
                  <a:srgbClr val="E9EEF7"/>
                </a:solidFill>
                <a:latin typeface="Arial" pitchFamily="34" charset="0"/>
                <a:ea typeface="Arial" pitchFamily="34" charset="-122"/>
                <a:cs typeface="Arial" pitchFamily="34" charset="-120"/>
              </a:rPr>
              <a:t>Detection</a:t>
            </a:r>
            <a:endParaRPr lang="en-US" sz="1350" dirty="0"/>
          </a:p>
        </p:txBody>
      </p:sp>
      <p:sp>
        <p:nvSpPr>
          <p:cNvPr id="18" name="Text 16"/>
          <p:cNvSpPr txBox="1"/>
          <p:nvPr/>
        </p:nvSpPr>
        <p:spPr>
          <a:xfrm>
            <a:off x="777240" y="5340096"/>
            <a:ext cx="3749040" cy="237744"/>
          </a:xfrm>
          <a:prstGeom prst="rect">
            <a:avLst/>
          </a:prstGeom>
          <a:noFill/>
          <a:ln/>
        </p:spPr>
        <p:txBody>
          <a:bodyPr wrap="square" lIns="0" tIns="0" rIns="0" bIns="0" rtlCol="0" anchor="ctr"/>
          <a:lstStyle/>
          <a:p>
            <a:pPr marL="0" indent="0">
              <a:buNone/>
            </a:pPr>
            <a:r>
              <a:rPr lang="en-US" sz="1100" dirty="0">
                <a:solidFill>
                  <a:srgbClr val="8C97AC"/>
                </a:solidFill>
                <a:latin typeface="Arial" pitchFamily="34" charset="0"/>
                <a:ea typeface="Arial" pitchFamily="34" charset="-122"/>
                <a:cs typeface="Arial" pitchFamily="34" charset="-120"/>
              </a:rPr>
              <a:t>Will anyone even notice?</a:t>
            </a:r>
            <a:endParaRPr lang="en-US" sz="1100" dirty="0"/>
          </a:p>
        </p:txBody>
      </p:sp>
      <p:sp>
        <p:nvSpPr>
          <p:cNvPr id="19" name="Shape 17"/>
          <p:cNvSpPr/>
          <p:nvPr/>
        </p:nvSpPr>
        <p:spPr>
          <a:xfrm>
            <a:off x="5394960" y="1783080"/>
            <a:ext cx="5943600" cy="3794760"/>
          </a:xfrm>
          <a:prstGeom prst="roundRect">
            <a:avLst>
              <a:gd name="adj" fmla="val 1928"/>
            </a:avLst>
          </a:prstGeom>
          <a:solidFill>
            <a:srgbClr val="141A26"/>
          </a:solidFill>
          <a:ln w="12700">
            <a:solidFill>
              <a:srgbClr val="2A3446"/>
            </a:solidFill>
            <a:prstDash val="solid"/>
          </a:ln>
        </p:spPr>
        <p:txBody>
          <a:bodyPr/>
          <a:lstStyle/>
          <a:p>
            <a:endParaRPr lang="en-NP"/>
          </a:p>
        </p:txBody>
      </p:sp>
      <p:sp>
        <p:nvSpPr>
          <p:cNvPr id="20" name="Shape 18"/>
          <p:cNvSpPr/>
          <p:nvPr/>
        </p:nvSpPr>
        <p:spPr>
          <a:xfrm>
            <a:off x="8366760" y="2103120"/>
            <a:ext cx="0" cy="3154680"/>
          </a:xfrm>
          <a:prstGeom prst="line">
            <a:avLst/>
          </a:prstGeom>
          <a:noFill/>
          <a:ln w="15875">
            <a:solidFill>
              <a:srgbClr val="2A3446"/>
            </a:solidFill>
            <a:prstDash val="solid"/>
          </a:ln>
        </p:spPr>
        <p:txBody>
          <a:bodyPr/>
          <a:lstStyle/>
          <a:p>
            <a:endParaRPr lang="en-NP"/>
          </a:p>
        </p:txBody>
      </p:sp>
      <p:sp>
        <p:nvSpPr>
          <p:cNvPr id="21" name="Shape 19"/>
          <p:cNvSpPr/>
          <p:nvPr/>
        </p:nvSpPr>
        <p:spPr>
          <a:xfrm>
            <a:off x="5715000" y="3680460"/>
            <a:ext cx="5303520" cy="0"/>
          </a:xfrm>
          <a:prstGeom prst="line">
            <a:avLst/>
          </a:prstGeom>
          <a:noFill/>
          <a:ln w="15875">
            <a:solidFill>
              <a:srgbClr val="2A3446"/>
            </a:solidFill>
            <a:prstDash val="solid"/>
          </a:ln>
        </p:spPr>
        <p:txBody>
          <a:bodyPr/>
          <a:lstStyle/>
          <a:p>
            <a:endParaRPr lang="en-NP"/>
          </a:p>
        </p:txBody>
      </p:sp>
      <p:sp>
        <p:nvSpPr>
          <p:cNvPr id="22" name="Text 20"/>
          <p:cNvSpPr txBox="1"/>
          <p:nvPr/>
        </p:nvSpPr>
        <p:spPr>
          <a:xfrm>
            <a:off x="5394960" y="1856232"/>
            <a:ext cx="5943600" cy="228600"/>
          </a:xfrm>
          <a:prstGeom prst="rect">
            <a:avLst/>
          </a:prstGeom>
          <a:noFill/>
          <a:ln/>
        </p:spPr>
        <p:txBody>
          <a:bodyPr wrap="square" lIns="0" tIns="0" rIns="0" bIns="0" rtlCol="0" anchor="ctr"/>
          <a:lstStyle/>
          <a:p>
            <a:pPr marL="0" indent="0" algn="ctr">
              <a:buNone/>
            </a:pPr>
            <a:r>
              <a:rPr lang="en-US" sz="950" b="1" kern="0" spc="140" dirty="0">
                <a:solidFill>
                  <a:srgbClr val="8C97AC"/>
                </a:solidFill>
                <a:latin typeface="Arial" pitchFamily="34" charset="0"/>
                <a:ea typeface="Arial" pitchFamily="34" charset="-122"/>
                <a:cs typeface="Arial" pitchFamily="34" charset="-120"/>
              </a:rPr>
              <a:t>HIGH VALUE</a:t>
            </a:r>
            <a:endParaRPr lang="en-US" sz="950" dirty="0"/>
          </a:p>
        </p:txBody>
      </p:sp>
      <p:sp>
        <p:nvSpPr>
          <p:cNvPr id="23" name="Text 21"/>
          <p:cNvSpPr txBox="1"/>
          <p:nvPr/>
        </p:nvSpPr>
        <p:spPr>
          <a:xfrm>
            <a:off x="5394960" y="5285232"/>
            <a:ext cx="5943600" cy="228600"/>
          </a:xfrm>
          <a:prstGeom prst="rect">
            <a:avLst/>
          </a:prstGeom>
          <a:noFill/>
          <a:ln/>
        </p:spPr>
        <p:txBody>
          <a:bodyPr wrap="square" lIns="0" tIns="0" rIns="0" bIns="0" rtlCol="0" anchor="ctr"/>
          <a:lstStyle/>
          <a:p>
            <a:pPr marL="0" indent="0" algn="ctr">
              <a:buNone/>
            </a:pPr>
            <a:r>
              <a:rPr lang="en-US" sz="950" b="1" kern="0" spc="140" dirty="0">
                <a:solidFill>
                  <a:srgbClr val="8C97AC"/>
                </a:solidFill>
                <a:latin typeface="Arial" pitchFamily="34" charset="0"/>
                <a:ea typeface="Arial" pitchFamily="34" charset="-122"/>
                <a:cs typeface="Arial" pitchFamily="34" charset="-120"/>
              </a:rPr>
              <a:t>LOW VALUE</a:t>
            </a:r>
            <a:endParaRPr lang="en-US" sz="950" dirty="0"/>
          </a:p>
        </p:txBody>
      </p:sp>
      <p:sp>
        <p:nvSpPr>
          <p:cNvPr id="24" name="Text 22"/>
          <p:cNvSpPr txBox="1"/>
          <p:nvPr/>
        </p:nvSpPr>
        <p:spPr>
          <a:xfrm>
            <a:off x="5532120" y="3534156"/>
            <a:ext cx="1280160" cy="274320"/>
          </a:xfrm>
          <a:prstGeom prst="rect">
            <a:avLst/>
          </a:prstGeom>
          <a:noFill/>
          <a:ln/>
        </p:spPr>
        <p:txBody>
          <a:bodyPr wrap="square" lIns="0" tIns="0" rIns="0" bIns="0" rtlCol="0" anchor="ctr"/>
          <a:lstStyle/>
          <a:p>
            <a:pPr marL="0" indent="0">
              <a:buNone/>
            </a:pPr>
            <a:r>
              <a:rPr lang="en-US" sz="900" b="1" kern="0" spc="100" dirty="0">
                <a:solidFill>
                  <a:srgbClr val="8C97AC"/>
                </a:solidFill>
                <a:latin typeface="Arial" pitchFamily="34" charset="0"/>
                <a:ea typeface="Arial" pitchFamily="34" charset="-122"/>
                <a:cs typeface="Arial" pitchFamily="34" charset="-120"/>
              </a:rPr>
              <a:t>LOW EFFORT</a:t>
            </a:r>
            <a:endParaRPr lang="en-US" sz="900" dirty="0"/>
          </a:p>
        </p:txBody>
      </p:sp>
      <p:sp>
        <p:nvSpPr>
          <p:cNvPr id="25" name="Text 23"/>
          <p:cNvSpPr txBox="1"/>
          <p:nvPr/>
        </p:nvSpPr>
        <p:spPr>
          <a:xfrm>
            <a:off x="9966960" y="3534156"/>
            <a:ext cx="1234440" cy="274320"/>
          </a:xfrm>
          <a:prstGeom prst="rect">
            <a:avLst/>
          </a:prstGeom>
          <a:noFill/>
          <a:ln/>
        </p:spPr>
        <p:txBody>
          <a:bodyPr wrap="square" lIns="0" tIns="0" rIns="0" bIns="0" rtlCol="0" anchor="ctr"/>
          <a:lstStyle/>
          <a:p>
            <a:pPr marL="0" indent="0" algn="r">
              <a:buNone/>
            </a:pPr>
            <a:r>
              <a:rPr lang="en-US" sz="900" b="1" kern="0" spc="100" dirty="0">
                <a:solidFill>
                  <a:srgbClr val="8C97AC"/>
                </a:solidFill>
                <a:latin typeface="Arial" pitchFamily="34" charset="0"/>
                <a:ea typeface="Arial" pitchFamily="34" charset="-122"/>
                <a:cs typeface="Arial" pitchFamily="34" charset="-120"/>
              </a:rPr>
              <a:t>HIGH EFFORT</a:t>
            </a:r>
            <a:endParaRPr lang="en-US" sz="900" dirty="0"/>
          </a:p>
        </p:txBody>
      </p:sp>
      <p:sp>
        <p:nvSpPr>
          <p:cNvPr id="26" name="Shape 24"/>
          <p:cNvSpPr/>
          <p:nvPr/>
        </p:nvSpPr>
        <p:spPr>
          <a:xfrm>
            <a:off x="5806440" y="2286000"/>
            <a:ext cx="2194560" cy="960120"/>
          </a:xfrm>
          <a:prstGeom prst="roundRect">
            <a:avLst>
              <a:gd name="adj" fmla="val 7619"/>
            </a:avLst>
          </a:prstGeom>
          <a:solidFill>
            <a:srgbClr val="2A1618"/>
          </a:solidFill>
          <a:ln w="12700">
            <a:solidFill>
              <a:srgbClr val="FF6B5E"/>
            </a:solidFill>
            <a:prstDash val="solid"/>
          </a:ln>
        </p:spPr>
        <p:txBody>
          <a:bodyPr/>
          <a:lstStyle/>
          <a:p>
            <a:endParaRPr lang="en-NP"/>
          </a:p>
        </p:txBody>
      </p:sp>
      <p:sp>
        <p:nvSpPr>
          <p:cNvPr id="27" name="Text 25"/>
          <p:cNvSpPr txBox="1"/>
          <p:nvPr/>
        </p:nvSpPr>
        <p:spPr>
          <a:xfrm>
            <a:off x="5806440" y="2286000"/>
            <a:ext cx="2194560" cy="960120"/>
          </a:xfrm>
          <a:prstGeom prst="rect">
            <a:avLst/>
          </a:prstGeom>
          <a:noFill/>
          <a:ln/>
        </p:spPr>
        <p:txBody>
          <a:bodyPr wrap="square" lIns="0" tIns="0" rIns="0" bIns="0" rtlCol="0" anchor="ctr"/>
          <a:lstStyle/>
          <a:p>
            <a:pPr marL="0" indent="0" algn="ctr">
              <a:buNone/>
            </a:pPr>
            <a:r>
              <a:rPr lang="en-US" sz="1300" b="1" dirty="0">
                <a:solidFill>
                  <a:srgbClr val="FF6B5E"/>
                </a:solidFill>
                <a:latin typeface="Arial" pitchFamily="34" charset="0"/>
                <a:ea typeface="Arial" pitchFamily="34" charset="-122"/>
                <a:cs typeface="Arial" pitchFamily="34" charset="-120"/>
              </a:rPr>
              <a:t>ATTACK TODAY</a:t>
            </a:r>
            <a:endParaRPr lang="en-US" sz="1300" dirty="0"/>
          </a:p>
        </p:txBody>
      </p:sp>
      <p:sp>
        <p:nvSpPr>
          <p:cNvPr id="28" name="Shape 26"/>
          <p:cNvSpPr/>
          <p:nvPr/>
        </p:nvSpPr>
        <p:spPr>
          <a:xfrm>
            <a:off x="8686800" y="2286000"/>
            <a:ext cx="2194560" cy="960120"/>
          </a:xfrm>
          <a:prstGeom prst="roundRect">
            <a:avLst>
              <a:gd name="adj" fmla="val 7619"/>
            </a:avLst>
          </a:prstGeom>
          <a:solidFill>
            <a:srgbClr val="1A2130"/>
          </a:solidFill>
          <a:ln w="12700">
            <a:solidFill>
              <a:srgbClr val="FFA33A"/>
            </a:solidFill>
            <a:prstDash val="solid"/>
          </a:ln>
        </p:spPr>
        <p:txBody>
          <a:bodyPr/>
          <a:lstStyle/>
          <a:p>
            <a:endParaRPr lang="en-NP"/>
          </a:p>
        </p:txBody>
      </p:sp>
      <p:sp>
        <p:nvSpPr>
          <p:cNvPr id="29" name="Text 27"/>
          <p:cNvSpPr txBox="1"/>
          <p:nvPr/>
        </p:nvSpPr>
        <p:spPr>
          <a:xfrm>
            <a:off x="8686800" y="2286000"/>
            <a:ext cx="2194560" cy="960120"/>
          </a:xfrm>
          <a:prstGeom prst="rect">
            <a:avLst/>
          </a:prstGeom>
          <a:noFill/>
          <a:ln/>
        </p:spPr>
        <p:txBody>
          <a:bodyPr wrap="square" lIns="0" tIns="0" rIns="0" bIns="0" rtlCol="0" anchor="ctr"/>
          <a:lstStyle/>
          <a:p>
            <a:pPr marL="0" indent="0" algn="ctr">
              <a:buNone/>
            </a:pPr>
            <a:r>
              <a:rPr lang="en-US" sz="1200" b="1" dirty="0">
                <a:solidFill>
                  <a:srgbClr val="FFA33A"/>
                </a:solidFill>
                <a:latin typeface="Arial" pitchFamily="34" charset="0"/>
                <a:ea typeface="Arial" pitchFamily="34" charset="-122"/>
                <a:cs typeface="Arial" pitchFamily="34" charset="-120"/>
              </a:rPr>
              <a:t>MAYBE. IF FUNDED.</a:t>
            </a:r>
            <a:endParaRPr lang="en-US" sz="1200" dirty="0"/>
          </a:p>
        </p:txBody>
      </p:sp>
      <p:sp>
        <p:nvSpPr>
          <p:cNvPr id="30" name="Shape 28"/>
          <p:cNvSpPr/>
          <p:nvPr/>
        </p:nvSpPr>
        <p:spPr>
          <a:xfrm>
            <a:off x="5806440" y="4069080"/>
            <a:ext cx="2194560" cy="960120"/>
          </a:xfrm>
          <a:prstGeom prst="roundRect">
            <a:avLst>
              <a:gd name="adj" fmla="val 7619"/>
            </a:avLst>
          </a:prstGeom>
          <a:solidFill>
            <a:srgbClr val="1A2130"/>
          </a:solidFill>
          <a:ln w="12700">
            <a:solidFill>
              <a:srgbClr val="FFC15E"/>
            </a:solidFill>
            <a:prstDash val="solid"/>
          </a:ln>
        </p:spPr>
        <p:txBody>
          <a:bodyPr/>
          <a:lstStyle/>
          <a:p>
            <a:endParaRPr lang="en-NP"/>
          </a:p>
        </p:txBody>
      </p:sp>
      <p:sp>
        <p:nvSpPr>
          <p:cNvPr id="31" name="Text 29"/>
          <p:cNvSpPr txBox="1"/>
          <p:nvPr/>
        </p:nvSpPr>
        <p:spPr>
          <a:xfrm>
            <a:off x="5806440" y="4069080"/>
            <a:ext cx="2194560" cy="960120"/>
          </a:xfrm>
          <a:prstGeom prst="rect">
            <a:avLst/>
          </a:prstGeom>
          <a:noFill/>
          <a:ln/>
        </p:spPr>
        <p:txBody>
          <a:bodyPr wrap="square" lIns="0" tIns="0" rIns="0" bIns="0" rtlCol="0" anchor="ctr"/>
          <a:lstStyle/>
          <a:p>
            <a:pPr marL="0" indent="0" algn="ctr">
              <a:buNone/>
            </a:pPr>
            <a:r>
              <a:rPr lang="en-US" sz="1200" b="1" dirty="0">
                <a:solidFill>
                  <a:srgbClr val="FFC15E"/>
                </a:solidFill>
                <a:latin typeface="Arial" pitchFamily="34" charset="0"/>
                <a:ea typeface="Arial" pitchFamily="34" charset="-122"/>
                <a:cs typeface="Arial" pitchFamily="34" charset="-120"/>
              </a:rPr>
              <a:t>AUTOMATE IT ANYWAY</a:t>
            </a:r>
            <a:endParaRPr lang="en-US" sz="1200" dirty="0"/>
          </a:p>
        </p:txBody>
      </p:sp>
      <p:sp>
        <p:nvSpPr>
          <p:cNvPr id="32" name="Shape 30"/>
          <p:cNvSpPr/>
          <p:nvPr/>
        </p:nvSpPr>
        <p:spPr>
          <a:xfrm>
            <a:off x="8686800" y="4069080"/>
            <a:ext cx="2194560" cy="960120"/>
          </a:xfrm>
          <a:prstGeom prst="roundRect">
            <a:avLst>
              <a:gd name="adj" fmla="val 7619"/>
            </a:avLst>
          </a:prstGeom>
          <a:solidFill>
            <a:srgbClr val="1A2130"/>
          </a:solidFill>
          <a:ln w="12700">
            <a:solidFill>
              <a:srgbClr val="5C687D"/>
            </a:solidFill>
            <a:prstDash val="solid"/>
          </a:ln>
        </p:spPr>
        <p:txBody>
          <a:bodyPr/>
          <a:lstStyle/>
          <a:p>
            <a:endParaRPr lang="en-NP"/>
          </a:p>
        </p:txBody>
      </p:sp>
      <p:sp>
        <p:nvSpPr>
          <p:cNvPr id="33" name="Text 31"/>
          <p:cNvSpPr txBox="1"/>
          <p:nvPr/>
        </p:nvSpPr>
        <p:spPr>
          <a:xfrm>
            <a:off x="8686800" y="4069080"/>
            <a:ext cx="2194560" cy="960120"/>
          </a:xfrm>
          <a:prstGeom prst="rect">
            <a:avLst/>
          </a:prstGeom>
          <a:noFill/>
          <a:ln/>
        </p:spPr>
        <p:txBody>
          <a:bodyPr wrap="square" lIns="0" tIns="0" rIns="0" bIns="0" rtlCol="0" anchor="ctr"/>
          <a:lstStyle/>
          <a:p>
            <a:pPr marL="0" indent="0" algn="ctr">
              <a:buNone/>
            </a:pPr>
            <a:r>
              <a:rPr lang="en-US" sz="1300" b="1" dirty="0">
                <a:solidFill>
                  <a:srgbClr val="8C97AC"/>
                </a:solidFill>
                <a:latin typeface="Arial" pitchFamily="34" charset="0"/>
                <a:ea typeface="Arial" pitchFamily="34" charset="-122"/>
                <a:cs typeface="Arial" pitchFamily="34" charset="-120"/>
              </a:rPr>
              <a:t>IGNORE</a:t>
            </a:r>
            <a:endParaRPr lang="en-US" sz="1300" dirty="0"/>
          </a:p>
        </p:txBody>
      </p:sp>
      <p:sp>
        <p:nvSpPr>
          <p:cNvPr id="34" name="Text 32"/>
          <p:cNvSpPr txBox="1"/>
          <p:nvPr/>
        </p:nvSpPr>
        <p:spPr>
          <a:xfrm>
            <a:off x="548640" y="5870448"/>
            <a:ext cx="11091672" cy="365760"/>
          </a:xfrm>
          <a:prstGeom prst="rect">
            <a:avLst/>
          </a:prstGeom>
          <a:noFill/>
          <a:ln/>
        </p:spPr>
        <p:txBody>
          <a:bodyPr wrap="square" lIns="0" tIns="0" rIns="0" bIns="0" rtlCol="0" anchor="ctr"/>
          <a:lstStyle/>
          <a:p>
            <a:pPr marL="0" indent="0" algn="ctr">
              <a:buNone/>
            </a:pPr>
            <a:r>
              <a:rPr lang="en-US" sz="1500" b="1" i="1" dirty="0">
                <a:solidFill>
                  <a:srgbClr val="C9B6FF"/>
                </a:solidFill>
                <a:latin typeface="Arial" pitchFamily="34" charset="0"/>
                <a:ea typeface="Arial" pitchFamily="34" charset="-122"/>
                <a:cs typeface="Arial" pitchFamily="34" charset="-120"/>
              </a:rPr>
              <a:t>Your goal is not to be unhackable. Your goal is to be expensive.</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FF6B5E"/>
                </a:solidFill>
                <a:latin typeface="Arial" pitchFamily="34" charset="0"/>
                <a:ea typeface="Arial" pitchFamily="34" charset="-122"/>
                <a:cs typeface="Arial" pitchFamily="34" charset="-120"/>
              </a:rPr>
              <a:t>TARGET SELECTION</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2800" b="1" dirty="0">
                <a:solidFill>
                  <a:srgbClr val="E9EEF7"/>
                </a:solidFill>
                <a:latin typeface="Arial" pitchFamily="34" charset="0"/>
                <a:ea typeface="Arial" pitchFamily="34" charset="-122"/>
                <a:cs typeface="Arial" pitchFamily="34" charset="-120"/>
              </a:rPr>
              <a:t>The Ten Questions Before Anyone Touches Your App</a:t>
            </a:r>
            <a:endParaRPr lang="en-US" sz="2800" dirty="0"/>
          </a:p>
        </p:txBody>
      </p:sp>
      <p:sp>
        <p:nvSpPr>
          <p:cNvPr id="4" name="Shape 2"/>
          <p:cNvSpPr/>
          <p:nvPr/>
        </p:nvSpPr>
        <p:spPr>
          <a:xfrm>
            <a:off x="548640" y="1783080"/>
            <a:ext cx="5440680" cy="621792"/>
          </a:xfrm>
          <a:prstGeom prst="roundRect">
            <a:avLst>
              <a:gd name="adj" fmla="val 11765"/>
            </a:avLst>
          </a:prstGeom>
          <a:solidFill>
            <a:srgbClr val="141A26"/>
          </a:solidFill>
          <a:ln w="12700">
            <a:solidFill>
              <a:srgbClr val="2A3446"/>
            </a:solidFill>
            <a:prstDash val="solid"/>
          </a:ln>
        </p:spPr>
        <p:txBody>
          <a:bodyPr/>
          <a:lstStyle/>
          <a:p>
            <a:endParaRPr lang="en-NP"/>
          </a:p>
        </p:txBody>
      </p:sp>
      <p:sp>
        <p:nvSpPr>
          <p:cNvPr id="5" name="Text 3"/>
          <p:cNvSpPr txBox="1"/>
          <p:nvPr/>
        </p:nvSpPr>
        <p:spPr>
          <a:xfrm>
            <a:off x="749808" y="1783080"/>
            <a:ext cx="548640" cy="621792"/>
          </a:xfrm>
          <a:prstGeom prst="rect">
            <a:avLst/>
          </a:prstGeom>
          <a:noFill/>
          <a:ln/>
        </p:spPr>
        <p:txBody>
          <a:bodyPr wrap="square" lIns="0" tIns="0" rIns="0" bIns="0" rtlCol="0" anchor="ctr"/>
          <a:lstStyle/>
          <a:p>
            <a:pPr marL="0" indent="0">
              <a:buNone/>
            </a:pPr>
            <a:r>
              <a:rPr lang="en-US" sz="1300" b="1" dirty="0">
                <a:solidFill>
                  <a:srgbClr val="FF6B5E"/>
                </a:solidFill>
                <a:latin typeface="Courier New" pitchFamily="34" charset="0"/>
                <a:ea typeface="Courier New" pitchFamily="34" charset="-122"/>
                <a:cs typeface="Courier New" pitchFamily="34" charset="-120"/>
              </a:rPr>
              <a:t>01</a:t>
            </a:r>
            <a:endParaRPr lang="en-US" sz="1300" dirty="0"/>
          </a:p>
        </p:txBody>
      </p:sp>
      <p:sp>
        <p:nvSpPr>
          <p:cNvPr id="6" name="Text 4"/>
          <p:cNvSpPr txBox="1"/>
          <p:nvPr/>
        </p:nvSpPr>
        <p:spPr>
          <a:xfrm>
            <a:off x="1353312" y="1783080"/>
            <a:ext cx="4480560" cy="621792"/>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What is actually exposed?</a:t>
            </a:r>
            <a:endParaRPr lang="en-US" sz="1350" dirty="0"/>
          </a:p>
        </p:txBody>
      </p:sp>
      <p:sp>
        <p:nvSpPr>
          <p:cNvPr id="7" name="Shape 5"/>
          <p:cNvSpPr/>
          <p:nvPr/>
        </p:nvSpPr>
        <p:spPr>
          <a:xfrm>
            <a:off x="548640" y="2496312"/>
            <a:ext cx="5440680" cy="621792"/>
          </a:xfrm>
          <a:prstGeom prst="roundRect">
            <a:avLst>
              <a:gd name="adj" fmla="val 11765"/>
            </a:avLst>
          </a:prstGeom>
          <a:solidFill>
            <a:srgbClr val="141A26"/>
          </a:solidFill>
          <a:ln w="12700">
            <a:solidFill>
              <a:srgbClr val="2A3446"/>
            </a:solidFill>
            <a:prstDash val="solid"/>
          </a:ln>
        </p:spPr>
        <p:txBody>
          <a:bodyPr/>
          <a:lstStyle/>
          <a:p>
            <a:endParaRPr lang="en-NP"/>
          </a:p>
        </p:txBody>
      </p:sp>
      <p:sp>
        <p:nvSpPr>
          <p:cNvPr id="8" name="Text 6"/>
          <p:cNvSpPr txBox="1"/>
          <p:nvPr/>
        </p:nvSpPr>
        <p:spPr>
          <a:xfrm>
            <a:off x="749808" y="2496312"/>
            <a:ext cx="548640" cy="621792"/>
          </a:xfrm>
          <a:prstGeom prst="rect">
            <a:avLst/>
          </a:prstGeom>
          <a:noFill/>
          <a:ln/>
        </p:spPr>
        <p:txBody>
          <a:bodyPr wrap="square" lIns="0" tIns="0" rIns="0" bIns="0" rtlCol="0" anchor="ctr"/>
          <a:lstStyle/>
          <a:p>
            <a:pPr marL="0" indent="0">
              <a:buNone/>
            </a:pPr>
            <a:r>
              <a:rPr lang="en-US" sz="1300" b="1" dirty="0">
                <a:solidFill>
                  <a:srgbClr val="FF6B5E"/>
                </a:solidFill>
                <a:latin typeface="Courier New" pitchFamily="34" charset="0"/>
                <a:ea typeface="Courier New" pitchFamily="34" charset="-122"/>
                <a:cs typeface="Courier New" pitchFamily="34" charset="-120"/>
              </a:rPr>
              <a:t>02</a:t>
            </a:r>
            <a:endParaRPr lang="en-US" sz="1300" dirty="0"/>
          </a:p>
        </p:txBody>
      </p:sp>
      <p:sp>
        <p:nvSpPr>
          <p:cNvPr id="9" name="Text 7"/>
          <p:cNvSpPr txBox="1"/>
          <p:nvPr/>
        </p:nvSpPr>
        <p:spPr>
          <a:xfrm>
            <a:off x="1353312" y="2496312"/>
            <a:ext cx="4480560" cy="621792"/>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What is valuable in there?</a:t>
            </a:r>
            <a:endParaRPr lang="en-US" sz="1350" dirty="0"/>
          </a:p>
        </p:txBody>
      </p:sp>
      <p:sp>
        <p:nvSpPr>
          <p:cNvPr id="10" name="Shape 8"/>
          <p:cNvSpPr/>
          <p:nvPr/>
        </p:nvSpPr>
        <p:spPr>
          <a:xfrm>
            <a:off x="548640" y="3209544"/>
            <a:ext cx="5440680" cy="621792"/>
          </a:xfrm>
          <a:prstGeom prst="roundRect">
            <a:avLst>
              <a:gd name="adj" fmla="val 11765"/>
            </a:avLst>
          </a:prstGeom>
          <a:solidFill>
            <a:srgbClr val="141A26"/>
          </a:solidFill>
          <a:ln w="12700">
            <a:solidFill>
              <a:srgbClr val="2A3446"/>
            </a:solidFill>
            <a:prstDash val="solid"/>
          </a:ln>
        </p:spPr>
        <p:txBody>
          <a:bodyPr/>
          <a:lstStyle/>
          <a:p>
            <a:endParaRPr lang="en-NP"/>
          </a:p>
        </p:txBody>
      </p:sp>
      <p:sp>
        <p:nvSpPr>
          <p:cNvPr id="11" name="Text 9"/>
          <p:cNvSpPr txBox="1"/>
          <p:nvPr/>
        </p:nvSpPr>
        <p:spPr>
          <a:xfrm>
            <a:off x="749808" y="3209544"/>
            <a:ext cx="548640" cy="621792"/>
          </a:xfrm>
          <a:prstGeom prst="rect">
            <a:avLst/>
          </a:prstGeom>
          <a:noFill/>
          <a:ln/>
        </p:spPr>
        <p:txBody>
          <a:bodyPr wrap="square" lIns="0" tIns="0" rIns="0" bIns="0" rtlCol="0" anchor="ctr"/>
          <a:lstStyle/>
          <a:p>
            <a:pPr marL="0" indent="0">
              <a:buNone/>
            </a:pPr>
            <a:r>
              <a:rPr lang="en-US" sz="1300" b="1" dirty="0">
                <a:solidFill>
                  <a:srgbClr val="FF6B5E"/>
                </a:solidFill>
                <a:latin typeface="Courier New" pitchFamily="34" charset="0"/>
                <a:ea typeface="Courier New" pitchFamily="34" charset="-122"/>
                <a:cs typeface="Courier New" pitchFamily="34" charset="-120"/>
              </a:rPr>
              <a:t>03</a:t>
            </a:r>
            <a:endParaRPr lang="en-US" sz="1300" dirty="0"/>
          </a:p>
        </p:txBody>
      </p:sp>
      <p:sp>
        <p:nvSpPr>
          <p:cNvPr id="12" name="Text 10"/>
          <p:cNvSpPr txBox="1"/>
          <p:nvPr/>
        </p:nvSpPr>
        <p:spPr>
          <a:xfrm>
            <a:off x="1353312" y="3209544"/>
            <a:ext cx="4480560" cy="621792"/>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How easy is it to attack?</a:t>
            </a:r>
            <a:endParaRPr lang="en-US" sz="1350" dirty="0"/>
          </a:p>
        </p:txBody>
      </p:sp>
      <p:sp>
        <p:nvSpPr>
          <p:cNvPr id="13" name="Shape 11"/>
          <p:cNvSpPr/>
          <p:nvPr/>
        </p:nvSpPr>
        <p:spPr>
          <a:xfrm>
            <a:off x="548640" y="3922776"/>
            <a:ext cx="5440680" cy="621792"/>
          </a:xfrm>
          <a:prstGeom prst="roundRect">
            <a:avLst>
              <a:gd name="adj" fmla="val 11765"/>
            </a:avLst>
          </a:prstGeom>
          <a:solidFill>
            <a:srgbClr val="141A26"/>
          </a:solidFill>
          <a:ln w="12700">
            <a:solidFill>
              <a:srgbClr val="2A3446"/>
            </a:solidFill>
            <a:prstDash val="solid"/>
          </a:ln>
        </p:spPr>
        <p:txBody>
          <a:bodyPr/>
          <a:lstStyle/>
          <a:p>
            <a:endParaRPr lang="en-NP"/>
          </a:p>
        </p:txBody>
      </p:sp>
      <p:sp>
        <p:nvSpPr>
          <p:cNvPr id="14" name="Text 12"/>
          <p:cNvSpPr txBox="1"/>
          <p:nvPr/>
        </p:nvSpPr>
        <p:spPr>
          <a:xfrm>
            <a:off x="749808" y="3922776"/>
            <a:ext cx="548640" cy="621792"/>
          </a:xfrm>
          <a:prstGeom prst="rect">
            <a:avLst/>
          </a:prstGeom>
          <a:noFill/>
          <a:ln/>
        </p:spPr>
        <p:txBody>
          <a:bodyPr wrap="square" lIns="0" tIns="0" rIns="0" bIns="0" rtlCol="0" anchor="ctr"/>
          <a:lstStyle/>
          <a:p>
            <a:pPr marL="0" indent="0">
              <a:buNone/>
            </a:pPr>
            <a:r>
              <a:rPr lang="en-US" sz="1300" b="1" dirty="0">
                <a:solidFill>
                  <a:srgbClr val="FF6B5E"/>
                </a:solidFill>
                <a:latin typeface="Courier New" pitchFamily="34" charset="0"/>
                <a:ea typeface="Courier New" pitchFamily="34" charset="-122"/>
                <a:cs typeface="Courier New" pitchFamily="34" charset="-120"/>
              </a:rPr>
              <a:t>04</a:t>
            </a:r>
            <a:endParaRPr lang="en-US" sz="1300" dirty="0"/>
          </a:p>
        </p:txBody>
      </p:sp>
      <p:sp>
        <p:nvSpPr>
          <p:cNvPr id="15" name="Text 13"/>
          <p:cNvSpPr txBox="1"/>
          <p:nvPr/>
        </p:nvSpPr>
        <p:spPr>
          <a:xfrm>
            <a:off x="1353312" y="3922776"/>
            <a:ext cx="4480560" cy="621792"/>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Can I automate it?</a:t>
            </a:r>
            <a:endParaRPr lang="en-US" sz="1350" dirty="0"/>
          </a:p>
        </p:txBody>
      </p:sp>
      <p:sp>
        <p:nvSpPr>
          <p:cNvPr id="16" name="Shape 14"/>
          <p:cNvSpPr/>
          <p:nvPr/>
        </p:nvSpPr>
        <p:spPr>
          <a:xfrm>
            <a:off x="548640" y="4636008"/>
            <a:ext cx="5440680" cy="621792"/>
          </a:xfrm>
          <a:prstGeom prst="roundRect">
            <a:avLst>
              <a:gd name="adj" fmla="val 11765"/>
            </a:avLst>
          </a:prstGeom>
          <a:solidFill>
            <a:srgbClr val="141A26"/>
          </a:solidFill>
          <a:ln w="12700">
            <a:solidFill>
              <a:srgbClr val="2A3446"/>
            </a:solidFill>
            <a:prstDash val="solid"/>
          </a:ln>
        </p:spPr>
        <p:txBody>
          <a:bodyPr/>
          <a:lstStyle/>
          <a:p>
            <a:endParaRPr lang="en-NP"/>
          </a:p>
        </p:txBody>
      </p:sp>
      <p:sp>
        <p:nvSpPr>
          <p:cNvPr id="17" name="Text 15"/>
          <p:cNvSpPr txBox="1"/>
          <p:nvPr/>
        </p:nvSpPr>
        <p:spPr>
          <a:xfrm>
            <a:off x="749808" y="4636008"/>
            <a:ext cx="548640" cy="621792"/>
          </a:xfrm>
          <a:prstGeom prst="rect">
            <a:avLst/>
          </a:prstGeom>
          <a:noFill/>
          <a:ln/>
        </p:spPr>
        <p:txBody>
          <a:bodyPr wrap="square" lIns="0" tIns="0" rIns="0" bIns="0" rtlCol="0" anchor="ctr"/>
          <a:lstStyle/>
          <a:p>
            <a:pPr marL="0" indent="0">
              <a:buNone/>
            </a:pPr>
            <a:r>
              <a:rPr lang="en-US" sz="1300" b="1" dirty="0">
                <a:solidFill>
                  <a:srgbClr val="FF6B5E"/>
                </a:solidFill>
                <a:latin typeface="Courier New" pitchFamily="34" charset="0"/>
                <a:ea typeface="Courier New" pitchFamily="34" charset="-122"/>
                <a:cs typeface="Courier New" pitchFamily="34" charset="-120"/>
              </a:rPr>
              <a:t>05</a:t>
            </a:r>
            <a:endParaRPr lang="en-US" sz="1300" dirty="0"/>
          </a:p>
        </p:txBody>
      </p:sp>
      <p:sp>
        <p:nvSpPr>
          <p:cNvPr id="18" name="Text 16"/>
          <p:cNvSpPr txBox="1"/>
          <p:nvPr/>
        </p:nvSpPr>
        <p:spPr>
          <a:xfrm>
            <a:off x="1353312" y="4636008"/>
            <a:ext cx="4480560" cy="621792"/>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Can I escalate from it?</a:t>
            </a:r>
            <a:endParaRPr lang="en-US" sz="1350" dirty="0"/>
          </a:p>
        </p:txBody>
      </p:sp>
      <p:sp>
        <p:nvSpPr>
          <p:cNvPr id="19" name="Shape 17"/>
          <p:cNvSpPr/>
          <p:nvPr/>
        </p:nvSpPr>
        <p:spPr>
          <a:xfrm>
            <a:off x="6199632" y="1783080"/>
            <a:ext cx="5440680" cy="621792"/>
          </a:xfrm>
          <a:prstGeom prst="roundRect">
            <a:avLst>
              <a:gd name="adj" fmla="val 11765"/>
            </a:avLst>
          </a:prstGeom>
          <a:solidFill>
            <a:srgbClr val="141A26"/>
          </a:solidFill>
          <a:ln w="12700">
            <a:solidFill>
              <a:srgbClr val="2A3446"/>
            </a:solidFill>
            <a:prstDash val="solid"/>
          </a:ln>
        </p:spPr>
        <p:txBody>
          <a:bodyPr/>
          <a:lstStyle/>
          <a:p>
            <a:endParaRPr lang="en-NP"/>
          </a:p>
        </p:txBody>
      </p:sp>
      <p:sp>
        <p:nvSpPr>
          <p:cNvPr id="20" name="Text 18"/>
          <p:cNvSpPr txBox="1"/>
          <p:nvPr/>
        </p:nvSpPr>
        <p:spPr>
          <a:xfrm>
            <a:off x="6400800" y="1783080"/>
            <a:ext cx="548640" cy="621792"/>
          </a:xfrm>
          <a:prstGeom prst="rect">
            <a:avLst/>
          </a:prstGeom>
          <a:noFill/>
          <a:ln/>
        </p:spPr>
        <p:txBody>
          <a:bodyPr wrap="square" lIns="0" tIns="0" rIns="0" bIns="0" rtlCol="0" anchor="ctr"/>
          <a:lstStyle/>
          <a:p>
            <a:pPr marL="0" indent="0">
              <a:buNone/>
            </a:pPr>
            <a:r>
              <a:rPr lang="en-US" sz="1300" b="1" dirty="0">
                <a:solidFill>
                  <a:srgbClr val="FF6B5E"/>
                </a:solidFill>
                <a:latin typeface="Courier New" pitchFamily="34" charset="0"/>
                <a:ea typeface="Courier New" pitchFamily="34" charset="-122"/>
                <a:cs typeface="Courier New" pitchFamily="34" charset="-120"/>
              </a:rPr>
              <a:t>06</a:t>
            </a:r>
            <a:endParaRPr lang="en-US" sz="1300" dirty="0"/>
          </a:p>
        </p:txBody>
      </p:sp>
      <p:sp>
        <p:nvSpPr>
          <p:cNvPr id="21" name="Text 19"/>
          <p:cNvSpPr txBox="1"/>
          <p:nvPr/>
        </p:nvSpPr>
        <p:spPr>
          <a:xfrm>
            <a:off x="7004304" y="1783080"/>
            <a:ext cx="4480560" cy="621792"/>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Is there something better downstream?</a:t>
            </a:r>
            <a:endParaRPr lang="en-US" sz="1350" dirty="0"/>
          </a:p>
        </p:txBody>
      </p:sp>
      <p:sp>
        <p:nvSpPr>
          <p:cNvPr id="22" name="Shape 20"/>
          <p:cNvSpPr/>
          <p:nvPr/>
        </p:nvSpPr>
        <p:spPr>
          <a:xfrm>
            <a:off x="6199632" y="2496312"/>
            <a:ext cx="5440680" cy="621792"/>
          </a:xfrm>
          <a:prstGeom prst="roundRect">
            <a:avLst>
              <a:gd name="adj" fmla="val 11765"/>
            </a:avLst>
          </a:prstGeom>
          <a:solidFill>
            <a:srgbClr val="141A26"/>
          </a:solidFill>
          <a:ln w="12700">
            <a:solidFill>
              <a:srgbClr val="2A3446"/>
            </a:solidFill>
            <a:prstDash val="solid"/>
          </a:ln>
        </p:spPr>
        <p:txBody>
          <a:bodyPr/>
          <a:lstStyle/>
          <a:p>
            <a:endParaRPr lang="en-NP"/>
          </a:p>
        </p:txBody>
      </p:sp>
      <p:sp>
        <p:nvSpPr>
          <p:cNvPr id="23" name="Text 21"/>
          <p:cNvSpPr txBox="1"/>
          <p:nvPr/>
        </p:nvSpPr>
        <p:spPr>
          <a:xfrm>
            <a:off x="6400800" y="2496312"/>
            <a:ext cx="548640" cy="621792"/>
          </a:xfrm>
          <a:prstGeom prst="rect">
            <a:avLst/>
          </a:prstGeom>
          <a:noFill/>
          <a:ln/>
        </p:spPr>
        <p:txBody>
          <a:bodyPr wrap="square" lIns="0" tIns="0" rIns="0" bIns="0" rtlCol="0" anchor="ctr"/>
          <a:lstStyle/>
          <a:p>
            <a:pPr marL="0" indent="0">
              <a:buNone/>
            </a:pPr>
            <a:r>
              <a:rPr lang="en-US" sz="1300" b="1" dirty="0">
                <a:solidFill>
                  <a:srgbClr val="FF6B5E"/>
                </a:solidFill>
                <a:latin typeface="Courier New" pitchFamily="34" charset="0"/>
                <a:ea typeface="Courier New" pitchFamily="34" charset="-122"/>
                <a:cs typeface="Courier New" pitchFamily="34" charset="-120"/>
              </a:rPr>
              <a:t>07</a:t>
            </a:r>
            <a:endParaRPr lang="en-US" sz="1300" dirty="0"/>
          </a:p>
        </p:txBody>
      </p:sp>
      <p:sp>
        <p:nvSpPr>
          <p:cNvPr id="24" name="Text 22"/>
          <p:cNvSpPr txBox="1"/>
          <p:nvPr/>
        </p:nvSpPr>
        <p:spPr>
          <a:xfrm>
            <a:off x="7004304" y="2496312"/>
            <a:ext cx="4480560" cy="621792"/>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How likely am I to be detected?</a:t>
            </a:r>
            <a:endParaRPr lang="en-US" sz="1350" dirty="0"/>
          </a:p>
        </p:txBody>
      </p:sp>
      <p:sp>
        <p:nvSpPr>
          <p:cNvPr id="25" name="Shape 23"/>
          <p:cNvSpPr/>
          <p:nvPr/>
        </p:nvSpPr>
        <p:spPr>
          <a:xfrm>
            <a:off x="6199632" y="3209544"/>
            <a:ext cx="5440680" cy="621792"/>
          </a:xfrm>
          <a:prstGeom prst="roundRect">
            <a:avLst>
              <a:gd name="adj" fmla="val 11765"/>
            </a:avLst>
          </a:prstGeom>
          <a:solidFill>
            <a:srgbClr val="141A26"/>
          </a:solidFill>
          <a:ln w="12700">
            <a:solidFill>
              <a:srgbClr val="2A3446"/>
            </a:solidFill>
            <a:prstDash val="solid"/>
          </a:ln>
        </p:spPr>
        <p:txBody>
          <a:bodyPr/>
          <a:lstStyle/>
          <a:p>
            <a:endParaRPr lang="en-NP"/>
          </a:p>
        </p:txBody>
      </p:sp>
      <p:sp>
        <p:nvSpPr>
          <p:cNvPr id="26" name="Text 24"/>
          <p:cNvSpPr txBox="1"/>
          <p:nvPr/>
        </p:nvSpPr>
        <p:spPr>
          <a:xfrm>
            <a:off x="6400800" y="3209544"/>
            <a:ext cx="548640" cy="621792"/>
          </a:xfrm>
          <a:prstGeom prst="rect">
            <a:avLst/>
          </a:prstGeom>
          <a:noFill/>
          <a:ln/>
        </p:spPr>
        <p:txBody>
          <a:bodyPr wrap="square" lIns="0" tIns="0" rIns="0" bIns="0" rtlCol="0" anchor="ctr"/>
          <a:lstStyle/>
          <a:p>
            <a:pPr marL="0" indent="0">
              <a:buNone/>
            </a:pPr>
            <a:r>
              <a:rPr lang="en-US" sz="1300" b="1" dirty="0">
                <a:solidFill>
                  <a:srgbClr val="FF6B5E"/>
                </a:solidFill>
                <a:latin typeface="Courier New" pitchFamily="34" charset="0"/>
                <a:ea typeface="Courier New" pitchFamily="34" charset="-122"/>
                <a:cs typeface="Courier New" pitchFamily="34" charset="-120"/>
              </a:rPr>
              <a:t>08</a:t>
            </a:r>
            <a:endParaRPr lang="en-US" sz="1300" dirty="0"/>
          </a:p>
        </p:txBody>
      </p:sp>
      <p:sp>
        <p:nvSpPr>
          <p:cNvPr id="27" name="Text 25"/>
          <p:cNvSpPr txBox="1"/>
          <p:nvPr/>
        </p:nvSpPr>
        <p:spPr>
          <a:xfrm>
            <a:off x="7004304" y="3209544"/>
            <a:ext cx="4480560" cy="621792"/>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What is the payoff worth?</a:t>
            </a:r>
            <a:endParaRPr lang="en-US" sz="1350" dirty="0"/>
          </a:p>
        </p:txBody>
      </p:sp>
      <p:sp>
        <p:nvSpPr>
          <p:cNvPr id="28" name="Shape 26"/>
          <p:cNvSpPr/>
          <p:nvPr/>
        </p:nvSpPr>
        <p:spPr>
          <a:xfrm>
            <a:off x="6199632" y="3922776"/>
            <a:ext cx="5440680" cy="621792"/>
          </a:xfrm>
          <a:prstGeom prst="roundRect">
            <a:avLst>
              <a:gd name="adj" fmla="val 11765"/>
            </a:avLst>
          </a:prstGeom>
          <a:solidFill>
            <a:srgbClr val="141A26"/>
          </a:solidFill>
          <a:ln w="12700">
            <a:solidFill>
              <a:srgbClr val="2A3446"/>
            </a:solidFill>
            <a:prstDash val="solid"/>
          </a:ln>
        </p:spPr>
        <p:txBody>
          <a:bodyPr/>
          <a:lstStyle/>
          <a:p>
            <a:endParaRPr lang="en-NP"/>
          </a:p>
        </p:txBody>
      </p:sp>
      <p:sp>
        <p:nvSpPr>
          <p:cNvPr id="29" name="Text 27"/>
          <p:cNvSpPr txBox="1"/>
          <p:nvPr/>
        </p:nvSpPr>
        <p:spPr>
          <a:xfrm>
            <a:off x="6400800" y="3922776"/>
            <a:ext cx="548640" cy="621792"/>
          </a:xfrm>
          <a:prstGeom prst="rect">
            <a:avLst/>
          </a:prstGeom>
          <a:noFill/>
          <a:ln/>
        </p:spPr>
        <p:txBody>
          <a:bodyPr wrap="square" lIns="0" tIns="0" rIns="0" bIns="0" rtlCol="0" anchor="ctr"/>
          <a:lstStyle/>
          <a:p>
            <a:pPr marL="0" indent="0">
              <a:buNone/>
            </a:pPr>
            <a:r>
              <a:rPr lang="en-US" sz="1300" b="1" dirty="0">
                <a:solidFill>
                  <a:srgbClr val="FF6B5E"/>
                </a:solidFill>
                <a:latin typeface="Courier New" pitchFamily="34" charset="0"/>
                <a:ea typeface="Courier New" pitchFamily="34" charset="-122"/>
                <a:cs typeface="Courier New" pitchFamily="34" charset="-120"/>
              </a:rPr>
              <a:t>09</a:t>
            </a:r>
            <a:endParaRPr lang="en-US" sz="1300" dirty="0"/>
          </a:p>
        </p:txBody>
      </p:sp>
      <p:sp>
        <p:nvSpPr>
          <p:cNvPr id="30" name="Text 28"/>
          <p:cNvSpPr txBox="1"/>
          <p:nvPr/>
        </p:nvSpPr>
        <p:spPr>
          <a:xfrm>
            <a:off x="7004304" y="3922776"/>
            <a:ext cx="4480560" cy="621792"/>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How many hours will this cost me?</a:t>
            </a:r>
            <a:endParaRPr lang="en-US" sz="1350" dirty="0"/>
          </a:p>
        </p:txBody>
      </p:sp>
      <p:sp>
        <p:nvSpPr>
          <p:cNvPr id="31" name="Shape 29"/>
          <p:cNvSpPr/>
          <p:nvPr/>
        </p:nvSpPr>
        <p:spPr>
          <a:xfrm>
            <a:off x="6199632" y="4636008"/>
            <a:ext cx="5440680" cy="621792"/>
          </a:xfrm>
          <a:prstGeom prst="roundRect">
            <a:avLst>
              <a:gd name="adj" fmla="val 11765"/>
            </a:avLst>
          </a:prstGeom>
          <a:solidFill>
            <a:srgbClr val="141A26"/>
          </a:solidFill>
          <a:ln w="12700">
            <a:solidFill>
              <a:srgbClr val="2A3446"/>
            </a:solidFill>
            <a:prstDash val="solid"/>
          </a:ln>
        </p:spPr>
        <p:txBody>
          <a:bodyPr/>
          <a:lstStyle/>
          <a:p>
            <a:endParaRPr lang="en-NP"/>
          </a:p>
        </p:txBody>
      </p:sp>
      <p:sp>
        <p:nvSpPr>
          <p:cNvPr id="32" name="Text 30"/>
          <p:cNvSpPr txBox="1"/>
          <p:nvPr/>
        </p:nvSpPr>
        <p:spPr>
          <a:xfrm>
            <a:off x="6400800" y="4636008"/>
            <a:ext cx="548640" cy="621792"/>
          </a:xfrm>
          <a:prstGeom prst="rect">
            <a:avLst/>
          </a:prstGeom>
          <a:noFill/>
          <a:ln/>
        </p:spPr>
        <p:txBody>
          <a:bodyPr wrap="square" lIns="0" tIns="0" rIns="0" bIns="0" rtlCol="0" anchor="ctr"/>
          <a:lstStyle/>
          <a:p>
            <a:pPr marL="0" indent="0">
              <a:buNone/>
            </a:pPr>
            <a:r>
              <a:rPr lang="en-US" sz="1300" b="1" dirty="0">
                <a:solidFill>
                  <a:srgbClr val="FF6B5E"/>
                </a:solidFill>
                <a:latin typeface="Courier New" pitchFamily="34" charset="0"/>
                <a:ea typeface="Courier New" pitchFamily="34" charset="-122"/>
                <a:cs typeface="Courier New" pitchFamily="34" charset="-120"/>
              </a:rPr>
              <a:t>10</a:t>
            </a:r>
            <a:endParaRPr lang="en-US" sz="1300" dirty="0"/>
          </a:p>
        </p:txBody>
      </p:sp>
      <p:sp>
        <p:nvSpPr>
          <p:cNvPr id="33" name="Text 31"/>
          <p:cNvSpPr txBox="1"/>
          <p:nvPr/>
        </p:nvSpPr>
        <p:spPr>
          <a:xfrm>
            <a:off x="7004304" y="4636008"/>
            <a:ext cx="4480560" cy="621792"/>
          </a:xfrm>
          <a:prstGeom prst="rect">
            <a:avLst/>
          </a:prstGeom>
          <a:noFill/>
          <a:ln/>
        </p:spPr>
        <p:txBody>
          <a:bodyPr wrap="square" lIns="0" tIns="0" rIns="0" bIns="0" rtlCol="0" anchor="ctr"/>
          <a:lstStyle/>
          <a:p>
            <a:pPr marL="0" indent="0">
              <a:buNone/>
            </a:pPr>
            <a:r>
              <a:rPr lang="en-US" sz="1350" dirty="0">
                <a:solidFill>
                  <a:srgbClr val="E9EEF7"/>
                </a:solidFill>
                <a:latin typeface="Arial" pitchFamily="34" charset="0"/>
                <a:ea typeface="Arial" pitchFamily="34" charset="-122"/>
                <a:cs typeface="Arial" pitchFamily="34" charset="-120"/>
              </a:rPr>
              <a:t>Can I chain it with something else?</a:t>
            </a:r>
            <a:endParaRPr lang="en-US" sz="1350" dirty="0"/>
          </a:p>
        </p:txBody>
      </p:sp>
      <p:sp>
        <p:nvSpPr>
          <p:cNvPr id="34" name="Shape 32"/>
          <p:cNvSpPr/>
          <p:nvPr/>
        </p:nvSpPr>
        <p:spPr>
          <a:xfrm>
            <a:off x="548640" y="5440680"/>
            <a:ext cx="11091672" cy="777240"/>
          </a:xfrm>
          <a:prstGeom prst="roundRect">
            <a:avLst>
              <a:gd name="adj" fmla="val 9412"/>
            </a:avLst>
          </a:prstGeom>
          <a:solidFill>
            <a:srgbClr val="2A2050"/>
          </a:solidFill>
          <a:ln w="12700">
            <a:solidFill>
              <a:srgbClr val="9A6BFF"/>
            </a:solidFill>
            <a:prstDash val="solid"/>
          </a:ln>
        </p:spPr>
        <p:txBody>
          <a:bodyPr/>
          <a:lstStyle/>
          <a:p>
            <a:endParaRPr lang="en-NP"/>
          </a:p>
        </p:txBody>
      </p:sp>
      <p:sp>
        <p:nvSpPr>
          <p:cNvPr id="35" name="Text 33"/>
          <p:cNvSpPr txBox="1"/>
          <p:nvPr/>
        </p:nvSpPr>
        <p:spPr>
          <a:xfrm>
            <a:off x="548640" y="5440680"/>
            <a:ext cx="11091672" cy="777240"/>
          </a:xfrm>
          <a:prstGeom prst="rect">
            <a:avLst/>
          </a:prstGeom>
          <a:noFill/>
          <a:ln/>
        </p:spPr>
        <p:txBody>
          <a:bodyPr wrap="square" lIns="0" tIns="0" rIns="0" bIns="0" rtlCol="0" anchor="ctr"/>
          <a:lstStyle/>
          <a:p>
            <a:pPr marL="0" indent="0" algn="ctr">
              <a:buNone/>
            </a:pPr>
            <a:r>
              <a:rPr lang="en-US" sz="1900" b="1" kern="0" spc="100" dirty="0">
                <a:solidFill>
                  <a:srgbClr val="D9C8FF"/>
                </a:solidFill>
                <a:latin typeface="Arial" pitchFamily="34" charset="0"/>
                <a:ea typeface="Arial" pitchFamily="34" charset="-122"/>
                <a:cs typeface="Arial" pitchFamily="34" charset="-120"/>
              </a:rPr>
              <a:t>ATTACK SURFACE   ×   OPPORTUNITY   ×   IMPACT</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FF6B5E"/>
                </a:solidFill>
                <a:latin typeface="Arial" pitchFamily="34" charset="0"/>
                <a:ea typeface="Arial" pitchFamily="34" charset="-122"/>
                <a:cs typeface="Arial" pitchFamily="34" charset="-120"/>
              </a:rPr>
              <a:t>ATTACKER ROI</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2800" b="1" dirty="0">
                <a:solidFill>
                  <a:srgbClr val="E9EEF7"/>
                </a:solidFill>
                <a:latin typeface="Arial" pitchFamily="34" charset="0"/>
                <a:ea typeface="Arial" pitchFamily="34" charset="-122"/>
                <a:cs typeface="Arial" pitchFamily="34" charset="-120"/>
              </a:rPr>
              <a:t>Why Spend 10 Hours When 10 Minutes Might Work?</a:t>
            </a:r>
            <a:endParaRPr lang="en-US" sz="2800" dirty="0"/>
          </a:p>
        </p:txBody>
      </p:sp>
      <p:sp>
        <p:nvSpPr>
          <p:cNvPr id="4" name="Text 2"/>
          <p:cNvSpPr txBox="1"/>
          <p:nvPr/>
        </p:nvSpPr>
        <p:spPr>
          <a:xfrm>
            <a:off x="731520" y="1783080"/>
            <a:ext cx="2468880" cy="274320"/>
          </a:xfrm>
          <a:prstGeom prst="rect">
            <a:avLst/>
          </a:prstGeom>
          <a:noFill/>
          <a:ln/>
        </p:spPr>
        <p:txBody>
          <a:bodyPr wrap="square" lIns="0" tIns="0" rIns="0" bIns="0" rtlCol="0" anchor="ctr"/>
          <a:lstStyle/>
          <a:p>
            <a:pPr marL="0" indent="0">
              <a:buNone/>
            </a:pPr>
            <a:r>
              <a:rPr lang="en-US" sz="1000" b="1" kern="0" spc="160" dirty="0">
                <a:solidFill>
                  <a:srgbClr val="5C687D"/>
                </a:solidFill>
                <a:latin typeface="Arial" pitchFamily="34" charset="0"/>
                <a:ea typeface="Arial" pitchFamily="34" charset="-122"/>
                <a:cs typeface="Arial" pitchFamily="34" charset="-120"/>
              </a:rPr>
              <a:t>TARGET</a:t>
            </a:r>
            <a:endParaRPr lang="en-US" sz="1000" dirty="0"/>
          </a:p>
        </p:txBody>
      </p:sp>
      <p:sp>
        <p:nvSpPr>
          <p:cNvPr id="5" name="Text 3"/>
          <p:cNvSpPr txBox="1"/>
          <p:nvPr/>
        </p:nvSpPr>
        <p:spPr>
          <a:xfrm>
            <a:off x="3474720" y="1783080"/>
            <a:ext cx="1737360" cy="274320"/>
          </a:xfrm>
          <a:prstGeom prst="rect">
            <a:avLst/>
          </a:prstGeom>
          <a:noFill/>
          <a:ln/>
        </p:spPr>
        <p:txBody>
          <a:bodyPr wrap="square" lIns="0" tIns="0" rIns="0" bIns="0" rtlCol="0" anchor="ctr"/>
          <a:lstStyle/>
          <a:p>
            <a:pPr marL="0" indent="0">
              <a:buNone/>
            </a:pPr>
            <a:r>
              <a:rPr lang="en-US" sz="1000" b="1" kern="0" spc="160" dirty="0">
                <a:solidFill>
                  <a:srgbClr val="5C687D"/>
                </a:solidFill>
                <a:latin typeface="Arial" pitchFamily="34" charset="0"/>
                <a:ea typeface="Arial" pitchFamily="34" charset="-122"/>
                <a:cs typeface="Arial" pitchFamily="34" charset="-120"/>
              </a:rPr>
              <a:t>VALUE</a:t>
            </a:r>
            <a:endParaRPr lang="en-US" sz="1000" dirty="0"/>
          </a:p>
        </p:txBody>
      </p:sp>
      <p:sp>
        <p:nvSpPr>
          <p:cNvPr id="6" name="Text 4"/>
          <p:cNvSpPr txBox="1"/>
          <p:nvPr/>
        </p:nvSpPr>
        <p:spPr>
          <a:xfrm>
            <a:off x="5486400" y="1783080"/>
            <a:ext cx="1737360" cy="274320"/>
          </a:xfrm>
          <a:prstGeom prst="rect">
            <a:avLst/>
          </a:prstGeom>
          <a:noFill/>
          <a:ln/>
        </p:spPr>
        <p:txBody>
          <a:bodyPr wrap="square" lIns="0" tIns="0" rIns="0" bIns="0" rtlCol="0" anchor="ctr"/>
          <a:lstStyle/>
          <a:p>
            <a:pPr marL="0" indent="0">
              <a:buNone/>
            </a:pPr>
            <a:r>
              <a:rPr lang="en-US" sz="1000" b="1" kern="0" spc="160" dirty="0">
                <a:solidFill>
                  <a:srgbClr val="5C687D"/>
                </a:solidFill>
                <a:latin typeface="Arial" pitchFamily="34" charset="0"/>
                <a:ea typeface="Arial" pitchFamily="34" charset="-122"/>
                <a:cs typeface="Arial" pitchFamily="34" charset="-120"/>
              </a:rPr>
              <a:t>EFFORT</a:t>
            </a:r>
            <a:endParaRPr lang="en-US" sz="1000" dirty="0"/>
          </a:p>
        </p:txBody>
      </p:sp>
      <p:sp>
        <p:nvSpPr>
          <p:cNvPr id="7" name="Text 5"/>
          <p:cNvSpPr txBox="1"/>
          <p:nvPr/>
        </p:nvSpPr>
        <p:spPr>
          <a:xfrm>
            <a:off x="7498080" y="1783080"/>
            <a:ext cx="1920240" cy="274320"/>
          </a:xfrm>
          <a:prstGeom prst="rect">
            <a:avLst/>
          </a:prstGeom>
          <a:noFill/>
          <a:ln/>
        </p:spPr>
        <p:txBody>
          <a:bodyPr wrap="square" lIns="0" tIns="0" rIns="0" bIns="0" rtlCol="0" anchor="ctr"/>
          <a:lstStyle/>
          <a:p>
            <a:pPr marL="0" indent="0">
              <a:buNone/>
            </a:pPr>
            <a:r>
              <a:rPr lang="en-US" sz="1000" b="1" kern="0" spc="160" dirty="0">
                <a:solidFill>
                  <a:srgbClr val="5C687D"/>
                </a:solidFill>
                <a:latin typeface="Arial" pitchFamily="34" charset="0"/>
                <a:ea typeface="Arial" pitchFamily="34" charset="-122"/>
                <a:cs typeface="Arial" pitchFamily="34" charset="-120"/>
              </a:rPr>
              <a:t>CONTROLS</a:t>
            </a:r>
            <a:endParaRPr lang="en-US" sz="1000" dirty="0"/>
          </a:p>
        </p:txBody>
      </p:sp>
      <p:sp>
        <p:nvSpPr>
          <p:cNvPr id="8" name="Text 6"/>
          <p:cNvSpPr txBox="1"/>
          <p:nvPr/>
        </p:nvSpPr>
        <p:spPr>
          <a:xfrm>
            <a:off x="9692640" y="1783080"/>
            <a:ext cx="1856232" cy="274320"/>
          </a:xfrm>
          <a:prstGeom prst="rect">
            <a:avLst/>
          </a:prstGeom>
          <a:noFill/>
          <a:ln/>
        </p:spPr>
        <p:txBody>
          <a:bodyPr wrap="square" lIns="0" tIns="0" rIns="0" bIns="0" rtlCol="0" anchor="ctr"/>
          <a:lstStyle/>
          <a:p>
            <a:pPr marL="0" indent="0">
              <a:buNone/>
            </a:pPr>
            <a:r>
              <a:rPr lang="en-US" sz="1000" b="1" kern="0" spc="160" dirty="0">
                <a:solidFill>
                  <a:srgbClr val="5C687D"/>
                </a:solidFill>
                <a:latin typeface="Arial" pitchFamily="34" charset="0"/>
                <a:ea typeface="Arial" pitchFamily="34" charset="-122"/>
                <a:cs typeface="Arial" pitchFamily="34" charset="-120"/>
              </a:rPr>
              <a:t>ATTENTION</a:t>
            </a:r>
            <a:endParaRPr lang="en-US" sz="1000" dirty="0"/>
          </a:p>
        </p:txBody>
      </p:sp>
      <p:sp>
        <p:nvSpPr>
          <p:cNvPr id="9" name="Shape 7"/>
          <p:cNvSpPr/>
          <p:nvPr/>
        </p:nvSpPr>
        <p:spPr>
          <a:xfrm>
            <a:off x="548640" y="2148840"/>
            <a:ext cx="11091672" cy="914400"/>
          </a:xfrm>
          <a:prstGeom prst="roundRect">
            <a:avLst>
              <a:gd name="adj" fmla="val 8000"/>
            </a:avLst>
          </a:prstGeom>
          <a:solidFill>
            <a:srgbClr val="141A26"/>
          </a:solidFill>
          <a:ln w="12700">
            <a:solidFill>
              <a:srgbClr val="2A3446"/>
            </a:solidFill>
            <a:prstDash val="solid"/>
          </a:ln>
        </p:spPr>
        <p:txBody>
          <a:bodyPr/>
          <a:lstStyle/>
          <a:p>
            <a:endParaRPr lang="en-NP"/>
          </a:p>
        </p:txBody>
      </p:sp>
      <p:sp>
        <p:nvSpPr>
          <p:cNvPr id="10" name="Text 8"/>
          <p:cNvSpPr txBox="1"/>
          <p:nvPr/>
        </p:nvSpPr>
        <p:spPr>
          <a:xfrm>
            <a:off x="731520" y="2148840"/>
            <a:ext cx="2468880" cy="914400"/>
          </a:xfrm>
          <a:prstGeom prst="rect">
            <a:avLst/>
          </a:prstGeom>
          <a:noFill/>
          <a:ln/>
        </p:spPr>
        <p:txBody>
          <a:bodyPr wrap="square" lIns="0" tIns="0" rIns="0" bIns="0" rtlCol="0" anchor="ctr"/>
          <a:lstStyle/>
          <a:p>
            <a:pPr marL="0" indent="0">
              <a:buNone/>
            </a:pPr>
            <a:r>
              <a:rPr lang="en-US" sz="1400" b="1" dirty="0">
                <a:solidFill>
                  <a:srgbClr val="E9EEF7"/>
                </a:solidFill>
                <a:latin typeface="Arial" pitchFamily="34" charset="0"/>
                <a:ea typeface="Arial" pitchFamily="34" charset="-122"/>
                <a:cs typeface="Arial" pitchFamily="34" charset="-120"/>
              </a:rPr>
              <a:t>Target A  —  the bank</a:t>
            </a:r>
            <a:endParaRPr lang="en-US" sz="1400" dirty="0"/>
          </a:p>
        </p:txBody>
      </p:sp>
      <p:sp>
        <p:nvSpPr>
          <p:cNvPr id="11" name="Text 9"/>
          <p:cNvSpPr txBox="1"/>
          <p:nvPr/>
        </p:nvSpPr>
        <p:spPr>
          <a:xfrm>
            <a:off x="3474720" y="2148840"/>
            <a:ext cx="1737360" cy="914400"/>
          </a:xfrm>
          <a:prstGeom prst="rect">
            <a:avLst/>
          </a:prstGeom>
          <a:noFill/>
          <a:ln/>
        </p:spPr>
        <p:txBody>
          <a:bodyPr wrap="square" lIns="0" tIns="0" rIns="0" bIns="0" rtlCol="0" anchor="ctr"/>
          <a:lstStyle/>
          <a:p>
            <a:pPr marL="0" indent="0">
              <a:buNone/>
            </a:pPr>
            <a:r>
              <a:rPr lang="en-US" sz="1300" dirty="0">
                <a:solidFill>
                  <a:srgbClr val="8C97AC"/>
                </a:solidFill>
                <a:latin typeface="Arial" pitchFamily="34" charset="0"/>
                <a:ea typeface="Arial" pitchFamily="34" charset="-122"/>
                <a:cs typeface="Arial" pitchFamily="34" charset="-120"/>
              </a:rPr>
              <a:t>High</a:t>
            </a:r>
            <a:endParaRPr lang="en-US" sz="1300" dirty="0"/>
          </a:p>
        </p:txBody>
      </p:sp>
      <p:sp>
        <p:nvSpPr>
          <p:cNvPr id="12" name="Text 10"/>
          <p:cNvSpPr txBox="1"/>
          <p:nvPr/>
        </p:nvSpPr>
        <p:spPr>
          <a:xfrm>
            <a:off x="5486400" y="2148840"/>
            <a:ext cx="1737360" cy="914400"/>
          </a:xfrm>
          <a:prstGeom prst="rect">
            <a:avLst/>
          </a:prstGeom>
          <a:noFill/>
          <a:ln/>
        </p:spPr>
        <p:txBody>
          <a:bodyPr wrap="square" lIns="0" tIns="0" rIns="0" bIns="0" rtlCol="0" anchor="ctr"/>
          <a:lstStyle/>
          <a:p>
            <a:pPr marL="0" indent="0">
              <a:buNone/>
            </a:pPr>
            <a:r>
              <a:rPr lang="en-US" sz="1300" dirty="0">
                <a:solidFill>
                  <a:srgbClr val="8C97AC"/>
                </a:solidFill>
                <a:latin typeface="Arial" pitchFamily="34" charset="0"/>
                <a:ea typeface="Arial" pitchFamily="34" charset="-122"/>
                <a:cs typeface="Arial" pitchFamily="34" charset="-120"/>
              </a:rPr>
              <a:t>High</a:t>
            </a:r>
            <a:endParaRPr lang="en-US" sz="1300" dirty="0"/>
          </a:p>
        </p:txBody>
      </p:sp>
      <p:sp>
        <p:nvSpPr>
          <p:cNvPr id="13" name="Text 11"/>
          <p:cNvSpPr txBox="1"/>
          <p:nvPr/>
        </p:nvSpPr>
        <p:spPr>
          <a:xfrm>
            <a:off x="7498080" y="2148840"/>
            <a:ext cx="1920240" cy="914400"/>
          </a:xfrm>
          <a:prstGeom prst="rect">
            <a:avLst/>
          </a:prstGeom>
          <a:noFill/>
          <a:ln/>
        </p:spPr>
        <p:txBody>
          <a:bodyPr wrap="square" lIns="0" tIns="0" rIns="0" bIns="0" rtlCol="0" anchor="ctr"/>
          <a:lstStyle/>
          <a:p>
            <a:pPr marL="0" indent="0">
              <a:buNone/>
            </a:pPr>
            <a:r>
              <a:rPr lang="en-US" sz="1300" dirty="0">
                <a:solidFill>
                  <a:srgbClr val="8C97AC"/>
                </a:solidFill>
                <a:latin typeface="Arial" pitchFamily="34" charset="0"/>
                <a:ea typeface="Arial" pitchFamily="34" charset="-122"/>
                <a:cs typeface="Arial" pitchFamily="34" charset="-120"/>
              </a:rPr>
              <a:t>Mature, monitored</a:t>
            </a:r>
            <a:endParaRPr lang="en-US" sz="1300" dirty="0"/>
          </a:p>
        </p:txBody>
      </p:sp>
      <p:sp>
        <p:nvSpPr>
          <p:cNvPr id="14" name="Text 12"/>
          <p:cNvSpPr txBox="1"/>
          <p:nvPr/>
        </p:nvSpPr>
        <p:spPr>
          <a:xfrm>
            <a:off x="9692640" y="2148840"/>
            <a:ext cx="1856232" cy="914400"/>
          </a:xfrm>
          <a:prstGeom prst="rect">
            <a:avLst/>
          </a:prstGeom>
          <a:noFill/>
          <a:ln/>
        </p:spPr>
        <p:txBody>
          <a:bodyPr wrap="square" lIns="0" tIns="0" rIns="0" bIns="0" rtlCol="0" anchor="ctr"/>
          <a:lstStyle/>
          <a:p>
            <a:pPr marL="0" indent="0">
              <a:buNone/>
            </a:pPr>
            <a:r>
              <a:rPr lang="en-US" sz="1300" b="1" dirty="0">
                <a:solidFill>
                  <a:srgbClr val="4FD68A"/>
                </a:solidFill>
                <a:latin typeface="Arial" pitchFamily="34" charset="0"/>
                <a:ea typeface="Arial" pitchFamily="34" charset="-122"/>
                <a:cs typeface="Arial" pitchFamily="34" charset="-120"/>
              </a:rPr>
              <a:t>Later. Maybe never.</a:t>
            </a:r>
            <a:endParaRPr lang="en-US" sz="1300" dirty="0"/>
          </a:p>
        </p:txBody>
      </p:sp>
      <p:sp>
        <p:nvSpPr>
          <p:cNvPr id="15" name="Shape 13"/>
          <p:cNvSpPr/>
          <p:nvPr/>
        </p:nvSpPr>
        <p:spPr>
          <a:xfrm>
            <a:off x="548640" y="3172968"/>
            <a:ext cx="11091672" cy="914400"/>
          </a:xfrm>
          <a:prstGeom prst="roundRect">
            <a:avLst>
              <a:gd name="adj" fmla="val 8000"/>
            </a:avLst>
          </a:prstGeom>
          <a:solidFill>
            <a:srgbClr val="141A26"/>
          </a:solidFill>
          <a:ln w="12700">
            <a:solidFill>
              <a:srgbClr val="2A3446"/>
            </a:solidFill>
            <a:prstDash val="solid"/>
          </a:ln>
        </p:spPr>
        <p:txBody>
          <a:bodyPr/>
          <a:lstStyle/>
          <a:p>
            <a:endParaRPr lang="en-NP"/>
          </a:p>
        </p:txBody>
      </p:sp>
      <p:sp>
        <p:nvSpPr>
          <p:cNvPr id="16" name="Text 14"/>
          <p:cNvSpPr txBox="1"/>
          <p:nvPr/>
        </p:nvSpPr>
        <p:spPr>
          <a:xfrm>
            <a:off x="731520" y="3172968"/>
            <a:ext cx="2468880" cy="914400"/>
          </a:xfrm>
          <a:prstGeom prst="rect">
            <a:avLst/>
          </a:prstGeom>
          <a:noFill/>
          <a:ln/>
        </p:spPr>
        <p:txBody>
          <a:bodyPr wrap="square" lIns="0" tIns="0" rIns="0" bIns="0" rtlCol="0" anchor="ctr"/>
          <a:lstStyle/>
          <a:p>
            <a:pPr marL="0" indent="0">
              <a:buNone/>
            </a:pPr>
            <a:r>
              <a:rPr lang="en-US" sz="1400" b="1" dirty="0">
                <a:solidFill>
                  <a:srgbClr val="E9EEF7"/>
                </a:solidFill>
                <a:latin typeface="Arial" pitchFamily="34" charset="0"/>
                <a:ea typeface="Arial" pitchFamily="34" charset="-122"/>
                <a:cs typeface="Arial" pitchFamily="34" charset="-120"/>
              </a:rPr>
              <a:t>Target B  —  the small SaaS</a:t>
            </a:r>
            <a:endParaRPr lang="en-US" sz="1400" dirty="0"/>
          </a:p>
        </p:txBody>
      </p:sp>
      <p:sp>
        <p:nvSpPr>
          <p:cNvPr id="17" name="Text 15"/>
          <p:cNvSpPr txBox="1"/>
          <p:nvPr/>
        </p:nvSpPr>
        <p:spPr>
          <a:xfrm>
            <a:off x="3474720" y="3172968"/>
            <a:ext cx="1737360" cy="914400"/>
          </a:xfrm>
          <a:prstGeom prst="rect">
            <a:avLst/>
          </a:prstGeom>
          <a:noFill/>
          <a:ln/>
        </p:spPr>
        <p:txBody>
          <a:bodyPr wrap="square" lIns="0" tIns="0" rIns="0" bIns="0" rtlCol="0" anchor="ctr"/>
          <a:lstStyle/>
          <a:p>
            <a:pPr marL="0" indent="0">
              <a:buNone/>
            </a:pPr>
            <a:r>
              <a:rPr lang="en-US" sz="1300" dirty="0">
                <a:solidFill>
                  <a:srgbClr val="8C97AC"/>
                </a:solidFill>
                <a:latin typeface="Arial" pitchFamily="34" charset="0"/>
                <a:ea typeface="Arial" pitchFamily="34" charset="-122"/>
                <a:cs typeface="Arial" pitchFamily="34" charset="-120"/>
              </a:rPr>
              <a:t>Medium</a:t>
            </a:r>
            <a:endParaRPr lang="en-US" sz="1300" dirty="0"/>
          </a:p>
        </p:txBody>
      </p:sp>
      <p:sp>
        <p:nvSpPr>
          <p:cNvPr id="18" name="Text 16"/>
          <p:cNvSpPr txBox="1"/>
          <p:nvPr/>
        </p:nvSpPr>
        <p:spPr>
          <a:xfrm>
            <a:off x="5486400" y="3172968"/>
            <a:ext cx="1737360" cy="914400"/>
          </a:xfrm>
          <a:prstGeom prst="rect">
            <a:avLst/>
          </a:prstGeom>
          <a:noFill/>
          <a:ln/>
        </p:spPr>
        <p:txBody>
          <a:bodyPr wrap="square" lIns="0" tIns="0" rIns="0" bIns="0" rtlCol="0" anchor="ctr"/>
          <a:lstStyle/>
          <a:p>
            <a:pPr marL="0" indent="0">
              <a:buNone/>
            </a:pPr>
            <a:r>
              <a:rPr lang="en-US" sz="1300" dirty="0">
                <a:solidFill>
                  <a:srgbClr val="8C97AC"/>
                </a:solidFill>
                <a:latin typeface="Arial" pitchFamily="34" charset="0"/>
                <a:ea typeface="Arial" pitchFamily="34" charset="-122"/>
                <a:cs typeface="Arial" pitchFamily="34" charset="-120"/>
              </a:rPr>
              <a:t>Low</a:t>
            </a:r>
            <a:endParaRPr lang="en-US" sz="1300" dirty="0"/>
          </a:p>
        </p:txBody>
      </p:sp>
      <p:sp>
        <p:nvSpPr>
          <p:cNvPr id="19" name="Text 17"/>
          <p:cNvSpPr txBox="1"/>
          <p:nvPr/>
        </p:nvSpPr>
        <p:spPr>
          <a:xfrm>
            <a:off x="7498080" y="3172968"/>
            <a:ext cx="1920240" cy="914400"/>
          </a:xfrm>
          <a:prstGeom prst="rect">
            <a:avLst/>
          </a:prstGeom>
          <a:noFill/>
          <a:ln/>
        </p:spPr>
        <p:txBody>
          <a:bodyPr wrap="square" lIns="0" tIns="0" rIns="0" bIns="0" rtlCol="0" anchor="ctr"/>
          <a:lstStyle/>
          <a:p>
            <a:pPr marL="0" indent="0">
              <a:buNone/>
            </a:pPr>
            <a:r>
              <a:rPr lang="en-US" sz="1300" dirty="0">
                <a:solidFill>
                  <a:srgbClr val="8C97AC"/>
                </a:solidFill>
                <a:latin typeface="Arial" pitchFamily="34" charset="0"/>
                <a:ea typeface="Arial" pitchFamily="34" charset="-122"/>
                <a:cs typeface="Arial" pitchFamily="34" charset="-120"/>
              </a:rPr>
              <a:t>Basic</a:t>
            </a:r>
            <a:endParaRPr lang="en-US" sz="1300" dirty="0"/>
          </a:p>
        </p:txBody>
      </p:sp>
      <p:sp>
        <p:nvSpPr>
          <p:cNvPr id="20" name="Text 18"/>
          <p:cNvSpPr txBox="1"/>
          <p:nvPr/>
        </p:nvSpPr>
        <p:spPr>
          <a:xfrm>
            <a:off x="9692640" y="3172968"/>
            <a:ext cx="1856232" cy="914400"/>
          </a:xfrm>
          <a:prstGeom prst="rect">
            <a:avLst/>
          </a:prstGeom>
          <a:noFill/>
          <a:ln/>
        </p:spPr>
        <p:txBody>
          <a:bodyPr wrap="square" lIns="0" tIns="0" rIns="0" bIns="0" rtlCol="0" anchor="ctr"/>
          <a:lstStyle/>
          <a:p>
            <a:pPr marL="0" indent="0">
              <a:buNone/>
            </a:pPr>
            <a:r>
              <a:rPr lang="en-US" sz="1300" b="1" dirty="0">
                <a:solidFill>
                  <a:srgbClr val="FFA33A"/>
                </a:solidFill>
                <a:latin typeface="Arial" pitchFamily="34" charset="0"/>
                <a:ea typeface="Arial" pitchFamily="34" charset="-122"/>
                <a:cs typeface="Arial" pitchFamily="34" charset="-120"/>
              </a:rPr>
              <a:t>Worth a look</a:t>
            </a:r>
            <a:endParaRPr lang="en-US" sz="1300" dirty="0"/>
          </a:p>
        </p:txBody>
      </p:sp>
      <p:sp>
        <p:nvSpPr>
          <p:cNvPr id="21" name="Shape 19"/>
          <p:cNvSpPr/>
          <p:nvPr/>
        </p:nvSpPr>
        <p:spPr>
          <a:xfrm>
            <a:off x="548640" y="4197096"/>
            <a:ext cx="11091672" cy="914400"/>
          </a:xfrm>
          <a:prstGeom prst="roundRect">
            <a:avLst>
              <a:gd name="adj" fmla="val 8000"/>
            </a:avLst>
          </a:prstGeom>
          <a:solidFill>
            <a:srgbClr val="2A1618"/>
          </a:solidFill>
          <a:ln w="12700">
            <a:solidFill>
              <a:srgbClr val="FF6B5E"/>
            </a:solidFill>
            <a:prstDash val="solid"/>
          </a:ln>
        </p:spPr>
        <p:txBody>
          <a:bodyPr/>
          <a:lstStyle/>
          <a:p>
            <a:endParaRPr lang="en-NP"/>
          </a:p>
        </p:txBody>
      </p:sp>
      <p:sp>
        <p:nvSpPr>
          <p:cNvPr id="22" name="Text 20"/>
          <p:cNvSpPr txBox="1"/>
          <p:nvPr/>
        </p:nvSpPr>
        <p:spPr>
          <a:xfrm>
            <a:off x="731520" y="4197096"/>
            <a:ext cx="2468880" cy="914400"/>
          </a:xfrm>
          <a:prstGeom prst="rect">
            <a:avLst/>
          </a:prstGeom>
          <a:noFill/>
          <a:ln/>
        </p:spPr>
        <p:txBody>
          <a:bodyPr wrap="square" lIns="0" tIns="0" rIns="0" bIns="0" rtlCol="0" anchor="ctr"/>
          <a:lstStyle/>
          <a:p>
            <a:pPr marL="0" indent="0">
              <a:buNone/>
            </a:pPr>
            <a:r>
              <a:rPr lang="en-US" sz="1400" b="1" dirty="0">
                <a:solidFill>
                  <a:srgbClr val="E9EEF7"/>
                </a:solidFill>
                <a:latin typeface="Arial" pitchFamily="34" charset="0"/>
                <a:ea typeface="Arial" pitchFamily="34" charset="-122"/>
                <a:cs typeface="Arial" pitchFamily="34" charset="-120"/>
              </a:rPr>
              <a:t>Target C  —  your API</a:t>
            </a:r>
            <a:endParaRPr lang="en-US" sz="1400" dirty="0"/>
          </a:p>
        </p:txBody>
      </p:sp>
      <p:sp>
        <p:nvSpPr>
          <p:cNvPr id="23" name="Text 21"/>
          <p:cNvSpPr txBox="1"/>
          <p:nvPr/>
        </p:nvSpPr>
        <p:spPr>
          <a:xfrm>
            <a:off x="3474720" y="4197096"/>
            <a:ext cx="1737360" cy="914400"/>
          </a:xfrm>
          <a:prstGeom prst="rect">
            <a:avLst/>
          </a:prstGeom>
          <a:noFill/>
          <a:ln/>
        </p:spPr>
        <p:txBody>
          <a:bodyPr wrap="square" lIns="0" tIns="0" rIns="0" bIns="0" rtlCol="0" anchor="ctr"/>
          <a:lstStyle/>
          <a:p>
            <a:pPr marL="0" indent="0">
              <a:buNone/>
            </a:pPr>
            <a:r>
              <a:rPr lang="en-US" sz="1300" dirty="0">
                <a:solidFill>
                  <a:srgbClr val="8C97AC"/>
                </a:solidFill>
                <a:latin typeface="Arial" pitchFamily="34" charset="0"/>
                <a:ea typeface="Arial" pitchFamily="34" charset="-122"/>
                <a:cs typeface="Arial" pitchFamily="34" charset="-120"/>
              </a:rPr>
              <a:t>High</a:t>
            </a:r>
            <a:endParaRPr lang="en-US" sz="1300" dirty="0"/>
          </a:p>
        </p:txBody>
      </p:sp>
      <p:sp>
        <p:nvSpPr>
          <p:cNvPr id="24" name="Text 22"/>
          <p:cNvSpPr txBox="1"/>
          <p:nvPr/>
        </p:nvSpPr>
        <p:spPr>
          <a:xfrm>
            <a:off x="5486400" y="4197096"/>
            <a:ext cx="1737360" cy="914400"/>
          </a:xfrm>
          <a:prstGeom prst="rect">
            <a:avLst/>
          </a:prstGeom>
          <a:noFill/>
          <a:ln/>
        </p:spPr>
        <p:txBody>
          <a:bodyPr wrap="square" lIns="0" tIns="0" rIns="0" bIns="0" rtlCol="0" anchor="ctr"/>
          <a:lstStyle/>
          <a:p>
            <a:pPr marL="0" indent="0">
              <a:buNone/>
            </a:pPr>
            <a:r>
              <a:rPr lang="en-US" sz="1300" dirty="0">
                <a:solidFill>
                  <a:srgbClr val="8C97AC"/>
                </a:solidFill>
                <a:latin typeface="Arial" pitchFamily="34" charset="0"/>
                <a:ea typeface="Arial" pitchFamily="34" charset="-122"/>
                <a:cs typeface="Arial" pitchFamily="34" charset="-120"/>
              </a:rPr>
              <a:t>Low</a:t>
            </a:r>
            <a:endParaRPr lang="en-US" sz="1300" dirty="0"/>
          </a:p>
        </p:txBody>
      </p:sp>
      <p:sp>
        <p:nvSpPr>
          <p:cNvPr id="25" name="Text 23"/>
          <p:cNvSpPr txBox="1"/>
          <p:nvPr/>
        </p:nvSpPr>
        <p:spPr>
          <a:xfrm>
            <a:off x="7498080" y="4197096"/>
            <a:ext cx="1920240" cy="914400"/>
          </a:xfrm>
          <a:prstGeom prst="rect">
            <a:avLst/>
          </a:prstGeom>
          <a:noFill/>
          <a:ln/>
        </p:spPr>
        <p:txBody>
          <a:bodyPr wrap="square" lIns="0" tIns="0" rIns="0" bIns="0" rtlCol="0" anchor="ctr"/>
          <a:lstStyle/>
          <a:p>
            <a:pPr marL="0" indent="0">
              <a:buNone/>
            </a:pPr>
            <a:r>
              <a:rPr lang="en-US" sz="1300" dirty="0">
                <a:solidFill>
                  <a:srgbClr val="8C97AC"/>
                </a:solidFill>
                <a:latin typeface="Arial" pitchFamily="34" charset="0"/>
                <a:ea typeface="Arial" pitchFamily="34" charset="-122"/>
                <a:cs typeface="Arial" pitchFamily="34" charset="-120"/>
              </a:rPr>
              <a:t>Exposed, unmonitored</a:t>
            </a:r>
            <a:endParaRPr lang="en-US" sz="1300" dirty="0"/>
          </a:p>
        </p:txBody>
      </p:sp>
      <p:sp>
        <p:nvSpPr>
          <p:cNvPr id="26" name="Text 24"/>
          <p:cNvSpPr txBox="1"/>
          <p:nvPr/>
        </p:nvSpPr>
        <p:spPr>
          <a:xfrm>
            <a:off x="9692640" y="4197096"/>
            <a:ext cx="1856232" cy="914400"/>
          </a:xfrm>
          <a:prstGeom prst="rect">
            <a:avLst/>
          </a:prstGeom>
          <a:noFill/>
          <a:ln/>
        </p:spPr>
        <p:txBody>
          <a:bodyPr wrap="square" lIns="0" tIns="0" rIns="0" bIns="0" rtlCol="0" anchor="ctr"/>
          <a:lstStyle/>
          <a:p>
            <a:pPr marL="0" indent="0">
              <a:buNone/>
            </a:pPr>
            <a:r>
              <a:rPr lang="en-US" sz="1300" b="1" dirty="0">
                <a:solidFill>
                  <a:srgbClr val="FF6B5E"/>
                </a:solidFill>
                <a:latin typeface="Arial" pitchFamily="34" charset="0"/>
                <a:ea typeface="Arial" pitchFamily="34" charset="-122"/>
                <a:cs typeface="Arial" pitchFamily="34" charset="-120"/>
              </a:rPr>
              <a:t>RIGHT NOW</a:t>
            </a:r>
            <a:endParaRPr lang="en-US" sz="1300" dirty="0"/>
          </a:p>
        </p:txBody>
      </p:sp>
      <p:sp>
        <p:nvSpPr>
          <p:cNvPr id="27" name="Text 25"/>
          <p:cNvSpPr txBox="1"/>
          <p:nvPr/>
        </p:nvSpPr>
        <p:spPr>
          <a:xfrm>
            <a:off x="548640" y="5349240"/>
            <a:ext cx="11091672" cy="365760"/>
          </a:xfrm>
          <a:prstGeom prst="rect">
            <a:avLst/>
          </a:prstGeom>
          <a:noFill/>
          <a:ln/>
        </p:spPr>
        <p:txBody>
          <a:bodyPr wrap="square" lIns="0" tIns="0" rIns="0" bIns="0" rtlCol="0" anchor="ctr"/>
          <a:lstStyle/>
          <a:p>
            <a:pPr marL="0" indent="0" algn="ctr">
              <a:buNone/>
            </a:pPr>
            <a:r>
              <a:rPr lang="en-US" sz="1800" b="1" dirty="0">
                <a:solidFill>
                  <a:srgbClr val="E9EEF7"/>
                </a:solidFill>
                <a:latin typeface="Arial" pitchFamily="34" charset="0"/>
                <a:ea typeface="Arial" pitchFamily="34" charset="-122"/>
                <a:cs typeface="Arial" pitchFamily="34" charset="-120"/>
              </a:rPr>
              <a:t>Which one gets attacked first?</a:t>
            </a:r>
            <a:endParaRPr lang="en-US" sz="1800" dirty="0"/>
          </a:p>
        </p:txBody>
      </p:sp>
      <p:sp>
        <p:nvSpPr>
          <p:cNvPr id="28" name="Text 26"/>
          <p:cNvSpPr txBox="1"/>
          <p:nvPr/>
        </p:nvSpPr>
        <p:spPr>
          <a:xfrm>
            <a:off x="548640" y="5806440"/>
            <a:ext cx="11091672" cy="365760"/>
          </a:xfrm>
          <a:prstGeom prst="rect">
            <a:avLst/>
          </a:prstGeom>
          <a:noFill/>
          <a:ln/>
        </p:spPr>
        <p:txBody>
          <a:bodyPr wrap="square" lIns="0" tIns="0" rIns="0" bIns="0" rtlCol="0" anchor="ctr"/>
          <a:lstStyle/>
          <a:p>
            <a:pPr marL="0" indent="0" algn="ctr">
              <a:buNone/>
            </a:pPr>
            <a:r>
              <a:rPr lang="en-US" sz="1400" i="1" dirty="0">
                <a:solidFill>
                  <a:srgbClr val="C9B6FF"/>
                </a:solidFill>
                <a:latin typeface="Arial" pitchFamily="34" charset="0"/>
                <a:ea typeface="Arial" pitchFamily="34" charset="-122"/>
                <a:cs typeface="Arial" pitchFamily="34" charset="-120"/>
              </a:rPr>
              <a:t>Nobody is choosing you because you are important. They are choosing you because you are cheap.</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TWO CHECKLISTS, ONE SYSTEM</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000" b="1" dirty="0">
                <a:solidFill>
                  <a:srgbClr val="E9EEF7"/>
                </a:solidFill>
                <a:latin typeface="Arial" pitchFamily="34" charset="0"/>
                <a:ea typeface="Arial" pitchFamily="34" charset="-122"/>
                <a:cs typeface="Arial" pitchFamily="34" charset="-120"/>
              </a:rPr>
              <a:t>Every Attacker Step Has a Defender Answer</a:t>
            </a:r>
            <a:endParaRPr lang="en-US" sz="3000" dirty="0"/>
          </a:p>
        </p:txBody>
      </p:sp>
      <p:sp>
        <p:nvSpPr>
          <p:cNvPr id="4" name="Text 2"/>
          <p:cNvSpPr txBox="1"/>
          <p:nvPr/>
        </p:nvSpPr>
        <p:spPr>
          <a:xfrm>
            <a:off x="548640" y="1600200"/>
            <a:ext cx="5120640" cy="274320"/>
          </a:xfrm>
          <a:prstGeom prst="rect">
            <a:avLst/>
          </a:prstGeom>
          <a:noFill/>
          <a:ln/>
        </p:spPr>
        <p:txBody>
          <a:bodyPr wrap="square" lIns="0" tIns="0" rIns="0" bIns="0" rtlCol="0" anchor="ctr"/>
          <a:lstStyle/>
          <a:p>
            <a:pPr marL="0" indent="0">
              <a:buNone/>
            </a:pPr>
            <a:r>
              <a:rPr lang="en-US" sz="1200" b="1" kern="0" spc="200" dirty="0">
                <a:solidFill>
                  <a:srgbClr val="FF6B5E"/>
                </a:solidFill>
                <a:latin typeface="Arial" pitchFamily="34" charset="0"/>
                <a:ea typeface="Arial" pitchFamily="34" charset="-122"/>
                <a:cs typeface="Arial" pitchFamily="34" charset="-120"/>
              </a:rPr>
              <a:t>ATTACKER</a:t>
            </a:r>
            <a:endParaRPr lang="en-US" sz="1200" dirty="0"/>
          </a:p>
        </p:txBody>
      </p:sp>
      <p:sp>
        <p:nvSpPr>
          <p:cNvPr id="5" name="Text 3"/>
          <p:cNvSpPr txBox="1"/>
          <p:nvPr/>
        </p:nvSpPr>
        <p:spPr>
          <a:xfrm>
            <a:off x="6519672" y="1600200"/>
            <a:ext cx="5120640" cy="274320"/>
          </a:xfrm>
          <a:prstGeom prst="rect">
            <a:avLst/>
          </a:prstGeom>
          <a:noFill/>
          <a:ln/>
        </p:spPr>
        <p:txBody>
          <a:bodyPr wrap="square" lIns="0" tIns="0" rIns="0" bIns="0" rtlCol="0" anchor="ctr"/>
          <a:lstStyle/>
          <a:p>
            <a:pPr marL="0" indent="0">
              <a:buNone/>
            </a:pPr>
            <a:r>
              <a:rPr lang="en-US" sz="1200" b="1" kern="0" spc="200" dirty="0">
                <a:solidFill>
                  <a:srgbClr val="4FD68A"/>
                </a:solidFill>
                <a:latin typeface="Arial" pitchFamily="34" charset="0"/>
                <a:ea typeface="Arial" pitchFamily="34" charset="-122"/>
                <a:cs typeface="Arial" pitchFamily="34" charset="-120"/>
              </a:rPr>
              <a:t>DEFENDER</a:t>
            </a:r>
            <a:endParaRPr lang="en-US" sz="1200" dirty="0"/>
          </a:p>
        </p:txBody>
      </p:sp>
      <p:sp>
        <p:nvSpPr>
          <p:cNvPr id="6" name="Text 4"/>
          <p:cNvSpPr txBox="1"/>
          <p:nvPr/>
        </p:nvSpPr>
        <p:spPr>
          <a:xfrm>
            <a:off x="548640" y="1956816"/>
            <a:ext cx="1737360" cy="457200"/>
          </a:xfrm>
          <a:prstGeom prst="rect">
            <a:avLst/>
          </a:prstGeom>
          <a:noFill/>
          <a:ln/>
        </p:spPr>
        <p:txBody>
          <a:bodyPr wrap="square" lIns="0" tIns="0" rIns="0" bIns="0" rtlCol="0" anchor="ctr"/>
          <a:lstStyle/>
          <a:p>
            <a:pPr marL="0" indent="0">
              <a:buNone/>
            </a:pPr>
            <a:r>
              <a:rPr lang="en-US" sz="950" b="1" kern="0" spc="110" dirty="0">
                <a:solidFill>
                  <a:srgbClr val="5C687D"/>
                </a:solidFill>
                <a:latin typeface="Arial" pitchFamily="34" charset="0"/>
                <a:ea typeface="Arial" pitchFamily="34" charset="-122"/>
                <a:cs typeface="Arial" pitchFamily="34" charset="-120"/>
              </a:rPr>
              <a:t>DISCOVER</a:t>
            </a:r>
            <a:endParaRPr lang="en-US" sz="950" dirty="0"/>
          </a:p>
        </p:txBody>
      </p:sp>
      <p:sp>
        <p:nvSpPr>
          <p:cNvPr id="7" name="Shape 5"/>
          <p:cNvSpPr/>
          <p:nvPr/>
        </p:nvSpPr>
        <p:spPr>
          <a:xfrm>
            <a:off x="2331720" y="1920240"/>
            <a:ext cx="3337560" cy="457200"/>
          </a:xfrm>
          <a:prstGeom prst="roundRect">
            <a:avLst>
              <a:gd name="adj" fmla="val 16000"/>
            </a:avLst>
          </a:prstGeom>
          <a:solidFill>
            <a:srgbClr val="141A26"/>
          </a:solidFill>
          <a:ln w="12700">
            <a:solidFill>
              <a:srgbClr val="3A2028"/>
            </a:solidFill>
            <a:prstDash val="solid"/>
          </a:ln>
        </p:spPr>
        <p:txBody>
          <a:bodyPr/>
          <a:lstStyle/>
          <a:p>
            <a:endParaRPr lang="en-NP"/>
          </a:p>
        </p:txBody>
      </p:sp>
      <p:sp>
        <p:nvSpPr>
          <p:cNvPr id="8" name="Text 6"/>
          <p:cNvSpPr txBox="1"/>
          <p:nvPr/>
        </p:nvSpPr>
        <p:spPr>
          <a:xfrm>
            <a:off x="2487168" y="1920240"/>
            <a:ext cx="3063240" cy="457200"/>
          </a:xfrm>
          <a:prstGeom prst="rect">
            <a:avLst/>
          </a:prstGeom>
          <a:noFill/>
          <a:ln/>
        </p:spPr>
        <p:txBody>
          <a:bodyPr wrap="square" lIns="0" tIns="0" rIns="0" bIns="0" rtlCol="0" anchor="ctr"/>
          <a:lstStyle/>
          <a:p>
            <a:pPr marL="0" indent="0">
              <a:buNone/>
            </a:pPr>
            <a:r>
              <a:rPr lang="en-US" sz="1150" dirty="0">
                <a:solidFill>
                  <a:srgbClr val="FFC0B8"/>
                </a:solidFill>
                <a:latin typeface="Arial" pitchFamily="34" charset="0"/>
                <a:ea typeface="Arial" pitchFamily="34" charset="-122"/>
                <a:cs typeface="Arial" pitchFamily="34" charset="-120"/>
              </a:rPr>
              <a:t>"Where can I get in?"</a:t>
            </a:r>
            <a:endParaRPr lang="en-US" sz="1150" dirty="0"/>
          </a:p>
        </p:txBody>
      </p:sp>
      <p:sp>
        <p:nvSpPr>
          <p:cNvPr id="9" name="Shape 7"/>
          <p:cNvSpPr/>
          <p:nvPr/>
        </p:nvSpPr>
        <p:spPr>
          <a:xfrm>
            <a:off x="5815584" y="2075688"/>
            <a:ext cx="502920" cy="146304"/>
          </a:xfrm>
          <a:prstGeom prst="rightArrow">
            <a:avLst/>
          </a:prstGeom>
          <a:solidFill>
            <a:srgbClr val="5C687D"/>
          </a:solidFill>
          <a:ln w="12700">
            <a:solidFill>
              <a:srgbClr val="0B0F17"/>
            </a:solidFill>
            <a:prstDash val="solid"/>
          </a:ln>
        </p:spPr>
        <p:txBody>
          <a:bodyPr/>
          <a:lstStyle/>
          <a:p>
            <a:endParaRPr lang="en-NP"/>
          </a:p>
        </p:txBody>
      </p:sp>
      <p:sp>
        <p:nvSpPr>
          <p:cNvPr id="10" name="Shape 8"/>
          <p:cNvSpPr/>
          <p:nvPr/>
        </p:nvSpPr>
        <p:spPr>
          <a:xfrm>
            <a:off x="6519672" y="1920240"/>
            <a:ext cx="5120640" cy="457200"/>
          </a:xfrm>
          <a:prstGeom prst="roundRect">
            <a:avLst>
              <a:gd name="adj" fmla="val 16000"/>
            </a:avLst>
          </a:prstGeom>
          <a:solidFill>
            <a:srgbClr val="141A26"/>
          </a:solidFill>
          <a:ln w="12700">
            <a:solidFill>
              <a:srgbClr val="1F3A2A"/>
            </a:solidFill>
            <a:prstDash val="solid"/>
          </a:ln>
        </p:spPr>
        <p:txBody>
          <a:bodyPr/>
          <a:lstStyle/>
          <a:p>
            <a:endParaRPr lang="en-NP"/>
          </a:p>
        </p:txBody>
      </p:sp>
      <p:sp>
        <p:nvSpPr>
          <p:cNvPr id="11" name="Text 9"/>
          <p:cNvSpPr txBox="1"/>
          <p:nvPr/>
        </p:nvSpPr>
        <p:spPr>
          <a:xfrm>
            <a:off x="6702552" y="1920240"/>
            <a:ext cx="4754880" cy="457200"/>
          </a:xfrm>
          <a:prstGeom prst="rect">
            <a:avLst/>
          </a:prstGeom>
          <a:noFill/>
          <a:ln/>
        </p:spPr>
        <p:txBody>
          <a:bodyPr wrap="square" lIns="0" tIns="0" rIns="0" bIns="0" rtlCol="0" anchor="ctr"/>
          <a:lstStyle/>
          <a:p>
            <a:pPr marL="0" indent="0">
              <a:buNone/>
            </a:pPr>
            <a:r>
              <a:rPr lang="en-US" sz="1150" dirty="0">
                <a:solidFill>
                  <a:srgbClr val="A9EFC6"/>
                </a:solidFill>
                <a:latin typeface="Arial" pitchFamily="34" charset="0"/>
                <a:ea typeface="Arial" pitchFamily="34" charset="-122"/>
                <a:cs typeface="Arial" pitchFamily="34" charset="-120"/>
              </a:rPr>
              <a:t>"What is externally exposed?"</a:t>
            </a:r>
            <a:endParaRPr lang="en-US" sz="1150" dirty="0"/>
          </a:p>
        </p:txBody>
      </p:sp>
      <p:sp>
        <p:nvSpPr>
          <p:cNvPr id="12" name="Text 10"/>
          <p:cNvSpPr txBox="1"/>
          <p:nvPr/>
        </p:nvSpPr>
        <p:spPr>
          <a:xfrm>
            <a:off x="548640" y="2459736"/>
            <a:ext cx="1737360" cy="457200"/>
          </a:xfrm>
          <a:prstGeom prst="rect">
            <a:avLst/>
          </a:prstGeom>
          <a:noFill/>
          <a:ln/>
        </p:spPr>
        <p:txBody>
          <a:bodyPr wrap="square" lIns="0" tIns="0" rIns="0" bIns="0" rtlCol="0" anchor="ctr"/>
          <a:lstStyle/>
          <a:p>
            <a:pPr marL="0" indent="0">
              <a:buNone/>
            </a:pPr>
            <a:r>
              <a:rPr lang="en-US" sz="950" b="1" kern="0" spc="110" dirty="0">
                <a:solidFill>
                  <a:srgbClr val="5C687D"/>
                </a:solidFill>
                <a:latin typeface="Arial" pitchFamily="34" charset="0"/>
                <a:ea typeface="Arial" pitchFamily="34" charset="-122"/>
                <a:cs typeface="Arial" pitchFamily="34" charset="-120"/>
              </a:rPr>
              <a:t>ENUMERATE</a:t>
            </a:r>
            <a:endParaRPr lang="en-US" sz="950" dirty="0"/>
          </a:p>
        </p:txBody>
      </p:sp>
      <p:sp>
        <p:nvSpPr>
          <p:cNvPr id="13" name="Shape 11"/>
          <p:cNvSpPr/>
          <p:nvPr/>
        </p:nvSpPr>
        <p:spPr>
          <a:xfrm>
            <a:off x="2331720" y="2423160"/>
            <a:ext cx="3337560" cy="457200"/>
          </a:xfrm>
          <a:prstGeom prst="roundRect">
            <a:avLst>
              <a:gd name="adj" fmla="val 16000"/>
            </a:avLst>
          </a:prstGeom>
          <a:solidFill>
            <a:srgbClr val="141A26"/>
          </a:solidFill>
          <a:ln w="12700">
            <a:solidFill>
              <a:srgbClr val="3A2028"/>
            </a:solidFill>
            <a:prstDash val="solid"/>
          </a:ln>
        </p:spPr>
        <p:txBody>
          <a:bodyPr/>
          <a:lstStyle/>
          <a:p>
            <a:endParaRPr lang="en-NP"/>
          </a:p>
        </p:txBody>
      </p:sp>
      <p:sp>
        <p:nvSpPr>
          <p:cNvPr id="14" name="Text 12"/>
          <p:cNvSpPr txBox="1"/>
          <p:nvPr/>
        </p:nvSpPr>
        <p:spPr>
          <a:xfrm>
            <a:off x="2487168" y="2423160"/>
            <a:ext cx="3063240" cy="457200"/>
          </a:xfrm>
          <a:prstGeom prst="rect">
            <a:avLst/>
          </a:prstGeom>
          <a:noFill/>
          <a:ln/>
        </p:spPr>
        <p:txBody>
          <a:bodyPr wrap="square" lIns="0" tIns="0" rIns="0" bIns="0" rtlCol="0" anchor="ctr"/>
          <a:lstStyle/>
          <a:p>
            <a:pPr marL="0" indent="0">
              <a:buNone/>
            </a:pPr>
            <a:r>
              <a:rPr lang="en-US" sz="1150" dirty="0">
                <a:solidFill>
                  <a:srgbClr val="FFC0B8"/>
                </a:solidFill>
                <a:latin typeface="Arial" pitchFamily="34" charset="0"/>
                <a:ea typeface="Arial" pitchFamily="34" charset="-122"/>
                <a:cs typeface="Arial" pitchFamily="34" charset="-120"/>
              </a:rPr>
              <a:t>"What can I reach?"</a:t>
            </a:r>
            <a:endParaRPr lang="en-US" sz="1150" dirty="0"/>
          </a:p>
        </p:txBody>
      </p:sp>
      <p:sp>
        <p:nvSpPr>
          <p:cNvPr id="15" name="Shape 13"/>
          <p:cNvSpPr/>
          <p:nvPr/>
        </p:nvSpPr>
        <p:spPr>
          <a:xfrm>
            <a:off x="5815584" y="2578608"/>
            <a:ext cx="502920" cy="146304"/>
          </a:xfrm>
          <a:prstGeom prst="rightArrow">
            <a:avLst/>
          </a:prstGeom>
          <a:solidFill>
            <a:srgbClr val="5C687D"/>
          </a:solidFill>
          <a:ln w="12700">
            <a:solidFill>
              <a:srgbClr val="0B0F17"/>
            </a:solidFill>
            <a:prstDash val="solid"/>
          </a:ln>
        </p:spPr>
        <p:txBody>
          <a:bodyPr/>
          <a:lstStyle/>
          <a:p>
            <a:endParaRPr lang="en-NP"/>
          </a:p>
        </p:txBody>
      </p:sp>
      <p:sp>
        <p:nvSpPr>
          <p:cNvPr id="16" name="Shape 14"/>
          <p:cNvSpPr/>
          <p:nvPr/>
        </p:nvSpPr>
        <p:spPr>
          <a:xfrm>
            <a:off x="6519672" y="2423160"/>
            <a:ext cx="5120640" cy="457200"/>
          </a:xfrm>
          <a:prstGeom prst="roundRect">
            <a:avLst>
              <a:gd name="adj" fmla="val 16000"/>
            </a:avLst>
          </a:prstGeom>
          <a:solidFill>
            <a:srgbClr val="141A26"/>
          </a:solidFill>
          <a:ln w="12700">
            <a:solidFill>
              <a:srgbClr val="1F3A2A"/>
            </a:solidFill>
            <a:prstDash val="solid"/>
          </a:ln>
        </p:spPr>
        <p:txBody>
          <a:bodyPr/>
          <a:lstStyle/>
          <a:p>
            <a:endParaRPr lang="en-NP"/>
          </a:p>
        </p:txBody>
      </p:sp>
      <p:sp>
        <p:nvSpPr>
          <p:cNvPr id="17" name="Text 15"/>
          <p:cNvSpPr txBox="1"/>
          <p:nvPr/>
        </p:nvSpPr>
        <p:spPr>
          <a:xfrm>
            <a:off x="6702552" y="2423160"/>
            <a:ext cx="4754880" cy="457200"/>
          </a:xfrm>
          <a:prstGeom prst="rect">
            <a:avLst/>
          </a:prstGeom>
          <a:noFill/>
          <a:ln/>
        </p:spPr>
        <p:txBody>
          <a:bodyPr wrap="square" lIns="0" tIns="0" rIns="0" bIns="0" rtlCol="0" anchor="ctr"/>
          <a:lstStyle/>
          <a:p>
            <a:pPr marL="0" indent="0">
              <a:buNone/>
            </a:pPr>
            <a:r>
              <a:rPr lang="en-US" sz="1150" dirty="0">
                <a:solidFill>
                  <a:srgbClr val="A9EFC6"/>
                </a:solidFill>
                <a:latin typeface="Arial" pitchFamily="34" charset="0"/>
                <a:ea typeface="Arial" pitchFamily="34" charset="-122"/>
                <a:cs typeface="Arial" pitchFamily="34" charset="-120"/>
              </a:rPr>
              <a:t>"Are boundaries enforced per object?"</a:t>
            </a:r>
            <a:endParaRPr lang="en-US" sz="1150" dirty="0"/>
          </a:p>
        </p:txBody>
      </p:sp>
      <p:sp>
        <p:nvSpPr>
          <p:cNvPr id="18" name="Text 16"/>
          <p:cNvSpPr txBox="1"/>
          <p:nvPr/>
        </p:nvSpPr>
        <p:spPr>
          <a:xfrm>
            <a:off x="548640" y="2962656"/>
            <a:ext cx="1737360" cy="457200"/>
          </a:xfrm>
          <a:prstGeom prst="rect">
            <a:avLst/>
          </a:prstGeom>
          <a:noFill/>
          <a:ln/>
        </p:spPr>
        <p:txBody>
          <a:bodyPr wrap="square" lIns="0" tIns="0" rIns="0" bIns="0" rtlCol="0" anchor="ctr"/>
          <a:lstStyle/>
          <a:p>
            <a:pPr marL="0" indent="0">
              <a:buNone/>
            </a:pPr>
            <a:r>
              <a:rPr lang="en-US" sz="950" b="1" kern="0" spc="110" dirty="0">
                <a:solidFill>
                  <a:srgbClr val="5C687D"/>
                </a:solidFill>
                <a:latin typeface="Arial" pitchFamily="34" charset="0"/>
                <a:ea typeface="Arial" pitchFamily="34" charset="-122"/>
                <a:cs typeface="Arial" pitchFamily="34" charset="-120"/>
              </a:rPr>
              <a:t>UNDERSTAND</a:t>
            </a:r>
            <a:endParaRPr lang="en-US" sz="950" dirty="0"/>
          </a:p>
        </p:txBody>
      </p:sp>
      <p:sp>
        <p:nvSpPr>
          <p:cNvPr id="19" name="Shape 17"/>
          <p:cNvSpPr/>
          <p:nvPr/>
        </p:nvSpPr>
        <p:spPr>
          <a:xfrm>
            <a:off x="2331720" y="2926080"/>
            <a:ext cx="3337560" cy="457200"/>
          </a:xfrm>
          <a:prstGeom prst="roundRect">
            <a:avLst>
              <a:gd name="adj" fmla="val 16000"/>
            </a:avLst>
          </a:prstGeom>
          <a:solidFill>
            <a:srgbClr val="141A26"/>
          </a:solidFill>
          <a:ln w="12700">
            <a:solidFill>
              <a:srgbClr val="3A2028"/>
            </a:solidFill>
            <a:prstDash val="solid"/>
          </a:ln>
        </p:spPr>
        <p:txBody>
          <a:bodyPr/>
          <a:lstStyle/>
          <a:p>
            <a:endParaRPr lang="en-NP"/>
          </a:p>
        </p:txBody>
      </p:sp>
      <p:sp>
        <p:nvSpPr>
          <p:cNvPr id="20" name="Text 18"/>
          <p:cNvSpPr txBox="1"/>
          <p:nvPr/>
        </p:nvSpPr>
        <p:spPr>
          <a:xfrm>
            <a:off x="2487168" y="2926080"/>
            <a:ext cx="3063240" cy="457200"/>
          </a:xfrm>
          <a:prstGeom prst="rect">
            <a:avLst/>
          </a:prstGeom>
          <a:noFill/>
          <a:ln/>
        </p:spPr>
        <p:txBody>
          <a:bodyPr wrap="square" lIns="0" tIns="0" rIns="0" bIns="0" rtlCol="0" anchor="ctr"/>
          <a:lstStyle/>
          <a:p>
            <a:pPr marL="0" indent="0">
              <a:buNone/>
            </a:pPr>
            <a:r>
              <a:rPr lang="en-US" sz="1150" dirty="0">
                <a:solidFill>
                  <a:srgbClr val="FFC0B8"/>
                </a:solidFill>
                <a:latin typeface="Arial" pitchFamily="34" charset="0"/>
                <a:ea typeface="Arial" pitchFamily="34" charset="-122"/>
                <a:cs typeface="Arial" pitchFamily="34" charset="-120"/>
              </a:rPr>
              <a:t>"How does this work?"</a:t>
            </a:r>
            <a:endParaRPr lang="en-US" sz="1150" dirty="0"/>
          </a:p>
        </p:txBody>
      </p:sp>
      <p:sp>
        <p:nvSpPr>
          <p:cNvPr id="21" name="Shape 19"/>
          <p:cNvSpPr/>
          <p:nvPr/>
        </p:nvSpPr>
        <p:spPr>
          <a:xfrm>
            <a:off x="5815584" y="3081528"/>
            <a:ext cx="502920" cy="146304"/>
          </a:xfrm>
          <a:prstGeom prst="rightArrow">
            <a:avLst/>
          </a:prstGeom>
          <a:solidFill>
            <a:srgbClr val="5C687D"/>
          </a:solidFill>
          <a:ln w="12700">
            <a:solidFill>
              <a:srgbClr val="0B0F17"/>
            </a:solidFill>
            <a:prstDash val="solid"/>
          </a:ln>
        </p:spPr>
        <p:txBody>
          <a:bodyPr/>
          <a:lstStyle/>
          <a:p>
            <a:endParaRPr lang="en-NP"/>
          </a:p>
        </p:txBody>
      </p:sp>
      <p:sp>
        <p:nvSpPr>
          <p:cNvPr id="22" name="Shape 20"/>
          <p:cNvSpPr/>
          <p:nvPr/>
        </p:nvSpPr>
        <p:spPr>
          <a:xfrm>
            <a:off x="6519672" y="2926080"/>
            <a:ext cx="5120640" cy="457200"/>
          </a:xfrm>
          <a:prstGeom prst="roundRect">
            <a:avLst>
              <a:gd name="adj" fmla="val 16000"/>
            </a:avLst>
          </a:prstGeom>
          <a:solidFill>
            <a:srgbClr val="141A26"/>
          </a:solidFill>
          <a:ln w="12700">
            <a:solidFill>
              <a:srgbClr val="1F3A2A"/>
            </a:solidFill>
            <a:prstDash val="solid"/>
          </a:ln>
        </p:spPr>
        <p:txBody>
          <a:bodyPr/>
          <a:lstStyle/>
          <a:p>
            <a:endParaRPr lang="en-NP"/>
          </a:p>
        </p:txBody>
      </p:sp>
      <p:sp>
        <p:nvSpPr>
          <p:cNvPr id="23" name="Text 21"/>
          <p:cNvSpPr txBox="1"/>
          <p:nvPr/>
        </p:nvSpPr>
        <p:spPr>
          <a:xfrm>
            <a:off x="6702552" y="2926080"/>
            <a:ext cx="4754880" cy="457200"/>
          </a:xfrm>
          <a:prstGeom prst="rect">
            <a:avLst/>
          </a:prstGeom>
          <a:noFill/>
          <a:ln/>
        </p:spPr>
        <p:txBody>
          <a:bodyPr wrap="square" lIns="0" tIns="0" rIns="0" bIns="0" rtlCol="0" anchor="ctr"/>
          <a:lstStyle/>
          <a:p>
            <a:pPr marL="0" indent="0">
              <a:buNone/>
            </a:pPr>
            <a:r>
              <a:rPr lang="en-US" sz="1150" dirty="0">
                <a:solidFill>
                  <a:srgbClr val="A9EFC6"/>
                </a:solidFill>
                <a:latin typeface="Arial" pitchFamily="34" charset="0"/>
                <a:ea typeface="Arial" pitchFamily="34" charset="-122"/>
                <a:cs typeface="Arial" pitchFamily="34" charset="-120"/>
              </a:rPr>
              <a:t>"What do my errors and docs reveal?"</a:t>
            </a:r>
            <a:endParaRPr lang="en-US" sz="1150" dirty="0"/>
          </a:p>
        </p:txBody>
      </p:sp>
      <p:sp>
        <p:nvSpPr>
          <p:cNvPr id="24" name="Text 22"/>
          <p:cNvSpPr txBox="1"/>
          <p:nvPr/>
        </p:nvSpPr>
        <p:spPr>
          <a:xfrm>
            <a:off x="548640" y="3465576"/>
            <a:ext cx="1737360" cy="457200"/>
          </a:xfrm>
          <a:prstGeom prst="rect">
            <a:avLst/>
          </a:prstGeom>
          <a:noFill/>
          <a:ln/>
        </p:spPr>
        <p:txBody>
          <a:bodyPr wrap="square" lIns="0" tIns="0" rIns="0" bIns="0" rtlCol="0" anchor="ctr"/>
          <a:lstStyle/>
          <a:p>
            <a:pPr marL="0" indent="0">
              <a:buNone/>
            </a:pPr>
            <a:r>
              <a:rPr lang="en-US" sz="950" b="1" kern="0" spc="110" dirty="0">
                <a:solidFill>
                  <a:srgbClr val="5C687D"/>
                </a:solidFill>
                <a:latin typeface="Arial" pitchFamily="34" charset="0"/>
                <a:ea typeface="Arial" pitchFamily="34" charset="-122"/>
                <a:cs typeface="Arial" pitchFamily="34" charset="-120"/>
              </a:rPr>
              <a:t>FIND WEAKNESS</a:t>
            </a:r>
            <a:endParaRPr lang="en-US" sz="950" dirty="0"/>
          </a:p>
        </p:txBody>
      </p:sp>
      <p:sp>
        <p:nvSpPr>
          <p:cNvPr id="25" name="Shape 23"/>
          <p:cNvSpPr/>
          <p:nvPr/>
        </p:nvSpPr>
        <p:spPr>
          <a:xfrm>
            <a:off x="2331720" y="3429000"/>
            <a:ext cx="3337560" cy="457200"/>
          </a:xfrm>
          <a:prstGeom prst="roundRect">
            <a:avLst>
              <a:gd name="adj" fmla="val 16000"/>
            </a:avLst>
          </a:prstGeom>
          <a:solidFill>
            <a:srgbClr val="141A26"/>
          </a:solidFill>
          <a:ln w="12700">
            <a:solidFill>
              <a:srgbClr val="3A2028"/>
            </a:solidFill>
            <a:prstDash val="solid"/>
          </a:ln>
        </p:spPr>
        <p:txBody>
          <a:bodyPr/>
          <a:lstStyle/>
          <a:p>
            <a:endParaRPr lang="en-NP"/>
          </a:p>
        </p:txBody>
      </p:sp>
      <p:sp>
        <p:nvSpPr>
          <p:cNvPr id="26" name="Text 24"/>
          <p:cNvSpPr txBox="1"/>
          <p:nvPr/>
        </p:nvSpPr>
        <p:spPr>
          <a:xfrm>
            <a:off x="2487168" y="3429000"/>
            <a:ext cx="3063240" cy="457200"/>
          </a:xfrm>
          <a:prstGeom prst="rect">
            <a:avLst/>
          </a:prstGeom>
          <a:noFill/>
          <a:ln/>
        </p:spPr>
        <p:txBody>
          <a:bodyPr wrap="square" lIns="0" tIns="0" rIns="0" bIns="0" rtlCol="0" anchor="ctr"/>
          <a:lstStyle/>
          <a:p>
            <a:pPr marL="0" indent="0">
              <a:buNone/>
            </a:pPr>
            <a:r>
              <a:rPr lang="en-US" sz="1150" dirty="0">
                <a:solidFill>
                  <a:srgbClr val="FFC0B8"/>
                </a:solidFill>
                <a:latin typeface="Arial" pitchFamily="34" charset="0"/>
                <a:ea typeface="Arial" pitchFamily="34" charset="-122"/>
                <a:cs typeface="Arial" pitchFamily="34" charset="-120"/>
              </a:rPr>
              <a:t>"Where is the gap?"</a:t>
            </a:r>
            <a:endParaRPr lang="en-US" sz="1150" dirty="0"/>
          </a:p>
        </p:txBody>
      </p:sp>
      <p:sp>
        <p:nvSpPr>
          <p:cNvPr id="27" name="Shape 25"/>
          <p:cNvSpPr/>
          <p:nvPr/>
        </p:nvSpPr>
        <p:spPr>
          <a:xfrm>
            <a:off x="5815584" y="3584448"/>
            <a:ext cx="502920" cy="146304"/>
          </a:xfrm>
          <a:prstGeom prst="rightArrow">
            <a:avLst/>
          </a:prstGeom>
          <a:solidFill>
            <a:srgbClr val="5C687D"/>
          </a:solidFill>
          <a:ln w="12700">
            <a:solidFill>
              <a:srgbClr val="0B0F17"/>
            </a:solidFill>
            <a:prstDash val="solid"/>
          </a:ln>
        </p:spPr>
        <p:txBody>
          <a:bodyPr/>
          <a:lstStyle/>
          <a:p>
            <a:endParaRPr lang="en-NP"/>
          </a:p>
        </p:txBody>
      </p:sp>
      <p:sp>
        <p:nvSpPr>
          <p:cNvPr id="28" name="Shape 26"/>
          <p:cNvSpPr/>
          <p:nvPr/>
        </p:nvSpPr>
        <p:spPr>
          <a:xfrm>
            <a:off x="6519672" y="3429000"/>
            <a:ext cx="5120640" cy="457200"/>
          </a:xfrm>
          <a:prstGeom prst="roundRect">
            <a:avLst>
              <a:gd name="adj" fmla="val 16000"/>
            </a:avLst>
          </a:prstGeom>
          <a:solidFill>
            <a:srgbClr val="141A26"/>
          </a:solidFill>
          <a:ln w="12700">
            <a:solidFill>
              <a:srgbClr val="1F3A2A"/>
            </a:solidFill>
            <a:prstDash val="solid"/>
          </a:ln>
        </p:spPr>
        <p:txBody>
          <a:bodyPr/>
          <a:lstStyle/>
          <a:p>
            <a:endParaRPr lang="en-NP"/>
          </a:p>
        </p:txBody>
      </p:sp>
      <p:sp>
        <p:nvSpPr>
          <p:cNvPr id="29" name="Text 27"/>
          <p:cNvSpPr txBox="1"/>
          <p:nvPr/>
        </p:nvSpPr>
        <p:spPr>
          <a:xfrm>
            <a:off x="6702552" y="3429000"/>
            <a:ext cx="4754880" cy="457200"/>
          </a:xfrm>
          <a:prstGeom prst="rect">
            <a:avLst/>
          </a:prstGeom>
          <a:noFill/>
          <a:ln/>
        </p:spPr>
        <p:txBody>
          <a:bodyPr wrap="square" lIns="0" tIns="0" rIns="0" bIns="0" rtlCol="0" anchor="ctr"/>
          <a:lstStyle/>
          <a:p>
            <a:pPr marL="0" indent="0">
              <a:buNone/>
            </a:pPr>
            <a:r>
              <a:rPr lang="en-US" sz="1150" dirty="0">
                <a:solidFill>
                  <a:srgbClr val="A9EFC6"/>
                </a:solidFill>
                <a:latin typeface="Arial" pitchFamily="34" charset="0"/>
                <a:ea typeface="Arial" pitchFamily="34" charset="-122"/>
                <a:cs typeface="Arial" pitchFamily="34" charset="-120"/>
              </a:rPr>
              <a:t>"SAST, SCA, secret scanning, review"</a:t>
            </a:r>
            <a:endParaRPr lang="en-US" sz="1150" dirty="0"/>
          </a:p>
        </p:txBody>
      </p:sp>
      <p:sp>
        <p:nvSpPr>
          <p:cNvPr id="30" name="Text 28"/>
          <p:cNvSpPr txBox="1"/>
          <p:nvPr/>
        </p:nvSpPr>
        <p:spPr>
          <a:xfrm>
            <a:off x="548640" y="3968496"/>
            <a:ext cx="1737360" cy="457200"/>
          </a:xfrm>
          <a:prstGeom prst="rect">
            <a:avLst/>
          </a:prstGeom>
          <a:noFill/>
          <a:ln/>
        </p:spPr>
        <p:txBody>
          <a:bodyPr wrap="square" lIns="0" tIns="0" rIns="0" bIns="0" rtlCol="0" anchor="ctr"/>
          <a:lstStyle/>
          <a:p>
            <a:pPr marL="0" indent="0">
              <a:buNone/>
            </a:pPr>
            <a:r>
              <a:rPr lang="en-US" sz="950" b="1" kern="0" spc="110" dirty="0">
                <a:solidFill>
                  <a:srgbClr val="5C687D"/>
                </a:solidFill>
                <a:latin typeface="Arial" pitchFamily="34" charset="0"/>
                <a:ea typeface="Arial" pitchFamily="34" charset="-122"/>
                <a:cs typeface="Arial" pitchFamily="34" charset="-120"/>
              </a:rPr>
              <a:t>VALIDATE</a:t>
            </a:r>
            <a:endParaRPr lang="en-US" sz="950" dirty="0"/>
          </a:p>
        </p:txBody>
      </p:sp>
      <p:sp>
        <p:nvSpPr>
          <p:cNvPr id="31" name="Shape 29"/>
          <p:cNvSpPr/>
          <p:nvPr/>
        </p:nvSpPr>
        <p:spPr>
          <a:xfrm>
            <a:off x="2331720" y="3931920"/>
            <a:ext cx="3337560" cy="457200"/>
          </a:xfrm>
          <a:prstGeom prst="roundRect">
            <a:avLst>
              <a:gd name="adj" fmla="val 16000"/>
            </a:avLst>
          </a:prstGeom>
          <a:solidFill>
            <a:srgbClr val="141A26"/>
          </a:solidFill>
          <a:ln w="12700">
            <a:solidFill>
              <a:srgbClr val="3A2028"/>
            </a:solidFill>
            <a:prstDash val="solid"/>
          </a:ln>
        </p:spPr>
        <p:txBody>
          <a:bodyPr/>
          <a:lstStyle/>
          <a:p>
            <a:endParaRPr lang="en-NP"/>
          </a:p>
        </p:txBody>
      </p:sp>
      <p:sp>
        <p:nvSpPr>
          <p:cNvPr id="32" name="Text 30"/>
          <p:cNvSpPr txBox="1"/>
          <p:nvPr/>
        </p:nvSpPr>
        <p:spPr>
          <a:xfrm>
            <a:off x="2487168" y="3931920"/>
            <a:ext cx="3063240" cy="457200"/>
          </a:xfrm>
          <a:prstGeom prst="rect">
            <a:avLst/>
          </a:prstGeom>
          <a:noFill/>
          <a:ln/>
        </p:spPr>
        <p:txBody>
          <a:bodyPr wrap="square" lIns="0" tIns="0" rIns="0" bIns="0" rtlCol="0" anchor="ctr"/>
          <a:lstStyle/>
          <a:p>
            <a:pPr marL="0" indent="0">
              <a:buNone/>
            </a:pPr>
            <a:r>
              <a:rPr lang="en-US" sz="1150" dirty="0">
                <a:solidFill>
                  <a:srgbClr val="FFC0B8"/>
                </a:solidFill>
                <a:latin typeface="Arial" pitchFamily="34" charset="0"/>
                <a:ea typeface="Arial" pitchFamily="34" charset="-122"/>
                <a:cs typeface="Arial" pitchFamily="34" charset="-120"/>
              </a:rPr>
              <a:t>"Does it really work?"</a:t>
            </a:r>
            <a:endParaRPr lang="en-US" sz="1150" dirty="0"/>
          </a:p>
        </p:txBody>
      </p:sp>
      <p:sp>
        <p:nvSpPr>
          <p:cNvPr id="33" name="Shape 31"/>
          <p:cNvSpPr/>
          <p:nvPr/>
        </p:nvSpPr>
        <p:spPr>
          <a:xfrm>
            <a:off x="5815584" y="4087368"/>
            <a:ext cx="502920" cy="146304"/>
          </a:xfrm>
          <a:prstGeom prst="rightArrow">
            <a:avLst/>
          </a:prstGeom>
          <a:solidFill>
            <a:srgbClr val="5C687D"/>
          </a:solidFill>
          <a:ln w="12700">
            <a:solidFill>
              <a:srgbClr val="0B0F17"/>
            </a:solidFill>
            <a:prstDash val="solid"/>
          </a:ln>
        </p:spPr>
        <p:txBody>
          <a:bodyPr/>
          <a:lstStyle/>
          <a:p>
            <a:endParaRPr lang="en-NP"/>
          </a:p>
        </p:txBody>
      </p:sp>
      <p:sp>
        <p:nvSpPr>
          <p:cNvPr id="34" name="Shape 32"/>
          <p:cNvSpPr/>
          <p:nvPr/>
        </p:nvSpPr>
        <p:spPr>
          <a:xfrm>
            <a:off x="6519672" y="3931920"/>
            <a:ext cx="5120640" cy="457200"/>
          </a:xfrm>
          <a:prstGeom prst="roundRect">
            <a:avLst>
              <a:gd name="adj" fmla="val 16000"/>
            </a:avLst>
          </a:prstGeom>
          <a:solidFill>
            <a:srgbClr val="141A26"/>
          </a:solidFill>
          <a:ln w="12700">
            <a:solidFill>
              <a:srgbClr val="1F3A2A"/>
            </a:solidFill>
            <a:prstDash val="solid"/>
          </a:ln>
        </p:spPr>
        <p:txBody>
          <a:bodyPr/>
          <a:lstStyle/>
          <a:p>
            <a:endParaRPr lang="en-NP"/>
          </a:p>
        </p:txBody>
      </p:sp>
      <p:sp>
        <p:nvSpPr>
          <p:cNvPr id="35" name="Text 33"/>
          <p:cNvSpPr txBox="1"/>
          <p:nvPr/>
        </p:nvSpPr>
        <p:spPr>
          <a:xfrm>
            <a:off x="6702552" y="3931920"/>
            <a:ext cx="4754880" cy="457200"/>
          </a:xfrm>
          <a:prstGeom prst="rect">
            <a:avLst/>
          </a:prstGeom>
          <a:noFill/>
          <a:ln/>
        </p:spPr>
        <p:txBody>
          <a:bodyPr wrap="square" lIns="0" tIns="0" rIns="0" bIns="0" rtlCol="0" anchor="ctr"/>
          <a:lstStyle/>
          <a:p>
            <a:pPr marL="0" indent="0">
              <a:buNone/>
            </a:pPr>
            <a:r>
              <a:rPr lang="en-US" sz="1150" dirty="0">
                <a:solidFill>
                  <a:srgbClr val="A9EFC6"/>
                </a:solidFill>
                <a:latin typeface="Arial" pitchFamily="34" charset="0"/>
                <a:ea typeface="Arial" pitchFamily="34" charset="-122"/>
                <a:cs typeface="Arial" pitchFamily="34" charset="-120"/>
              </a:rPr>
              <a:t>"DAST and honest pentests"</a:t>
            </a:r>
            <a:endParaRPr lang="en-US" sz="1150" dirty="0"/>
          </a:p>
        </p:txBody>
      </p:sp>
      <p:sp>
        <p:nvSpPr>
          <p:cNvPr id="36" name="Text 34"/>
          <p:cNvSpPr txBox="1"/>
          <p:nvPr/>
        </p:nvSpPr>
        <p:spPr>
          <a:xfrm>
            <a:off x="548640" y="4471416"/>
            <a:ext cx="1737360" cy="457200"/>
          </a:xfrm>
          <a:prstGeom prst="rect">
            <a:avLst/>
          </a:prstGeom>
          <a:noFill/>
          <a:ln/>
        </p:spPr>
        <p:txBody>
          <a:bodyPr wrap="square" lIns="0" tIns="0" rIns="0" bIns="0" rtlCol="0" anchor="ctr"/>
          <a:lstStyle/>
          <a:p>
            <a:pPr marL="0" indent="0">
              <a:buNone/>
            </a:pPr>
            <a:r>
              <a:rPr lang="en-US" sz="950" b="1" kern="0" spc="110" dirty="0">
                <a:solidFill>
                  <a:srgbClr val="5C687D"/>
                </a:solidFill>
                <a:latin typeface="Arial" pitchFamily="34" charset="0"/>
                <a:ea typeface="Arial" pitchFamily="34" charset="-122"/>
                <a:cs typeface="Arial" pitchFamily="34" charset="-120"/>
              </a:rPr>
              <a:t>CHAIN</a:t>
            </a:r>
            <a:endParaRPr lang="en-US" sz="950" dirty="0"/>
          </a:p>
        </p:txBody>
      </p:sp>
      <p:sp>
        <p:nvSpPr>
          <p:cNvPr id="37" name="Shape 35"/>
          <p:cNvSpPr/>
          <p:nvPr/>
        </p:nvSpPr>
        <p:spPr>
          <a:xfrm>
            <a:off x="2331720" y="4434840"/>
            <a:ext cx="3337560" cy="457200"/>
          </a:xfrm>
          <a:prstGeom prst="roundRect">
            <a:avLst>
              <a:gd name="adj" fmla="val 16000"/>
            </a:avLst>
          </a:prstGeom>
          <a:solidFill>
            <a:srgbClr val="141A26"/>
          </a:solidFill>
          <a:ln w="12700">
            <a:solidFill>
              <a:srgbClr val="3A2028"/>
            </a:solidFill>
            <a:prstDash val="solid"/>
          </a:ln>
        </p:spPr>
        <p:txBody>
          <a:bodyPr/>
          <a:lstStyle/>
          <a:p>
            <a:endParaRPr lang="en-NP"/>
          </a:p>
        </p:txBody>
      </p:sp>
      <p:sp>
        <p:nvSpPr>
          <p:cNvPr id="38" name="Text 36"/>
          <p:cNvSpPr txBox="1"/>
          <p:nvPr/>
        </p:nvSpPr>
        <p:spPr>
          <a:xfrm>
            <a:off x="2487168" y="4434840"/>
            <a:ext cx="3063240" cy="457200"/>
          </a:xfrm>
          <a:prstGeom prst="rect">
            <a:avLst/>
          </a:prstGeom>
          <a:noFill/>
          <a:ln/>
        </p:spPr>
        <p:txBody>
          <a:bodyPr wrap="square" lIns="0" tIns="0" rIns="0" bIns="0" rtlCol="0" anchor="ctr"/>
          <a:lstStyle/>
          <a:p>
            <a:pPr marL="0" indent="0">
              <a:buNone/>
            </a:pPr>
            <a:r>
              <a:rPr lang="en-US" sz="1150" dirty="0">
                <a:solidFill>
                  <a:srgbClr val="FFC0B8"/>
                </a:solidFill>
                <a:latin typeface="Arial" pitchFamily="34" charset="0"/>
                <a:ea typeface="Arial" pitchFamily="34" charset="-122"/>
                <a:cs typeface="Arial" pitchFamily="34" charset="-120"/>
              </a:rPr>
              <a:t>"What does this unlock?"</a:t>
            </a:r>
            <a:endParaRPr lang="en-US" sz="1150" dirty="0"/>
          </a:p>
        </p:txBody>
      </p:sp>
      <p:sp>
        <p:nvSpPr>
          <p:cNvPr id="39" name="Shape 37"/>
          <p:cNvSpPr/>
          <p:nvPr/>
        </p:nvSpPr>
        <p:spPr>
          <a:xfrm>
            <a:off x="5815584" y="4590288"/>
            <a:ext cx="502920" cy="146304"/>
          </a:xfrm>
          <a:prstGeom prst="rightArrow">
            <a:avLst/>
          </a:prstGeom>
          <a:solidFill>
            <a:srgbClr val="5C687D"/>
          </a:solidFill>
          <a:ln w="12700">
            <a:solidFill>
              <a:srgbClr val="0B0F17"/>
            </a:solidFill>
            <a:prstDash val="solid"/>
          </a:ln>
        </p:spPr>
        <p:txBody>
          <a:bodyPr/>
          <a:lstStyle/>
          <a:p>
            <a:endParaRPr lang="en-NP"/>
          </a:p>
        </p:txBody>
      </p:sp>
      <p:sp>
        <p:nvSpPr>
          <p:cNvPr id="40" name="Shape 38"/>
          <p:cNvSpPr/>
          <p:nvPr/>
        </p:nvSpPr>
        <p:spPr>
          <a:xfrm>
            <a:off x="6519672" y="4434840"/>
            <a:ext cx="5120640" cy="457200"/>
          </a:xfrm>
          <a:prstGeom prst="roundRect">
            <a:avLst>
              <a:gd name="adj" fmla="val 16000"/>
            </a:avLst>
          </a:prstGeom>
          <a:solidFill>
            <a:srgbClr val="141A26"/>
          </a:solidFill>
          <a:ln w="12700">
            <a:solidFill>
              <a:srgbClr val="1F3A2A"/>
            </a:solidFill>
            <a:prstDash val="solid"/>
          </a:ln>
        </p:spPr>
        <p:txBody>
          <a:bodyPr/>
          <a:lstStyle/>
          <a:p>
            <a:endParaRPr lang="en-NP"/>
          </a:p>
        </p:txBody>
      </p:sp>
      <p:sp>
        <p:nvSpPr>
          <p:cNvPr id="41" name="Text 39"/>
          <p:cNvSpPr txBox="1"/>
          <p:nvPr/>
        </p:nvSpPr>
        <p:spPr>
          <a:xfrm>
            <a:off x="6702552" y="4434840"/>
            <a:ext cx="4754880" cy="457200"/>
          </a:xfrm>
          <a:prstGeom prst="rect">
            <a:avLst/>
          </a:prstGeom>
          <a:noFill/>
          <a:ln/>
        </p:spPr>
        <p:txBody>
          <a:bodyPr wrap="square" lIns="0" tIns="0" rIns="0" bIns="0" rtlCol="0" anchor="ctr"/>
          <a:lstStyle/>
          <a:p>
            <a:pPr marL="0" indent="0">
              <a:buNone/>
            </a:pPr>
            <a:r>
              <a:rPr lang="en-US" sz="1150" dirty="0">
                <a:solidFill>
                  <a:srgbClr val="A9EFC6"/>
                </a:solidFill>
                <a:latin typeface="Arial" pitchFamily="34" charset="0"/>
                <a:ea typeface="Arial" pitchFamily="34" charset="-122"/>
                <a:cs typeface="Arial" pitchFamily="34" charset="-120"/>
              </a:rPr>
              <a:t>"Least privilege, segmentation"</a:t>
            </a:r>
            <a:endParaRPr lang="en-US" sz="1150" dirty="0"/>
          </a:p>
        </p:txBody>
      </p:sp>
      <p:sp>
        <p:nvSpPr>
          <p:cNvPr id="42" name="Text 40"/>
          <p:cNvSpPr txBox="1"/>
          <p:nvPr/>
        </p:nvSpPr>
        <p:spPr>
          <a:xfrm>
            <a:off x="548640" y="4974336"/>
            <a:ext cx="1737360" cy="457200"/>
          </a:xfrm>
          <a:prstGeom prst="rect">
            <a:avLst/>
          </a:prstGeom>
          <a:noFill/>
          <a:ln/>
        </p:spPr>
        <p:txBody>
          <a:bodyPr wrap="square" lIns="0" tIns="0" rIns="0" bIns="0" rtlCol="0" anchor="ctr"/>
          <a:lstStyle/>
          <a:p>
            <a:pPr marL="0" indent="0">
              <a:buNone/>
            </a:pPr>
            <a:r>
              <a:rPr lang="en-US" sz="950" b="1" kern="0" spc="110" dirty="0">
                <a:solidFill>
                  <a:srgbClr val="5C687D"/>
                </a:solidFill>
                <a:latin typeface="Arial" pitchFamily="34" charset="0"/>
                <a:ea typeface="Arial" pitchFamily="34" charset="-122"/>
                <a:cs typeface="Arial" pitchFamily="34" charset="-120"/>
              </a:rPr>
              <a:t>MAXIMISE IMPACT</a:t>
            </a:r>
            <a:endParaRPr lang="en-US" sz="950" dirty="0"/>
          </a:p>
        </p:txBody>
      </p:sp>
      <p:sp>
        <p:nvSpPr>
          <p:cNvPr id="43" name="Shape 41"/>
          <p:cNvSpPr/>
          <p:nvPr/>
        </p:nvSpPr>
        <p:spPr>
          <a:xfrm>
            <a:off x="2331720" y="4937760"/>
            <a:ext cx="3337560" cy="457200"/>
          </a:xfrm>
          <a:prstGeom prst="roundRect">
            <a:avLst>
              <a:gd name="adj" fmla="val 16000"/>
            </a:avLst>
          </a:prstGeom>
          <a:solidFill>
            <a:srgbClr val="141A26"/>
          </a:solidFill>
          <a:ln w="12700">
            <a:solidFill>
              <a:srgbClr val="3A2028"/>
            </a:solidFill>
            <a:prstDash val="solid"/>
          </a:ln>
        </p:spPr>
        <p:txBody>
          <a:bodyPr/>
          <a:lstStyle/>
          <a:p>
            <a:endParaRPr lang="en-NP"/>
          </a:p>
        </p:txBody>
      </p:sp>
      <p:sp>
        <p:nvSpPr>
          <p:cNvPr id="44" name="Text 42"/>
          <p:cNvSpPr txBox="1"/>
          <p:nvPr/>
        </p:nvSpPr>
        <p:spPr>
          <a:xfrm>
            <a:off x="2487168" y="4937760"/>
            <a:ext cx="3063240" cy="457200"/>
          </a:xfrm>
          <a:prstGeom prst="rect">
            <a:avLst/>
          </a:prstGeom>
          <a:noFill/>
          <a:ln/>
        </p:spPr>
        <p:txBody>
          <a:bodyPr wrap="square" lIns="0" tIns="0" rIns="0" bIns="0" rtlCol="0" anchor="ctr"/>
          <a:lstStyle/>
          <a:p>
            <a:pPr marL="0" indent="0">
              <a:buNone/>
            </a:pPr>
            <a:r>
              <a:rPr lang="en-US" sz="1150" dirty="0">
                <a:solidFill>
                  <a:srgbClr val="FFC0B8"/>
                </a:solidFill>
                <a:latin typeface="Arial" pitchFamily="34" charset="0"/>
                <a:ea typeface="Arial" pitchFamily="34" charset="-122"/>
                <a:cs typeface="Arial" pitchFamily="34" charset="-120"/>
              </a:rPr>
              <a:t>"How far does this go?"</a:t>
            </a:r>
            <a:endParaRPr lang="en-US" sz="1150" dirty="0"/>
          </a:p>
        </p:txBody>
      </p:sp>
      <p:sp>
        <p:nvSpPr>
          <p:cNvPr id="45" name="Shape 43"/>
          <p:cNvSpPr/>
          <p:nvPr/>
        </p:nvSpPr>
        <p:spPr>
          <a:xfrm>
            <a:off x="5815584" y="5093208"/>
            <a:ext cx="502920" cy="146304"/>
          </a:xfrm>
          <a:prstGeom prst="rightArrow">
            <a:avLst/>
          </a:prstGeom>
          <a:solidFill>
            <a:srgbClr val="5C687D"/>
          </a:solidFill>
          <a:ln w="12700">
            <a:solidFill>
              <a:srgbClr val="0B0F17"/>
            </a:solidFill>
            <a:prstDash val="solid"/>
          </a:ln>
        </p:spPr>
        <p:txBody>
          <a:bodyPr/>
          <a:lstStyle/>
          <a:p>
            <a:endParaRPr lang="en-NP"/>
          </a:p>
        </p:txBody>
      </p:sp>
      <p:sp>
        <p:nvSpPr>
          <p:cNvPr id="46" name="Shape 44"/>
          <p:cNvSpPr/>
          <p:nvPr/>
        </p:nvSpPr>
        <p:spPr>
          <a:xfrm>
            <a:off x="6519672" y="4937760"/>
            <a:ext cx="5120640" cy="457200"/>
          </a:xfrm>
          <a:prstGeom prst="roundRect">
            <a:avLst>
              <a:gd name="adj" fmla="val 16000"/>
            </a:avLst>
          </a:prstGeom>
          <a:solidFill>
            <a:srgbClr val="141A26"/>
          </a:solidFill>
          <a:ln w="12700">
            <a:solidFill>
              <a:srgbClr val="1F3A2A"/>
            </a:solidFill>
            <a:prstDash val="solid"/>
          </a:ln>
        </p:spPr>
        <p:txBody>
          <a:bodyPr/>
          <a:lstStyle/>
          <a:p>
            <a:endParaRPr lang="en-NP"/>
          </a:p>
        </p:txBody>
      </p:sp>
      <p:sp>
        <p:nvSpPr>
          <p:cNvPr id="47" name="Text 45"/>
          <p:cNvSpPr txBox="1"/>
          <p:nvPr/>
        </p:nvSpPr>
        <p:spPr>
          <a:xfrm>
            <a:off x="6702552" y="4937760"/>
            <a:ext cx="4754880" cy="457200"/>
          </a:xfrm>
          <a:prstGeom prst="rect">
            <a:avLst/>
          </a:prstGeom>
          <a:noFill/>
          <a:ln/>
        </p:spPr>
        <p:txBody>
          <a:bodyPr wrap="square" lIns="0" tIns="0" rIns="0" bIns="0" rtlCol="0" anchor="ctr"/>
          <a:lstStyle/>
          <a:p>
            <a:pPr marL="0" indent="0">
              <a:buNone/>
            </a:pPr>
            <a:r>
              <a:rPr lang="en-US" sz="1150" dirty="0">
                <a:solidFill>
                  <a:srgbClr val="A9EFC6"/>
                </a:solidFill>
                <a:latin typeface="Arial" pitchFamily="34" charset="0"/>
                <a:ea typeface="Arial" pitchFamily="34" charset="-122"/>
                <a:cs typeface="Arial" pitchFamily="34" charset="-120"/>
              </a:rPr>
              <a:t>"Blast radius, encryption, isolation"</a:t>
            </a:r>
            <a:endParaRPr lang="en-US" sz="1150" dirty="0"/>
          </a:p>
        </p:txBody>
      </p:sp>
      <p:sp>
        <p:nvSpPr>
          <p:cNvPr id="48" name="Text 46"/>
          <p:cNvSpPr txBox="1"/>
          <p:nvPr/>
        </p:nvSpPr>
        <p:spPr>
          <a:xfrm>
            <a:off x="548640" y="5477256"/>
            <a:ext cx="1737360" cy="457200"/>
          </a:xfrm>
          <a:prstGeom prst="rect">
            <a:avLst/>
          </a:prstGeom>
          <a:noFill/>
          <a:ln/>
        </p:spPr>
        <p:txBody>
          <a:bodyPr wrap="square" lIns="0" tIns="0" rIns="0" bIns="0" rtlCol="0" anchor="ctr"/>
          <a:lstStyle/>
          <a:p>
            <a:pPr marL="0" indent="0">
              <a:buNone/>
            </a:pPr>
            <a:r>
              <a:rPr lang="en-US" sz="950" b="1" kern="0" spc="110" dirty="0">
                <a:solidFill>
                  <a:srgbClr val="5C687D"/>
                </a:solidFill>
                <a:latin typeface="Arial" pitchFamily="34" charset="0"/>
                <a:ea typeface="Arial" pitchFamily="34" charset="-122"/>
                <a:cs typeface="Arial" pitchFamily="34" charset="-120"/>
              </a:rPr>
              <a:t>AVOID DETECTION</a:t>
            </a:r>
            <a:endParaRPr lang="en-US" sz="950" dirty="0"/>
          </a:p>
        </p:txBody>
      </p:sp>
      <p:sp>
        <p:nvSpPr>
          <p:cNvPr id="49" name="Shape 47"/>
          <p:cNvSpPr/>
          <p:nvPr/>
        </p:nvSpPr>
        <p:spPr>
          <a:xfrm>
            <a:off x="2331720" y="5440680"/>
            <a:ext cx="3337560" cy="457200"/>
          </a:xfrm>
          <a:prstGeom prst="roundRect">
            <a:avLst>
              <a:gd name="adj" fmla="val 16000"/>
            </a:avLst>
          </a:prstGeom>
          <a:solidFill>
            <a:srgbClr val="141A26"/>
          </a:solidFill>
          <a:ln w="12700">
            <a:solidFill>
              <a:srgbClr val="3A2028"/>
            </a:solidFill>
            <a:prstDash val="solid"/>
          </a:ln>
        </p:spPr>
        <p:txBody>
          <a:bodyPr/>
          <a:lstStyle/>
          <a:p>
            <a:endParaRPr lang="en-NP"/>
          </a:p>
        </p:txBody>
      </p:sp>
      <p:sp>
        <p:nvSpPr>
          <p:cNvPr id="50" name="Text 48"/>
          <p:cNvSpPr txBox="1"/>
          <p:nvPr/>
        </p:nvSpPr>
        <p:spPr>
          <a:xfrm>
            <a:off x="2487168" y="5440680"/>
            <a:ext cx="3063240" cy="457200"/>
          </a:xfrm>
          <a:prstGeom prst="rect">
            <a:avLst/>
          </a:prstGeom>
          <a:noFill/>
          <a:ln/>
        </p:spPr>
        <p:txBody>
          <a:bodyPr wrap="square" lIns="0" tIns="0" rIns="0" bIns="0" rtlCol="0" anchor="ctr"/>
          <a:lstStyle/>
          <a:p>
            <a:pPr marL="0" indent="0">
              <a:buNone/>
            </a:pPr>
            <a:r>
              <a:rPr lang="en-US" sz="1150" dirty="0">
                <a:solidFill>
                  <a:srgbClr val="FFC0B8"/>
                </a:solidFill>
                <a:latin typeface="Arial" pitchFamily="34" charset="0"/>
                <a:ea typeface="Arial" pitchFamily="34" charset="-122"/>
                <a:cs typeface="Arial" pitchFamily="34" charset="-120"/>
              </a:rPr>
              <a:t>"Is anyone watching?"</a:t>
            </a:r>
            <a:endParaRPr lang="en-US" sz="1150" dirty="0"/>
          </a:p>
        </p:txBody>
      </p:sp>
      <p:sp>
        <p:nvSpPr>
          <p:cNvPr id="51" name="Shape 49"/>
          <p:cNvSpPr/>
          <p:nvPr/>
        </p:nvSpPr>
        <p:spPr>
          <a:xfrm>
            <a:off x="5815584" y="5596128"/>
            <a:ext cx="502920" cy="146304"/>
          </a:xfrm>
          <a:prstGeom prst="rightArrow">
            <a:avLst/>
          </a:prstGeom>
          <a:solidFill>
            <a:srgbClr val="5C687D"/>
          </a:solidFill>
          <a:ln w="12700">
            <a:solidFill>
              <a:srgbClr val="0B0F17"/>
            </a:solidFill>
            <a:prstDash val="solid"/>
          </a:ln>
        </p:spPr>
        <p:txBody>
          <a:bodyPr/>
          <a:lstStyle/>
          <a:p>
            <a:endParaRPr lang="en-NP"/>
          </a:p>
        </p:txBody>
      </p:sp>
      <p:sp>
        <p:nvSpPr>
          <p:cNvPr id="52" name="Shape 50"/>
          <p:cNvSpPr/>
          <p:nvPr/>
        </p:nvSpPr>
        <p:spPr>
          <a:xfrm>
            <a:off x="6519672" y="5440680"/>
            <a:ext cx="5120640" cy="457200"/>
          </a:xfrm>
          <a:prstGeom prst="roundRect">
            <a:avLst>
              <a:gd name="adj" fmla="val 16000"/>
            </a:avLst>
          </a:prstGeom>
          <a:solidFill>
            <a:srgbClr val="141A26"/>
          </a:solidFill>
          <a:ln w="12700">
            <a:solidFill>
              <a:srgbClr val="1F3A2A"/>
            </a:solidFill>
            <a:prstDash val="solid"/>
          </a:ln>
        </p:spPr>
        <p:txBody>
          <a:bodyPr/>
          <a:lstStyle/>
          <a:p>
            <a:endParaRPr lang="en-NP"/>
          </a:p>
        </p:txBody>
      </p:sp>
      <p:sp>
        <p:nvSpPr>
          <p:cNvPr id="53" name="Text 51"/>
          <p:cNvSpPr txBox="1"/>
          <p:nvPr/>
        </p:nvSpPr>
        <p:spPr>
          <a:xfrm>
            <a:off x="6702552" y="5440680"/>
            <a:ext cx="4754880" cy="457200"/>
          </a:xfrm>
          <a:prstGeom prst="rect">
            <a:avLst/>
          </a:prstGeom>
          <a:noFill/>
          <a:ln/>
        </p:spPr>
        <p:txBody>
          <a:bodyPr wrap="square" lIns="0" tIns="0" rIns="0" bIns="0" rtlCol="0" anchor="ctr"/>
          <a:lstStyle/>
          <a:p>
            <a:pPr marL="0" indent="0">
              <a:buNone/>
            </a:pPr>
            <a:r>
              <a:rPr lang="en-US" sz="1150" dirty="0">
                <a:solidFill>
                  <a:srgbClr val="A9EFC6"/>
                </a:solidFill>
                <a:latin typeface="Arial" pitchFamily="34" charset="0"/>
                <a:ea typeface="Arial" pitchFamily="34" charset="-122"/>
                <a:cs typeface="Arial" pitchFamily="34" charset="-120"/>
              </a:rPr>
              <a:t>"Logging AND alerting — A09:2025"</a:t>
            </a:r>
            <a:endParaRPr lang="en-US" sz="1150" dirty="0"/>
          </a:p>
        </p:txBody>
      </p:sp>
      <p:sp>
        <p:nvSpPr>
          <p:cNvPr id="54" name="Text 52"/>
          <p:cNvSpPr txBox="1"/>
          <p:nvPr/>
        </p:nvSpPr>
        <p:spPr>
          <a:xfrm>
            <a:off x="548640" y="6053328"/>
            <a:ext cx="11091672" cy="320040"/>
          </a:xfrm>
          <a:prstGeom prst="rect">
            <a:avLst/>
          </a:prstGeom>
          <a:noFill/>
          <a:ln/>
        </p:spPr>
        <p:txBody>
          <a:bodyPr wrap="square" lIns="0" tIns="0" rIns="0" bIns="0" rtlCol="0" anchor="ctr"/>
          <a:lstStyle/>
          <a:p>
            <a:pPr marL="0" indent="0" algn="ctr">
              <a:buNone/>
            </a:pPr>
            <a:r>
              <a:rPr lang="en-US" sz="1250" i="1" dirty="0">
                <a:solidFill>
                  <a:srgbClr val="8C97AC"/>
                </a:solidFill>
                <a:latin typeface="Arial" pitchFamily="34" charset="0"/>
                <a:ea typeface="Arial" pitchFamily="34" charset="-122"/>
                <a:cs typeface="Arial" pitchFamily="34" charset="-120"/>
              </a:rPr>
              <a:t>If you can’t name the control in the right-hand column, that row is currently uncontested.</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0B0F17"/>
        </a:solidFill>
        <a:effectLst/>
      </p:bgPr>
    </p:bg>
    <p:spTree>
      <p:nvGrpSpPr>
        <p:cNvPr id="1" name=""/>
        <p:cNvGrpSpPr/>
        <p:nvPr/>
      </p:nvGrpSpPr>
      <p:grpSpPr>
        <a:xfrm>
          <a:off x="0" y="0"/>
          <a:ext cx="0" cy="0"/>
          <a:chOff x="0" y="0"/>
          <a:chExt cx="0" cy="0"/>
        </a:xfrm>
      </p:grpSpPr>
      <p:sp>
        <p:nvSpPr>
          <p:cNvPr id="3" name="Text 1"/>
          <p:cNvSpPr txBox="1"/>
          <p:nvPr/>
        </p:nvSpPr>
        <p:spPr>
          <a:xfrm>
            <a:off x="548640" y="533425"/>
            <a:ext cx="11091672" cy="685800"/>
          </a:xfrm>
          <a:prstGeom prst="rect">
            <a:avLst/>
          </a:prstGeom>
          <a:noFill/>
          <a:ln/>
        </p:spPr>
        <p:txBody>
          <a:bodyPr wrap="square" lIns="0" tIns="0" rIns="0" bIns="0" rtlCol="0" anchor="ctr"/>
          <a:lstStyle/>
          <a:p>
            <a:pPr marL="0" indent="0">
              <a:lnSpc>
                <a:spcPct val="100000"/>
              </a:lnSpc>
              <a:buNone/>
            </a:pPr>
            <a:r>
              <a:rPr lang="en-US" sz="3000" b="1" dirty="0">
                <a:solidFill>
                  <a:srgbClr val="E9EEF7"/>
                </a:solidFill>
                <a:latin typeface="Arial" pitchFamily="34" charset="0"/>
                <a:ea typeface="Arial" pitchFamily="34" charset="-122"/>
                <a:cs typeface="Arial" pitchFamily="34" charset="-120"/>
              </a:rPr>
              <a:t>The Conversation We’ve All Had</a:t>
            </a:r>
            <a:endParaRPr lang="en-US" sz="3000" dirty="0"/>
          </a:p>
        </p:txBody>
      </p:sp>
      <p:sp>
        <p:nvSpPr>
          <p:cNvPr id="6" name="Text 4"/>
          <p:cNvSpPr txBox="1"/>
          <p:nvPr/>
        </p:nvSpPr>
        <p:spPr>
          <a:xfrm>
            <a:off x="3520440" y="1198127"/>
            <a:ext cx="5120640" cy="822960"/>
          </a:xfrm>
          <a:prstGeom prst="rect">
            <a:avLst/>
          </a:prstGeom>
          <a:noFill/>
          <a:ln/>
        </p:spPr>
        <p:txBody>
          <a:bodyPr wrap="square" lIns="0" tIns="0" rIns="0" bIns="0" rtlCol="0" anchor="ctr"/>
          <a:lstStyle/>
          <a:p>
            <a:pPr marL="0" indent="0" algn="ctr">
              <a:buNone/>
            </a:pPr>
            <a:r>
              <a:rPr lang="en-US" sz="2000" b="1" dirty="0">
                <a:solidFill>
                  <a:srgbClr val="E9EEF7"/>
                </a:solidFill>
                <a:latin typeface="Arial" pitchFamily="34" charset="0"/>
                <a:ea typeface="Arial" pitchFamily="34" charset="-122"/>
                <a:cs typeface="Arial" pitchFamily="34" charset="-120"/>
              </a:rPr>
              <a:t>Security Team flags a vulnerability</a:t>
            </a:r>
            <a:endParaRPr lang="en-US" sz="2000" dirty="0"/>
          </a:p>
        </p:txBody>
      </p:sp>
      <p:sp>
        <p:nvSpPr>
          <p:cNvPr id="9" name="Text 7"/>
          <p:cNvSpPr txBox="1"/>
          <p:nvPr/>
        </p:nvSpPr>
        <p:spPr>
          <a:xfrm>
            <a:off x="548640" y="6253482"/>
            <a:ext cx="11091672" cy="365760"/>
          </a:xfrm>
          <a:prstGeom prst="rect">
            <a:avLst/>
          </a:prstGeom>
          <a:noFill/>
          <a:ln/>
        </p:spPr>
        <p:txBody>
          <a:bodyPr wrap="square" lIns="0" tIns="0" rIns="0" bIns="0" rtlCol="0" anchor="ctr"/>
          <a:lstStyle/>
          <a:p>
            <a:pPr marL="0" indent="0" algn="ctr">
              <a:buNone/>
            </a:pPr>
            <a:r>
              <a:rPr lang="en-US" sz="1400" i="1" dirty="0">
                <a:solidFill>
                  <a:srgbClr val="C9B6FF"/>
                </a:solidFill>
                <a:latin typeface="Arial" pitchFamily="34" charset="0"/>
                <a:ea typeface="Arial" pitchFamily="34" charset="-122"/>
                <a:cs typeface="Arial" pitchFamily="34" charset="-120"/>
              </a:rPr>
              <a:t>Temporary is the most permanent word in software.</a:t>
            </a:r>
            <a:endParaRPr lang="en-US" sz="1400" dirty="0"/>
          </a:p>
        </p:txBody>
      </p:sp>
      <p:pic>
        <p:nvPicPr>
          <p:cNvPr id="18" name="Picture 17">
            <a:extLst>
              <a:ext uri="{FF2B5EF4-FFF2-40B4-BE49-F238E27FC236}">
                <a16:creationId xmlns:a16="http://schemas.microsoft.com/office/drawing/2014/main" id="{E7C6D949-A1B9-BBFF-A2E8-228A928154E1}"/>
              </a:ext>
            </a:extLst>
          </p:cNvPr>
          <p:cNvPicPr>
            <a:picLocks noChangeAspect="1"/>
          </p:cNvPicPr>
          <p:nvPr/>
        </p:nvPicPr>
        <p:blipFill>
          <a:blip r:embed="rId3"/>
          <a:stretch>
            <a:fillRect/>
          </a:stretch>
        </p:blipFill>
        <p:spPr>
          <a:xfrm>
            <a:off x="4766478" y="2104847"/>
            <a:ext cx="2632484" cy="39855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070A11"/>
        </a:solidFill>
        <a:effectLst/>
      </p:bgPr>
    </p:bg>
    <p:spTree>
      <p:nvGrpSpPr>
        <p:cNvPr id="1" name=""/>
        <p:cNvGrpSpPr/>
        <p:nvPr/>
      </p:nvGrpSpPr>
      <p:grpSpPr>
        <a:xfrm>
          <a:off x="0" y="0"/>
          <a:ext cx="0" cy="0"/>
          <a:chOff x="0" y="0"/>
          <a:chExt cx="0" cy="0"/>
        </a:xfrm>
      </p:grpSpPr>
      <p:sp>
        <p:nvSpPr>
          <p:cNvPr id="2" name="Text 0"/>
          <p:cNvSpPr txBox="1"/>
          <p:nvPr/>
        </p:nvSpPr>
        <p:spPr>
          <a:xfrm>
            <a:off x="822960" y="2148840"/>
            <a:ext cx="10515600" cy="320040"/>
          </a:xfrm>
          <a:prstGeom prst="rect">
            <a:avLst/>
          </a:prstGeom>
          <a:noFill/>
          <a:ln/>
        </p:spPr>
        <p:txBody>
          <a:bodyPr wrap="square" lIns="0" tIns="0" rIns="0" bIns="0" rtlCol="0" anchor="ctr"/>
          <a:lstStyle/>
          <a:p>
            <a:pPr marL="0" indent="0">
              <a:buNone/>
            </a:pPr>
            <a:r>
              <a:rPr lang="en-US" sz="1300" b="1" kern="0" spc="300" dirty="0">
                <a:solidFill>
                  <a:srgbClr val="9A6BFF"/>
                </a:solidFill>
                <a:latin typeface="Arial" pitchFamily="34" charset="0"/>
                <a:ea typeface="Arial" pitchFamily="34" charset="-122"/>
                <a:cs typeface="Arial" pitchFamily="34" charset="-120"/>
              </a:rPr>
              <a:t>$</a:t>
            </a:r>
            <a:r>
              <a:rPr lang="en-US" sz="1300" b="1" kern="0" spc="300" dirty="0" err="1">
                <a:solidFill>
                  <a:srgbClr val="9A6BFF"/>
                </a:solidFill>
                <a:latin typeface="Arial" pitchFamily="34" charset="0"/>
                <a:ea typeface="Arial" pitchFamily="34" charset="-122"/>
                <a:cs typeface="Arial" pitchFamily="34" charset="-120"/>
              </a:rPr>
              <a:t>pwd</a:t>
            </a:r>
            <a:endParaRPr lang="en-US" sz="1300" dirty="0"/>
          </a:p>
        </p:txBody>
      </p:sp>
      <p:sp>
        <p:nvSpPr>
          <p:cNvPr id="3" name="Text 1"/>
          <p:cNvSpPr txBox="1"/>
          <p:nvPr/>
        </p:nvSpPr>
        <p:spPr>
          <a:xfrm>
            <a:off x="822960" y="2606040"/>
            <a:ext cx="10515600" cy="1463040"/>
          </a:xfrm>
          <a:prstGeom prst="rect">
            <a:avLst/>
          </a:prstGeom>
          <a:noFill/>
          <a:ln/>
        </p:spPr>
        <p:txBody>
          <a:bodyPr wrap="square" lIns="0" tIns="0" rIns="0" bIns="0" rtlCol="0" anchor="ctr"/>
          <a:lstStyle/>
          <a:p>
            <a:pPr marL="0" indent="0">
              <a:lnSpc>
                <a:spcPct val="105000"/>
              </a:lnSpc>
              <a:buNone/>
            </a:pPr>
            <a:r>
              <a:rPr lang="en-US" sz="4600" b="1" dirty="0">
                <a:solidFill>
                  <a:srgbClr val="E9EEF7"/>
                </a:solidFill>
                <a:latin typeface="Arial" pitchFamily="34" charset="0"/>
                <a:ea typeface="Arial" pitchFamily="34" charset="-122"/>
                <a:cs typeface="Arial" pitchFamily="34" charset="-120"/>
              </a:rPr>
              <a:t>Now Let’s Break</a:t>
            </a:r>
            <a:endParaRPr lang="en-US" sz="4600" dirty="0"/>
          </a:p>
          <a:p>
            <a:pPr marL="0" indent="0">
              <a:lnSpc>
                <a:spcPct val="105000"/>
              </a:lnSpc>
              <a:buNone/>
            </a:pPr>
            <a:r>
              <a:rPr lang="en-US" sz="4600" b="1" dirty="0">
                <a:solidFill>
                  <a:srgbClr val="E9EEF7"/>
                </a:solidFill>
                <a:latin typeface="Arial" pitchFamily="34" charset="0"/>
                <a:ea typeface="Arial" pitchFamily="34" charset="-122"/>
                <a:cs typeface="Arial" pitchFamily="34" charset="-120"/>
              </a:rPr>
              <a:t>The Attack Chain.</a:t>
            </a:r>
            <a:endParaRPr lang="en-US" sz="4600" dirty="0"/>
          </a:p>
        </p:txBody>
      </p:sp>
      <p:sp>
        <p:nvSpPr>
          <p:cNvPr id="4" name="Text 2"/>
          <p:cNvSpPr txBox="1"/>
          <p:nvPr/>
        </p:nvSpPr>
        <p:spPr>
          <a:xfrm>
            <a:off x="822960" y="4206240"/>
            <a:ext cx="9601200" cy="457200"/>
          </a:xfrm>
          <a:prstGeom prst="rect">
            <a:avLst/>
          </a:prstGeom>
          <a:noFill/>
          <a:ln/>
        </p:spPr>
        <p:txBody>
          <a:bodyPr wrap="square" lIns="0" tIns="0" rIns="0" bIns="0" rtlCol="0" anchor="ctr"/>
          <a:lstStyle/>
          <a:p>
            <a:pPr marL="0" indent="0">
              <a:buNone/>
            </a:pPr>
            <a:r>
              <a:rPr lang="en-US" sz="1600" i="1" dirty="0">
                <a:solidFill>
                  <a:srgbClr val="8C97AC"/>
                </a:solidFill>
                <a:latin typeface="Arial" pitchFamily="34" charset="0"/>
                <a:ea typeface="Arial" pitchFamily="34" charset="-122"/>
                <a:cs typeface="Arial" pitchFamily="34" charset="-120"/>
              </a:rPr>
              <a:t>You don’t have to stop every step. You have to stop enough of them, early enough.</a:t>
            </a:r>
            <a:endParaRPr lang="en-US" sz="1600" dirty="0"/>
          </a:p>
        </p:txBody>
      </p:sp>
      <p:sp>
        <p:nvSpPr>
          <p:cNvPr id="5" name="Shape 3"/>
          <p:cNvSpPr/>
          <p:nvPr/>
        </p:nvSpPr>
        <p:spPr>
          <a:xfrm>
            <a:off x="822960" y="4892040"/>
            <a:ext cx="1463040" cy="41148"/>
          </a:xfrm>
          <a:prstGeom prst="rect">
            <a:avLst/>
          </a:prstGeom>
          <a:solidFill>
            <a:srgbClr val="9A6BFF"/>
          </a:solidFill>
          <a:ln w="12700">
            <a:solidFill>
              <a:srgbClr val="0B0F17"/>
            </a:solidFill>
            <a:prstDash val="solid"/>
          </a:ln>
        </p:spPr>
        <p:txBody>
          <a:bodyPr/>
          <a:lstStyle/>
          <a:p>
            <a:endParaRPr lang="en-NP"/>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WHERE SECURITY ACTUALLY LIVES</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000" b="1" dirty="0">
                <a:solidFill>
                  <a:srgbClr val="E9EEF7"/>
                </a:solidFill>
                <a:latin typeface="Arial" pitchFamily="34" charset="0"/>
                <a:ea typeface="Arial" pitchFamily="34" charset="-122"/>
                <a:cs typeface="Arial" pitchFamily="34" charset="-120"/>
              </a:rPr>
              <a:t>Security Is a Lifecycle, Not a Release Gate</a:t>
            </a:r>
            <a:endParaRPr lang="en-US" sz="3000" dirty="0"/>
          </a:p>
        </p:txBody>
      </p:sp>
      <p:sp>
        <p:nvSpPr>
          <p:cNvPr id="4" name="Text 2"/>
          <p:cNvSpPr txBox="1"/>
          <p:nvPr/>
        </p:nvSpPr>
        <p:spPr>
          <a:xfrm>
            <a:off x="548640" y="1691640"/>
            <a:ext cx="4572000" cy="256032"/>
          </a:xfrm>
          <a:prstGeom prst="rect">
            <a:avLst/>
          </a:prstGeom>
          <a:noFill/>
          <a:ln/>
        </p:spPr>
        <p:txBody>
          <a:bodyPr wrap="square" lIns="0" tIns="0" rIns="0" bIns="0" rtlCol="0" anchor="ctr"/>
          <a:lstStyle/>
          <a:p>
            <a:pPr marL="0" indent="0">
              <a:buNone/>
            </a:pPr>
            <a:r>
              <a:rPr lang="en-US" sz="1050" b="1" kern="0" spc="160" dirty="0">
                <a:solidFill>
                  <a:srgbClr val="FF6B5E"/>
                </a:solidFill>
                <a:latin typeface="Arial" pitchFamily="34" charset="0"/>
                <a:ea typeface="Arial" pitchFamily="34" charset="-122"/>
                <a:cs typeface="Arial" pitchFamily="34" charset="-120"/>
              </a:rPr>
              <a:t>HOW WE OFTEN DO IT</a:t>
            </a:r>
            <a:endParaRPr lang="en-US" sz="1050" dirty="0"/>
          </a:p>
        </p:txBody>
      </p:sp>
      <p:sp>
        <p:nvSpPr>
          <p:cNvPr id="5" name="Shape 3"/>
          <p:cNvSpPr/>
          <p:nvPr/>
        </p:nvSpPr>
        <p:spPr>
          <a:xfrm>
            <a:off x="548640" y="2057400"/>
            <a:ext cx="2377440" cy="731520"/>
          </a:xfrm>
          <a:prstGeom prst="roundRect">
            <a:avLst>
              <a:gd name="adj" fmla="val 10000"/>
            </a:avLst>
          </a:prstGeom>
          <a:solidFill>
            <a:srgbClr val="141A26"/>
          </a:solidFill>
          <a:ln w="12700">
            <a:solidFill>
              <a:srgbClr val="2A3446"/>
            </a:solidFill>
            <a:prstDash val="solid"/>
          </a:ln>
        </p:spPr>
        <p:txBody>
          <a:bodyPr/>
          <a:lstStyle/>
          <a:p>
            <a:endParaRPr lang="en-NP"/>
          </a:p>
        </p:txBody>
      </p:sp>
      <p:sp>
        <p:nvSpPr>
          <p:cNvPr id="6" name="Text 4"/>
          <p:cNvSpPr txBox="1"/>
          <p:nvPr/>
        </p:nvSpPr>
        <p:spPr>
          <a:xfrm>
            <a:off x="548640" y="2057400"/>
            <a:ext cx="2377440" cy="731520"/>
          </a:xfrm>
          <a:prstGeom prst="rect">
            <a:avLst/>
          </a:prstGeom>
          <a:noFill/>
          <a:ln/>
        </p:spPr>
        <p:txBody>
          <a:bodyPr wrap="square" lIns="0" tIns="0" rIns="0" bIns="0" rtlCol="0" anchor="ctr"/>
          <a:lstStyle/>
          <a:p>
            <a:pPr marL="0" indent="0" algn="ctr">
              <a:buNone/>
            </a:pPr>
            <a:r>
              <a:rPr lang="en-US" sz="1300" b="1" dirty="0">
                <a:solidFill>
                  <a:srgbClr val="8C97AC"/>
                </a:solidFill>
                <a:latin typeface="Arial" pitchFamily="34" charset="0"/>
                <a:ea typeface="Arial" pitchFamily="34" charset="-122"/>
                <a:cs typeface="Arial" pitchFamily="34" charset="-120"/>
              </a:rPr>
              <a:t>BUILD</a:t>
            </a:r>
            <a:endParaRPr lang="en-US" sz="1300" dirty="0"/>
          </a:p>
        </p:txBody>
      </p:sp>
      <p:sp>
        <p:nvSpPr>
          <p:cNvPr id="7" name="Shape 5"/>
          <p:cNvSpPr/>
          <p:nvPr/>
        </p:nvSpPr>
        <p:spPr>
          <a:xfrm>
            <a:off x="2999232" y="2350008"/>
            <a:ext cx="256032" cy="146304"/>
          </a:xfrm>
          <a:prstGeom prst="rightArrow">
            <a:avLst/>
          </a:prstGeom>
          <a:solidFill>
            <a:srgbClr val="5C687D"/>
          </a:solidFill>
          <a:ln w="12700">
            <a:solidFill>
              <a:srgbClr val="0B0F17"/>
            </a:solidFill>
            <a:prstDash val="solid"/>
          </a:ln>
        </p:spPr>
        <p:txBody>
          <a:bodyPr/>
          <a:lstStyle/>
          <a:p>
            <a:endParaRPr lang="en-NP"/>
          </a:p>
        </p:txBody>
      </p:sp>
      <p:sp>
        <p:nvSpPr>
          <p:cNvPr id="8" name="Shape 6"/>
          <p:cNvSpPr/>
          <p:nvPr/>
        </p:nvSpPr>
        <p:spPr>
          <a:xfrm>
            <a:off x="3337560" y="2057400"/>
            <a:ext cx="2377440" cy="731520"/>
          </a:xfrm>
          <a:prstGeom prst="roundRect">
            <a:avLst>
              <a:gd name="adj" fmla="val 10000"/>
            </a:avLst>
          </a:prstGeom>
          <a:solidFill>
            <a:srgbClr val="141A26"/>
          </a:solidFill>
          <a:ln w="12700">
            <a:solidFill>
              <a:srgbClr val="2A3446"/>
            </a:solidFill>
            <a:prstDash val="solid"/>
          </a:ln>
        </p:spPr>
        <p:txBody>
          <a:bodyPr/>
          <a:lstStyle/>
          <a:p>
            <a:endParaRPr lang="en-NP"/>
          </a:p>
        </p:txBody>
      </p:sp>
      <p:sp>
        <p:nvSpPr>
          <p:cNvPr id="9" name="Text 7"/>
          <p:cNvSpPr txBox="1"/>
          <p:nvPr/>
        </p:nvSpPr>
        <p:spPr>
          <a:xfrm>
            <a:off x="3337560" y="2057400"/>
            <a:ext cx="2377440" cy="731520"/>
          </a:xfrm>
          <a:prstGeom prst="rect">
            <a:avLst/>
          </a:prstGeom>
          <a:noFill/>
          <a:ln/>
        </p:spPr>
        <p:txBody>
          <a:bodyPr wrap="square" lIns="0" tIns="0" rIns="0" bIns="0" rtlCol="0" anchor="ctr"/>
          <a:lstStyle/>
          <a:p>
            <a:pPr marL="0" indent="0" algn="ctr">
              <a:buNone/>
            </a:pPr>
            <a:r>
              <a:rPr lang="en-US" sz="1300" b="1" dirty="0">
                <a:solidFill>
                  <a:srgbClr val="8C97AC"/>
                </a:solidFill>
                <a:latin typeface="Arial" pitchFamily="34" charset="0"/>
                <a:ea typeface="Arial" pitchFamily="34" charset="-122"/>
                <a:cs typeface="Arial" pitchFamily="34" charset="-120"/>
              </a:rPr>
              <a:t>TEST</a:t>
            </a:r>
            <a:endParaRPr lang="en-US" sz="1300" dirty="0"/>
          </a:p>
        </p:txBody>
      </p:sp>
      <p:sp>
        <p:nvSpPr>
          <p:cNvPr id="10" name="Shape 8"/>
          <p:cNvSpPr/>
          <p:nvPr/>
        </p:nvSpPr>
        <p:spPr>
          <a:xfrm>
            <a:off x="5788152" y="2350008"/>
            <a:ext cx="256032" cy="146304"/>
          </a:xfrm>
          <a:prstGeom prst="rightArrow">
            <a:avLst/>
          </a:prstGeom>
          <a:solidFill>
            <a:srgbClr val="5C687D"/>
          </a:solidFill>
          <a:ln w="12700">
            <a:solidFill>
              <a:srgbClr val="0B0F17"/>
            </a:solidFill>
            <a:prstDash val="solid"/>
          </a:ln>
        </p:spPr>
        <p:txBody>
          <a:bodyPr/>
          <a:lstStyle/>
          <a:p>
            <a:endParaRPr lang="en-NP"/>
          </a:p>
        </p:txBody>
      </p:sp>
      <p:sp>
        <p:nvSpPr>
          <p:cNvPr id="11" name="Shape 9"/>
          <p:cNvSpPr/>
          <p:nvPr/>
        </p:nvSpPr>
        <p:spPr>
          <a:xfrm>
            <a:off x="6126480" y="2057400"/>
            <a:ext cx="2377440" cy="731520"/>
          </a:xfrm>
          <a:prstGeom prst="roundRect">
            <a:avLst>
              <a:gd name="adj" fmla="val 10000"/>
            </a:avLst>
          </a:prstGeom>
          <a:solidFill>
            <a:srgbClr val="141A26"/>
          </a:solidFill>
          <a:ln w="12700">
            <a:solidFill>
              <a:srgbClr val="2A3446"/>
            </a:solidFill>
            <a:prstDash val="solid"/>
          </a:ln>
        </p:spPr>
        <p:txBody>
          <a:bodyPr/>
          <a:lstStyle/>
          <a:p>
            <a:endParaRPr lang="en-NP"/>
          </a:p>
        </p:txBody>
      </p:sp>
      <p:sp>
        <p:nvSpPr>
          <p:cNvPr id="12" name="Text 10"/>
          <p:cNvSpPr txBox="1"/>
          <p:nvPr/>
        </p:nvSpPr>
        <p:spPr>
          <a:xfrm>
            <a:off x="6126480" y="2057400"/>
            <a:ext cx="2377440" cy="731520"/>
          </a:xfrm>
          <a:prstGeom prst="rect">
            <a:avLst/>
          </a:prstGeom>
          <a:noFill/>
          <a:ln/>
        </p:spPr>
        <p:txBody>
          <a:bodyPr wrap="square" lIns="0" tIns="0" rIns="0" bIns="0" rtlCol="0" anchor="ctr"/>
          <a:lstStyle/>
          <a:p>
            <a:pPr marL="0" indent="0" algn="ctr">
              <a:buNone/>
            </a:pPr>
            <a:r>
              <a:rPr lang="en-US" sz="1300" b="1" dirty="0">
                <a:solidFill>
                  <a:srgbClr val="8C97AC"/>
                </a:solidFill>
                <a:latin typeface="Arial" pitchFamily="34" charset="0"/>
                <a:ea typeface="Arial" pitchFamily="34" charset="-122"/>
                <a:cs typeface="Arial" pitchFamily="34" charset="-120"/>
              </a:rPr>
              <a:t>DEPLOY</a:t>
            </a:r>
            <a:endParaRPr lang="en-US" sz="1300" dirty="0"/>
          </a:p>
        </p:txBody>
      </p:sp>
      <p:sp>
        <p:nvSpPr>
          <p:cNvPr id="13" name="Shape 11"/>
          <p:cNvSpPr/>
          <p:nvPr/>
        </p:nvSpPr>
        <p:spPr>
          <a:xfrm>
            <a:off x="8577072" y="2350008"/>
            <a:ext cx="256032" cy="146304"/>
          </a:xfrm>
          <a:prstGeom prst="rightArrow">
            <a:avLst/>
          </a:prstGeom>
          <a:solidFill>
            <a:srgbClr val="5C687D"/>
          </a:solidFill>
          <a:ln w="12700">
            <a:solidFill>
              <a:srgbClr val="0B0F17"/>
            </a:solidFill>
            <a:prstDash val="solid"/>
          </a:ln>
        </p:spPr>
        <p:txBody>
          <a:bodyPr/>
          <a:lstStyle/>
          <a:p>
            <a:endParaRPr lang="en-NP"/>
          </a:p>
        </p:txBody>
      </p:sp>
      <p:sp>
        <p:nvSpPr>
          <p:cNvPr id="14" name="Shape 12"/>
          <p:cNvSpPr/>
          <p:nvPr/>
        </p:nvSpPr>
        <p:spPr>
          <a:xfrm>
            <a:off x="8915400" y="2057400"/>
            <a:ext cx="2377440" cy="731520"/>
          </a:xfrm>
          <a:prstGeom prst="roundRect">
            <a:avLst>
              <a:gd name="adj" fmla="val 10000"/>
            </a:avLst>
          </a:prstGeom>
          <a:solidFill>
            <a:srgbClr val="141A26"/>
          </a:solidFill>
          <a:ln w="12700">
            <a:solidFill>
              <a:srgbClr val="FF6B5E"/>
            </a:solidFill>
            <a:prstDash val="solid"/>
          </a:ln>
        </p:spPr>
        <p:txBody>
          <a:bodyPr/>
          <a:lstStyle/>
          <a:p>
            <a:endParaRPr lang="en-NP"/>
          </a:p>
        </p:txBody>
      </p:sp>
      <p:sp>
        <p:nvSpPr>
          <p:cNvPr id="15" name="Text 13"/>
          <p:cNvSpPr txBox="1"/>
          <p:nvPr/>
        </p:nvSpPr>
        <p:spPr>
          <a:xfrm>
            <a:off x="8915400" y="2057400"/>
            <a:ext cx="2377440" cy="731520"/>
          </a:xfrm>
          <a:prstGeom prst="rect">
            <a:avLst/>
          </a:prstGeom>
          <a:noFill/>
          <a:ln/>
        </p:spPr>
        <p:txBody>
          <a:bodyPr wrap="square" lIns="0" tIns="0" rIns="0" bIns="0" rtlCol="0" anchor="ctr"/>
          <a:lstStyle/>
          <a:p>
            <a:pPr marL="0" indent="0" algn="ctr">
              <a:buNone/>
            </a:pPr>
            <a:r>
              <a:rPr lang="en-US" sz="1300" b="1" dirty="0">
                <a:solidFill>
                  <a:srgbClr val="FF6B5E"/>
                </a:solidFill>
                <a:latin typeface="Arial" pitchFamily="34" charset="0"/>
                <a:ea typeface="Arial" pitchFamily="34" charset="-122"/>
                <a:cs typeface="Arial" pitchFamily="34" charset="-120"/>
              </a:rPr>
              <a:t>SECURITY CHECK</a:t>
            </a:r>
            <a:endParaRPr lang="en-US" sz="1300" dirty="0"/>
          </a:p>
        </p:txBody>
      </p:sp>
      <p:sp>
        <p:nvSpPr>
          <p:cNvPr id="16" name="Text 14"/>
          <p:cNvSpPr txBox="1"/>
          <p:nvPr/>
        </p:nvSpPr>
        <p:spPr>
          <a:xfrm>
            <a:off x="548640" y="2880360"/>
            <a:ext cx="11091672" cy="320040"/>
          </a:xfrm>
          <a:prstGeom prst="rect">
            <a:avLst/>
          </a:prstGeom>
          <a:noFill/>
          <a:ln/>
        </p:spPr>
        <p:txBody>
          <a:bodyPr wrap="square" lIns="0" tIns="0" rIns="0" bIns="0" rtlCol="0" anchor="ctr"/>
          <a:lstStyle/>
          <a:p>
            <a:pPr marL="0" indent="0">
              <a:buNone/>
            </a:pPr>
            <a:r>
              <a:rPr lang="en-US" sz="1200" i="1" dirty="0">
                <a:solidFill>
                  <a:srgbClr val="8C97AC"/>
                </a:solidFill>
                <a:latin typeface="Arial" pitchFamily="34" charset="0"/>
                <a:ea typeface="Arial" pitchFamily="34" charset="-122"/>
                <a:cs typeface="Arial" pitchFamily="34" charset="-120"/>
              </a:rPr>
              <a:t>By the time you get here, the design is set, the deadline is tomorrow, and the finding becomes a risk acceptance.</a:t>
            </a:r>
            <a:endParaRPr lang="en-US" sz="1200" dirty="0"/>
          </a:p>
        </p:txBody>
      </p:sp>
      <p:sp>
        <p:nvSpPr>
          <p:cNvPr id="17" name="Text 15"/>
          <p:cNvSpPr txBox="1"/>
          <p:nvPr/>
        </p:nvSpPr>
        <p:spPr>
          <a:xfrm>
            <a:off x="548640" y="3383280"/>
            <a:ext cx="4572000" cy="256032"/>
          </a:xfrm>
          <a:prstGeom prst="rect">
            <a:avLst/>
          </a:prstGeom>
          <a:noFill/>
          <a:ln/>
        </p:spPr>
        <p:txBody>
          <a:bodyPr wrap="square" lIns="0" tIns="0" rIns="0" bIns="0" rtlCol="0" anchor="ctr"/>
          <a:lstStyle/>
          <a:p>
            <a:pPr marL="0" indent="0">
              <a:buNone/>
            </a:pPr>
            <a:r>
              <a:rPr lang="en-US" sz="1050" b="1" kern="0" spc="160" dirty="0">
                <a:solidFill>
                  <a:srgbClr val="4FD68A"/>
                </a:solidFill>
                <a:latin typeface="Arial" pitchFamily="34" charset="0"/>
                <a:ea typeface="Arial" pitchFamily="34" charset="-122"/>
                <a:cs typeface="Arial" pitchFamily="34" charset="-120"/>
              </a:rPr>
              <a:t>HOW IT ACTUALLY WORKS</a:t>
            </a:r>
            <a:endParaRPr lang="en-US" sz="1050" dirty="0"/>
          </a:p>
        </p:txBody>
      </p:sp>
      <p:sp>
        <p:nvSpPr>
          <p:cNvPr id="18" name="Shape 16"/>
          <p:cNvSpPr/>
          <p:nvPr/>
        </p:nvSpPr>
        <p:spPr>
          <a:xfrm>
            <a:off x="548640" y="3749040"/>
            <a:ext cx="1298448" cy="777240"/>
          </a:xfrm>
          <a:prstGeom prst="chevron">
            <a:avLst/>
          </a:prstGeom>
          <a:solidFill>
            <a:srgbClr val="1A2130"/>
          </a:solidFill>
          <a:ln w="12700">
            <a:solidFill>
              <a:srgbClr val="4FD68A"/>
            </a:solidFill>
            <a:prstDash val="solid"/>
          </a:ln>
        </p:spPr>
        <p:txBody>
          <a:bodyPr/>
          <a:lstStyle/>
          <a:p>
            <a:endParaRPr lang="en-NP"/>
          </a:p>
        </p:txBody>
      </p:sp>
      <p:sp>
        <p:nvSpPr>
          <p:cNvPr id="19" name="Text 17"/>
          <p:cNvSpPr txBox="1"/>
          <p:nvPr/>
        </p:nvSpPr>
        <p:spPr>
          <a:xfrm>
            <a:off x="658368" y="3749040"/>
            <a:ext cx="1097280" cy="777240"/>
          </a:xfrm>
          <a:prstGeom prst="rect">
            <a:avLst/>
          </a:prstGeom>
          <a:noFill/>
          <a:ln/>
        </p:spPr>
        <p:txBody>
          <a:bodyPr wrap="square" lIns="0" tIns="0" rIns="0" bIns="0" rtlCol="0" anchor="ctr"/>
          <a:lstStyle/>
          <a:p>
            <a:pPr marL="0" indent="0" algn="ctr">
              <a:buNone/>
            </a:pPr>
            <a:r>
              <a:rPr lang="en-US" sz="900" b="1" dirty="0">
                <a:solidFill>
                  <a:srgbClr val="A9EFC6"/>
                </a:solidFill>
                <a:latin typeface="Arial" pitchFamily="34" charset="0"/>
                <a:ea typeface="Arial" pitchFamily="34" charset="-122"/>
                <a:cs typeface="Arial" pitchFamily="34" charset="-120"/>
              </a:rPr>
              <a:t>PLAN</a:t>
            </a:r>
            <a:endParaRPr lang="en-US" sz="900" dirty="0"/>
          </a:p>
        </p:txBody>
      </p:sp>
      <p:sp>
        <p:nvSpPr>
          <p:cNvPr id="20" name="Shape 18"/>
          <p:cNvSpPr/>
          <p:nvPr/>
        </p:nvSpPr>
        <p:spPr>
          <a:xfrm>
            <a:off x="1783080" y="3749040"/>
            <a:ext cx="1298448" cy="777240"/>
          </a:xfrm>
          <a:prstGeom prst="chevron">
            <a:avLst/>
          </a:prstGeom>
          <a:solidFill>
            <a:srgbClr val="1A2130"/>
          </a:solidFill>
          <a:ln w="12700">
            <a:solidFill>
              <a:srgbClr val="4FD68A"/>
            </a:solidFill>
            <a:prstDash val="solid"/>
          </a:ln>
        </p:spPr>
        <p:txBody>
          <a:bodyPr/>
          <a:lstStyle/>
          <a:p>
            <a:endParaRPr lang="en-NP"/>
          </a:p>
        </p:txBody>
      </p:sp>
      <p:sp>
        <p:nvSpPr>
          <p:cNvPr id="21" name="Text 19"/>
          <p:cNvSpPr txBox="1"/>
          <p:nvPr/>
        </p:nvSpPr>
        <p:spPr>
          <a:xfrm>
            <a:off x="1892808" y="3749040"/>
            <a:ext cx="1097280" cy="777240"/>
          </a:xfrm>
          <a:prstGeom prst="rect">
            <a:avLst/>
          </a:prstGeom>
          <a:noFill/>
          <a:ln/>
        </p:spPr>
        <p:txBody>
          <a:bodyPr wrap="square" lIns="0" tIns="0" rIns="0" bIns="0" rtlCol="0" anchor="ctr"/>
          <a:lstStyle/>
          <a:p>
            <a:pPr marL="0" indent="0" algn="ctr">
              <a:buNone/>
            </a:pPr>
            <a:r>
              <a:rPr lang="en-US" sz="900" b="1" dirty="0">
                <a:solidFill>
                  <a:srgbClr val="A9EFC6"/>
                </a:solidFill>
                <a:latin typeface="Arial" pitchFamily="34" charset="0"/>
                <a:ea typeface="Arial" pitchFamily="34" charset="-122"/>
                <a:cs typeface="Arial" pitchFamily="34" charset="-120"/>
              </a:rPr>
              <a:t>DESIGN</a:t>
            </a:r>
            <a:endParaRPr lang="en-US" sz="900" dirty="0"/>
          </a:p>
        </p:txBody>
      </p:sp>
      <p:sp>
        <p:nvSpPr>
          <p:cNvPr id="22" name="Shape 20"/>
          <p:cNvSpPr/>
          <p:nvPr/>
        </p:nvSpPr>
        <p:spPr>
          <a:xfrm>
            <a:off x="3017520" y="3749040"/>
            <a:ext cx="1298448" cy="777240"/>
          </a:xfrm>
          <a:prstGeom prst="chevron">
            <a:avLst/>
          </a:prstGeom>
          <a:solidFill>
            <a:srgbClr val="1A2130"/>
          </a:solidFill>
          <a:ln w="12700">
            <a:solidFill>
              <a:srgbClr val="4FD68A"/>
            </a:solidFill>
            <a:prstDash val="solid"/>
          </a:ln>
        </p:spPr>
        <p:txBody>
          <a:bodyPr/>
          <a:lstStyle/>
          <a:p>
            <a:endParaRPr lang="en-NP"/>
          </a:p>
        </p:txBody>
      </p:sp>
      <p:sp>
        <p:nvSpPr>
          <p:cNvPr id="23" name="Text 21"/>
          <p:cNvSpPr txBox="1"/>
          <p:nvPr/>
        </p:nvSpPr>
        <p:spPr>
          <a:xfrm>
            <a:off x="3127248" y="3749040"/>
            <a:ext cx="1097280" cy="777240"/>
          </a:xfrm>
          <a:prstGeom prst="rect">
            <a:avLst/>
          </a:prstGeom>
          <a:noFill/>
          <a:ln/>
        </p:spPr>
        <p:txBody>
          <a:bodyPr wrap="square" lIns="0" tIns="0" rIns="0" bIns="0" rtlCol="0" anchor="ctr"/>
          <a:lstStyle/>
          <a:p>
            <a:pPr marL="0" indent="0" algn="ctr">
              <a:buNone/>
            </a:pPr>
            <a:r>
              <a:rPr lang="en-US" sz="900" b="1" dirty="0">
                <a:solidFill>
                  <a:srgbClr val="A9EFC6"/>
                </a:solidFill>
                <a:latin typeface="Arial" pitchFamily="34" charset="0"/>
                <a:ea typeface="Arial" pitchFamily="34" charset="-122"/>
                <a:cs typeface="Arial" pitchFamily="34" charset="-120"/>
              </a:rPr>
              <a:t>CODE</a:t>
            </a:r>
            <a:endParaRPr lang="en-US" sz="900" dirty="0"/>
          </a:p>
        </p:txBody>
      </p:sp>
      <p:sp>
        <p:nvSpPr>
          <p:cNvPr id="24" name="Shape 22"/>
          <p:cNvSpPr/>
          <p:nvPr/>
        </p:nvSpPr>
        <p:spPr>
          <a:xfrm>
            <a:off x="4251960" y="3749040"/>
            <a:ext cx="1298448" cy="777240"/>
          </a:xfrm>
          <a:prstGeom prst="chevron">
            <a:avLst/>
          </a:prstGeom>
          <a:solidFill>
            <a:srgbClr val="1A2130"/>
          </a:solidFill>
          <a:ln w="12700">
            <a:solidFill>
              <a:srgbClr val="4FD68A"/>
            </a:solidFill>
            <a:prstDash val="solid"/>
          </a:ln>
        </p:spPr>
        <p:txBody>
          <a:bodyPr/>
          <a:lstStyle/>
          <a:p>
            <a:endParaRPr lang="en-NP"/>
          </a:p>
        </p:txBody>
      </p:sp>
      <p:sp>
        <p:nvSpPr>
          <p:cNvPr id="25" name="Text 23"/>
          <p:cNvSpPr txBox="1"/>
          <p:nvPr/>
        </p:nvSpPr>
        <p:spPr>
          <a:xfrm>
            <a:off x="4361688" y="3749040"/>
            <a:ext cx="1097280" cy="777240"/>
          </a:xfrm>
          <a:prstGeom prst="rect">
            <a:avLst/>
          </a:prstGeom>
          <a:noFill/>
          <a:ln/>
        </p:spPr>
        <p:txBody>
          <a:bodyPr wrap="square" lIns="0" tIns="0" rIns="0" bIns="0" rtlCol="0" anchor="ctr"/>
          <a:lstStyle/>
          <a:p>
            <a:pPr marL="0" indent="0" algn="ctr">
              <a:buNone/>
            </a:pPr>
            <a:r>
              <a:rPr lang="en-US" sz="900" b="1" dirty="0">
                <a:solidFill>
                  <a:srgbClr val="A9EFC6"/>
                </a:solidFill>
                <a:latin typeface="Arial" pitchFamily="34" charset="0"/>
                <a:ea typeface="Arial" pitchFamily="34" charset="-122"/>
                <a:cs typeface="Arial" pitchFamily="34" charset="-120"/>
              </a:rPr>
              <a:t>DEPENDENCIES</a:t>
            </a:r>
            <a:endParaRPr lang="en-US" sz="900" dirty="0"/>
          </a:p>
        </p:txBody>
      </p:sp>
      <p:sp>
        <p:nvSpPr>
          <p:cNvPr id="26" name="Shape 24"/>
          <p:cNvSpPr/>
          <p:nvPr/>
        </p:nvSpPr>
        <p:spPr>
          <a:xfrm>
            <a:off x="5486400" y="3749040"/>
            <a:ext cx="1298448" cy="777240"/>
          </a:xfrm>
          <a:prstGeom prst="chevron">
            <a:avLst/>
          </a:prstGeom>
          <a:solidFill>
            <a:srgbClr val="1A2130"/>
          </a:solidFill>
          <a:ln w="12700">
            <a:solidFill>
              <a:srgbClr val="4FD68A"/>
            </a:solidFill>
            <a:prstDash val="solid"/>
          </a:ln>
        </p:spPr>
        <p:txBody>
          <a:bodyPr/>
          <a:lstStyle/>
          <a:p>
            <a:endParaRPr lang="en-NP"/>
          </a:p>
        </p:txBody>
      </p:sp>
      <p:sp>
        <p:nvSpPr>
          <p:cNvPr id="27" name="Text 25"/>
          <p:cNvSpPr txBox="1"/>
          <p:nvPr/>
        </p:nvSpPr>
        <p:spPr>
          <a:xfrm>
            <a:off x="5596128" y="3749040"/>
            <a:ext cx="1097280" cy="777240"/>
          </a:xfrm>
          <a:prstGeom prst="rect">
            <a:avLst/>
          </a:prstGeom>
          <a:noFill/>
          <a:ln/>
        </p:spPr>
        <p:txBody>
          <a:bodyPr wrap="square" lIns="0" tIns="0" rIns="0" bIns="0" rtlCol="0" anchor="ctr"/>
          <a:lstStyle/>
          <a:p>
            <a:pPr marL="0" indent="0" algn="ctr">
              <a:buNone/>
            </a:pPr>
            <a:r>
              <a:rPr lang="en-US" sz="900" b="1" dirty="0">
                <a:solidFill>
                  <a:srgbClr val="A9EFC6"/>
                </a:solidFill>
                <a:latin typeface="Arial" pitchFamily="34" charset="0"/>
                <a:ea typeface="Arial" pitchFamily="34" charset="-122"/>
                <a:cs typeface="Arial" pitchFamily="34" charset="-120"/>
              </a:rPr>
              <a:t>TEST</a:t>
            </a:r>
            <a:endParaRPr lang="en-US" sz="900" dirty="0"/>
          </a:p>
        </p:txBody>
      </p:sp>
      <p:sp>
        <p:nvSpPr>
          <p:cNvPr id="28" name="Shape 26"/>
          <p:cNvSpPr/>
          <p:nvPr/>
        </p:nvSpPr>
        <p:spPr>
          <a:xfrm>
            <a:off x="6720840" y="3749040"/>
            <a:ext cx="1298448" cy="777240"/>
          </a:xfrm>
          <a:prstGeom prst="chevron">
            <a:avLst/>
          </a:prstGeom>
          <a:solidFill>
            <a:srgbClr val="1A2130"/>
          </a:solidFill>
          <a:ln w="12700">
            <a:solidFill>
              <a:srgbClr val="4FD68A"/>
            </a:solidFill>
            <a:prstDash val="solid"/>
          </a:ln>
        </p:spPr>
        <p:txBody>
          <a:bodyPr/>
          <a:lstStyle/>
          <a:p>
            <a:endParaRPr lang="en-NP"/>
          </a:p>
        </p:txBody>
      </p:sp>
      <p:sp>
        <p:nvSpPr>
          <p:cNvPr id="29" name="Text 27"/>
          <p:cNvSpPr txBox="1"/>
          <p:nvPr/>
        </p:nvSpPr>
        <p:spPr>
          <a:xfrm>
            <a:off x="6830568" y="3749040"/>
            <a:ext cx="1097280" cy="777240"/>
          </a:xfrm>
          <a:prstGeom prst="rect">
            <a:avLst/>
          </a:prstGeom>
          <a:noFill/>
          <a:ln/>
        </p:spPr>
        <p:txBody>
          <a:bodyPr wrap="square" lIns="0" tIns="0" rIns="0" bIns="0" rtlCol="0" anchor="ctr"/>
          <a:lstStyle/>
          <a:p>
            <a:pPr marL="0" indent="0" algn="ctr">
              <a:buNone/>
            </a:pPr>
            <a:r>
              <a:rPr lang="en-US" sz="900" b="1" dirty="0">
                <a:solidFill>
                  <a:srgbClr val="A9EFC6"/>
                </a:solidFill>
                <a:latin typeface="Arial" pitchFamily="34" charset="0"/>
                <a:ea typeface="Arial" pitchFamily="34" charset="-122"/>
                <a:cs typeface="Arial" pitchFamily="34" charset="-120"/>
              </a:rPr>
              <a:t>BUILD</a:t>
            </a:r>
            <a:endParaRPr lang="en-US" sz="900" dirty="0"/>
          </a:p>
        </p:txBody>
      </p:sp>
      <p:sp>
        <p:nvSpPr>
          <p:cNvPr id="30" name="Shape 28"/>
          <p:cNvSpPr/>
          <p:nvPr/>
        </p:nvSpPr>
        <p:spPr>
          <a:xfrm>
            <a:off x="7955280" y="3749040"/>
            <a:ext cx="1298448" cy="777240"/>
          </a:xfrm>
          <a:prstGeom prst="chevron">
            <a:avLst/>
          </a:prstGeom>
          <a:solidFill>
            <a:srgbClr val="1A2130"/>
          </a:solidFill>
          <a:ln w="12700">
            <a:solidFill>
              <a:srgbClr val="4FD68A"/>
            </a:solidFill>
            <a:prstDash val="solid"/>
          </a:ln>
        </p:spPr>
        <p:txBody>
          <a:bodyPr/>
          <a:lstStyle/>
          <a:p>
            <a:endParaRPr lang="en-NP"/>
          </a:p>
        </p:txBody>
      </p:sp>
      <p:sp>
        <p:nvSpPr>
          <p:cNvPr id="31" name="Text 29"/>
          <p:cNvSpPr txBox="1"/>
          <p:nvPr/>
        </p:nvSpPr>
        <p:spPr>
          <a:xfrm>
            <a:off x="8065008" y="3749040"/>
            <a:ext cx="1097280" cy="777240"/>
          </a:xfrm>
          <a:prstGeom prst="rect">
            <a:avLst/>
          </a:prstGeom>
          <a:noFill/>
          <a:ln/>
        </p:spPr>
        <p:txBody>
          <a:bodyPr wrap="square" lIns="0" tIns="0" rIns="0" bIns="0" rtlCol="0" anchor="ctr"/>
          <a:lstStyle/>
          <a:p>
            <a:pPr marL="0" indent="0" algn="ctr">
              <a:buNone/>
            </a:pPr>
            <a:r>
              <a:rPr lang="en-US" sz="900" b="1" dirty="0">
                <a:solidFill>
                  <a:srgbClr val="A9EFC6"/>
                </a:solidFill>
                <a:latin typeface="Arial" pitchFamily="34" charset="0"/>
                <a:ea typeface="Arial" pitchFamily="34" charset="-122"/>
                <a:cs typeface="Arial" pitchFamily="34" charset="-120"/>
              </a:rPr>
              <a:t>DEPLOY</a:t>
            </a:r>
            <a:endParaRPr lang="en-US" sz="900" dirty="0"/>
          </a:p>
        </p:txBody>
      </p:sp>
      <p:sp>
        <p:nvSpPr>
          <p:cNvPr id="32" name="Shape 30"/>
          <p:cNvSpPr/>
          <p:nvPr/>
        </p:nvSpPr>
        <p:spPr>
          <a:xfrm>
            <a:off x="9189720" y="3749040"/>
            <a:ext cx="1298448" cy="777240"/>
          </a:xfrm>
          <a:prstGeom prst="chevron">
            <a:avLst/>
          </a:prstGeom>
          <a:solidFill>
            <a:srgbClr val="1A2130"/>
          </a:solidFill>
          <a:ln w="12700">
            <a:solidFill>
              <a:srgbClr val="4FD68A"/>
            </a:solidFill>
            <a:prstDash val="solid"/>
          </a:ln>
        </p:spPr>
        <p:txBody>
          <a:bodyPr/>
          <a:lstStyle/>
          <a:p>
            <a:endParaRPr lang="en-NP"/>
          </a:p>
        </p:txBody>
      </p:sp>
      <p:sp>
        <p:nvSpPr>
          <p:cNvPr id="33" name="Text 31"/>
          <p:cNvSpPr txBox="1"/>
          <p:nvPr/>
        </p:nvSpPr>
        <p:spPr>
          <a:xfrm>
            <a:off x="9299448" y="3749040"/>
            <a:ext cx="1097280" cy="777240"/>
          </a:xfrm>
          <a:prstGeom prst="rect">
            <a:avLst/>
          </a:prstGeom>
          <a:noFill/>
          <a:ln/>
        </p:spPr>
        <p:txBody>
          <a:bodyPr wrap="square" lIns="0" tIns="0" rIns="0" bIns="0" rtlCol="0" anchor="ctr"/>
          <a:lstStyle/>
          <a:p>
            <a:pPr marL="0" indent="0" algn="ctr">
              <a:buNone/>
            </a:pPr>
            <a:r>
              <a:rPr lang="en-US" sz="900" b="1" dirty="0">
                <a:solidFill>
                  <a:srgbClr val="A9EFC6"/>
                </a:solidFill>
                <a:latin typeface="Arial" pitchFamily="34" charset="0"/>
                <a:ea typeface="Arial" pitchFamily="34" charset="-122"/>
                <a:cs typeface="Arial" pitchFamily="34" charset="-120"/>
              </a:rPr>
              <a:t>MONITOR</a:t>
            </a:r>
            <a:endParaRPr lang="en-US" sz="900" dirty="0"/>
          </a:p>
        </p:txBody>
      </p:sp>
      <p:sp>
        <p:nvSpPr>
          <p:cNvPr id="34" name="Shape 32"/>
          <p:cNvSpPr/>
          <p:nvPr/>
        </p:nvSpPr>
        <p:spPr>
          <a:xfrm>
            <a:off x="10424160" y="3749040"/>
            <a:ext cx="1298448" cy="777240"/>
          </a:xfrm>
          <a:prstGeom prst="chevron">
            <a:avLst/>
          </a:prstGeom>
          <a:solidFill>
            <a:srgbClr val="1A2130"/>
          </a:solidFill>
          <a:ln w="12700">
            <a:solidFill>
              <a:srgbClr val="4FD68A"/>
            </a:solidFill>
            <a:prstDash val="solid"/>
          </a:ln>
        </p:spPr>
        <p:txBody>
          <a:bodyPr/>
          <a:lstStyle/>
          <a:p>
            <a:endParaRPr lang="en-NP"/>
          </a:p>
        </p:txBody>
      </p:sp>
      <p:sp>
        <p:nvSpPr>
          <p:cNvPr id="35" name="Text 33"/>
          <p:cNvSpPr txBox="1"/>
          <p:nvPr/>
        </p:nvSpPr>
        <p:spPr>
          <a:xfrm>
            <a:off x="10533888" y="3749040"/>
            <a:ext cx="1097280" cy="777240"/>
          </a:xfrm>
          <a:prstGeom prst="rect">
            <a:avLst/>
          </a:prstGeom>
          <a:noFill/>
          <a:ln/>
        </p:spPr>
        <p:txBody>
          <a:bodyPr wrap="square" lIns="0" tIns="0" rIns="0" bIns="0" rtlCol="0" anchor="ctr"/>
          <a:lstStyle/>
          <a:p>
            <a:pPr marL="0" indent="0" algn="ctr">
              <a:buNone/>
            </a:pPr>
            <a:r>
              <a:rPr lang="en-US" sz="900" b="1" dirty="0">
                <a:solidFill>
                  <a:srgbClr val="A9EFC6"/>
                </a:solidFill>
                <a:latin typeface="Arial" pitchFamily="34" charset="0"/>
                <a:ea typeface="Arial" pitchFamily="34" charset="-122"/>
                <a:cs typeface="Arial" pitchFamily="34" charset="-120"/>
              </a:rPr>
              <a:t>RESPOND</a:t>
            </a:r>
            <a:endParaRPr lang="en-US" sz="900" dirty="0"/>
          </a:p>
        </p:txBody>
      </p:sp>
      <p:sp>
        <p:nvSpPr>
          <p:cNvPr id="36" name="Shape 34"/>
          <p:cNvSpPr/>
          <p:nvPr/>
        </p:nvSpPr>
        <p:spPr>
          <a:xfrm>
            <a:off x="822960" y="4709160"/>
            <a:ext cx="10515600" cy="0"/>
          </a:xfrm>
          <a:prstGeom prst="line">
            <a:avLst/>
          </a:prstGeom>
          <a:noFill/>
          <a:ln w="12700">
            <a:solidFill>
              <a:srgbClr val="4FD68A"/>
            </a:solidFill>
            <a:prstDash val="dash"/>
          </a:ln>
        </p:spPr>
        <p:txBody>
          <a:bodyPr/>
          <a:lstStyle/>
          <a:p>
            <a:endParaRPr lang="en-NP"/>
          </a:p>
        </p:txBody>
      </p:sp>
      <p:sp>
        <p:nvSpPr>
          <p:cNvPr id="37" name="Text 35"/>
          <p:cNvSpPr txBox="1"/>
          <p:nvPr/>
        </p:nvSpPr>
        <p:spPr>
          <a:xfrm>
            <a:off x="548640" y="4800600"/>
            <a:ext cx="11091672" cy="274320"/>
          </a:xfrm>
          <a:prstGeom prst="rect">
            <a:avLst/>
          </a:prstGeom>
          <a:noFill/>
          <a:ln/>
        </p:spPr>
        <p:txBody>
          <a:bodyPr wrap="square" lIns="0" tIns="0" rIns="0" bIns="0" rtlCol="0" anchor="ctr"/>
          <a:lstStyle/>
          <a:p>
            <a:pPr marL="0" indent="0" algn="ctr">
              <a:buNone/>
            </a:pPr>
            <a:r>
              <a:rPr lang="en-US" sz="1150" i="1" dirty="0">
                <a:solidFill>
                  <a:srgbClr val="4FD68A"/>
                </a:solidFill>
                <a:latin typeface="Arial" pitchFamily="34" charset="0"/>
                <a:ea typeface="Arial" pitchFamily="34" charset="-122"/>
                <a:cs typeface="Arial" pitchFamily="34" charset="-120"/>
              </a:rPr>
              <a:t>security decisions happen at every one of these, whether you make them or not</a:t>
            </a:r>
            <a:endParaRPr lang="en-US" sz="1150" dirty="0"/>
          </a:p>
        </p:txBody>
      </p:sp>
      <p:sp>
        <p:nvSpPr>
          <p:cNvPr id="38" name="Shape 36"/>
          <p:cNvSpPr/>
          <p:nvPr/>
        </p:nvSpPr>
        <p:spPr>
          <a:xfrm>
            <a:off x="548640" y="5349240"/>
            <a:ext cx="11091672" cy="658368"/>
          </a:xfrm>
          <a:prstGeom prst="roundRect">
            <a:avLst>
              <a:gd name="adj" fmla="val 11111"/>
            </a:avLst>
          </a:prstGeom>
          <a:solidFill>
            <a:srgbClr val="2A2050"/>
          </a:solidFill>
          <a:ln w="12700">
            <a:solidFill>
              <a:srgbClr val="9A6BFF"/>
            </a:solidFill>
            <a:prstDash val="solid"/>
          </a:ln>
        </p:spPr>
        <p:txBody>
          <a:bodyPr/>
          <a:lstStyle/>
          <a:p>
            <a:endParaRPr lang="en-NP"/>
          </a:p>
        </p:txBody>
      </p:sp>
      <p:sp>
        <p:nvSpPr>
          <p:cNvPr id="39" name="Text 37"/>
          <p:cNvSpPr txBox="1"/>
          <p:nvPr/>
        </p:nvSpPr>
        <p:spPr>
          <a:xfrm>
            <a:off x="822960" y="5349240"/>
            <a:ext cx="10543032" cy="658368"/>
          </a:xfrm>
          <a:prstGeom prst="rect">
            <a:avLst/>
          </a:prstGeom>
          <a:noFill/>
          <a:ln/>
        </p:spPr>
        <p:txBody>
          <a:bodyPr wrap="square" lIns="0" tIns="0" rIns="0" bIns="0" rtlCol="0" anchor="ctr"/>
          <a:lstStyle/>
          <a:p>
            <a:pPr marL="0" indent="0" algn="ctr">
              <a:buNone/>
            </a:pPr>
            <a:r>
              <a:rPr lang="en-US" sz="1600" b="1" i="1" dirty="0">
                <a:solidFill>
                  <a:srgbClr val="D9C8FF"/>
                </a:solidFill>
                <a:latin typeface="Arial" pitchFamily="34" charset="0"/>
                <a:ea typeface="Arial" pitchFamily="34" charset="-122"/>
                <a:cs typeface="Arial" pitchFamily="34" charset="-120"/>
              </a:rPr>
              <a:t>"Every hour you move a security decision earlier, you buy back a day later."</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THE PIPELINE</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200" b="1" dirty="0">
                <a:solidFill>
                  <a:srgbClr val="E9EEF7"/>
                </a:solidFill>
                <a:latin typeface="Arial" pitchFamily="34" charset="0"/>
                <a:ea typeface="Arial" pitchFamily="34" charset="-122"/>
                <a:cs typeface="Arial" pitchFamily="34" charset="-120"/>
              </a:rPr>
              <a:t>A Secure .NET Delivery Pipeline</a:t>
            </a:r>
            <a:endParaRPr lang="en-US" sz="3200" dirty="0"/>
          </a:p>
        </p:txBody>
      </p:sp>
      <p:sp>
        <p:nvSpPr>
          <p:cNvPr id="4" name="Text 2"/>
          <p:cNvSpPr txBox="1"/>
          <p:nvPr/>
        </p:nvSpPr>
        <p:spPr>
          <a:xfrm>
            <a:off x="548640" y="1417320"/>
            <a:ext cx="10607040" cy="365760"/>
          </a:xfrm>
          <a:prstGeom prst="rect">
            <a:avLst/>
          </a:prstGeom>
          <a:noFill/>
          <a:ln/>
        </p:spPr>
        <p:txBody>
          <a:bodyPr wrap="square" lIns="0" tIns="0" rIns="0" bIns="0" rtlCol="0" anchor="ctr"/>
          <a:lstStyle/>
          <a:p>
            <a:pPr marL="0" indent="0">
              <a:buNone/>
            </a:pPr>
            <a:r>
              <a:rPr lang="en-US" sz="1500" dirty="0">
                <a:solidFill>
                  <a:srgbClr val="8C97AC"/>
                </a:solidFill>
                <a:latin typeface="Arial" pitchFamily="34" charset="0"/>
                <a:ea typeface="Arial" pitchFamily="34" charset="-122"/>
                <a:cs typeface="Arial" pitchFamily="34" charset="-120"/>
              </a:rPr>
              <a:t>Twelve stages. Each with one concrete thing a .NET team can actually do.</a:t>
            </a:r>
            <a:endParaRPr lang="en-US" sz="1500" dirty="0"/>
          </a:p>
        </p:txBody>
      </p:sp>
      <p:sp>
        <p:nvSpPr>
          <p:cNvPr id="5" name="Shape 3"/>
          <p:cNvSpPr/>
          <p:nvPr/>
        </p:nvSpPr>
        <p:spPr>
          <a:xfrm>
            <a:off x="548640" y="1783080"/>
            <a:ext cx="2606040" cy="1143000"/>
          </a:xfrm>
          <a:prstGeom prst="roundRect">
            <a:avLst>
              <a:gd name="adj" fmla="val 6400"/>
            </a:avLst>
          </a:prstGeom>
          <a:solidFill>
            <a:srgbClr val="141A26"/>
          </a:solidFill>
          <a:ln w="12700">
            <a:solidFill>
              <a:srgbClr val="9A6BFF"/>
            </a:solidFill>
            <a:prstDash val="solid"/>
          </a:ln>
        </p:spPr>
        <p:txBody>
          <a:bodyPr/>
          <a:lstStyle/>
          <a:p>
            <a:endParaRPr lang="en-NP"/>
          </a:p>
        </p:txBody>
      </p:sp>
      <p:sp>
        <p:nvSpPr>
          <p:cNvPr id="6" name="Text 4"/>
          <p:cNvSpPr txBox="1"/>
          <p:nvPr/>
        </p:nvSpPr>
        <p:spPr>
          <a:xfrm>
            <a:off x="749808" y="1920240"/>
            <a:ext cx="548640" cy="201168"/>
          </a:xfrm>
          <a:prstGeom prst="rect">
            <a:avLst/>
          </a:prstGeom>
          <a:noFill/>
          <a:ln/>
        </p:spPr>
        <p:txBody>
          <a:bodyPr wrap="square" lIns="0" tIns="0" rIns="0" bIns="0" rtlCol="0" anchor="ctr"/>
          <a:lstStyle/>
          <a:p>
            <a:pPr marL="0" indent="0">
              <a:buNone/>
            </a:pPr>
            <a:r>
              <a:rPr lang="en-US" sz="900" b="1" dirty="0">
                <a:solidFill>
                  <a:srgbClr val="9A6BFF"/>
                </a:solidFill>
                <a:latin typeface="Courier New" pitchFamily="34" charset="0"/>
                <a:ea typeface="Courier New" pitchFamily="34" charset="-122"/>
                <a:cs typeface="Courier New" pitchFamily="34" charset="-120"/>
              </a:rPr>
              <a:t>01</a:t>
            </a:r>
            <a:endParaRPr lang="en-US" sz="900" dirty="0"/>
          </a:p>
        </p:txBody>
      </p:sp>
      <p:sp>
        <p:nvSpPr>
          <p:cNvPr id="7" name="Text 5"/>
          <p:cNvSpPr txBox="1"/>
          <p:nvPr/>
        </p:nvSpPr>
        <p:spPr>
          <a:xfrm>
            <a:off x="749808" y="2148840"/>
            <a:ext cx="2240280" cy="274320"/>
          </a:xfrm>
          <a:prstGeom prst="rect">
            <a:avLst/>
          </a:prstGeom>
          <a:noFill/>
          <a:ln/>
        </p:spPr>
        <p:txBody>
          <a:bodyPr wrap="square" lIns="0" tIns="0" rIns="0" bIns="0" rtlCol="0" anchor="ctr"/>
          <a:lstStyle/>
          <a:p>
            <a:pPr marL="0" indent="0">
              <a:buNone/>
            </a:pPr>
            <a:r>
              <a:rPr lang="en-US" sz="1250" b="1" dirty="0">
                <a:solidFill>
                  <a:srgbClr val="E9EEF7"/>
                </a:solidFill>
                <a:latin typeface="Arial" pitchFamily="34" charset="0"/>
                <a:ea typeface="Arial" pitchFamily="34" charset="-122"/>
                <a:cs typeface="Arial" pitchFamily="34" charset="-120"/>
              </a:rPr>
              <a:t>Threat modelling</a:t>
            </a:r>
            <a:endParaRPr lang="en-US" sz="1250" dirty="0"/>
          </a:p>
        </p:txBody>
      </p:sp>
      <p:sp>
        <p:nvSpPr>
          <p:cNvPr id="8" name="Text 6"/>
          <p:cNvSpPr txBox="1"/>
          <p:nvPr/>
        </p:nvSpPr>
        <p:spPr>
          <a:xfrm>
            <a:off x="749808" y="2441448"/>
            <a:ext cx="2240280" cy="411480"/>
          </a:xfrm>
          <a:prstGeom prst="rect">
            <a:avLst/>
          </a:prstGeom>
          <a:noFill/>
          <a:ln/>
        </p:spPr>
        <p:txBody>
          <a:bodyPr wrap="square" lIns="0" tIns="0" rIns="0" bIns="0" rtlCol="0" anchor="ctr"/>
          <a:lstStyle/>
          <a:p>
            <a:pPr marL="0" indent="0">
              <a:lnSpc>
                <a:spcPct val="110000"/>
              </a:lnSpc>
              <a:buNone/>
            </a:pPr>
            <a:r>
              <a:rPr lang="en-US" sz="950" dirty="0">
                <a:solidFill>
                  <a:srgbClr val="8C97AC"/>
                </a:solidFill>
                <a:latin typeface="Arial" pitchFamily="34" charset="0"/>
                <a:ea typeface="Arial" pitchFamily="34" charset="-122"/>
                <a:cs typeface="Arial" pitchFamily="34" charset="-120"/>
              </a:rPr>
              <a:t>One hour, a whiteboard, "what could go wrong here?"</a:t>
            </a:r>
            <a:endParaRPr lang="en-US" sz="950" dirty="0"/>
          </a:p>
        </p:txBody>
      </p:sp>
      <p:sp>
        <p:nvSpPr>
          <p:cNvPr id="9" name="Shape 7"/>
          <p:cNvSpPr/>
          <p:nvPr/>
        </p:nvSpPr>
        <p:spPr>
          <a:xfrm>
            <a:off x="3429000" y="1783080"/>
            <a:ext cx="2606040" cy="1143000"/>
          </a:xfrm>
          <a:prstGeom prst="roundRect">
            <a:avLst>
              <a:gd name="adj" fmla="val 6400"/>
            </a:avLst>
          </a:prstGeom>
          <a:solidFill>
            <a:srgbClr val="141A26"/>
          </a:solidFill>
          <a:ln w="12700">
            <a:solidFill>
              <a:srgbClr val="9A6BFF"/>
            </a:solidFill>
            <a:prstDash val="solid"/>
          </a:ln>
        </p:spPr>
        <p:txBody>
          <a:bodyPr/>
          <a:lstStyle/>
          <a:p>
            <a:endParaRPr lang="en-NP"/>
          </a:p>
        </p:txBody>
      </p:sp>
      <p:sp>
        <p:nvSpPr>
          <p:cNvPr id="10" name="Text 8"/>
          <p:cNvSpPr txBox="1"/>
          <p:nvPr/>
        </p:nvSpPr>
        <p:spPr>
          <a:xfrm>
            <a:off x="3630168" y="1920240"/>
            <a:ext cx="548640" cy="201168"/>
          </a:xfrm>
          <a:prstGeom prst="rect">
            <a:avLst/>
          </a:prstGeom>
          <a:noFill/>
          <a:ln/>
        </p:spPr>
        <p:txBody>
          <a:bodyPr wrap="square" lIns="0" tIns="0" rIns="0" bIns="0" rtlCol="0" anchor="ctr"/>
          <a:lstStyle/>
          <a:p>
            <a:pPr marL="0" indent="0">
              <a:buNone/>
            </a:pPr>
            <a:r>
              <a:rPr lang="en-US" sz="900" b="1" dirty="0">
                <a:solidFill>
                  <a:srgbClr val="9A6BFF"/>
                </a:solidFill>
                <a:latin typeface="Courier New" pitchFamily="34" charset="0"/>
                <a:ea typeface="Courier New" pitchFamily="34" charset="-122"/>
                <a:cs typeface="Courier New" pitchFamily="34" charset="-120"/>
              </a:rPr>
              <a:t>02</a:t>
            </a:r>
            <a:endParaRPr lang="en-US" sz="900" dirty="0"/>
          </a:p>
        </p:txBody>
      </p:sp>
      <p:sp>
        <p:nvSpPr>
          <p:cNvPr id="11" name="Text 9"/>
          <p:cNvSpPr txBox="1"/>
          <p:nvPr/>
        </p:nvSpPr>
        <p:spPr>
          <a:xfrm>
            <a:off x="3630168" y="2148840"/>
            <a:ext cx="2240280" cy="274320"/>
          </a:xfrm>
          <a:prstGeom prst="rect">
            <a:avLst/>
          </a:prstGeom>
          <a:noFill/>
          <a:ln/>
        </p:spPr>
        <p:txBody>
          <a:bodyPr wrap="square" lIns="0" tIns="0" rIns="0" bIns="0" rtlCol="0" anchor="ctr"/>
          <a:lstStyle/>
          <a:p>
            <a:pPr marL="0" indent="0">
              <a:buNone/>
            </a:pPr>
            <a:r>
              <a:rPr lang="en-US" sz="1250" b="1" dirty="0">
                <a:solidFill>
                  <a:srgbClr val="E9EEF7"/>
                </a:solidFill>
                <a:latin typeface="Arial" pitchFamily="34" charset="0"/>
                <a:ea typeface="Arial" pitchFamily="34" charset="-122"/>
                <a:cs typeface="Arial" pitchFamily="34" charset="-120"/>
              </a:rPr>
              <a:t>Secure architecture</a:t>
            </a:r>
            <a:endParaRPr lang="en-US" sz="1250" dirty="0"/>
          </a:p>
        </p:txBody>
      </p:sp>
      <p:sp>
        <p:nvSpPr>
          <p:cNvPr id="12" name="Text 10"/>
          <p:cNvSpPr txBox="1"/>
          <p:nvPr/>
        </p:nvSpPr>
        <p:spPr>
          <a:xfrm>
            <a:off x="3630168" y="2441448"/>
            <a:ext cx="2240280" cy="411480"/>
          </a:xfrm>
          <a:prstGeom prst="rect">
            <a:avLst/>
          </a:prstGeom>
          <a:noFill/>
          <a:ln/>
        </p:spPr>
        <p:txBody>
          <a:bodyPr wrap="square" lIns="0" tIns="0" rIns="0" bIns="0" rtlCol="0" anchor="ctr"/>
          <a:lstStyle/>
          <a:p>
            <a:pPr marL="0" indent="0">
              <a:lnSpc>
                <a:spcPct val="110000"/>
              </a:lnSpc>
              <a:buNone/>
            </a:pPr>
            <a:r>
              <a:rPr lang="en-US" sz="950" dirty="0">
                <a:solidFill>
                  <a:srgbClr val="8C97AC"/>
                </a:solidFill>
                <a:latin typeface="Arial" pitchFamily="34" charset="0"/>
                <a:ea typeface="Arial" pitchFamily="34" charset="-122"/>
                <a:cs typeface="Arial" pitchFamily="34" charset="-120"/>
              </a:rPr>
              <a:t>Trust boundaries drawn before the first endpoint</a:t>
            </a:r>
            <a:endParaRPr lang="en-US" sz="950" dirty="0"/>
          </a:p>
        </p:txBody>
      </p:sp>
      <p:sp>
        <p:nvSpPr>
          <p:cNvPr id="13" name="Shape 11"/>
          <p:cNvSpPr/>
          <p:nvPr/>
        </p:nvSpPr>
        <p:spPr>
          <a:xfrm>
            <a:off x="6309360" y="1783080"/>
            <a:ext cx="2606040" cy="1143000"/>
          </a:xfrm>
          <a:prstGeom prst="roundRect">
            <a:avLst>
              <a:gd name="adj" fmla="val 6400"/>
            </a:avLst>
          </a:prstGeom>
          <a:solidFill>
            <a:srgbClr val="141A26"/>
          </a:solidFill>
          <a:ln w="12700">
            <a:solidFill>
              <a:srgbClr val="9A6BFF"/>
            </a:solidFill>
            <a:prstDash val="solid"/>
          </a:ln>
        </p:spPr>
        <p:txBody>
          <a:bodyPr/>
          <a:lstStyle/>
          <a:p>
            <a:endParaRPr lang="en-NP"/>
          </a:p>
        </p:txBody>
      </p:sp>
      <p:sp>
        <p:nvSpPr>
          <p:cNvPr id="14" name="Text 12"/>
          <p:cNvSpPr txBox="1"/>
          <p:nvPr/>
        </p:nvSpPr>
        <p:spPr>
          <a:xfrm>
            <a:off x="6510528" y="1920240"/>
            <a:ext cx="548640" cy="201168"/>
          </a:xfrm>
          <a:prstGeom prst="rect">
            <a:avLst/>
          </a:prstGeom>
          <a:noFill/>
          <a:ln/>
        </p:spPr>
        <p:txBody>
          <a:bodyPr wrap="square" lIns="0" tIns="0" rIns="0" bIns="0" rtlCol="0" anchor="ctr"/>
          <a:lstStyle/>
          <a:p>
            <a:pPr marL="0" indent="0">
              <a:buNone/>
            </a:pPr>
            <a:r>
              <a:rPr lang="en-US" sz="900" b="1" dirty="0">
                <a:solidFill>
                  <a:srgbClr val="9A6BFF"/>
                </a:solidFill>
                <a:latin typeface="Courier New" pitchFamily="34" charset="0"/>
                <a:ea typeface="Courier New" pitchFamily="34" charset="-122"/>
                <a:cs typeface="Courier New" pitchFamily="34" charset="-120"/>
              </a:rPr>
              <a:t>03</a:t>
            </a:r>
            <a:endParaRPr lang="en-US" sz="900" dirty="0"/>
          </a:p>
        </p:txBody>
      </p:sp>
      <p:sp>
        <p:nvSpPr>
          <p:cNvPr id="15" name="Text 13"/>
          <p:cNvSpPr txBox="1"/>
          <p:nvPr/>
        </p:nvSpPr>
        <p:spPr>
          <a:xfrm>
            <a:off x="6510528" y="2148840"/>
            <a:ext cx="2240280" cy="274320"/>
          </a:xfrm>
          <a:prstGeom prst="rect">
            <a:avLst/>
          </a:prstGeom>
          <a:noFill/>
          <a:ln/>
        </p:spPr>
        <p:txBody>
          <a:bodyPr wrap="square" lIns="0" tIns="0" rIns="0" bIns="0" rtlCol="0" anchor="ctr"/>
          <a:lstStyle/>
          <a:p>
            <a:pPr marL="0" indent="0">
              <a:buNone/>
            </a:pPr>
            <a:r>
              <a:rPr lang="en-US" sz="1250" b="1" dirty="0">
                <a:solidFill>
                  <a:srgbClr val="E9EEF7"/>
                </a:solidFill>
                <a:latin typeface="Arial" pitchFamily="34" charset="0"/>
                <a:ea typeface="Arial" pitchFamily="34" charset="-122"/>
                <a:cs typeface="Arial" pitchFamily="34" charset="-120"/>
              </a:rPr>
              <a:t>Secure coding</a:t>
            </a:r>
            <a:endParaRPr lang="en-US" sz="1250" dirty="0"/>
          </a:p>
        </p:txBody>
      </p:sp>
      <p:sp>
        <p:nvSpPr>
          <p:cNvPr id="16" name="Text 14"/>
          <p:cNvSpPr txBox="1"/>
          <p:nvPr/>
        </p:nvSpPr>
        <p:spPr>
          <a:xfrm>
            <a:off x="6510528" y="2441448"/>
            <a:ext cx="2240280" cy="411480"/>
          </a:xfrm>
          <a:prstGeom prst="rect">
            <a:avLst/>
          </a:prstGeom>
          <a:noFill/>
          <a:ln/>
        </p:spPr>
        <p:txBody>
          <a:bodyPr wrap="square" lIns="0" tIns="0" rIns="0" bIns="0" rtlCol="0" anchor="ctr"/>
          <a:lstStyle/>
          <a:p>
            <a:pPr marL="0" indent="0">
              <a:lnSpc>
                <a:spcPct val="110000"/>
              </a:lnSpc>
              <a:buNone/>
            </a:pPr>
            <a:r>
              <a:rPr lang="en-US" sz="950" dirty="0">
                <a:solidFill>
                  <a:srgbClr val="8C97AC"/>
                </a:solidFill>
                <a:latin typeface="Arial" pitchFamily="34" charset="0"/>
                <a:ea typeface="Arial" pitchFamily="34" charset="-122"/>
                <a:cs typeface="Arial" pitchFamily="34" charset="-120"/>
              </a:rPr>
              <a:t>Policy + resource-based authorization by default</a:t>
            </a:r>
            <a:endParaRPr lang="en-US" sz="950" dirty="0"/>
          </a:p>
        </p:txBody>
      </p:sp>
      <p:sp>
        <p:nvSpPr>
          <p:cNvPr id="17" name="Shape 15"/>
          <p:cNvSpPr/>
          <p:nvPr/>
        </p:nvSpPr>
        <p:spPr>
          <a:xfrm>
            <a:off x="9189720" y="1783080"/>
            <a:ext cx="2606040" cy="1143000"/>
          </a:xfrm>
          <a:prstGeom prst="roundRect">
            <a:avLst>
              <a:gd name="adj" fmla="val 6400"/>
            </a:avLst>
          </a:prstGeom>
          <a:solidFill>
            <a:srgbClr val="141A26"/>
          </a:solidFill>
          <a:ln w="12700">
            <a:solidFill>
              <a:srgbClr val="4CC9F0"/>
            </a:solidFill>
            <a:prstDash val="solid"/>
          </a:ln>
        </p:spPr>
        <p:txBody>
          <a:bodyPr/>
          <a:lstStyle/>
          <a:p>
            <a:endParaRPr lang="en-NP"/>
          </a:p>
        </p:txBody>
      </p:sp>
      <p:sp>
        <p:nvSpPr>
          <p:cNvPr id="18" name="Text 16"/>
          <p:cNvSpPr txBox="1"/>
          <p:nvPr/>
        </p:nvSpPr>
        <p:spPr>
          <a:xfrm>
            <a:off x="9390888" y="1920240"/>
            <a:ext cx="548640" cy="201168"/>
          </a:xfrm>
          <a:prstGeom prst="rect">
            <a:avLst/>
          </a:prstGeom>
          <a:noFill/>
          <a:ln/>
        </p:spPr>
        <p:txBody>
          <a:bodyPr wrap="square" lIns="0" tIns="0" rIns="0" bIns="0" rtlCol="0" anchor="ctr"/>
          <a:lstStyle/>
          <a:p>
            <a:pPr marL="0" indent="0">
              <a:buNone/>
            </a:pPr>
            <a:r>
              <a:rPr lang="en-US" sz="900" b="1" dirty="0">
                <a:solidFill>
                  <a:srgbClr val="4CC9F0"/>
                </a:solidFill>
                <a:latin typeface="Courier New" pitchFamily="34" charset="0"/>
                <a:ea typeface="Courier New" pitchFamily="34" charset="-122"/>
                <a:cs typeface="Courier New" pitchFamily="34" charset="-120"/>
              </a:rPr>
              <a:t>04</a:t>
            </a:r>
            <a:endParaRPr lang="en-US" sz="900" dirty="0"/>
          </a:p>
        </p:txBody>
      </p:sp>
      <p:sp>
        <p:nvSpPr>
          <p:cNvPr id="19" name="Text 17"/>
          <p:cNvSpPr txBox="1"/>
          <p:nvPr/>
        </p:nvSpPr>
        <p:spPr>
          <a:xfrm>
            <a:off x="9390888" y="2148840"/>
            <a:ext cx="2240280" cy="274320"/>
          </a:xfrm>
          <a:prstGeom prst="rect">
            <a:avLst/>
          </a:prstGeom>
          <a:noFill/>
          <a:ln/>
        </p:spPr>
        <p:txBody>
          <a:bodyPr wrap="square" lIns="0" tIns="0" rIns="0" bIns="0" rtlCol="0" anchor="ctr"/>
          <a:lstStyle/>
          <a:p>
            <a:pPr marL="0" indent="0">
              <a:buNone/>
            </a:pPr>
            <a:r>
              <a:rPr lang="en-US" sz="1250" b="1" dirty="0">
                <a:solidFill>
                  <a:srgbClr val="E9EEF7"/>
                </a:solidFill>
                <a:latin typeface="Arial" pitchFamily="34" charset="0"/>
                <a:ea typeface="Arial" pitchFamily="34" charset="-122"/>
                <a:cs typeface="Arial" pitchFamily="34" charset="-120"/>
              </a:rPr>
              <a:t>SAST</a:t>
            </a:r>
            <a:endParaRPr lang="en-US" sz="1250" dirty="0"/>
          </a:p>
        </p:txBody>
      </p:sp>
      <p:sp>
        <p:nvSpPr>
          <p:cNvPr id="20" name="Text 18"/>
          <p:cNvSpPr txBox="1"/>
          <p:nvPr/>
        </p:nvSpPr>
        <p:spPr>
          <a:xfrm>
            <a:off x="9390888" y="2441448"/>
            <a:ext cx="2240280" cy="411480"/>
          </a:xfrm>
          <a:prstGeom prst="rect">
            <a:avLst/>
          </a:prstGeom>
          <a:noFill/>
          <a:ln/>
        </p:spPr>
        <p:txBody>
          <a:bodyPr wrap="square" lIns="0" tIns="0" rIns="0" bIns="0" rtlCol="0" anchor="ctr"/>
          <a:lstStyle/>
          <a:p>
            <a:pPr marL="0" indent="0">
              <a:lnSpc>
                <a:spcPct val="110000"/>
              </a:lnSpc>
              <a:buNone/>
            </a:pPr>
            <a:r>
              <a:rPr lang="en-US" sz="950" dirty="0">
                <a:solidFill>
                  <a:srgbClr val="8C97AC"/>
                </a:solidFill>
                <a:latin typeface="Arial" pitchFamily="34" charset="0"/>
                <a:ea typeface="Arial" pitchFamily="34" charset="-122"/>
                <a:cs typeface="Arial" pitchFamily="34" charset="-120"/>
              </a:rPr>
              <a:t>Roslyn analyzers, CodeQL or Semgrep on every PR</a:t>
            </a:r>
            <a:endParaRPr lang="en-US" sz="950" dirty="0"/>
          </a:p>
        </p:txBody>
      </p:sp>
      <p:sp>
        <p:nvSpPr>
          <p:cNvPr id="21" name="Shape 19"/>
          <p:cNvSpPr/>
          <p:nvPr/>
        </p:nvSpPr>
        <p:spPr>
          <a:xfrm>
            <a:off x="548640" y="3108960"/>
            <a:ext cx="2606040" cy="1143000"/>
          </a:xfrm>
          <a:prstGeom prst="roundRect">
            <a:avLst>
              <a:gd name="adj" fmla="val 6400"/>
            </a:avLst>
          </a:prstGeom>
          <a:solidFill>
            <a:srgbClr val="141A26"/>
          </a:solidFill>
          <a:ln w="12700">
            <a:solidFill>
              <a:srgbClr val="4CC9F0"/>
            </a:solidFill>
            <a:prstDash val="solid"/>
          </a:ln>
        </p:spPr>
        <p:txBody>
          <a:bodyPr/>
          <a:lstStyle/>
          <a:p>
            <a:endParaRPr lang="en-NP"/>
          </a:p>
        </p:txBody>
      </p:sp>
      <p:sp>
        <p:nvSpPr>
          <p:cNvPr id="22" name="Text 20"/>
          <p:cNvSpPr txBox="1"/>
          <p:nvPr/>
        </p:nvSpPr>
        <p:spPr>
          <a:xfrm>
            <a:off x="749808" y="3246120"/>
            <a:ext cx="548640" cy="201168"/>
          </a:xfrm>
          <a:prstGeom prst="rect">
            <a:avLst/>
          </a:prstGeom>
          <a:noFill/>
          <a:ln/>
        </p:spPr>
        <p:txBody>
          <a:bodyPr wrap="square" lIns="0" tIns="0" rIns="0" bIns="0" rtlCol="0" anchor="ctr"/>
          <a:lstStyle/>
          <a:p>
            <a:pPr marL="0" indent="0">
              <a:buNone/>
            </a:pPr>
            <a:r>
              <a:rPr lang="en-US" sz="900" b="1" dirty="0">
                <a:solidFill>
                  <a:srgbClr val="4CC9F0"/>
                </a:solidFill>
                <a:latin typeface="Courier New" pitchFamily="34" charset="0"/>
                <a:ea typeface="Courier New" pitchFamily="34" charset="-122"/>
                <a:cs typeface="Courier New" pitchFamily="34" charset="-120"/>
              </a:rPr>
              <a:t>05</a:t>
            </a:r>
            <a:endParaRPr lang="en-US" sz="900" dirty="0"/>
          </a:p>
        </p:txBody>
      </p:sp>
      <p:sp>
        <p:nvSpPr>
          <p:cNvPr id="23" name="Text 21"/>
          <p:cNvSpPr txBox="1"/>
          <p:nvPr/>
        </p:nvSpPr>
        <p:spPr>
          <a:xfrm>
            <a:off x="749808" y="3474720"/>
            <a:ext cx="2240280" cy="274320"/>
          </a:xfrm>
          <a:prstGeom prst="rect">
            <a:avLst/>
          </a:prstGeom>
          <a:noFill/>
          <a:ln/>
        </p:spPr>
        <p:txBody>
          <a:bodyPr wrap="square" lIns="0" tIns="0" rIns="0" bIns="0" rtlCol="0" anchor="ctr"/>
          <a:lstStyle/>
          <a:p>
            <a:pPr marL="0" indent="0">
              <a:buNone/>
            </a:pPr>
            <a:r>
              <a:rPr lang="en-US" sz="1250" b="1" dirty="0">
                <a:solidFill>
                  <a:srgbClr val="E9EEF7"/>
                </a:solidFill>
                <a:latin typeface="Arial" pitchFamily="34" charset="0"/>
                <a:ea typeface="Arial" pitchFamily="34" charset="-122"/>
                <a:cs typeface="Arial" pitchFamily="34" charset="-120"/>
              </a:rPr>
              <a:t>SCA</a:t>
            </a:r>
            <a:endParaRPr lang="en-US" sz="1250" dirty="0"/>
          </a:p>
        </p:txBody>
      </p:sp>
      <p:sp>
        <p:nvSpPr>
          <p:cNvPr id="24" name="Text 22"/>
          <p:cNvSpPr txBox="1"/>
          <p:nvPr/>
        </p:nvSpPr>
        <p:spPr>
          <a:xfrm>
            <a:off x="749808" y="3767328"/>
            <a:ext cx="2240280" cy="411480"/>
          </a:xfrm>
          <a:prstGeom prst="rect">
            <a:avLst/>
          </a:prstGeom>
          <a:noFill/>
          <a:ln/>
        </p:spPr>
        <p:txBody>
          <a:bodyPr wrap="square" lIns="0" tIns="0" rIns="0" bIns="0" rtlCol="0" anchor="ctr"/>
          <a:lstStyle/>
          <a:p>
            <a:pPr marL="0" indent="0">
              <a:lnSpc>
                <a:spcPct val="110000"/>
              </a:lnSpc>
              <a:buNone/>
            </a:pPr>
            <a:r>
              <a:rPr lang="en-US" sz="950" dirty="0">
                <a:solidFill>
                  <a:srgbClr val="8C97AC"/>
                </a:solidFill>
                <a:latin typeface="Arial" pitchFamily="34" charset="0"/>
                <a:ea typeface="Arial" pitchFamily="34" charset="-122"/>
                <a:cs typeface="Arial" pitchFamily="34" charset="-120"/>
              </a:rPr>
              <a:t>dotnet list package --vulnerable --include-transitive</a:t>
            </a:r>
            <a:endParaRPr lang="en-US" sz="950" dirty="0"/>
          </a:p>
        </p:txBody>
      </p:sp>
      <p:sp>
        <p:nvSpPr>
          <p:cNvPr id="25" name="Shape 23"/>
          <p:cNvSpPr/>
          <p:nvPr/>
        </p:nvSpPr>
        <p:spPr>
          <a:xfrm>
            <a:off x="3429000" y="3108960"/>
            <a:ext cx="2606040" cy="1143000"/>
          </a:xfrm>
          <a:prstGeom prst="roundRect">
            <a:avLst>
              <a:gd name="adj" fmla="val 6400"/>
            </a:avLst>
          </a:prstGeom>
          <a:solidFill>
            <a:srgbClr val="141A26"/>
          </a:solidFill>
          <a:ln w="12700">
            <a:solidFill>
              <a:srgbClr val="4CC9F0"/>
            </a:solidFill>
            <a:prstDash val="solid"/>
          </a:ln>
        </p:spPr>
        <p:txBody>
          <a:bodyPr/>
          <a:lstStyle/>
          <a:p>
            <a:endParaRPr lang="en-NP"/>
          </a:p>
        </p:txBody>
      </p:sp>
      <p:sp>
        <p:nvSpPr>
          <p:cNvPr id="26" name="Text 24"/>
          <p:cNvSpPr txBox="1"/>
          <p:nvPr/>
        </p:nvSpPr>
        <p:spPr>
          <a:xfrm>
            <a:off x="3630168" y="3246120"/>
            <a:ext cx="548640" cy="201168"/>
          </a:xfrm>
          <a:prstGeom prst="rect">
            <a:avLst/>
          </a:prstGeom>
          <a:noFill/>
          <a:ln/>
        </p:spPr>
        <p:txBody>
          <a:bodyPr wrap="square" lIns="0" tIns="0" rIns="0" bIns="0" rtlCol="0" anchor="ctr"/>
          <a:lstStyle/>
          <a:p>
            <a:pPr marL="0" indent="0">
              <a:buNone/>
            </a:pPr>
            <a:r>
              <a:rPr lang="en-US" sz="900" b="1" dirty="0">
                <a:solidFill>
                  <a:srgbClr val="4CC9F0"/>
                </a:solidFill>
                <a:latin typeface="Courier New" pitchFamily="34" charset="0"/>
                <a:ea typeface="Courier New" pitchFamily="34" charset="-122"/>
                <a:cs typeface="Courier New" pitchFamily="34" charset="-120"/>
              </a:rPr>
              <a:t>06</a:t>
            </a:r>
            <a:endParaRPr lang="en-US" sz="900" dirty="0"/>
          </a:p>
        </p:txBody>
      </p:sp>
      <p:sp>
        <p:nvSpPr>
          <p:cNvPr id="27" name="Text 25"/>
          <p:cNvSpPr txBox="1"/>
          <p:nvPr/>
        </p:nvSpPr>
        <p:spPr>
          <a:xfrm>
            <a:off x="3630168" y="3474720"/>
            <a:ext cx="2240280" cy="274320"/>
          </a:xfrm>
          <a:prstGeom prst="rect">
            <a:avLst/>
          </a:prstGeom>
          <a:noFill/>
          <a:ln/>
        </p:spPr>
        <p:txBody>
          <a:bodyPr wrap="square" lIns="0" tIns="0" rIns="0" bIns="0" rtlCol="0" anchor="ctr"/>
          <a:lstStyle/>
          <a:p>
            <a:pPr marL="0" indent="0">
              <a:buNone/>
            </a:pPr>
            <a:r>
              <a:rPr lang="en-US" sz="1250" b="1" dirty="0">
                <a:solidFill>
                  <a:srgbClr val="E9EEF7"/>
                </a:solidFill>
                <a:latin typeface="Arial" pitchFamily="34" charset="0"/>
                <a:ea typeface="Arial" pitchFamily="34" charset="-122"/>
                <a:cs typeface="Arial" pitchFamily="34" charset="-120"/>
              </a:rPr>
              <a:t>Secret scanning</a:t>
            </a:r>
            <a:endParaRPr lang="en-US" sz="1250" dirty="0"/>
          </a:p>
        </p:txBody>
      </p:sp>
      <p:sp>
        <p:nvSpPr>
          <p:cNvPr id="28" name="Text 26"/>
          <p:cNvSpPr txBox="1"/>
          <p:nvPr/>
        </p:nvSpPr>
        <p:spPr>
          <a:xfrm>
            <a:off x="3630168" y="3767328"/>
            <a:ext cx="2240280" cy="411480"/>
          </a:xfrm>
          <a:prstGeom prst="rect">
            <a:avLst/>
          </a:prstGeom>
          <a:noFill/>
          <a:ln/>
        </p:spPr>
        <p:txBody>
          <a:bodyPr wrap="square" lIns="0" tIns="0" rIns="0" bIns="0" rtlCol="0" anchor="ctr"/>
          <a:lstStyle/>
          <a:p>
            <a:pPr marL="0" indent="0">
              <a:lnSpc>
                <a:spcPct val="110000"/>
              </a:lnSpc>
              <a:buNone/>
            </a:pPr>
            <a:r>
              <a:rPr lang="en-US" sz="950" dirty="0">
                <a:solidFill>
                  <a:srgbClr val="8C97AC"/>
                </a:solidFill>
                <a:latin typeface="Arial" pitchFamily="34" charset="0"/>
                <a:ea typeface="Arial" pitchFamily="34" charset="-122"/>
                <a:cs typeface="Arial" pitchFamily="34" charset="-120"/>
              </a:rPr>
              <a:t>Push protection on the repo, not a post-mortem</a:t>
            </a:r>
            <a:endParaRPr lang="en-US" sz="950" dirty="0"/>
          </a:p>
        </p:txBody>
      </p:sp>
      <p:sp>
        <p:nvSpPr>
          <p:cNvPr id="29" name="Shape 27"/>
          <p:cNvSpPr/>
          <p:nvPr/>
        </p:nvSpPr>
        <p:spPr>
          <a:xfrm>
            <a:off x="6309360" y="3108960"/>
            <a:ext cx="2606040" cy="1143000"/>
          </a:xfrm>
          <a:prstGeom prst="roundRect">
            <a:avLst>
              <a:gd name="adj" fmla="val 6400"/>
            </a:avLst>
          </a:prstGeom>
          <a:solidFill>
            <a:srgbClr val="141A26"/>
          </a:solidFill>
          <a:ln w="12700">
            <a:solidFill>
              <a:srgbClr val="4FD68A"/>
            </a:solidFill>
            <a:prstDash val="solid"/>
          </a:ln>
        </p:spPr>
        <p:txBody>
          <a:bodyPr/>
          <a:lstStyle/>
          <a:p>
            <a:endParaRPr lang="en-NP"/>
          </a:p>
        </p:txBody>
      </p:sp>
      <p:sp>
        <p:nvSpPr>
          <p:cNvPr id="30" name="Text 28"/>
          <p:cNvSpPr txBox="1"/>
          <p:nvPr/>
        </p:nvSpPr>
        <p:spPr>
          <a:xfrm>
            <a:off x="6510528" y="3246120"/>
            <a:ext cx="548640" cy="201168"/>
          </a:xfrm>
          <a:prstGeom prst="rect">
            <a:avLst/>
          </a:prstGeom>
          <a:noFill/>
          <a:ln/>
        </p:spPr>
        <p:txBody>
          <a:bodyPr wrap="square" lIns="0" tIns="0" rIns="0" bIns="0" rtlCol="0" anchor="ctr"/>
          <a:lstStyle/>
          <a:p>
            <a:pPr marL="0" indent="0">
              <a:buNone/>
            </a:pPr>
            <a:r>
              <a:rPr lang="en-US" sz="900" b="1" dirty="0">
                <a:solidFill>
                  <a:srgbClr val="4FD68A"/>
                </a:solidFill>
                <a:latin typeface="Courier New" pitchFamily="34" charset="0"/>
                <a:ea typeface="Courier New" pitchFamily="34" charset="-122"/>
                <a:cs typeface="Courier New" pitchFamily="34" charset="-120"/>
              </a:rPr>
              <a:t>07</a:t>
            </a:r>
            <a:endParaRPr lang="en-US" sz="900" dirty="0"/>
          </a:p>
        </p:txBody>
      </p:sp>
      <p:sp>
        <p:nvSpPr>
          <p:cNvPr id="31" name="Text 29"/>
          <p:cNvSpPr txBox="1"/>
          <p:nvPr/>
        </p:nvSpPr>
        <p:spPr>
          <a:xfrm>
            <a:off x="6510528" y="3474720"/>
            <a:ext cx="2240280" cy="274320"/>
          </a:xfrm>
          <a:prstGeom prst="rect">
            <a:avLst/>
          </a:prstGeom>
          <a:noFill/>
          <a:ln/>
        </p:spPr>
        <p:txBody>
          <a:bodyPr wrap="square" lIns="0" tIns="0" rIns="0" bIns="0" rtlCol="0" anchor="ctr"/>
          <a:lstStyle/>
          <a:p>
            <a:pPr marL="0" indent="0">
              <a:buNone/>
            </a:pPr>
            <a:r>
              <a:rPr lang="en-US" sz="1250" b="1" dirty="0">
                <a:solidFill>
                  <a:srgbClr val="E9EEF7"/>
                </a:solidFill>
                <a:latin typeface="Arial" pitchFamily="34" charset="0"/>
                <a:ea typeface="Arial" pitchFamily="34" charset="-122"/>
                <a:cs typeface="Arial" pitchFamily="34" charset="-120"/>
              </a:rPr>
              <a:t>Security unit tests</a:t>
            </a:r>
            <a:endParaRPr lang="en-US" sz="1250" dirty="0"/>
          </a:p>
        </p:txBody>
      </p:sp>
      <p:sp>
        <p:nvSpPr>
          <p:cNvPr id="32" name="Text 30"/>
          <p:cNvSpPr txBox="1"/>
          <p:nvPr/>
        </p:nvSpPr>
        <p:spPr>
          <a:xfrm>
            <a:off x="6510528" y="3767328"/>
            <a:ext cx="2240280" cy="411480"/>
          </a:xfrm>
          <a:prstGeom prst="rect">
            <a:avLst/>
          </a:prstGeom>
          <a:noFill/>
          <a:ln/>
        </p:spPr>
        <p:txBody>
          <a:bodyPr wrap="square" lIns="0" tIns="0" rIns="0" bIns="0" rtlCol="0" anchor="ctr"/>
          <a:lstStyle/>
          <a:p>
            <a:pPr marL="0" indent="0">
              <a:lnSpc>
                <a:spcPct val="110000"/>
              </a:lnSpc>
              <a:buNone/>
            </a:pPr>
            <a:r>
              <a:rPr lang="en-US" sz="950" dirty="0">
                <a:solidFill>
                  <a:srgbClr val="8C97AC"/>
                </a:solidFill>
                <a:latin typeface="Arial" pitchFamily="34" charset="0"/>
                <a:ea typeface="Arial" pitchFamily="34" charset="-122"/>
                <a:cs typeface="Arial" pitchFamily="34" charset="-120"/>
              </a:rPr>
              <a:t>A test that asserts user B gets 403, not 200</a:t>
            </a:r>
            <a:endParaRPr lang="en-US" sz="950" dirty="0"/>
          </a:p>
        </p:txBody>
      </p:sp>
      <p:sp>
        <p:nvSpPr>
          <p:cNvPr id="33" name="Shape 31"/>
          <p:cNvSpPr/>
          <p:nvPr/>
        </p:nvSpPr>
        <p:spPr>
          <a:xfrm>
            <a:off x="9189720" y="3108960"/>
            <a:ext cx="2606040" cy="1143000"/>
          </a:xfrm>
          <a:prstGeom prst="roundRect">
            <a:avLst>
              <a:gd name="adj" fmla="val 6400"/>
            </a:avLst>
          </a:prstGeom>
          <a:solidFill>
            <a:srgbClr val="141A26"/>
          </a:solidFill>
          <a:ln w="12700">
            <a:solidFill>
              <a:srgbClr val="4FD68A"/>
            </a:solidFill>
            <a:prstDash val="solid"/>
          </a:ln>
        </p:spPr>
        <p:txBody>
          <a:bodyPr/>
          <a:lstStyle/>
          <a:p>
            <a:endParaRPr lang="en-NP"/>
          </a:p>
        </p:txBody>
      </p:sp>
      <p:sp>
        <p:nvSpPr>
          <p:cNvPr id="34" name="Text 32"/>
          <p:cNvSpPr txBox="1"/>
          <p:nvPr/>
        </p:nvSpPr>
        <p:spPr>
          <a:xfrm>
            <a:off x="9390888" y="3246120"/>
            <a:ext cx="548640" cy="201168"/>
          </a:xfrm>
          <a:prstGeom prst="rect">
            <a:avLst/>
          </a:prstGeom>
          <a:noFill/>
          <a:ln/>
        </p:spPr>
        <p:txBody>
          <a:bodyPr wrap="square" lIns="0" tIns="0" rIns="0" bIns="0" rtlCol="0" anchor="ctr"/>
          <a:lstStyle/>
          <a:p>
            <a:pPr marL="0" indent="0">
              <a:buNone/>
            </a:pPr>
            <a:r>
              <a:rPr lang="en-US" sz="900" b="1" dirty="0">
                <a:solidFill>
                  <a:srgbClr val="4FD68A"/>
                </a:solidFill>
                <a:latin typeface="Courier New" pitchFamily="34" charset="0"/>
                <a:ea typeface="Courier New" pitchFamily="34" charset="-122"/>
                <a:cs typeface="Courier New" pitchFamily="34" charset="-120"/>
              </a:rPr>
              <a:t>08</a:t>
            </a:r>
            <a:endParaRPr lang="en-US" sz="900" dirty="0"/>
          </a:p>
        </p:txBody>
      </p:sp>
      <p:sp>
        <p:nvSpPr>
          <p:cNvPr id="35" name="Text 33"/>
          <p:cNvSpPr txBox="1"/>
          <p:nvPr/>
        </p:nvSpPr>
        <p:spPr>
          <a:xfrm>
            <a:off x="9390888" y="3474720"/>
            <a:ext cx="2240280" cy="274320"/>
          </a:xfrm>
          <a:prstGeom prst="rect">
            <a:avLst/>
          </a:prstGeom>
          <a:noFill/>
          <a:ln/>
        </p:spPr>
        <p:txBody>
          <a:bodyPr wrap="square" lIns="0" tIns="0" rIns="0" bIns="0" rtlCol="0" anchor="ctr"/>
          <a:lstStyle/>
          <a:p>
            <a:pPr marL="0" indent="0">
              <a:buNone/>
            </a:pPr>
            <a:r>
              <a:rPr lang="en-US" sz="1250" b="1" dirty="0">
                <a:solidFill>
                  <a:srgbClr val="E9EEF7"/>
                </a:solidFill>
                <a:latin typeface="Arial" pitchFamily="34" charset="0"/>
                <a:ea typeface="Arial" pitchFamily="34" charset="-122"/>
                <a:cs typeface="Arial" pitchFamily="34" charset="-120"/>
              </a:rPr>
              <a:t>DAST</a:t>
            </a:r>
            <a:endParaRPr lang="en-US" sz="1250" dirty="0"/>
          </a:p>
        </p:txBody>
      </p:sp>
      <p:sp>
        <p:nvSpPr>
          <p:cNvPr id="36" name="Text 34"/>
          <p:cNvSpPr txBox="1"/>
          <p:nvPr/>
        </p:nvSpPr>
        <p:spPr>
          <a:xfrm>
            <a:off x="9390888" y="3767328"/>
            <a:ext cx="2240280" cy="411480"/>
          </a:xfrm>
          <a:prstGeom prst="rect">
            <a:avLst/>
          </a:prstGeom>
          <a:noFill/>
          <a:ln/>
        </p:spPr>
        <p:txBody>
          <a:bodyPr wrap="square" lIns="0" tIns="0" rIns="0" bIns="0" rtlCol="0" anchor="ctr"/>
          <a:lstStyle/>
          <a:p>
            <a:pPr marL="0" indent="0">
              <a:lnSpc>
                <a:spcPct val="110000"/>
              </a:lnSpc>
              <a:buNone/>
            </a:pPr>
            <a:r>
              <a:rPr lang="en-US" sz="950" dirty="0">
                <a:solidFill>
                  <a:srgbClr val="8C97AC"/>
                </a:solidFill>
                <a:latin typeface="Arial" pitchFamily="34" charset="0"/>
                <a:ea typeface="Arial" pitchFamily="34" charset="-122"/>
                <a:cs typeface="Arial" pitchFamily="34" charset="-120"/>
              </a:rPr>
              <a:t>Automated scan against a running staging instance</a:t>
            </a:r>
            <a:endParaRPr lang="en-US" sz="950" dirty="0"/>
          </a:p>
        </p:txBody>
      </p:sp>
      <p:sp>
        <p:nvSpPr>
          <p:cNvPr id="37" name="Shape 35"/>
          <p:cNvSpPr/>
          <p:nvPr/>
        </p:nvSpPr>
        <p:spPr>
          <a:xfrm>
            <a:off x="548640" y="4434840"/>
            <a:ext cx="2606040" cy="1143000"/>
          </a:xfrm>
          <a:prstGeom prst="roundRect">
            <a:avLst>
              <a:gd name="adj" fmla="val 6400"/>
            </a:avLst>
          </a:prstGeom>
          <a:solidFill>
            <a:srgbClr val="141A26"/>
          </a:solidFill>
          <a:ln w="12700">
            <a:solidFill>
              <a:srgbClr val="4FD68A"/>
            </a:solidFill>
            <a:prstDash val="solid"/>
          </a:ln>
        </p:spPr>
        <p:txBody>
          <a:bodyPr/>
          <a:lstStyle/>
          <a:p>
            <a:endParaRPr lang="en-NP"/>
          </a:p>
        </p:txBody>
      </p:sp>
      <p:sp>
        <p:nvSpPr>
          <p:cNvPr id="38" name="Text 36"/>
          <p:cNvSpPr txBox="1"/>
          <p:nvPr/>
        </p:nvSpPr>
        <p:spPr>
          <a:xfrm>
            <a:off x="749808" y="4572000"/>
            <a:ext cx="548640" cy="201168"/>
          </a:xfrm>
          <a:prstGeom prst="rect">
            <a:avLst/>
          </a:prstGeom>
          <a:noFill/>
          <a:ln/>
        </p:spPr>
        <p:txBody>
          <a:bodyPr wrap="square" lIns="0" tIns="0" rIns="0" bIns="0" rtlCol="0" anchor="ctr"/>
          <a:lstStyle/>
          <a:p>
            <a:pPr marL="0" indent="0">
              <a:buNone/>
            </a:pPr>
            <a:r>
              <a:rPr lang="en-US" sz="900" b="1" dirty="0">
                <a:solidFill>
                  <a:srgbClr val="4FD68A"/>
                </a:solidFill>
                <a:latin typeface="Courier New" pitchFamily="34" charset="0"/>
                <a:ea typeface="Courier New" pitchFamily="34" charset="-122"/>
                <a:cs typeface="Courier New" pitchFamily="34" charset="-120"/>
              </a:rPr>
              <a:t>09</a:t>
            </a:r>
            <a:endParaRPr lang="en-US" sz="900" dirty="0"/>
          </a:p>
        </p:txBody>
      </p:sp>
      <p:sp>
        <p:nvSpPr>
          <p:cNvPr id="39" name="Text 37"/>
          <p:cNvSpPr txBox="1"/>
          <p:nvPr/>
        </p:nvSpPr>
        <p:spPr>
          <a:xfrm>
            <a:off x="749808" y="4800600"/>
            <a:ext cx="2240280" cy="274320"/>
          </a:xfrm>
          <a:prstGeom prst="rect">
            <a:avLst/>
          </a:prstGeom>
          <a:noFill/>
          <a:ln/>
        </p:spPr>
        <p:txBody>
          <a:bodyPr wrap="square" lIns="0" tIns="0" rIns="0" bIns="0" rtlCol="0" anchor="ctr"/>
          <a:lstStyle/>
          <a:p>
            <a:pPr marL="0" indent="0">
              <a:buNone/>
            </a:pPr>
            <a:r>
              <a:rPr lang="en-US" sz="1250" b="1" dirty="0">
                <a:solidFill>
                  <a:srgbClr val="E9EEF7"/>
                </a:solidFill>
                <a:latin typeface="Arial" pitchFamily="34" charset="0"/>
                <a:ea typeface="Arial" pitchFamily="34" charset="-122"/>
                <a:cs typeface="Arial" pitchFamily="34" charset="-120"/>
              </a:rPr>
              <a:t>Container &amp; IaC scan</a:t>
            </a:r>
            <a:endParaRPr lang="en-US" sz="1250" dirty="0"/>
          </a:p>
        </p:txBody>
      </p:sp>
      <p:sp>
        <p:nvSpPr>
          <p:cNvPr id="40" name="Text 38"/>
          <p:cNvSpPr txBox="1"/>
          <p:nvPr/>
        </p:nvSpPr>
        <p:spPr>
          <a:xfrm>
            <a:off x="749808" y="5093208"/>
            <a:ext cx="2240280" cy="411480"/>
          </a:xfrm>
          <a:prstGeom prst="rect">
            <a:avLst/>
          </a:prstGeom>
          <a:noFill/>
          <a:ln/>
        </p:spPr>
        <p:txBody>
          <a:bodyPr wrap="square" lIns="0" tIns="0" rIns="0" bIns="0" rtlCol="0" anchor="ctr"/>
          <a:lstStyle/>
          <a:p>
            <a:pPr marL="0" indent="0">
              <a:lnSpc>
                <a:spcPct val="110000"/>
              </a:lnSpc>
              <a:buNone/>
            </a:pPr>
            <a:r>
              <a:rPr lang="en-US" sz="950" dirty="0">
                <a:solidFill>
                  <a:srgbClr val="8C97AC"/>
                </a:solidFill>
                <a:latin typeface="Arial" pitchFamily="34" charset="0"/>
                <a:ea typeface="Arial" pitchFamily="34" charset="-122"/>
                <a:cs typeface="Arial" pitchFamily="34" charset="-120"/>
              </a:rPr>
              <a:t>Scan the base image and the Bicep/Terraform</a:t>
            </a:r>
            <a:endParaRPr lang="en-US" sz="950" dirty="0"/>
          </a:p>
        </p:txBody>
      </p:sp>
      <p:sp>
        <p:nvSpPr>
          <p:cNvPr id="41" name="Shape 39"/>
          <p:cNvSpPr/>
          <p:nvPr/>
        </p:nvSpPr>
        <p:spPr>
          <a:xfrm>
            <a:off x="3429000" y="4434840"/>
            <a:ext cx="2606040" cy="1143000"/>
          </a:xfrm>
          <a:prstGeom prst="roundRect">
            <a:avLst>
              <a:gd name="adj" fmla="val 6400"/>
            </a:avLst>
          </a:prstGeom>
          <a:solidFill>
            <a:srgbClr val="141A26"/>
          </a:solidFill>
          <a:ln w="12700">
            <a:solidFill>
              <a:srgbClr val="FFC15E"/>
            </a:solidFill>
            <a:prstDash val="solid"/>
          </a:ln>
        </p:spPr>
        <p:txBody>
          <a:bodyPr/>
          <a:lstStyle/>
          <a:p>
            <a:endParaRPr lang="en-NP"/>
          </a:p>
        </p:txBody>
      </p:sp>
      <p:sp>
        <p:nvSpPr>
          <p:cNvPr id="42" name="Text 40"/>
          <p:cNvSpPr txBox="1"/>
          <p:nvPr/>
        </p:nvSpPr>
        <p:spPr>
          <a:xfrm>
            <a:off x="3630168" y="4572000"/>
            <a:ext cx="548640" cy="201168"/>
          </a:xfrm>
          <a:prstGeom prst="rect">
            <a:avLst/>
          </a:prstGeom>
          <a:noFill/>
          <a:ln/>
        </p:spPr>
        <p:txBody>
          <a:bodyPr wrap="square" lIns="0" tIns="0" rIns="0" bIns="0" rtlCol="0" anchor="ctr"/>
          <a:lstStyle/>
          <a:p>
            <a:pPr marL="0" indent="0">
              <a:buNone/>
            </a:pPr>
            <a:r>
              <a:rPr lang="en-US" sz="900" b="1" dirty="0">
                <a:solidFill>
                  <a:srgbClr val="FFC15E"/>
                </a:solidFill>
                <a:latin typeface="Courier New" pitchFamily="34" charset="0"/>
                <a:ea typeface="Courier New" pitchFamily="34" charset="-122"/>
                <a:cs typeface="Courier New" pitchFamily="34" charset="-120"/>
              </a:rPr>
              <a:t>10</a:t>
            </a:r>
            <a:endParaRPr lang="en-US" sz="900" dirty="0"/>
          </a:p>
        </p:txBody>
      </p:sp>
      <p:sp>
        <p:nvSpPr>
          <p:cNvPr id="43" name="Text 41"/>
          <p:cNvSpPr txBox="1"/>
          <p:nvPr/>
        </p:nvSpPr>
        <p:spPr>
          <a:xfrm>
            <a:off x="3630168" y="4800600"/>
            <a:ext cx="2240280" cy="274320"/>
          </a:xfrm>
          <a:prstGeom prst="rect">
            <a:avLst/>
          </a:prstGeom>
          <a:noFill/>
          <a:ln/>
        </p:spPr>
        <p:txBody>
          <a:bodyPr wrap="square" lIns="0" tIns="0" rIns="0" bIns="0" rtlCol="0" anchor="ctr"/>
          <a:lstStyle/>
          <a:p>
            <a:pPr marL="0" indent="0">
              <a:buNone/>
            </a:pPr>
            <a:r>
              <a:rPr lang="en-US" sz="1250" b="1" dirty="0">
                <a:solidFill>
                  <a:srgbClr val="E9EEF7"/>
                </a:solidFill>
                <a:latin typeface="Arial" pitchFamily="34" charset="0"/>
                <a:ea typeface="Arial" pitchFamily="34" charset="-122"/>
                <a:cs typeface="Arial" pitchFamily="34" charset="-120"/>
              </a:rPr>
              <a:t>Secure CI/CD</a:t>
            </a:r>
            <a:endParaRPr lang="en-US" sz="1250" dirty="0"/>
          </a:p>
        </p:txBody>
      </p:sp>
      <p:sp>
        <p:nvSpPr>
          <p:cNvPr id="44" name="Text 42"/>
          <p:cNvSpPr txBox="1"/>
          <p:nvPr/>
        </p:nvSpPr>
        <p:spPr>
          <a:xfrm>
            <a:off x="3630168" y="5093208"/>
            <a:ext cx="2240280" cy="411480"/>
          </a:xfrm>
          <a:prstGeom prst="rect">
            <a:avLst/>
          </a:prstGeom>
          <a:noFill/>
          <a:ln/>
        </p:spPr>
        <p:txBody>
          <a:bodyPr wrap="square" lIns="0" tIns="0" rIns="0" bIns="0" rtlCol="0" anchor="ctr"/>
          <a:lstStyle/>
          <a:p>
            <a:pPr marL="0" indent="0">
              <a:lnSpc>
                <a:spcPct val="110000"/>
              </a:lnSpc>
              <a:buNone/>
            </a:pPr>
            <a:r>
              <a:rPr lang="en-US" sz="950" dirty="0">
                <a:solidFill>
                  <a:srgbClr val="8C97AC"/>
                </a:solidFill>
                <a:latin typeface="Arial" pitchFamily="34" charset="0"/>
                <a:ea typeface="Arial" pitchFamily="34" charset="-122"/>
                <a:cs typeface="Arial" pitchFamily="34" charset="-120"/>
              </a:rPr>
              <a:t>Signed artifacts, protected branches, scoped tokens</a:t>
            </a:r>
            <a:endParaRPr lang="en-US" sz="950" dirty="0"/>
          </a:p>
        </p:txBody>
      </p:sp>
      <p:sp>
        <p:nvSpPr>
          <p:cNvPr id="45" name="Shape 43"/>
          <p:cNvSpPr/>
          <p:nvPr/>
        </p:nvSpPr>
        <p:spPr>
          <a:xfrm>
            <a:off x="6309360" y="4434840"/>
            <a:ext cx="2606040" cy="1143000"/>
          </a:xfrm>
          <a:prstGeom prst="roundRect">
            <a:avLst>
              <a:gd name="adj" fmla="val 6400"/>
            </a:avLst>
          </a:prstGeom>
          <a:solidFill>
            <a:srgbClr val="141A26"/>
          </a:solidFill>
          <a:ln w="12700">
            <a:solidFill>
              <a:srgbClr val="FFC15E"/>
            </a:solidFill>
            <a:prstDash val="solid"/>
          </a:ln>
        </p:spPr>
        <p:txBody>
          <a:bodyPr/>
          <a:lstStyle/>
          <a:p>
            <a:endParaRPr lang="en-NP"/>
          </a:p>
        </p:txBody>
      </p:sp>
      <p:sp>
        <p:nvSpPr>
          <p:cNvPr id="46" name="Text 44"/>
          <p:cNvSpPr txBox="1"/>
          <p:nvPr/>
        </p:nvSpPr>
        <p:spPr>
          <a:xfrm>
            <a:off x="6510528" y="4572000"/>
            <a:ext cx="548640" cy="201168"/>
          </a:xfrm>
          <a:prstGeom prst="rect">
            <a:avLst/>
          </a:prstGeom>
          <a:noFill/>
          <a:ln/>
        </p:spPr>
        <p:txBody>
          <a:bodyPr wrap="square" lIns="0" tIns="0" rIns="0" bIns="0" rtlCol="0" anchor="ctr"/>
          <a:lstStyle/>
          <a:p>
            <a:pPr marL="0" indent="0">
              <a:buNone/>
            </a:pPr>
            <a:r>
              <a:rPr lang="en-US" sz="900" b="1" dirty="0">
                <a:solidFill>
                  <a:srgbClr val="FFC15E"/>
                </a:solidFill>
                <a:latin typeface="Courier New" pitchFamily="34" charset="0"/>
                <a:ea typeface="Courier New" pitchFamily="34" charset="-122"/>
                <a:cs typeface="Courier New" pitchFamily="34" charset="-120"/>
              </a:rPr>
              <a:t>11</a:t>
            </a:r>
            <a:endParaRPr lang="en-US" sz="900" dirty="0"/>
          </a:p>
        </p:txBody>
      </p:sp>
      <p:sp>
        <p:nvSpPr>
          <p:cNvPr id="47" name="Text 45"/>
          <p:cNvSpPr txBox="1"/>
          <p:nvPr/>
        </p:nvSpPr>
        <p:spPr>
          <a:xfrm>
            <a:off x="6510528" y="4800600"/>
            <a:ext cx="2240280" cy="274320"/>
          </a:xfrm>
          <a:prstGeom prst="rect">
            <a:avLst/>
          </a:prstGeom>
          <a:noFill/>
          <a:ln/>
        </p:spPr>
        <p:txBody>
          <a:bodyPr wrap="square" lIns="0" tIns="0" rIns="0" bIns="0" rtlCol="0" anchor="ctr"/>
          <a:lstStyle/>
          <a:p>
            <a:pPr marL="0" indent="0">
              <a:buNone/>
            </a:pPr>
            <a:r>
              <a:rPr lang="en-US" sz="1250" b="1" dirty="0">
                <a:solidFill>
                  <a:srgbClr val="E9EEF7"/>
                </a:solidFill>
                <a:latin typeface="Arial" pitchFamily="34" charset="0"/>
                <a:ea typeface="Arial" pitchFamily="34" charset="-122"/>
                <a:cs typeface="Arial" pitchFamily="34" charset="-120"/>
              </a:rPr>
              <a:t>Secure deployment</a:t>
            </a:r>
            <a:endParaRPr lang="en-US" sz="1250" dirty="0"/>
          </a:p>
        </p:txBody>
      </p:sp>
      <p:sp>
        <p:nvSpPr>
          <p:cNvPr id="48" name="Text 46"/>
          <p:cNvSpPr txBox="1"/>
          <p:nvPr/>
        </p:nvSpPr>
        <p:spPr>
          <a:xfrm>
            <a:off x="6510528" y="5093208"/>
            <a:ext cx="2240280" cy="411480"/>
          </a:xfrm>
          <a:prstGeom prst="rect">
            <a:avLst/>
          </a:prstGeom>
          <a:noFill/>
          <a:ln/>
        </p:spPr>
        <p:txBody>
          <a:bodyPr wrap="square" lIns="0" tIns="0" rIns="0" bIns="0" rtlCol="0" anchor="ctr"/>
          <a:lstStyle/>
          <a:p>
            <a:pPr marL="0" indent="0">
              <a:lnSpc>
                <a:spcPct val="110000"/>
              </a:lnSpc>
              <a:buNone/>
            </a:pPr>
            <a:r>
              <a:rPr lang="en-US" sz="950" dirty="0">
                <a:solidFill>
                  <a:srgbClr val="8C97AC"/>
                </a:solidFill>
                <a:latin typeface="Arial" pitchFamily="34" charset="0"/>
                <a:ea typeface="Arial" pitchFamily="34" charset="-122"/>
                <a:cs typeface="Arial" pitchFamily="34" charset="-120"/>
              </a:rPr>
              <a:t>Managed identity, no long-lived keys, env separation</a:t>
            </a:r>
            <a:endParaRPr lang="en-US" sz="950" dirty="0"/>
          </a:p>
        </p:txBody>
      </p:sp>
      <p:sp>
        <p:nvSpPr>
          <p:cNvPr id="49" name="Shape 47"/>
          <p:cNvSpPr/>
          <p:nvPr/>
        </p:nvSpPr>
        <p:spPr>
          <a:xfrm>
            <a:off x="9189720" y="4434840"/>
            <a:ext cx="2606040" cy="1143000"/>
          </a:xfrm>
          <a:prstGeom prst="roundRect">
            <a:avLst>
              <a:gd name="adj" fmla="val 6400"/>
            </a:avLst>
          </a:prstGeom>
          <a:solidFill>
            <a:srgbClr val="141A26"/>
          </a:solidFill>
          <a:ln w="12700">
            <a:solidFill>
              <a:srgbClr val="FFA33A"/>
            </a:solidFill>
            <a:prstDash val="solid"/>
          </a:ln>
        </p:spPr>
        <p:txBody>
          <a:bodyPr/>
          <a:lstStyle/>
          <a:p>
            <a:endParaRPr lang="en-NP"/>
          </a:p>
        </p:txBody>
      </p:sp>
      <p:sp>
        <p:nvSpPr>
          <p:cNvPr id="50" name="Text 48"/>
          <p:cNvSpPr txBox="1"/>
          <p:nvPr/>
        </p:nvSpPr>
        <p:spPr>
          <a:xfrm>
            <a:off x="9390888" y="4572000"/>
            <a:ext cx="548640" cy="201168"/>
          </a:xfrm>
          <a:prstGeom prst="rect">
            <a:avLst/>
          </a:prstGeom>
          <a:noFill/>
          <a:ln/>
        </p:spPr>
        <p:txBody>
          <a:bodyPr wrap="square" lIns="0" tIns="0" rIns="0" bIns="0" rtlCol="0" anchor="ctr"/>
          <a:lstStyle/>
          <a:p>
            <a:pPr marL="0" indent="0">
              <a:buNone/>
            </a:pPr>
            <a:r>
              <a:rPr lang="en-US" sz="900" b="1" dirty="0">
                <a:solidFill>
                  <a:srgbClr val="FFA33A"/>
                </a:solidFill>
                <a:latin typeface="Courier New" pitchFamily="34" charset="0"/>
                <a:ea typeface="Courier New" pitchFamily="34" charset="-122"/>
                <a:cs typeface="Courier New" pitchFamily="34" charset="-120"/>
              </a:rPr>
              <a:t>12</a:t>
            </a:r>
            <a:endParaRPr lang="en-US" sz="900" dirty="0"/>
          </a:p>
        </p:txBody>
      </p:sp>
      <p:sp>
        <p:nvSpPr>
          <p:cNvPr id="51" name="Text 49"/>
          <p:cNvSpPr txBox="1"/>
          <p:nvPr/>
        </p:nvSpPr>
        <p:spPr>
          <a:xfrm>
            <a:off x="9390888" y="4800600"/>
            <a:ext cx="2240280" cy="274320"/>
          </a:xfrm>
          <a:prstGeom prst="rect">
            <a:avLst/>
          </a:prstGeom>
          <a:noFill/>
          <a:ln/>
        </p:spPr>
        <p:txBody>
          <a:bodyPr wrap="square" lIns="0" tIns="0" rIns="0" bIns="0" rtlCol="0" anchor="ctr"/>
          <a:lstStyle/>
          <a:p>
            <a:pPr marL="0" indent="0">
              <a:buNone/>
            </a:pPr>
            <a:r>
              <a:rPr lang="en-US" sz="1250" b="1" dirty="0">
                <a:solidFill>
                  <a:srgbClr val="E9EEF7"/>
                </a:solidFill>
                <a:latin typeface="Arial" pitchFamily="34" charset="0"/>
                <a:ea typeface="Arial" pitchFamily="34" charset="-122"/>
                <a:cs typeface="Arial" pitchFamily="34" charset="-120"/>
              </a:rPr>
              <a:t>Monitor &amp; alert</a:t>
            </a:r>
            <a:endParaRPr lang="en-US" sz="1250" dirty="0"/>
          </a:p>
        </p:txBody>
      </p:sp>
      <p:sp>
        <p:nvSpPr>
          <p:cNvPr id="52" name="Text 50"/>
          <p:cNvSpPr txBox="1"/>
          <p:nvPr/>
        </p:nvSpPr>
        <p:spPr>
          <a:xfrm>
            <a:off x="9390888" y="5093208"/>
            <a:ext cx="2240280" cy="411480"/>
          </a:xfrm>
          <a:prstGeom prst="rect">
            <a:avLst/>
          </a:prstGeom>
          <a:noFill/>
          <a:ln/>
        </p:spPr>
        <p:txBody>
          <a:bodyPr wrap="square" lIns="0" tIns="0" rIns="0" bIns="0" rtlCol="0" anchor="ctr"/>
          <a:lstStyle/>
          <a:p>
            <a:pPr marL="0" indent="0">
              <a:lnSpc>
                <a:spcPct val="110000"/>
              </a:lnSpc>
              <a:buNone/>
            </a:pPr>
            <a:r>
              <a:rPr lang="en-US" sz="950" dirty="0">
                <a:solidFill>
                  <a:srgbClr val="8C97AC"/>
                </a:solidFill>
                <a:latin typeface="Arial" pitchFamily="34" charset="0"/>
                <a:ea typeface="Arial" pitchFamily="34" charset="-122"/>
                <a:cs typeface="Arial" pitchFamily="34" charset="-120"/>
              </a:rPr>
              <a:t>Someone gets paged for repeated 403s from one user</a:t>
            </a:r>
            <a:endParaRPr lang="en-US" sz="950" dirty="0"/>
          </a:p>
        </p:txBody>
      </p:sp>
      <p:sp>
        <p:nvSpPr>
          <p:cNvPr id="53" name="Text 51"/>
          <p:cNvSpPr txBox="1"/>
          <p:nvPr/>
        </p:nvSpPr>
        <p:spPr>
          <a:xfrm>
            <a:off x="548640" y="5806440"/>
            <a:ext cx="11091672" cy="365760"/>
          </a:xfrm>
          <a:prstGeom prst="rect">
            <a:avLst/>
          </a:prstGeom>
          <a:noFill/>
          <a:ln/>
        </p:spPr>
        <p:txBody>
          <a:bodyPr wrap="square" lIns="0" tIns="0" rIns="0" bIns="0" rtlCol="0" anchor="ctr"/>
          <a:lstStyle/>
          <a:p>
            <a:pPr marL="0" indent="0" algn="ctr">
              <a:buNone/>
            </a:pPr>
            <a:r>
              <a:rPr lang="en-US" sz="1400" b="1" i="1" dirty="0">
                <a:solidFill>
                  <a:srgbClr val="C9B6FF"/>
                </a:solidFill>
                <a:latin typeface="Arial" pitchFamily="34" charset="0"/>
                <a:ea typeface="Arial" pitchFamily="34" charset="-122"/>
                <a:cs typeface="Arial" pitchFamily="34" charset="-120"/>
              </a:rPr>
              <a:t>Pick the three you don’t have. Not all twelve. Three.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THE CHECKLIST</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200" b="1" dirty="0">
                <a:solidFill>
                  <a:srgbClr val="E9EEF7"/>
                </a:solidFill>
                <a:latin typeface="Arial" pitchFamily="34" charset="0"/>
                <a:ea typeface="Arial" pitchFamily="34" charset="-122"/>
                <a:cs typeface="Arial" pitchFamily="34" charset="-120"/>
              </a:rPr>
              <a:t>What Good Looks Like In C#</a:t>
            </a:r>
            <a:endParaRPr lang="en-US" sz="3200" dirty="0"/>
          </a:p>
        </p:txBody>
      </p:sp>
      <p:sp>
        <p:nvSpPr>
          <p:cNvPr id="4" name="Shape 2"/>
          <p:cNvSpPr/>
          <p:nvPr/>
        </p:nvSpPr>
        <p:spPr>
          <a:xfrm>
            <a:off x="548640" y="1783080"/>
            <a:ext cx="3685032" cy="1828800"/>
          </a:xfrm>
          <a:prstGeom prst="roundRect">
            <a:avLst>
              <a:gd name="adj" fmla="val 4000"/>
            </a:avLst>
          </a:prstGeom>
          <a:solidFill>
            <a:srgbClr val="141A26"/>
          </a:solidFill>
          <a:ln w="12700">
            <a:solidFill>
              <a:srgbClr val="4CC9F0"/>
            </a:solidFill>
            <a:prstDash val="solid"/>
          </a:ln>
        </p:spPr>
        <p:txBody>
          <a:bodyPr/>
          <a:lstStyle/>
          <a:p>
            <a:endParaRPr lang="en-NP"/>
          </a:p>
        </p:txBody>
      </p:sp>
      <p:sp>
        <p:nvSpPr>
          <p:cNvPr id="5" name="Text 3"/>
          <p:cNvSpPr txBox="1"/>
          <p:nvPr/>
        </p:nvSpPr>
        <p:spPr>
          <a:xfrm>
            <a:off x="777240" y="1947672"/>
            <a:ext cx="3200400" cy="256032"/>
          </a:xfrm>
          <a:prstGeom prst="rect">
            <a:avLst/>
          </a:prstGeom>
          <a:noFill/>
          <a:ln/>
        </p:spPr>
        <p:txBody>
          <a:bodyPr wrap="square" lIns="0" tIns="0" rIns="0" bIns="0" rtlCol="0" anchor="ctr"/>
          <a:lstStyle/>
          <a:p>
            <a:pPr marL="0" indent="0">
              <a:buNone/>
            </a:pPr>
            <a:r>
              <a:rPr lang="en-US" sz="1100" b="1" kern="0" spc="160" dirty="0">
                <a:solidFill>
                  <a:srgbClr val="4CC9F0"/>
                </a:solidFill>
                <a:latin typeface="Arial" pitchFamily="34" charset="0"/>
                <a:ea typeface="Arial" pitchFamily="34" charset="-122"/>
                <a:cs typeface="Arial" pitchFamily="34" charset="-120"/>
              </a:rPr>
              <a:t>AUTHENTICATION</a:t>
            </a:r>
            <a:endParaRPr lang="en-US" sz="1100" dirty="0"/>
          </a:p>
        </p:txBody>
      </p:sp>
      <p:sp>
        <p:nvSpPr>
          <p:cNvPr id="6" name="Shape 4"/>
          <p:cNvSpPr/>
          <p:nvPr/>
        </p:nvSpPr>
        <p:spPr>
          <a:xfrm>
            <a:off x="795528" y="2414016"/>
            <a:ext cx="91440" cy="91440"/>
          </a:xfrm>
          <a:prstGeom prst="ellipse">
            <a:avLst/>
          </a:prstGeom>
          <a:solidFill>
            <a:srgbClr val="4CC9F0"/>
          </a:solidFill>
          <a:ln w="12700">
            <a:solidFill>
              <a:srgbClr val="4CC9F0"/>
            </a:solidFill>
            <a:prstDash val="solid"/>
          </a:ln>
        </p:spPr>
        <p:txBody>
          <a:bodyPr/>
          <a:lstStyle/>
          <a:p>
            <a:endParaRPr lang="en-NP"/>
          </a:p>
        </p:txBody>
      </p:sp>
      <p:sp>
        <p:nvSpPr>
          <p:cNvPr id="7" name="Text 5"/>
          <p:cNvSpPr txBox="1"/>
          <p:nvPr/>
        </p:nvSpPr>
        <p:spPr>
          <a:xfrm>
            <a:off x="1051560" y="2258983"/>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Use ASP.NET Core Identity or an IdP</a:t>
            </a:r>
            <a:endParaRPr lang="en-US" sz="1100" dirty="0"/>
          </a:p>
        </p:txBody>
      </p:sp>
      <p:sp>
        <p:nvSpPr>
          <p:cNvPr id="8" name="Shape 6"/>
          <p:cNvSpPr/>
          <p:nvPr/>
        </p:nvSpPr>
        <p:spPr>
          <a:xfrm>
            <a:off x="795528" y="2843784"/>
            <a:ext cx="91440" cy="91440"/>
          </a:xfrm>
          <a:prstGeom prst="ellipse">
            <a:avLst/>
          </a:prstGeom>
          <a:solidFill>
            <a:srgbClr val="4CC9F0"/>
          </a:solidFill>
          <a:ln w="12700">
            <a:solidFill>
              <a:srgbClr val="4CC9F0"/>
            </a:solidFill>
            <a:prstDash val="solid"/>
          </a:ln>
        </p:spPr>
        <p:txBody>
          <a:bodyPr/>
          <a:lstStyle/>
          <a:p>
            <a:endParaRPr lang="en-NP"/>
          </a:p>
        </p:txBody>
      </p:sp>
      <p:sp>
        <p:nvSpPr>
          <p:cNvPr id="9" name="Text 7"/>
          <p:cNvSpPr txBox="1"/>
          <p:nvPr/>
        </p:nvSpPr>
        <p:spPr>
          <a:xfrm>
            <a:off x="1051560" y="2678360"/>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Short-lived tokens, real rotation</a:t>
            </a:r>
            <a:endParaRPr lang="en-US" sz="1100" dirty="0"/>
          </a:p>
        </p:txBody>
      </p:sp>
      <p:sp>
        <p:nvSpPr>
          <p:cNvPr id="10" name="Shape 8"/>
          <p:cNvSpPr/>
          <p:nvPr/>
        </p:nvSpPr>
        <p:spPr>
          <a:xfrm>
            <a:off x="795528" y="3273552"/>
            <a:ext cx="91440" cy="91440"/>
          </a:xfrm>
          <a:prstGeom prst="ellipse">
            <a:avLst/>
          </a:prstGeom>
          <a:solidFill>
            <a:srgbClr val="4CC9F0"/>
          </a:solidFill>
          <a:ln w="12700">
            <a:solidFill>
              <a:srgbClr val="4CC9F0"/>
            </a:solidFill>
            <a:prstDash val="solid"/>
          </a:ln>
        </p:spPr>
        <p:txBody>
          <a:bodyPr/>
          <a:lstStyle/>
          <a:p>
            <a:endParaRPr lang="en-NP"/>
          </a:p>
        </p:txBody>
      </p:sp>
      <p:sp>
        <p:nvSpPr>
          <p:cNvPr id="11" name="Text 9"/>
          <p:cNvSpPr txBox="1"/>
          <p:nvPr/>
        </p:nvSpPr>
        <p:spPr>
          <a:xfrm>
            <a:off x="1051560" y="3108128"/>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MFA on anything privileged</a:t>
            </a:r>
            <a:endParaRPr lang="en-US" sz="1100" dirty="0"/>
          </a:p>
        </p:txBody>
      </p:sp>
      <p:sp>
        <p:nvSpPr>
          <p:cNvPr id="12" name="Shape 10"/>
          <p:cNvSpPr/>
          <p:nvPr/>
        </p:nvSpPr>
        <p:spPr>
          <a:xfrm>
            <a:off x="4251960" y="1783080"/>
            <a:ext cx="3685032" cy="1828800"/>
          </a:xfrm>
          <a:prstGeom prst="roundRect">
            <a:avLst>
              <a:gd name="adj" fmla="val 4000"/>
            </a:avLst>
          </a:prstGeom>
          <a:solidFill>
            <a:srgbClr val="141A26"/>
          </a:solidFill>
          <a:ln w="12700">
            <a:solidFill>
              <a:srgbClr val="FF6B5E"/>
            </a:solidFill>
            <a:prstDash val="solid"/>
          </a:ln>
        </p:spPr>
        <p:txBody>
          <a:bodyPr/>
          <a:lstStyle/>
          <a:p>
            <a:endParaRPr lang="en-NP"/>
          </a:p>
        </p:txBody>
      </p:sp>
      <p:sp>
        <p:nvSpPr>
          <p:cNvPr id="13" name="Text 11"/>
          <p:cNvSpPr txBox="1"/>
          <p:nvPr/>
        </p:nvSpPr>
        <p:spPr>
          <a:xfrm>
            <a:off x="4480560" y="1947672"/>
            <a:ext cx="3200400" cy="256032"/>
          </a:xfrm>
          <a:prstGeom prst="rect">
            <a:avLst/>
          </a:prstGeom>
          <a:noFill/>
          <a:ln/>
        </p:spPr>
        <p:txBody>
          <a:bodyPr wrap="square" lIns="0" tIns="0" rIns="0" bIns="0" rtlCol="0" anchor="ctr"/>
          <a:lstStyle/>
          <a:p>
            <a:pPr marL="0" indent="0">
              <a:buNone/>
            </a:pPr>
            <a:r>
              <a:rPr lang="en-US" sz="1100" b="1" kern="0" spc="160" dirty="0">
                <a:solidFill>
                  <a:srgbClr val="FF6B5E"/>
                </a:solidFill>
                <a:latin typeface="Arial" pitchFamily="34" charset="0"/>
                <a:ea typeface="Arial" pitchFamily="34" charset="-122"/>
                <a:cs typeface="Arial" pitchFamily="34" charset="-120"/>
              </a:rPr>
              <a:t>AUTHORIZATION</a:t>
            </a:r>
            <a:endParaRPr lang="en-US" sz="1100" dirty="0"/>
          </a:p>
        </p:txBody>
      </p:sp>
      <p:sp>
        <p:nvSpPr>
          <p:cNvPr id="14" name="Shape 12"/>
          <p:cNvSpPr/>
          <p:nvPr/>
        </p:nvSpPr>
        <p:spPr>
          <a:xfrm>
            <a:off x="4498848" y="2414016"/>
            <a:ext cx="91440" cy="91440"/>
          </a:xfrm>
          <a:prstGeom prst="ellipse">
            <a:avLst/>
          </a:prstGeom>
          <a:solidFill>
            <a:srgbClr val="FF6B5E"/>
          </a:solidFill>
          <a:ln w="12700">
            <a:solidFill>
              <a:srgbClr val="FF6B5E"/>
            </a:solidFill>
            <a:prstDash val="solid"/>
          </a:ln>
        </p:spPr>
        <p:txBody>
          <a:bodyPr/>
          <a:lstStyle/>
          <a:p>
            <a:endParaRPr lang="en-NP"/>
          </a:p>
        </p:txBody>
      </p:sp>
      <p:sp>
        <p:nvSpPr>
          <p:cNvPr id="15" name="Text 13"/>
          <p:cNvSpPr txBox="1"/>
          <p:nvPr/>
        </p:nvSpPr>
        <p:spPr>
          <a:xfrm>
            <a:off x="4754880" y="2238201"/>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Policy-based, not scattered if-statements</a:t>
            </a:r>
            <a:endParaRPr lang="en-US" sz="1100" dirty="0"/>
          </a:p>
        </p:txBody>
      </p:sp>
      <p:sp>
        <p:nvSpPr>
          <p:cNvPr id="16" name="Shape 14"/>
          <p:cNvSpPr/>
          <p:nvPr/>
        </p:nvSpPr>
        <p:spPr>
          <a:xfrm>
            <a:off x="4498848" y="2843784"/>
            <a:ext cx="91440" cy="91440"/>
          </a:xfrm>
          <a:prstGeom prst="ellipse">
            <a:avLst/>
          </a:prstGeom>
          <a:solidFill>
            <a:srgbClr val="FF6B5E"/>
          </a:solidFill>
          <a:ln w="12700">
            <a:solidFill>
              <a:srgbClr val="FF6B5E"/>
            </a:solidFill>
            <a:prstDash val="solid"/>
          </a:ln>
        </p:spPr>
        <p:txBody>
          <a:bodyPr/>
          <a:lstStyle/>
          <a:p>
            <a:endParaRPr lang="en-NP"/>
          </a:p>
        </p:txBody>
      </p:sp>
      <p:sp>
        <p:nvSpPr>
          <p:cNvPr id="17" name="Text 15"/>
          <p:cNvSpPr txBox="1"/>
          <p:nvPr/>
        </p:nvSpPr>
        <p:spPr>
          <a:xfrm>
            <a:off x="4754880" y="2657578"/>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Resource-based checks on every object</a:t>
            </a:r>
            <a:endParaRPr lang="en-US" sz="1100" dirty="0"/>
          </a:p>
        </p:txBody>
      </p:sp>
      <p:sp>
        <p:nvSpPr>
          <p:cNvPr id="18" name="Shape 16"/>
          <p:cNvSpPr/>
          <p:nvPr/>
        </p:nvSpPr>
        <p:spPr>
          <a:xfrm>
            <a:off x="4498848" y="3273552"/>
            <a:ext cx="91440" cy="91440"/>
          </a:xfrm>
          <a:prstGeom prst="ellipse">
            <a:avLst/>
          </a:prstGeom>
          <a:solidFill>
            <a:srgbClr val="FF6B5E"/>
          </a:solidFill>
          <a:ln w="12700">
            <a:solidFill>
              <a:srgbClr val="FF6B5E"/>
            </a:solidFill>
            <a:prstDash val="solid"/>
          </a:ln>
        </p:spPr>
        <p:txBody>
          <a:bodyPr/>
          <a:lstStyle/>
          <a:p>
            <a:endParaRPr lang="en-NP"/>
          </a:p>
        </p:txBody>
      </p:sp>
      <p:sp>
        <p:nvSpPr>
          <p:cNvPr id="19" name="Text 17"/>
          <p:cNvSpPr txBox="1"/>
          <p:nvPr/>
        </p:nvSpPr>
        <p:spPr>
          <a:xfrm>
            <a:off x="4754880" y="3108128"/>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Least privilege, always</a:t>
            </a:r>
            <a:endParaRPr lang="en-US" sz="1100" dirty="0"/>
          </a:p>
        </p:txBody>
      </p:sp>
      <p:sp>
        <p:nvSpPr>
          <p:cNvPr id="20" name="Shape 18"/>
          <p:cNvSpPr/>
          <p:nvPr/>
        </p:nvSpPr>
        <p:spPr>
          <a:xfrm>
            <a:off x="7955280" y="1783080"/>
            <a:ext cx="3685032" cy="1828800"/>
          </a:xfrm>
          <a:prstGeom prst="roundRect">
            <a:avLst>
              <a:gd name="adj" fmla="val 4000"/>
            </a:avLst>
          </a:prstGeom>
          <a:solidFill>
            <a:srgbClr val="141A26"/>
          </a:solidFill>
          <a:ln w="12700">
            <a:solidFill>
              <a:srgbClr val="FFA33A"/>
            </a:solidFill>
            <a:prstDash val="solid"/>
          </a:ln>
        </p:spPr>
        <p:txBody>
          <a:bodyPr/>
          <a:lstStyle/>
          <a:p>
            <a:endParaRPr lang="en-NP"/>
          </a:p>
        </p:txBody>
      </p:sp>
      <p:sp>
        <p:nvSpPr>
          <p:cNvPr id="21" name="Text 19"/>
          <p:cNvSpPr txBox="1"/>
          <p:nvPr/>
        </p:nvSpPr>
        <p:spPr>
          <a:xfrm>
            <a:off x="8183880" y="1947672"/>
            <a:ext cx="3200400" cy="256032"/>
          </a:xfrm>
          <a:prstGeom prst="rect">
            <a:avLst/>
          </a:prstGeom>
          <a:noFill/>
          <a:ln/>
        </p:spPr>
        <p:txBody>
          <a:bodyPr wrap="square" lIns="0" tIns="0" rIns="0" bIns="0" rtlCol="0" anchor="ctr"/>
          <a:lstStyle/>
          <a:p>
            <a:pPr marL="0" indent="0">
              <a:buNone/>
            </a:pPr>
            <a:r>
              <a:rPr lang="en-US" sz="1100" b="1" kern="0" spc="160" dirty="0">
                <a:solidFill>
                  <a:srgbClr val="FFA33A"/>
                </a:solidFill>
                <a:latin typeface="Arial" pitchFamily="34" charset="0"/>
                <a:ea typeface="Arial" pitchFamily="34" charset="-122"/>
                <a:cs typeface="Arial" pitchFamily="34" charset="-120"/>
              </a:rPr>
              <a:t>INPUT</a:t>
            </a:r>
            <a:endParaRPr lang="en-US" sz="1100" dirty="0"/>
          </a:p>
        </p:txBody>
      </p:sp>
      <p:sp>
        <p:nvSpPr>
          <p:cNvPr id="22" name="Shape 20"/>
          <p:cNvSpPr/>
          <p:nvPr/>
        </p:nvSpPr>
        <p:spPr>
          <a:xfrm>
            <a:off x="8202168" y="2414016"/>
            <a:ext cx="91440" cy="91440"/>
          </a:xfrm>
          <a:prstGeom prst="ellipse">
            <a:avLst/>
          </a:prstGeom>
          <a:solidFill>
            <a:srgbClr val="FFA33A"/>
          </a:solidFill>
          <a:ln w="12700">
            <a:solidFill>
              <a:srgbClr val="FFA33A"/>
            </a:solidFill>
            <a:prstDash val="solid"/>
          </a:ln>
        </p:spPr>
        <p:txBody>
          <a:bodyPr/>
          <a:lstStyle/>
          <a:p>
            <a:endParaRPr lang="en-NP"/>
          </a:p>
        </p:txBody>
      </p:sp>
      <p:sp>
        <p:nvSpPr>
          <p:cNvPr id="23" name="Text 21"/>
          <p:cNvSpPr txBox="1"/>
          <p:nvPr/>
        </p:nvSpPr>
        <p:spPr>
          <a:xfrm>
            <a:off x="8458200" y="2248592"/>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Validate at the boundary, model binding aside</a:t>
            </a:r>
            <a:endParaRPr lang="en-US" sz="1100" dirty="0"/>
          </a:p>
        </p:txBody>
      </p:sp>
      <p:sp>
        <p:nvSpPr>
          <p:cNvPr id="24" name="Shape 22"/>
          <p:cNvSpPr/>
          <p:nvPr/>
        </p:nvSpPr>
        <p:spPr>
          <a:xfrm>
            <a:off x="8202168" y="2843784"/>
            <a:ext cx="91440" cy="91440"/>
          </a:xfrm>
          <a:prstGeom prst="ellipse">
            <a:avLst/>
          </a:prstGeom>
          <a:solidFill>
            <a:srgbClr val="FFA33A"/>
          </a:solidFill>
          <a:ln w="12700">
            <a:solidFill>
              <a:srgbClr val="FFA33A"/>
            </a:solidFill>
            <a:prstDash val="solid"/>
          </a:ln>
        </p:spPr>
        <p:txBody>
          <a:bodyPr/>
          <a:lstStyle/>
          <a:p>
            <a:endParaRPr lang="en-NP"/>
          </a:p>
        </p:txBody>
      </p:sp>
      <p:sp>
        <p:nvSpPr>
          <p:cNvPr id="25" name="Text 23"/>
          <p:cNvSpPr txBox="1"/>
          <p:nvPr/>
        </p:nvSpPr>
        <p:spPr>
          <a:xfrm>
            <a:off x="8458200" y="2678360"/>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Parameterised queries — no string concat</a:t>
            </a:r>
            <a:endParaRPr lang="en-US" sz="1100" dirty="0"/>
          </a:p>
        </p:txBody>
      </p:sp>
      <p:sp>
        <p:nvSpPr>
          <p:cNvPr id="26" name="Shape 24"/>
          <p:cNvSpPr/>
          <p:nvPr/>
        </p:nvSpPr>
        <p:spPr>
          <a:xfrm>
            <a:off x="8202168" y="3273552"/>
            <a:ext cx="91440" cy="91440"/>
          </a:xfrm>
          <a:prstGeom prst="ellipse">
            <a:avLst/>
          </a:prstGeom>
          <a:solidFill>
            <a:srgbClr val="FFA33A"/>
          </a:solidFill>
          <a:ln w="12700">
            <a:solidFill>
              <a:srgbClr val="FFA33A"/>
            </a:solidFill>
            <a:prstDash val="solid"/>
          </a:ln>
        </p:spPr>
        <p:txBody>
          <a:bodyPr/>
          <a:lstStyle/>
          <a:p>
            <a:endParaRPr lang="en-NP"/>
          </a:p>
        </p:txBody>
      </p:sp>
      <p:sp>
        <p:nvSpPr>
          <p:cNvPr id="27" name="Text 25"/>
          <p:cNvSpPr txBox="1"/>
          <p:nvPr/>
        </p:nvSpPr>
        <p:spPr>
          <a:xfrm>
            <a:off x="8458200" y="3108128"/>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Allow-lists beat deny-lists</a:t>
            </a:r>
            <a:endParaRPr lang="en-US" sz="1100" dirty="0"/>
          </a:p>
        </p:txBody>
      </p:sp>
      <p:sp>
        <p:nvSpPr>
          <p:cNvPr id="28" name="Shape 26"/>
          <p:cNvSpPr/>
          <p:nvPr/>
        </p:nvSpPr>
        <p:spPr>
          <a:xfrm>
            <a:off x="548640" y="3794760"/>
            <a:ext cx="3685032" cy="1828800"/>
          </a:xfrm>
          <a:prstGeom prst="roundRect">
            <a:avLst>
              <a:gd name="adj" fmla="val 4000"/>
            </a:avLst>
          </a:prstGeom>
          <a:solidFill>
            <a:srgbClr val="141A26"/>
          </a:solidFill>
          <a:ln w="12700">
            <a:solidFill>
              <a:srgbClr val="FFC15E"/>
            </a:solidFill>
            <a:prstDash val="solid"/>
          </a:ln>
        </p:spPr>
        <p:txBody>
          <a:bodyPr/>
          <a:lstStyle/>
          <a:p>
            <a:endParaRPr lang="en-NP"/>
          </a:p>
        </p:txBody>
      </p:sp>
      <p:sp>
        <p:nvSpPr>
          <p:cNvPr id="29" name="Text 27"/>
          <p:cNvSpPr txBox="1"/>
          <p:nvPr/>
        </p:nvSpPr>
        <p:spPr>
          <a:xfrm>
            <a:off x="777240" y="3959352"/>
            <a:ext cx="3200400" cy="256032"/>
          </a:xfrm>
          <a:prstGeom prst="rect">
            <a:avLst/>
          </a:prstGeom>
          <a:noFill/>
          <a:ln/>
        </p:spPr>
        <p:txBody>
          <a:bodyPr wrap="square" lIns="0" tIns="0" rIns="0" bIns="0" rtlCol="0" anchor="ctr"/>
          <a:lstStyle/>
          <a:p>
            <a:pPr marL="0" indent="0">
              <a:buNone/>
            </a:pPr>
            <a:r>
              <a:rPr lang="en-US" sz="1100" b="1" kern="0" spc="160" dirty="0">
                <a:solidFill>
                  <a:srgbClr val="FFC15E"/>
                </a:solidFill>
                <a:latin typeface="Arial" pitchFamily="34" charset="0"/>
                <a:ea typeface="Arial" pitchFamily="34" charset="-122"/>
                <a:cs typeface="Arial" pitchFamily="34" charset="-120"/>
              </a:rPr>
              <a:t>OUTPUT</a:t>
            </a:r>
            <a:endParaRPr lang="en-US" sz="1100" dirty="0"/>
          </a:p>
        </p:txBody>
      </p:sp>
      <p:sp>
        <p:nvSpPr>
          <p:cNvPr id="30" name="Shape 28"/>
          <p:cNvSpPr/>
          <p:nvPr/>
        </p:nvSpPr>
        <p:spPr>
          <a:xfrm>
            <a:off x="795528" y="4425696"/>
            <a:ext cx="91440" cy="91440"/>
          </a:xfrm>
          <a:prstGeom prst="ellipse">
            <a:avLst/>
          </a:prstGeom>
          <a:solidFill>
            <a:srgbClr val="FFC15E"/>
          </a:solidFill>
          <a:ln w="12700">
            <a:solidFill>
              <a:srgbClr val="FFC15E"/>
            </a:solidFill>
            <a:prstDash val="solid"/>
          </a:ln>
        </p:spPr>
        <p:txBody>
          <a:bodyPr/>
          <a:lstStyle/>
          <a:p>
            <a:endParaRPr lang="en-NP"/>
          </a:p>
        </p:txBody>
      </p:sp>
      <p:sp>
        <p:nvSpPr>
          <p:cNvPr id="31" name="Text 29"/>
          <p:cNvSpPr txBox="1"/>
          <p:nvPr/>
        </p:nvSpPr>
        <p:spPr>
          <a:xfrm>
            <a:off x="1051560" y="4270663"/>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Context-aware encoding in Razor / SPA</a:t>
            </a:r>
            <a:endParaRPr lang="en-US" sz="1100" dirty="0"/>
          </a:p>
        </p:txBody>
      </p:sp>
      <p:sp>
        <p:nvSpPr>
          <p:cNvPr id="32" name="Shape 30"/>
          <p:cNvSpPr/>
          <p:nvPr/>
        </p:nvSpPr>
        <p:spPr>
          <a:xfrm>
            <a:off x="795528" y="4855464"/>
            <a:ext cx="91440" cy="91440"/>
          </a:xfrm>
          <a:prstGeom prst="ellipse">
            <a:avLst/>
          </a:prstGeom>
          <a:solidFill>
            <a:srgbClr val="FFC15E"/>
          </a:solidFill>
          <a:ln w="12700">
            <a:solidFill>
              <a:srgbClr val="FFC15E"/>
            </a:solidFill>
            <a:prstDash val="solid"/>
          </a:ln>
        </p:spPr>
        <p:txBody>
          <a:bodyPr/>
          <a:lstStyle/>
          <a:p>
            <a:endParaRPr lang="en-NP"/>
          </a:p>
        </p:txBody>
      </p:sp>
      <p:sp>
        <p:nvSpPr>
          <p:cNvPr id="33" name="Text 31"/>
          <p:cNvSpPr txBox="1"/>
          <p:nvPr/>
        </p:nvSpPr>
        <p:spPr>
          <a:xfrm>
            <a:off x="1051560" y="4690040"/>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DTOs, never raw entities</a:t>
            </a:r>
            <a:endParaRPr lang="en-US" sz="1100" dirty="0"/>
          </a:p>
        </p:txBody>
      </p:sp>
      <p:sp>
        <p:nvSpPr>
          <p:cNvPr id="34" name="Shape 32"/>
          <p:cNvSpPr/>
          <p:nvPr/>
        </p:nvSpPr>
        <p:spPr>
          <a:xfrm>
            <a:off x="795528" y="5285232"/>
            <a:ext cx="91440" cy="91440"/>
          </a:xfrm>
          <a:prstGeom prst="ellipse">
            <a:avLst/>
          </a:prstGeom>
          <a:solidFill>
            <a:srgbClr val="FFC15E"/>
          </a:solidFill>
          <a:ln w="12700">
            <a:solidFill>
              <a:srgbClr val="FFC15E"/>
            </a:solidFill>
            <a:prstDash val="solid"/>
          </a:ln>
        </p:spPr>
        <p:txBody>
          <a:bodyPr/>
          <a:lstStyle/>
          <a:p>
            <a:endParaRPr lang="en-NP"/>
          </a:p>
        </p:txBody>
      </p:sp>
      <p:sp>
        <p:nvSpPr>
          <p:cNvPr id="35" name="Text 33"/>
          <p:cNvSpPr txBox="1"/>
          <p:nvPr/>
        </p:nvSpPr>
        <p:spPr>
          <a:xfrm>
            <a:off x="1051560" y="5119808"/>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No stack traces in production</a:t>
            </a:r>
            <a:endParaRPr lang="en-US" sz="1100" dirty="0"/>
          </a:p>
        </p:txBody>
      </p:sp>
      <p:sp>
        <p:nvSpPr>
          <p:cNvPr id="36" name="Shape 34"/>
          <p:cNvSpPr/>
          <p:nvPr/>
        </p:nvSpPr>
        <p:spPr>
          <a:xfrm>
            <a:off x="4251960" y="3794760"/>
            <a:ext cx="3685032" cy="1828800"/>
          </a:xfrm>
          <a:prstGeom prst="roundRect">
            <a:avLst>
              <a:gd name="adj" fmla="val 4000"/>
            </a:avLst>
          </a:prstGeom>
          <a:solidFill>
            <a:srgbClr val="141A26"/>
          </a:solidFill>
          <a:ln w="12700">
            <a:solidFill>
              <a:srgbClr val="9A6BFF"/>
            </a:solidFill>
            <a:prstDash val="solid"/>
          </a:ln>
        </p:spPr>
        <p:txBody>
          <a:bodyPr/>
          <a:lstStyle/>
          <a:p>
            <a:endParaRPr lang="en-NP"/>
          </a:p>
        </p:txBody>
      </p:sp>
      <p:sp>
        <p:nvSpPr>
          <p:cNvPr id="37" name="Text 35"/>
          <p:cNvSpPr txBox="1"/>
          <p:nvPr/>
        </p:nvSpPr>
        <p:spPr>
          <a:xfrm>
            <a:off x="4480560" y="3959352"/>
            <a:ext cx="3200400" cy="256032"/>
          </a:xfrm>
          <a:prstGeom prst="rect">
            <a:avLst/>
          </a:prstGeom>
          <a:noFill/>
          <a:ln/>
        </p:spPr>
        <p:txBody>
          <a:bodyPr wrap="square" lIns="0" tIns="0" rIns="0" bIns="0" rtlCol="0" anchor="ctr"/>
          <a:lstStyle/>
          <a:p>
            <a:pPr marL="0" indent="0">
              <a:buNone/>
            </a:pPr>
            <a:r>
              <a:rPr lang="en-US" sz="1100" b="1" kern="0" spc="160" dirty="0">
                <a:solidFill>
                  <a:srgbClr val="9A6BFF"/>
                </a:solidFill>
                <a:latin typeface="Arial" pitchFamily="34" charset="0"/>
                <a:ea typeface="Arial" pitchFamily="34" charset="-122"/>
                <a:cs typeface="Arial" pitchFamily="34" charset="-120"/>
              </a:rPr>
              <a:t>DATA &amp; SECRETS</a:t>
            </a:r>
            <a:endParaRPr lang="en-US" sz="1100" dirty="0"/>
          </a:p>
        </p:txBody>
      </p:sp>
      <p:sp>
        <p:nvSpPr>
          <p:cNvPr id="38" name="Shape 36"/>
          <p:cNvSpPr/>
          <p:nvPr/>
        </p:nvSpPr>
        <p:spPr>
          <a:xfrm>
            <a:off x="4498848" y="4425696"/>
            <a:ext cx="91440" cy="91440"/>
          </a:xfrm>
          <a:prstGeom prst="ellipse">
            <a:avLst/>
          </a:prstGeom>
          <a:solidFill>
            <a:srgbClr val="9A6BFF"/>
          </a:solidFill>
          <a:ln w="12700">
            <a:solidFill>
              <a:srgbClr val="9A6BFF"/>
            </a:solidFill>
            <a:prstDash val="solid"/>
          </a:ln>
        </p:spPr>
        <p:txBody>
          <a:bodyPr/>
          <a:lstStyle/>
          <a:p>
            <a:endParaRPr lang="en-NP"/>
          </a:p>
        </p:txBody>
      </p:sp>
      <p:sp>
        <p:nvSpPr>
          <p:cNvPr id="39" name="Text 37"/>
          <p:cNvSpPr txBox="1"/>
          <p:nvPr/>
        </p:nvSpPr>
        <p:spPr>
          <a:xfrm>
            <a:off x="4754880" y="4260272"/>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Encrypt sensitive data at rest and in transit</a:t>
            </a:r>
            <a:endParaRPr lang="en-US" sz="1100" dirty="0"/>
          </a:p>
        </p:txBody>
      </p:sp>
      <p:sp>
        <p:nvSpPr>
          <p:cNvPr id="40" name="Shape 38"/>
          <p:cNvSpPr/>
          <p:nvPr/>
        </p:nvSpPr>
        <p:spPr>
          <a:xfrm>
            <a:off x="4498848" y="4855464"/>
            <a:ext cx="91440" cy="91440"/>
          </a:xfrm>
          <a:prstGeom prst="ellipse">
            <a:avLst/>
          </a:prstGeom>
          <a:solidFill>
            <a:srgbClr val="9A6BFF"/>
          </a:solidFill>
          <a:ln w="12700">
            <a:solidFill>
              <a:srgbClr val="9A6BFF"/>
            </a:solidFill>
            <a:prstDash val="solid"/>
          </a:ln>
        </p:spPr>
        <p:txBody>
          <a:bodyPr/>
          <a:lstStyle/>
          <a:p>
            <a:endParaRPr lang="en-NP"/>
          </a:p>
        </p:txBody>
      </p:sp>
      <p:sp>
        <p:nvSpPr>
          <p:cNvPr id="41" name="Text 39"/>
          <p:cNvSpPr txBox="1"/>
          <p:nvPr/>
        </p:nvSpPr>
        <p:spPr>
          <a:xfrm>
            <a:off x="4754880" y="4679649"/>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Key Vault or managed identity, not config</a:t>
            </a:r>
            <a:endParaRPr lang="en-US" sz="1100" dirty="0"/>
          </a:p>
        </p:txBody>
      </p:sp>
      <p:sp>
        <p:nvSpPr>
          <p:cNvPr id="42" name="Shape 40"/>
          <p:cNvSpPr/>
          <p:nvPr/>
        </p:nvSpPr>
        <p:spPr>
          <a:xfrm>
            <a:off x="4498848" y="5285232"/>
            <a:ext cx="91440" cy="91440"/>
          </a:xfrm>
          <a:prstGeom prst="ellipse">
            <a:avLst/>
          </a:prstGeom>
          <a:solidFill>
            <a:srgbClr val="9A6BFF"/>
          </a:solidFill>
          <a:ln w="12700">
            <a:solidFill>
              <a:srgbClr val="9A6BFF"/>
            </a:solidFill>
            <a:prstDash val="solid"/>
          </a:ln>
        </p:spPr>
        <p:txBody>
          <a:bodyPr/>
          <a:lstStyle/>
          <a:p>
            <a:endParaRPr lang="en-NP"/>
          </a:p>
        </p:txBody>
      </p:sp>
      <p:sp>
        <p:nvSpPr>
          <p:cNvPr id="43" name="Text 41"/>
          <p:cNvSpPr txBox="1"/>
          <p:nvPr/>
        </p:nvSpPr>
        <p:spPr>
          <a:xfrm>
            <a:off x="4754880" y="5130199"/>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Never log tokens, PII, or payloads</a:t>
            </a:r>
            <a:endParaRPr lang="en-US" sz="1100" dirty="0"/>
          </a:p>
        </p:txBody>
      </p:sp>
      <p:sp>
        <p:nvSpPr>
          <p:cNvPr id="44" name="Shape 42"/>
          <p:cNvSpPr/>
          <p:nvPr/>
        </p:nvSpPr>
        <p:spPr>
          <a:xfrm>
            <a:off x="7955280" y="3794760"/>
            <a:ext cx="3685032" cy="1828800"/>
          </a:xfrm>
          <a:prstGeom prst="roundRect">
            <a:avLst>
              <a:gd name="adj" fmla="val 4000"/>
            </a:avLst>
          </a:prstGeom>
          <a:solidFill>
            <a:srgbClr val="141A26"/>
          </a:solidFill>
          <a:ln w="12700">
            <a:solidFill>
              <a:srgbClr val="4FD68A"/>
            </a:solidFill>
            <a:prstDash val="solid"/>
          </a:ln>
        </p:spPr>
        <p:txBody>
          <a:bodyPr/>
          <a:lstStyle/>
          <a:p>
            <a:endParaRPr lang="en-NP"/>
          </a:p>
        </p:txBody>
      </p:sp>
      <p:sp>
        <p:nvSpPr>
          <p:cNvPr id="45" name="Text 43"/>
          <p:cNvSpPr txBox="1"/>
          <p:nvPr/>
        </p:nvSpPr>
        <p:spPr>
          <a:xfrm>
            <a:off x="8183880" y="3959352"/>
            <a:ext cx="3200400" cy="256032"/>
          </a:xfrm>
          <a:prstGeom prst="rect">
            <a:avLst/>
          </a:prstGeom>
          <a:noFill/>
          <a:ln/>
        </p:spPr>
        <p:txBody>
          <a:bodyPr wrap="square" lIns="0" tIns="0" rIns="0" bIns="0" rtlCol="0" anchor="ctr"/>
          <a:lstStyle/>
          <a:p>
            <a:pPr marL="0" indent="0">
              <a:buNone/>
            </a:pPr>
            <a:r>
              <a:rPr lang="en-US" sz="1100" b="1" kern="0" spc="160" dirty="0">
                <a:solidFill>
                  <a:srgbClr val="4FD68A"/>
                </a:solidFill>
                <a:latin typeface="Arial" pitchFamily="34" charset="0"/>
                <a:ea typeface="Arial" pitchFamily="34" charset="-122"/>
                <a:cs typeface="Arial" pitchFamily="34" charset="-120"/>
              </a:rPr>
              <a:t>API</a:t>
            </a:r>
            <a:endParaRPr lang="en-US" sz="1100" dirty="0"/>
          </a:p>
        </p:txBody>
      </p:sp>
      <p:sp>
        <p:nvSpPr>
          <p:cNvPr id="46" name="Shape 44"/>
          <p:cNvSpPr/>
          <p:nvPr/>
        </p:nvSpPr>
        <p:spPr>
          <a:xfrm>
            <a:off x="8202168" y="4425696"/>
            <a:ext cx="91440" cy="91440"/>
          </a:xfrm>
          <a:prstGeom prst="ellipse">
            <a:avLst/>
          </a:prstGeom>
          <a:solidFill>
            <a:srgbClr val="4FD68A"/>
          </a:solidFill>
          <a:ln w="12700">
            <a:solidFill>
              <a:srgbClr val="4FD68A"/>
            </a:solidFill>
            <a:prstDash val="solid"/>
          </a:ln>
        </p:spPr>
        <p:txBody>
          <a:bodyPr/>
          <a:lstStyle/>
          <a:p>
            <a:endParaRPr lang="en-NP"/>
          </a:p>
        </p:txBody>
      </p:sp>
      <p:sp>
        <p:nvSpPr>
          <p:cNvPr id="47" name="Text 45"/>
          <p:cNvSpPr txBox="1"/>
          <p:nvPr/>
        </p:nvSpPr>
        <p:spPr>
          <a:xfrm>
            <a:off x="8458200" y="4260272"/>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Rate limiting on every public/critical endpoint</a:t>
            </a:r>
            <a:endParaRPr lang="en-US" sz="1100" dirty="0"/>
          </a:p>
        </p:txBody>
      </p:sp>
      <p:sp>
        <p:nvSpPr>
          <p:cNvPr id="48" name="Shape 46"/>
          <p:cNvSpPr/>
          <p:nvPr/>
        </p:nvSpPr>
        <p:spPr>
          <a:xfrm>
            <a:off x="8202168" y="4855464"/>
            <a:ext cx="91440" cy="91440"/>
          </a:xfrm>
          <a:prstGeom prst="ellipse">
            <a:avLst/>
          </a:prstGeom>
          <a:solidFill>
            <a:srgbClr val="4FD68A"/>
          </a:solidFill>
          <a:ln w="12700">
            <a:solidFill>
              <a:srgbClr val="4FD68A"/>
            </a:solidFill>
            <a:prstDash val="solid"/>
          </a:ln>
        </p:spPr>
        <p:txBody>
          <a:bodyPr/>
          <a:lstStyle/>
          <a:p>
            <a:endParaRPr lang="en-NP"/>
          </a:p>
        </p:txBody>
      </p:sp>
      <p:sp>
        <p:nvSpPr>
          <p:cNvPr id="49" name="Text 47"/>
          <p:cNvSpPr txBox="1"/>
          <p:nvPr/>
        </p:nvSpPr>
        <p:spPr>
          <a:xfrm>
            <a:off x="8458200" y="4690040"/>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Authorize per resource, not per controller</a:t>
            </a:r>
            <a:endParaRPr lang="en-US" sz="1100" dirty="0"/>
          </a:p>
        </p:txBody>
      </p:sp>
      <p:sp>
        <p:nvSpPr>
          <p:cNvPr id="50" name="Shape 48"/>
          <p:cNvSpPr/>
          <p:nvPr/>
        </p:nvSpPr>
        <p:spPr>
          <a:xfrm>
            <a:off x="8202168" y="5285232"/>
            <a:ext cx="91440" cy="91440"/>
          </a:xfrm>
          <a:prstGeom prst="ellipse">
            <a:avLst/>
          </a:prstGeom>
          <a:solidFill>
            <a:srgbClr val="4FD68A"/>
          </a:solidFill>
          <a:ln w="12700">
            <a:solidFill>
              <a:srgbClr val="4FD68A"/>
            </a:solidFill>
            <a:prstDash val="solid"/>
          </a:ln>
        </p:spPr>
        <p:txBody>
          <a:bodyPr/>
          <a:lstStyle/>
          <a:p>
            <a:endParaRPr lang="en-NP"/>
          </a:p>
        </p:txBody>
      </p:sp>
      <p:sp>
        <p:nvSpPr>
          <p:cNvPr id="51" name="Text 49"/>
          <p:cNvSpPr txBox="1"/>
          <p:nvPr/>
        </p:nvSpPr>
        <p:spPr>
          <a:xfrm>
            <a:off x="8458200" y="5130199"/>
            <a:ext cx="3017520" cy="384048"/>
          </a:xfrm>
          <a:prstGeom prst="rect">
            <a:avLst/>
          </a:prstGeom>
          <a:noFill/>
          <a:ln/>
        </p:spPr>
        <p:txBody>
          <a:bodyPr wrap="square" lIns="0" tIns="0" rIns="0" bIns="0" rtlCol="0" anchor="ctr"/>
          <a:lstStyle/>
          <a:p>
            <a:pPr marL="0" indent="0">
              <a:lnSpc>
                <a:spcPct val="112000"/>
              </a:lnSpc>
              <a:buNone/>
            </a:pPr>
            <a:r>
              <a:rPr lang="en-US" sz="1100" dirty="0">
                <a:solidFill>
                  <a:srgbClr val="E9EEF7"/>
                </a:solidFill>
                <a:latin typeface="Arial" pitchFamily="34" charset="0"/>
                <a:ea typeface="Arial" pitchFamily="34" charset="-122"/>
                <a:cs typeface="Arial" pitchFamily="34" charset="-120"/>
              </a:rPr>
              <a:t>Boring, generic error responses</a:t>
            </a:r>
            <a:endParaRPr lang="en-US" sz="1100" dirty="0"/>
          </a:p>
        </p:txBody>
      </p:sp>
      <p:sp>
        <p:nvSpPr>
          <p:cNvPr id="52" name="Text 50"/>
          <p:cNvSpPr txBox="1"/>
          <p:nvPr/>
        </p:nvSpPr>
        <p:spPr>
          <a:xfrm>
            <a:off x="548640" y="5760720"/>
            <a:ext cx="11091672" cy="365760"/>
          </a:xfrm>
          <a:prstGeom prst="rect">
            <a:avLst/>
          </a:prstGeom>
          <a:noFill/>
          <a:ln/>
        </p:spPr>
        <p:txBody>
          <a:bodyPr wrap="square" lIns="0" tIns="0" rIns="0" bIns="0" rtlCol="0" anchor="ctr"/>
          <a:lstStyle/>
          <a:p>
            <a:pPr marL="0" indent="0" algn="ctr">
              <a:buNone/>
            </a:pPr>
            <a:r>
              <a:rPr lang="en-US" sz="1250" i="1" dirty="0">
                <a:solidFill>
                  <a:srgbClr val="8C97AC"/>
                </a:solidFill>
                <a:latin typeface="Arial" pitchFamily="34" charset="0"/>
                <a:ea typeface="Arial" pitchFamily="34" charset="-122"/>
                <a:cs typeface="Arial" pitchFamily="34" charset="-120"/>
              </a:rPr>
              <a:t>None of this is exotic. All of it is skippable under deadline pressure — which is exactly why it needs to be automated, not remembered.</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MAPPED TO THE PIPELINE</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200" b="1" dirty="0">
                <a:solidFill>
                  <a:srgbClr val="E9EEF7"/>
                </a:solidFill>
                <a:latin typeface="Arial" pitchFamily="34" charset="0"/>
                <a:ea typeface="Arial" pitchFamily="34" charset="-122"/>
                <a:cs typeface="Arial" pitchFamily="34" charset="-120"/>
              </a:rPr>
              <a:t>Where The Controls Actually Sit</a:t>
            </a:r>
            <a:endParaRPr lang="en-US" sz="3200" dirty="0"/>
          </a:p>
        </p:txBody>
      </p:sp>
      <p:sp>
        <p:nvSpPr>
          <p:cNvPr id="4" name="Shape 2"/>
          <p:cNvSpPr/>
          <p:nvPr/>
        </p:nvSpPr>
        <p:spPr>
          <a:xfrm>
            <a:off x="548640" y="1645920"/>
            <a:ext cx="4160520" cy="402336"/>
          </a:xfrm>
          <a:prstGeom prst="roundRect">
            <a:avLst>
              <a:gd name="adj" fmla="val 18182"/>
            </a:avLst>
          </a:prstGeom>
          <a:solidFill>
            <a:srgbClr val="141A26"/>
          </a:solidFill>
          <a:ln w="12700">
            <a:solidFill>
              <a:srgbClr val="4CC9F0"/>
            </a:solidFill>
            <a:prstDash val="solid"/>
          </a:ln>
        </p:spPr>
        <p:txBody>
          <a:bodyPr/>
          <a:lstStyle/>
          <a:p>
            <a:endParaRPr lang="en-NP"/>
          </a:p>
        </p:txBody>
      </p:sp>
      <p:sp>
        <p:nvSpPr>
          <p:cNvPr id="5" name="Text 3"/>
          <p:cNvSpPr txBox="1"/>
          <p:nvPr/>
        </p:nvSpPr>
        <p:spPr>
          <a:xfrm>
            <a:off x="749808" y="1645920"/>
            <a:ext cx="3840480" cy="402336"/>
          </a:xfrm>
          <a:prstGeom prst="rect">
            <a:avLst/>
          </a:prstGeom>
          <a:noFill/>
          <a:ln/>
        </p:spPr>
        <p:txBody>
          <a:bodyPr wrap="square" lIns="0" tIns="0" rIns="0" bIns="0" rtlCol="0" anchor="ctr"/>
          <a:lstStyle/>
          <a:p>
            <a:pPr marL="0" indent="0">
              <a:buNone/>
            </a:pPr>
            <a:r>
              <a:rPr lang="en-US" sz="1200" b="1" dirty="0">
                <a:solidFill>
                  <a:srgbClr val="E9EEF7"/>
                </a:solidFill>
                <a:latin typeface="Arial" pitchFamily="34" charset="0"/>
                <a:ea typeface="Arial" pitchFamily="34" charset="-122"/>
                <a:cs typeface="Arial" pitchFamily="34" charset="-120"/>
              </a:rPr>
              <a:t>HTTPS / HSTS</a:t>
            </a:r>
            <a:endParaRPr lang="en-US" sz="1200" dirty="0"/>
          </a:p>
        </p:txBody>
      </p:sp>
      <p:sp>
        <p:nvSpPr>
          <p:cNvPr id="6" name="Text 4"/>
          <p:cNvSpPr txBox="1"/>
          <p:nvPr/>
        </p:nvSpPr>
        <p:spPr>
          <a:xfrm>
            <a:off x="4937760" y="1645920"/>
            <a:ext cx="6675120" cy="402336"/>
          </a:xfrm>
          <a:prstGeom prst="rect">
            <a:avLst/>
          </a:prstGeom>
          <a:noFill/>
          <a:ln/>
        </p:spPr>
        <p:txBody>
          <a:bodyPr wrap="square" lIns="0" tIns="0" rIns="0" bIns="0" rtlCol="0" anchor="ctr"/>
          <a:lstStyle/>
          <a:p>
            <a:pPr marL="0" indent="0">
              <a:buNone/>
            </a:pPr>
            <a:r>
              <a:rPr lang="en-US" sz="1150" dirty="0">
                <a:solidFill>
                  <a:srgbClr val="8C97AC"/>
                </a:solidFill>
                <a:latin typeface="Courier New" pitchFamily="34" charset="0"/>
                <a:ea typeface="Courier New" pitchFamily="34" charset="-122"/>
                <a:cs typeface="Courier New" pitchFamily="34" charset="-120"/>
              </a:rPr>
              <a:t>Use </a:t>
            </a:r>
            <a:r>
              <a:rPr lang="en-US" sz="1150" dirty="0" err="1">
                <a:solidFill>
                  <a:srgbClr val="8C97AC"/>
                </a:solidFill>
                <a:latin typeface="Courier New" pitchFamily="34" charset="0"/>
                <a:ea typeface="Courier New" pitchFamily="34" charset="-122"/>
                <a:cs typeface="Courier New" pitchFamily="34" charset="-120"/>
              </a:rPr>
              <a:t>HttpsRedirection</a:t>
            </a:r>
            <a:r>
              <a:rPr lang="en-US" sz="1150" dirty="0">
                <a:solidFill>
                  <a:srgbClr val="8C97AC"/>
                </a:solidFill>
                <a:latin typeface="Courier New" pitchFamily="34" charset="0"/>
                <a:ea typeface="Courier New" pitchFamily="34" charset="-122"/>
                <a:cs typeface="Courier New" pitchFamily="34" charset="-120"/>
              </a:rPr>
              <a:t>, Use HSTS</a:t>
            </a:r>
            <a:endParaRPr lang="en-US" sz="1150" dirty="0"/>
          </a:p>
        </p:txBody>
      </p:sp>
      <p:sp>
        <p:nvSpPr>
          <p:cNvPr id="7" name="Shape 5"/>
          <p:cNvSpPr/>
          <p:nvPr/>
        </p:nvSpPr>
        <p:spPr>
          <a:xfrm>
            <a:off x="914400" y="2061972"/>
            <a:ext cx="146304" cy="182880"/>
          </a:xfrm>
          <a:prstGeom prst="downArrow">
            <a:avLst/>
          </a:prstGeom>
          <a:solidFill>
            <a:srgbClr val="3A4459"/>
          </a:solidFill>
          <a:ln w="12700">
            <a:solidFill>
              <a:srgbClr val="0B0F17"/>
            </a:solidFill>
            <a:prstDash val="solid"/>
          </a:ln>
        </p:spPr>
        <p:txBody>
          <a:bodyPr/>
          <a:lstStyle/>
          <a:p>
            <a:endParaRPr lang="en-NP"/>
          </a:p>
        </p:txBody>
      </p:sp>
      <p:sp>
        <p:nvSpPr>
          <p:cNvPr id="8" name="Shape 6"/>
          <p:cNvSpPr/>
          <p:nvPr/>
        </p:nvSpPr>
        <p:spPr>
          <a:xfrm>
            <a:off x="548640" y="2048256"/>
            <a:ext cx="4160520" cy="402336"/>
          </a:xfrm>
          <a:prstGeom prst="roundRect">
            <a:avLst>
              <a:gd name="adj" fmla="val 18182"/>
            </a:avLst>
          </a:prstGeom>
          <a:solidFill>
            <a:srgbClr val="141A26"/>
          </a:solidFill>
          <a:ln w="12700">
            <a:solidFill>
              <a:srgbClr val="4CC9F0"/>
            </a:solidFill>
            <a:prstDash val="solid"/>
          </a:ln>
        </p:spPr>
        <p:txBody>
          <a:bodyPr/>
          <a:lstStyle/>
          <a:p>
            <a:endParaRPr lang="en-NP"/>
          </a:p>
        </p:txBody>
      </p:sp>
      <p:sp>
        <p:nvSpPr>
          <p:cNvPr id="9" name="Text 7"/>
          <p:cNvSpPr txBox="1"/>
          <p:nvPr/>
        </p:nvSpPr>
        <p:spPr>
          <a:xfrm>
            <a:off x="749808" y="2048256"/>
            <a:ext cx="3840480" cy="402336"/>
          </a:xfrm>
          <a:prstGeom prst="rect">
            <a:avLst/>
          </a:prstGeom>
          <a:noFill/>
          <a:ln/>
        </p:spPr>
        <p:txBody>
          <a:bodyPr wrap="square" lIns="0" tIns="0" rIns="0" bIns="0" rtlCol="0" anchor="ctr"/>
          <a:lstStyle/>
          <a:p>
            <a:pPr marL="0" indent="0">
              <a:buNone/>
            </a:pPr>
            <a:r>
              <a:rPr lang="en-US" sz="1200" b="1" dirty="0">
                <a:solidFill>
                  <a:srgbClr val="E9EEF7"/>
                </a:solidFill>
                <a:latin typeface="Arial" pitchFamily="34" charset="0"/>
                <a:ea typeface="Arial" pitchFamily="34" charset="-122"/>
                <a:cs typeface="Arial" pitchFamily="34" charset="-120"/>
              </a:rPr>
              <a:t>Authentication</a:t>
            </a:r>
            <a:endParaRPr lang="en-US" sz="1200" dirty="0"/>
          </a:p>
        </p:txBody>
      </p:sp>
      <p:sp>
        <p:nvSpPr>
          <p:cNvPr id="10" name="Text 8"/>
          <p:cNvSpPr txBox="1"/>
          <p:nvPr/>
        </p:nvSpPr>
        <p:spPr>
          <a:xfrm>
            <a:off x="4937760" y="2048256"/>
            <a:ext cx="6675120" cy="402336"/>
          </a:xfrm>
          <a:prstGeom prst="rect">
            <a:avLst/>
          </a:prstGeom>
          <a:noFill/>
          <a:ln/>
        </p:spPr>
        <p:txBody>
          <a:bodyPr wrap="square" lIns="0" tIns="0" rIns="0" bIns="0" rtlCol="0" anchor="ctr"/>
          <a:lstStyle/>
          <a:p>
            <a:pPr marL="0" indent="0">
              <a:buNone/>
            </a:pPr>
            <a:r>
              <a:rPr lang="en-US" sz="1150" dirty="0">
                <a:solidFill>
                  <a:srgbClr val="8C97AC"/>
                </a:solidFill>
                <a:latin typeface="Courier New" pitchFamily="34" charset="0"/>
                <a:ea typeface="Courier New" pitchFamily="34" charset="-122"/>
                <a:cs typeface="Courier New" pitchFamily="34" charset="-120"/>
              </a:rPr>
              <a:t>Use Authentication — identity only</a:t>
            </a:r>
            <a:endParaRPr lang="en-US" sz="1150" dirty="0"/>
          </a:p>
        </p:txBody>
      </p:sp>
      <p:sp>
        <p:nvSpPr>
          <p:cNvPr id="11" name="Shape 9"/>
          <p:cNvSpPr/>
          <p:nvPr/>
        </p:nvSpPr>
        <p:spPr>
          <a:xfrm>
            <a:off x="914400" y="2464308"/>
            <a:ext cx="146304" cy="182880"/>
          </a:xfrm>
          <a:prstGeom prst="downArrow">
            <a:avLst/>
          </a:prstGeom>
          <a:solidFill>
            <a:srgbClr val="3A4459"/>
          </a:solidFill>
          <a:ln w="12700">
            <a:solidFill>
              <a:srgbClr val="0B0F17"/>
            </a:solidFill>
            <a:prstDash val="solid"/>
          </a:ln>
        </p:spPr>
        <p:txBody>
          <a:bodyPr/>
          <a:lstStyle/>
          <a:p>
            <a:endParaRPr lang="en-NP"/>
          </a:p>
        </p:txBody>
      </p:sp>
      <p:sp>
        <p:nvSpPr>
          <p:cNvPr id="12" name="Shape 10"/>
          <p:cNvSpPr/>
          <p:nvPr/>
        </p:nvSpPr>
        <p:spPr>
          <a:xfrm>
            <a:off x="548640" y="2450592"/>
            <a:ext cx="4160520" cy="402336"/>
          </a:xfrm>
          <a:prstGeom prst="roundRect">
            <a:avLst>
              <a:gd name="adj" fmla="val 18182"/>
            </a:avLst>
          </a:prstGeom>
          <a:solidFill>
            <a:srgbClr val="141A26"/>
          </a:solidFill>
          <a:ln w="12700">
            <a:solidFill>
              <a:srgbClr val="FF6B5E"/>
            </a:solidFill>
            <a:prstDash val="solid"/>
          </a:ln>
        </p:spPr>
        <p:txBody>
          <a:bodyPr/>
          <a:lstStyle/>
          <a:p>
            <a:endParaRPr lang="en-NP"/>
          </a:p>
        </p:txBody>
      </p:sp>
      <p:sp>
        <p:nvSpPr>
          <p:cNvPr id="13" name="Text 11"/>
          <p:cNvSpPr txBox="1"/>
          <p:nvPr/>
        </p:nvSpPr>
        <p:spPr>
          <a:xfrm>
            <a:off x="749808" y="2450592"/>
            <a:ext cx="3840480" cy="402336"/>
          </a:xfrm>
          <a:prstGeom prst="rect">
            <a:avLst/>
          </a:prstGeom>
          <a:noFill/>
          <a:ln/>
        </p:spPr>
        <p:txBody>
          <a:bodyPr wrap="square" lIns="0" tIns="0" rIns="0" bIns="0" rtlCol="0" anchor="ctr"/>
          <a:lstStyle/>
          <a:p>
            <a:pPr marL="0" indent="0">
              <a:buNone/>
            </a:pPr>
            <a:r>
              <a:rPr lang="en-US" sz="1200" b="1" dirty="0">
                <a:solidFill>
                  <a:srgbClr val="E9EEF7"/>
                </a:solidFill>
                <a:latin typeface="Arial" pitchFamily="34" charset="0"/>
                <a:ea typeface="Arial" pitchFamily="34" charset="-122"/>
                <a:cs typeface="Arial" pitchFamily="34" charset="-120"/>
              </a:rPr>
              <a:t>Authorization</a:t>
            </a:r>
            <a:endParaRPr lang="en-US" sz="1200" dirty="0"/>
          </a:p>
        </p:txBody>
      </p:sp>
      <p:sp>
        <p:nvSpPr>
          <p:cNvPr id="14" name="Text 12"/>
          <p:cNvSpPr txBox="1"/>
          <p:nvPr/>
        </p:nvSpPr>
        <p:spPr>
          <a:xfrm>
            <a:off x="4937760" y="2450592"/>
            <a:ext cx="6675120" cy="402336"/>
          </a:xfrm>
          <a:prstGeom prst="rect">
            <a:avLst/>
          </a:prstGeom>
          <a:noFill/>
          <a:ln/>
        </p:spPr>
        <p:txBody>
          <a:bodyPr wrap="square" lIns="0" tIns="0" rIns="0" bIns="0" rtlCol="0" anchor="ctr"/>
          <a:lstStyle/>
          <a:p>
            <a:pPr marL="0" indent="0">
              <a:buNone/>
            </a:pPr>
            <a:r>
              <a:rPr lang="en-US" sz="1150" dirty="0">
                <a:solidFill>
                  <a:srgbClr val="8C97AC"/>
                </a:solidFill>
                <a:latin typeface="Courier New" pitchFamily="34" charset="0"/>
                <a:ea typeface="Courier New" pitchFamily="34" charset="-122"/>
                <a:cs typeface="Courier New" pitchFamily="34" charset="-120"/>
              </a:rPr>
              <a:t>Use Authorization + policies + resource checks</a:t>
            </a:r>
            <a:endParaRPr lang="en-US" sz="1150" dirty="0"/>
          </a:p>
        </p:txBody>
      </p:sp>
      <p:sp>
        <p:nvSpPr>
          <p:cNvPr id="15" name="Shape 13"/>
          <p:cNvSpPr/>
          <p:nvPr/>
        </p:nvSpPr>
        <p:spPr>
          <a:xfrm>
            <a:off x="914400" y="2866644"/>
            <a:ext cx="146304" cy="182880"/>
          </a:xfrm>
          <a:prstGeom prst="downArrow">
            <a:avLst/>
          </a:prstGeom>
          <a:solidFill>
            <a:srgbClr val="3A4459"/>
          </a:solidFill>
          <a:ln w="12700">
            <a:solidFill>
              <a:srgbClr val="0B0F17"/>
            </a:solidFill>
            <a:prstDash val="solid"/>
          </a:ln>
        </p:spPr>
        <p:txBody>
          <a:bodyPr/>
          <a:lstStyle/>
          <a:p>
            <a:endParaRPr lang="en-NP"/>
          </a:p>
        </p:txBody>
      </p:sp>
      <p:sp>
        <p:nvSpPr>
          <p:cNvPr id="16" name="Shape 14"/>
          <p:cNvSpPr/>
          <p:nvPr/>
        </p:nvSpPr>
        <p:spPr>
          <a:xfrm>
            <a:off x="548640" y="2852928"/>
            <a:ext cx="4160520" cy="402336"/>
          </a:xfrm>
          <a:prstGeom prst="roundRect">
            <a:avLst>
              <a:gd name="adj" fmla="val 18182"/>
            </a:avLst>
          </a:prstGeom>
          <a:solidFill>
            <a:srgbClr val="141A26"/>
          </a:solidFill>
          <a:ln w="12700">
            <a:solidFill>
              <a:srgbClr val="FFA33A"/>
            </a:solidFill>
            <a:prstDash val="solid"/>
          </a:ln>
        </p:spPr>
        <p:txBody>
          <a:bodyPr/>
          <a:lstStyle/>
          <a:p>
            <a:endParaRPr lang="en-NP"/>
          </a:p>
        </p:txBody>
      </p:sp>
      <p:sp>
        <p:nvSpPr>
          <p:cNvPr id="17" name="Text 15"/>
          <p:cNvSpPr txBox="1"/>
          <p:nvPr/>
        </p:nvSpPr>
        <p:spPr>
          <a:xfrm>
            <a:off x="749808" y="2852928"/>
            <a:ext cx="3840480" cy="402336"/>
          </a:xfrm>
          <a:prstGeom prst="rect">
            <a:avLst/>
          </a:prstGeom>
          <a:noFill/>
          <a:ln/>
        </p:spPr>
        <p:txBody>
          <a:bodyPr wrap="square" lIns="0" tIns="0" rIns="0" bIns="0" rtlCol="0" anchor="ctr"/>
          <a:lstStyle/>
          <a:p>
            <a:pPr marL="0" indent="0">
              <a:buNone/>
            </a:pPr>
            <a:r>
              <a:rPr lang="en-US" sz="1200" b="1" dirty="0">
                <a:solidFill>
                  <a:srgbClr val="E9EEF7"/>
                </a:solidFill>
                <a:latin typeface="Arial" pitchFamily="34" charset="0"/>
                <a:ea typeface="Arial" pitchFamily="34" charset="-122"/>
                <a:cs typeface="Arial" pitchFamily="34" charset="-120"/>
              </a:rPr>
              <a:t>Antiforgery</a:t>
            </a:r>
            <a:endParaRPr lang="en-US" sz="1200" dirty="0"/>
          </a:p>
        </p:txBody>
      </p:sp>
      <p:sp>
        <p:nvSpPr>
          <p:cNvPr id="18" name="Text 16"/>
          <p:cNvSpPr txBox="1"/>
          <p:nvPr/>
        </p:nvSpPr>
        <p:spPr>
          <a:xfrm>
            <a:off x="4937760" y="2852928"/>
            <a:ext cx="6675120" cy="402336"/>
          </a:xfrm>
          <a:prstGeom prst="rect">
            <a:avLst/>
          </a:prstGeom>
          <a:noFill/>
          <a:ln/>
        </p:spPr>
        <p:txBody>
          <a:bodyPr wrap="square" lIns="0" tIns="0" rIns="0" bIns="0" rtlCol="0" anchor="ctr"/>
          <a:lstStyle/>
          <a:p>
            <a:pPr marL="0" indent="0">
              <a:buNone/>
            </a:pPr>
            <a:r>
              <a:rPr lang="en-US" sz="1150" dirty="0">
                <a:solidFill>
                  <a:srgbClr val="8C97AC"/>
                </a:solidFill>
                <a:latin typeface="Courier New" pitchFamily="34" charset="0"/>
                <a:ea typeface="Courier New" pitchFamily="34" charset="-122"/>
                <a:cs typeface="Courier New" pitchFamily="34" charset="-120"/>
              </a:rPr>
              <a:t>ValidateAntiForgeryToken on state-changing forms</a:t>
            </a:r>
            <a:endParaRPr lang="en-US" sz="1150" dirty="0"/>
          </a:p>
        </p:txBody>
      </p:sp>
      <p:sp>
        <p:nvSpPr>
          <p:cNvPr id="19" name="Shape 17"/>
          <p:cNvSpPr/>
          <p:nvPr/>
        </p:nvSpPr>
        <p:spPr>
          <a:xfrm>
            <a:off x="914400" y="3268980"/>
            <a:ext cx="146304" cy="182880"/>
          </a:xfrm>
          <a:prstGeom prst="downArrow">
            <a:avLst/>
          </a:prstGeom>
          <a:solidFill>
            <a:srgbClr val="3A4459"/>
          </a:solidFill>
          <a:ln w="12700">
            <a:solidFill>
              <a:srgbClr val="0B0F17"/>
            </a:solidFill>
            <a:prstDash val="solid"/>
          </a:ln>
        </p:spPr>
        <p:txBody>
          <a:bodyPr/>
          <a:lstStyle/>
          <a:p>
            <a:endParaRPr lang="en-NP"/>
          </a:p>
        </p:txBody>
      </p:sp>
      <p:sp>
        <p:nvSpPr>
          <p:cNvPr id="20" name="Shape 18"/>
          <p:cNvSpPr/>
          <p:nvPr/>
        </p:nvSpPr>
        <p:spPr>
          <a:xfrm>
            <a:off x="548640" y="3255264"/>
            <a:ext cx="4160520" cy="402336"/>
          </a:xfrm>
          <a:prstGeom prst="roundRect">
            <a:avLst>
              <a:gd name="adj" fmla="val 18182"/>
            </a:avLst>
          </a:prstGeom>
          <a:solidFill>
            <a:srgbClr val="141A26"/>
          </a:solidFill>
          <a:ln w="12700">
            <a:solidFill>
              <a:srgbClr val="FFA33A"/>
            </a:solidFill>
            <a:prstDash val="solid"/>
          </a:ln>
        </p:spPr>
        <p:txBody>
          <a:bodyPr/>
          <a:lstStyle/>
          <a:p>
            <a:endParaRPr lang="en-NP"/>
          </a:p>
        </p:txBody>
      </p:sp>
      <p:sp>
        <p:nvSpPr>
          <p:cNvPr id="21" name="Text 19"/>
          <p:cNvSpPr txBox="1"/>
          <p:nvPr/>
        </p:nvSpPr>
        <p:spPr>
          <a:xfrm>
            <a:off x="749808" y="3255264"/>
            <a:ext cx="3840480" cy="402336"/>
          </a:xfrm>
          <a:prstGeom prst="rect">
            <a:avLst/>
          </a:prstGeom>
          <a:noFill/>
          <a:ln/>
        </p:spPr>
        <p:txBody>
          <a:bodyPr wrap="square" lIns="0" tIns="0" rIns="0" bIns="0" rtlCol="0" anchor="ctr"/>
          <a:lstStyle/>
          <a:p>
            <a:pPr marL="0" indent="0">
              <a:buNone/>
            </a:pPr>
            <a:r>
              <a:rPr lang="en-US" sz="1200" b="1" dirty="0">
                <a:solidFill>
                  <a:srgbClr val="E9EEF7"/>
                </a:solidFill>
                <a:latin typeface="Arial" pitchFamily="34" charset="0"/>
                <a:ea typeface="Arial" pitchFamily="34" charset="-122"/>
                <a:cs typeface="Arial" pitchFamily="34" charset="-120"/>
              </a:rPr>
              <a:t>Rate limiting</a:t>
            </a:r>
            <a:endParaRPr lang="en-US" sz="1200" dirty="0"/>
          </a:p>
        </p:txBody>
      </p:sp>
      <p:sp>
        <p:nvSpPr>
          <p:cNvPr id="22" name="Text 20"/>
          <p:cNvSpPr txBox="1"/>
          <p:nvPr/>
        </p:nvSpPr>
        <p:spPr>
          <a:xfrm>
            <a:off x="4937760" y="3255264"/>
            <a:ext cx="6675120" cy="402336"/>
          </a:xfrm>
          <a:prstGeom prst="rect">
            <a:avLst/>
          </a:prstGeom>
          <a:noFill/>
          <a:ln/>
        </p:spPr>
        <p:txBody>
          <a:bodyPr wrap="square" lIns="0" tIns="0" rIns="0" bIns="0" rtlCol="0" anchor="ctr"/>
          <a:lstStyle/>
          <a:p>
            <a:pPr marL="0" indent="0">
              <a:buNone/>
            </a:pPr>
            <a:r>
              <a:rPr lang="en-US" sz="1150" dirty="0">
                <a:solidFill>
                  <a:srgbClr val="8C97AC"/>
                </a:solidFill>
                <a:latin typeface="Courier New" pitchFamily="34" charset="0"/>
                <a:ea typeface="Courier New" pitchFamily="34" charset="-122"/>
                <a:cs typeface="Courier New" pitchFamily="34" charset="-120"/>
              </a:rPr>
              <a:t>UseRateLimiter on public endpoints</a:t>
            </a:r>
            <a:endParaRPr lang="en-US" sz="1150" dirty="0"/>
          </a:p>
        </p:txBody>
      </p:sp>
      <p:sp>
        <p:nvSpPr>
          <p:cNvPr id="23" name="Shape 21"/>
          <p:cNvSpPr/>
          <p:nvPr/>
        </p:nvSpPr>
        <p:spPr>
          <a:xfrm>
            <a:off x="914400" y="3671316"/>
            <a:ext cx="146304" cy="182880"/>
          </a:xfrm>
          <a:prstGeom prst="downArrow">
            <a:avLst/>
          </a:prstGeom>
          <a:solidFill>
            <a:srgbClr val="3A4459"/>
          </a:solidFill>
          <a:ln w="12700">
            <a:solidFill>
              <a:srgbClr val="0B0F17"/>
            </a:solidFill>
            <a:prstDash val="solid"/>
          </a:ln>
        </p:spPr>
        <p:txBody>
          <a:bodyPr/>
          <a:lstStyle/>
          <a:p>
            <a:endParaRPr lang="en-NP"/>
          </a:p>
        </p:txBody>
      </p:sp>
      <p:sp>
        <p:nvSpPr>
          <p:cNvPr id="24" name="Shape 22"/>
          <p:cNvSpPr/>
          <p:nvPr/>
        </p:nvSpPr>
        <p:spPr>
          <a:xfrm>
            <a:off x="548640" y="3657600"/>
            <a:ext cx="4160520" cy="402336"/>
          </a:xfrm>
          <a:prstGeom prst="roundRect">
            <a:avLst>
              <a:gd name="adj" fmla="val 18182"/>
            </a:avLst>
          </a:prstGeom>
          <a:solidFill>
            <a:srgbClr val="141A26"/>
          </a:solidFill>
          <a:ln w="12700">
            <a:solidFill>
              <a:srgbClr val="FFC15E"/>
            </a:solidFill>
            <a:prstDash val="solid"/>
          </a:ln>
        </p:spPr>
        <p:txBody>
          <a:bodyPr/>
          <a:lstStyle/>
          <a:p>
            <a:endParaRPr lang="en-NP"/>
          </a:p>
        </p:txBody>
      </p:sp>
      <p:sp>
        <p:nvSpPr>
          <p:cNvPr id="25" name="Text 23"/>
          <p:cNvSpPr txBox="1"/>
          <p:nvPr/>
        </p:nvSpPr>
        <p:spPr>
          <a:xfrm>
            <a:off x="749808" y="3657600"/>
            <a:ext cx="3840480" cy="402336"/>
          </a:xfrm>
          <a:prstGeom prst="rect">
            <a:avLst/>
          </a:prstGeom>
          <a:noFill/>
          <a:ln/>
        </p:spPr>
        <p:txBody>
          <a:bodyPr wrap="square" lIns="0" tIns="0" rIns="0" bIns="0" rtlCol="0" anchor="ctr"/>
          <a:lstStyle/>
          <a:p>
            <a:pPr marL="0" indent="0">
              <a:buNone/>
            </a:pPr>
            <a:r>
              <a:rPr lang="en-US" sz="1200" b="1" dirty="0">
                <a:solidFill>
                  <a:srgbClr val="E9EEF7"/>
                </a:solidFill>
                <a:latin typeface="Arial" pitchFamily="34" charset="0"/>
                <a:ea typeface="Arial" pitchFamily="34" charset="-122"/>
                <a:cs typeface="Arial" pitchFamily="34" charset="-120"/>
              </a:rPr>
              <a:t>Input validation</a:t>
            </a:r>
            <a:endParaRPr lang="en-US" sz="1200" dirty="0"/>
          </a:p>
        </p:txBody>
      </p:sp>
      <p:sp>
        <p:nvSpPr>
          <p:cNvPr id="26" name="Text 24"/>
          <p:cNvSpPr txBox="1"/>
          <p:nvPr/>
        </p:nvSpPr>
        <p:spPr>
          <a:xfrm>
            <a:off x="4937760" y="3657600"/>
            <a:ext cx="6675120" cy="402336"/>
          </a:xfrm>
          <a:prstGeom prst="rect">
            <a:avLst/>
          </a:prstGeom>
          <a:noFill/>
          <a:ln/>
        </p:spPr>
        <p:txBody>
          <a:bodyPr wrap="square" lIns="0" tIns="0" rIns="0" bIns="0" rtlCol="0" anchor="ctr"/>
          <a:lstStyle/>
          <a:p>
            <a:pPr marL="0" indent="0">
              <a:buNone/>
            </a:pPr>
            <a:r>
              <a:rPr lang="en-US" sz="1150" dirty="0">
                <a:solidFill>
                  <a:srgbClr val="8C97AC"/>
                </a:solidFill>
                <a:latin typeface="Courier New" pitchFamily="34" charset="0"/>
                <a:ea typeface="Courier New" pitchFamily="34" charset="-122"/>
                <a:cs typeface="Courier New" pitchFamily="34" charset="-120"/>
              </a:rPr>
              <a:t>Model validation + explicit allow-lists</a:t>
            </a:r>
            <a:endParaRPr lang="en-US" sz="1150" dirty="0"/>
          </a:p>
        </p:txBody>
      </p:sp>
      <p:sp>
        <p:nvSpPr>
          <p:cNvPr id="27" name="Shape 25"/>
          <p:cNvSpPr/>
          <p:nvPr/>
        </p:nvSpPr>
        <p:spPr>
          <a:xfrm>
            <a:off x="914400" y="4073652"/>
            <a:ext cx="146304" cy="182880"/>
          </a:xfrm>
          <a:prstGeom prst="downArrow">
            <a:avLst/>
          </a:prstGeom>
          <a:solidFill>
            <a:srgbClr val="3A4459"/>
          </a:solidFill>
          <a:ln w="12700">
            <a:solidFill>
              <a:srgbClr val="0B0F17"/>
            </a:solidFill>
            <a:prstDash val="solid"/>
          </a:ln>
        </p:spPr>
        <p:txBody>
          <a:bodyPr/>
          <a:lstStyle/>
          <a:p>
            <a:endParaRPr lang="en-NP"/>
          </a:p>
        </p:txBody>
      </p:sp>
      <p:sp>
        <p:nvSpPr>
          <p:cNvPr id="28" name="Shape 26"/>
          <p:cNvSpPr/>
          <p:nvPr/>
        </p:nvSpPr>
        <p:spPr>
          <a:xfrm>
            <a:off x="548640" y="4059936"/>
            <a:ext cx="4160520" cy="402336"/>
          </a:xfrm>
          <a:prstGeom prst="roundRect">
            <a:avLst>
              <a:gd name="adj" fmla="val 18182"/>
            </a:avLst>
          </a:prstGeom>
          <a:solidFill>
            <a:srgbClr val="141A26"/>
          </a:solidFill>
          <a:ln w="12700">
            <a:solidFill>
              <a:srgbClr val="FFC15E"/>
            </a:solidFill>
            <a:prstDash val="solid"/>
          </a:ln>
        </p:spPr>
        <p:txBody>
          <a:bodyPr/>
          <a:lstStyle/>
          <a:p>
            <a:endParaRPr lang="en-NP"/>
          </a:p>
        </p:txBody>
      </p:sp>
      <p:sp>
        <p:nvSpPr>
          <p:cNvPr id="29" name="Text 27"/>
          <p:cNvSpPr txBox="1"/>
          <p:nvPr/>
        </p:nvSpPr>
        <p:spPr>
          <a:xfrm>
            <a:off x="749808" y="4059936"/>
            <a:ext cx="3840480" cy="402336"/>
          </a:xfrm>
          <a:prstGeom prst="rect">
            <a:avLst/>
          </a:prstGeom>
          <a:noFill/>
          <a:ln/>
        </p:spPr>
        <p:txBody>
          <a:bodyPr wrap="square" lIns="0" tIns="0" rIns="0" bIns="0" rtlCol="0" anchor="ctr"/>
          <a:lstStyle/>
          <a:p>
            <a:pPr marL="0" indent="0">
              <a:buNone/>
            </a:pPr>
            <a:r>
              <a:rPr lang="en-US" sz="1200" b="1" dirty="0">
                <a:solidFill>
                  <a:srgbClr val="E9EEF7"/>
                </a:solidFill>
                <a:latin typeface="Arial" pitchFamily="34" charset="0"/>
                <a:ea typeface="Arial" pitchFamily="34" charset="-122"/>
                <a:cs typeface="Arial" pitchFamily="34" charset="-120"/>
              </a:rPr>
              <a:t>Business logic</a:t>
            </a:r>
            <a:endParaRPr lang="en-US" sz="1200" dirty="0"/>
          </a:p>
        </p:txBody>
      </p:sp>
      <p:sp>
        <p:nvSpPr>
          <p:cNvPr id="30" name="Text 28"/>
          <p:cNvSpPr txBox="1"/>
          <p:nvPr/>
        </p:nvSpPr>
        <p:spPr>
          <a:xfrm>
            <a:off x="4937760" y="4059936"/>
            <a:ext cx="6675120" cy="402336"/>
          </a:xfrm>
          <a:prstGeom prst="rect">
            <a:avLst/>
          </a:prstGeom>
          <a:noFill/>
          <a:ln/>
        </p:spPr>
        <p:txBody>
          <a:bodyPr wrap="square" lIns="0" tIns="0" rIns="0" bIns="0" rtlCol="0" anchor="ctr"/>
          <a:lstStyle/>
          <a:p>
            <a:pPr marL="0" indent="0">
              <a:buNone/>
            </a:pPr>
            <a:r>
              <a:rPr lang="en-US" sz="1150" dirty="0">
                <a:solidFill>
                  <a:srgbClr val="8C97AC"/>
                </a:solidFill>
                <a:latin typeface="Courier New" pitchFamily="34" charset="0"/>
                <a:ea typeface="Courier New" pitchFamily="34" charset="-122"/>
                <a:cs typeface="Courier New" pitchFamily="34" charset="-120"/>
              </a:rPr>
              <a:t>Your rules — nothing else enforces them</a:t>
            </a:r>
            <a:endParaRPr lang="en-US" sz="1150" dirty="0"/>
          </a:p>
        </p:txBody>
      </p:sp>
      <p:sp>
        <p:nvSpPr>
          <p:cNvPr id="31" name="Shape 29"/>
          <p:cNvSpPr/>
          <p:nvPr/>
        </p:nvSpPr>
        <p:spPr>
          <a:xfrm>
            <a:off x="914400" y="4475988"/>
            <a:ext cx="146304" cy="182880"/>
          </a:xfrm>
          <a:prstGeom prst="downArrow">
            <a:avLst/>
          </a:prstGeom>
          <a:solidFill>
            <a:srgbClr val="3A4459"/>
          </a:solidFill>
          <a:ln w="12700">
            <a:solidFill>
              <a:srgbClr val="0B0F17"/>
            </a:solidFill>
            <a:prstDash val="solid"/>
          </a:ln>
        </p:spPr>
        <p:txBody>
          <a:bodyPr/>
          <a:lstStyle/>
          <a:p>
            <a:endParaRPr lang="en-NP"/>
          </a:p>
        </p:txBody>
      </p:sp>
      <p:sp>
        <p:nvSpPr>
          <p:cNvPr id="32" name="Shape 30"/>
          <p:cNvSpPr/>
          <p:nvPr/>
        </p:nvSpPr>
        <p:spPr>
          <a:xfrm>
            <a:off x="548640" y="4462272"/>
            <a:ext cx="4160520" cy="402336"/>
          </a:xfrm>
          <a:prstGeom prst="roundRect">
            <a:avLst>
              <a:gd name="adj" fmla="val 18182"/>
            </a:avLst>
          </a:prstGeom>
          <a:solidFill>
            <a:srgbClr val="141A26"/>
          </a:solidFill>
          <a:ln w="12700">
            <a:solidFill>
              <a:srgbClr val="9A6BFF"/>
            </a:solidFill>
            <a:prstDash val="solid"/>
          </a:ln>
        </p:spPr>
        <p:txBody>
          <a:bodyPr/>
          <a:lstStyle/>
          <a:p>
            <a:endParaRPr lang="en-NP"/>
          </a:p>
        </p:txBody>
      </p:sp>
      <p:sp>
        <p:nvSpPr>
          <p:cNvPr id="33" name="Text 31"/>
          <p:cNvSpPr txBox="1"/>
          <p:nvPr/>
        </p:nvSpPr>
        <p:spPr>
          <a:xfrm>
            <a:off x="749808" y="4462272"/>
            <a:ext cx="3840480" cy="402336"/>
          </a:xfrm>
          <a:prstGeom prst="rect">
            <a:avLst/>
          </a:prstGeom>
          <a:noFill/>
          <a:ln/>
        </p:spPr>
        <p:txBody>
          <a:bodyPr wrap="square" lIns="0" tIns="0" rIns="0" bIns="0" rtlCol="0" anchor="ctr"/>
          <a:lstStyle/>
          <a:p>
            <a:pPr marL="0" indent="0">
              <a:buNone/>
            </a:pPr>
            <a:r>
              <a:rPr lang="en-US" sz="1200" b="1" dirty="0">
                <a:solidFill>
                  <a:srgbClr val="E9EEF7"/>
                </a:solidFill>
                <a:latin typeface="Arial" pitchFamily="34" charset="0"/>
                <a:ea typeface="Arial" pitchFamily="34" charset="-122"/>
                <a:cs typeface="Arial" pitchFamily="34" charset="-120"/>
              </a:rPr>
              <a:t>EF Core</a:t>
            </a:r>
            <a:endParaRPr lang="en-US" sz="1200" dirty="0"/>
          </a:p>
        </p:txBody>
      </p:sp>
      <p:sp>
        <p:nvSpPr>
          <p:cNvPr id="34" name="Text 32"/>
          <p:cNvSpPr txBox="1"/>
          <p:nvPr/>
        </p:nvSpPr>
        <p:spPr>
          <a:xfrm>
            <a:off x="4937760" y="4462272"/>
            <a:ext cx="6675120" cy="402336"/>
          </a:xfrm>
          <a:prstGeom prst="rect">
            <a:avLst/>
          </a:prstGeom>
          <a:noFill/>
          <a:ln/>
        </p:spPr>
        <p:txBody>
          <a:bodyPr wrap="square" lIns="0" tIns="0" rIns="0" bIns="0" rtlCol="0" anchor="ctr"/>
          <a:lstStyle/>
          <a:p>
            <a:pPr marL="0" indent="0">
              <a:buNone/>
            </a:pPr>
            <a:r>
              <a:rPr lang="en-US" sz="1150" dirty="0">
                <a:solidFill>
                  <a:srgbClr val="8C97AC"/>
                </a:solidFill>
                <a:latin typeface="Courier New" pitchFamily="34" charset="0"/>
                <a:ea typeface="Courier New" pitchFamily="34" charset="-122"/>
                <a:cs typeface="Courier New" pitchFamily="34" charset="-120"/>
              </a:rPr>
              <a:t>Parameterised by default; raw SQL is opt-out</a:t>
            </a:r>
            <a:endParaRPr lang="en-US" sz="1150" dirty="0"/>
          </a:p>
        </p:txBody>
      </p:sp>
      <p:sp>
        <p:nvSpPr>
          <p:cNvPr id="35" name="Shape 33"/>
          <p:cNvSpPr/>
          <p:nvPr/>
        </p:nvSpPr>
        <p:spPr>
          <a:xfrm>
            <a:off x="914400" y="4878324"/>
            <a:ext cx="146304" cy="182880"/>
          </a:xfrm>
          <a:prstGeom prst="downArrow">
            <a:avLst/>
          </a:prstGeom>
          <a:solidFill>
            <a:srgbClr val="3A4459"/>
          </a:solidFill>
          <a:ln w="12700">
            <a:solidFill>
              <a:srgbClr val="0B0F17"/>
            </a:solidFill>
            <a:prstDash val="solid"/>
          </a:ln>
        </p:spPr>
        <p:txBody>
          <a:bodyPr/>
          <a:lstStyle/>
          <a:p>
            <a:endParaRPr lang="en-NP"/>
          </a:p>
        </p:txBody>
      </p:sp>
      <p:sp>
        <p:nvSpPr>
          <p:cNvPr id="36" name="Shape 34"/>
          <p:cNvSpPr/>
          <p:nvPr/>
        </p:nvSpPr>
        <p:spPr>
          <a:xfrm>
            <a:off x="548640" y="4864608"/>
            <a:ext cx="4160520" cy="402336"/>
          </a:xfrm>
          <a:prstGeom prst="roundRect">
            <a:avLst>
              <a:gd name="adj" fmla="val 18182"/>
            </a:avLst>
          </a:prstGeom>
          <a:solidFill>
            <a:srgbClr val="141A26"/>
          </a:solidFill>
          <a:ln w="12700">
            <a:solidFill>
              <a:srgbClr val="9A6BFF"/>
            </a:solidFill>
            <a:prstDash val="solid"/>
          </a:ln>
        </p:spPr>
        <p:txBody>
          <a:bodyPr/>
          <a:lstStyle/>
          <a:p>
            <a:endParaRPr lang="en-NP"/>
          </a:p>
        </p:txBody>
      </p:sp>
      <p:sp>
        <p:nvSpPr>
          <p:cNvPr id="37" name="Text 35"/>
          <p:cNvSpPr txBox="1"/>
          <p:nvPr/>
        </p:nvSpPr>
        <p:spPr>
          <a:xfrm>
            <a:off x="749808" y="4864608"/>
            <a:ext cx="3840480" cy="402336"/>
          </a:xfrm>
          <a:prstGeom prst="rect">
            <a:avLst/>
          </a:prstGeom>
          <a:noFill/>
          <a:ln/>
        </p:spPr>
        <p:txBody>
          <a:bodyPr wrap="square" lIns="0" tIns="0" rIns="0" bIns="0" rtlCol="0" anchor="ctr"/>
          <a:lstStyle/>
          <a:p>
            <a:pPr marL="0" indent="0">
              <a:buNone/>
            </a:pPr>
            <a:r>
              <a:rPr lang="en-US" sz="1200" b="1" dirty="0">
                <a:solidFill>
                  <a:srgbClr val="E9EEF7"/>
                </a:solidFill>
                <a:latin typeface="Arial" pitchFamily="34" charset="0"/>
                <a:ea typeface="Arial" pitchFamily="34" charset="-122"/>
                <a:cs typeface="Arial" pitchFamily="34" charset="-120"/>
              </a:rPr>
              <a:t>Response handling</a:t>
            </a:r>
            <a:endParaRPr lang="en-US" sz="1200" dirty="0"/>
          </a:p>
        </p:txBody>
      </p:sp>
      <p:sp>
        <p:nvSpPr>
          <p:cNvPr id="38" name="Text 36"/>
          <p:cNvSpPr txBox="1"/>
          <p:nvPr/>
        </p:nvSpPr>
        <p:spPr>
          <a:xfrm>
            <a:off x="4937760" y="4864608"/>
            <a:ext cx="6675120" cy="402336"/>
          </a:xfrm>
          <a:prstGeom prst="rect">
            <a:avLst/>
          </a:prstGeom>
          <a:noFill/>
          <a:ln/>
        </p:spPr>
        <p:txBody>
          <a:bodyPr wrap="square" lIns="0" tIns="0" rIns="0" bIns="0" rtlCol="0" anchor="ctr"/>
          <a:lstStyle/>
          <a:p>
            <a:pPr marL="0" indent="0">
              <a:buNone/>
            </a:pPr>
            <a:r>
              <a:rPr lang="en-US" sz="1150" dirty="0">
                <a:solidFill>
                  <a:srgbClr val="8C97AC"/>
                </a:solidFill>
                <a:latin typeface="Courier New" pitchFamily="34" charset="0"/>
                <a:ea typeface="Courier New" pitchFamily="34" charset="-122"/>
                <a:cs typeface="Courier New" pitchFamily="34" charset="-120"/>
              </a:rPr>
              <a:t>DTOs, ProblemDetails, no stack traces</a:t>
            </a:r>
            <a:endParaRPr lang="en-US" sz="1150" dirty="0"/>
          </a:p>
        </p:txBody>
      </p:sp>
      <p:sp>
        <p:nvSpPr>
          <p:cNvPr id="39" name="Shape 37"/>
          <p:cNvSpPr/>
          <p:nvPr/>
        </p:nvSpPr>
        <p:spPr>
          <a:xfrm>
            <a:off x="914400" y="5280660"/>
            <a:ext cx="146304" cy="182880"/>
          </a:xfrm>
          <a:prstGeom prst="downArrow">
            <a:avLst/>
          </a:prstGeom>
          <a:solidFill>
            <a:srgbClr val="3A4459"/>
          </a:solidFill>
          <a:ln w="12700">
            <a:solidFill>
              <a:srgbClr val="0B0F17"/>
            </a:solidFill>
            <a:prstDash val="solid"/>
          </a:ln>
        </p:spPr>
        <p:txBody>
          <a:bodyPr/>
          <a:lstStyle/>
          <a:p>
            <a:endParaRPr lang="en-NP"/>
          </a:p>
        </p:txBody>
      </p:sp>
      <p:sp>
        <p:nvSpPr>
          <p:cNvPr id="40" name="Shape 38"/>
          <p:cNvSpPr/>
          <p:nvPr/>
        </p:nvSpPr>
        <p:spPr>
          <a:xfrm>
            <a:off x="548640" y="5266944"/>
            <a:ext cx="4160520" cy="402336"/>
          </a:xfrm>
          <a:prstGeom prst="roundRect">
            <a:avLst>
              <a:gd name="adj" fmla="val 18182"/>
            </a:avLst>
          </a:prstGeom>
          <a:solidFill>
            <a:srgbClr val="141A26"/>
          </a:solidFill>
          <a:ln w="12700">
            <a:solidFill>
              <a:srgbClr val="4FD68A"/>
            </a:solidFill>
            <a:prstDash val="solid"/>
          </a:ln>
        </p:spPr>
        <p:txBody>
          <a:bodyPr/>
          <a:lstStyle/>
          <a:p>
            <a:endParaRPr lang="en-NP"/>
          </a:p>
        </p:txBody>
      </p:sp>
      <p:sp>
        <p:nvSpPr>
          <p:cNvPr id="41" name="Text 39"/>
          <p:cNvSpPr txBox="1"/>
          <p:nvPr/>
        </p:nvSpPr>
        <p:spPr>
          <a:xfrm>
            <a:off x="749808" y="5266944"/>
            <a:ext cx="3840480" cy="402336"/>
          </a:xfrm>
          <a:prstGeom prst="rect">
            <a:avLst/>
          </a:prstGeom>
          <a:noFill/>
          <a:ln/>
        </p:spPr>
        <p:txBody>
          <a:bodyPr wrap="square" lIns="0" tIns="0" rIns="0" bIns="0" rtlCol="0" anchor="ctr"/>
          <a:lstStyle/>
          <a:p>
            <a:pPr marL="0" indent="0">
              <a:buNone/>
            </a:pPr>
            <a:r>
              <a:rPr lang="en-US" sz="1200" b="1" dirty="0">
                <a:solidFill>
                  <a:srgbClr val="E9EEF7"/>
                </a:solidFill>
                <a:latin typeface="Arial" pitchFamily="34" charset="0"/>
                <a:ea typeface="Arial" pitchFamily="34" charset="-122"/>
                <a:cs typeface="Arial" pitchFamily="34" charset="-120"/>
              </a:rPr>
              <a:t>Logging &amp; telemetry</a:t>
            </a:r>
            <a:endParaRPr lang="en-US" sz="1200" dirty="0"/>
          </a:p>
        </p:txBody>
      </p:sp>
      <p:sp>
        <p:nvSpPr>
          <p:cNvPr id="42" name="Text 40"/>
          <p:cNvSpPr txBox="1"/>
          <p:nvPr/>
        </p:nvSpPr>
        <p:spPr>
          <a:xfrm>
            <a:off x="4937760" y="5266944"/>
            <a:ext cx="6675120" cy="402336"/>
          </a:xfrm>
          <a:prstGeom prst="rect">
            <a:avLst/>
          </a:prstGeom>
          <a:noFill/>
          <a:ln/>
        </p:spPr>
        <p:txBody>
          <a:bodyPr wrap="square" lIns="0" tIns="0" rIns="0" bIns="0" rtlCol="0" anchor="ctr"/>
          <a:lstStyle/>
          <a:p>
            <a:pPr marL="0" indent="0">
              <a:buNone/>
            </a:pPr>
            <a:r>
              <a:rPr lang="en-US" sz="1150" dirty="0">
                <a:solidFill>
                  <a:srgbClr val="8C97AC"/>
                </a:solidFill>
                <a:latin typeface="Courier New" pitchFamily="34" charset="0"/>
                <a:ea typeface="Courier New" pitchFamily="34" charset="-122"/>
                <a:cs typeface="Courier New" pitchFamily="34" charset="-120"/>
              </a:rPr>
              <a:t>Structured logs + alerts, no secrets</a:t>
            </a:r>
            <a:endParaRPr lang="en-US" sz="1150" dirty="0"/>
          </a:p>
        </p:txBody>
      </p:sp>
      <p:sp>
        <p:nvSpPr>
          <p:cNvPr id="43" name="Shape 41"/>
          <p:cNvSpPr/>
          <p:nvPr/>
        </p:nvSpPr>
        <p:spPr>
          <a:xfrm>
            <a:off x="548640" y="5806440"/>
            <a:ext cx="11091672" cy="502920"/>
          </a:xfrm>
          <a:prstGeom prst="roundRect">
            <a:avLst>
              <a:gd name="adj" fmla="val 14545"/>
            </a:avLst>
          </a:prstGeom>
          <a:solidFill>
            <a:srgbClr val="2A2050"/>
          </a:solidFill>
          <a:ln w="12700">
            <a:solidFill>
              <a:srgbClr val="FFA33A"/>
            </a:solidFill>
            <a:prstDash val="solid"/>
          </a:ln>
        </p:spPr>
        <p:txBody>
          <a:bodyPr/>
          <a:lstStyle/>
          <a:p>
            <a:endParaRPr lang="en-NP"/>
          </a:p>
        </p:txBody>
      </p:sp>
      <p:sp>
        <p:nvSpPr>
          <p:cNvPr id="44" name="Text 42"/>
          <p:cNvSpPr txBox="1"/>
          <p:nvPr/>
        </p:nvSpPr>
        <p:spPr>
          <a:xfrm>
            <a:off x="822960" y="5806440"/>
            <a:ext cx="10543032" cy="502920"/>
          </a:xfrm>
          <a:prstGeom prst="rect">
            <a:avLst/>
          </a:prstGeom>
          <a:noFill/>
          <a:ln/>
        </p:spPr>
        <p:txBody>
          <a:bodyPr wrap="square" lIns="0" tIns="0" rIns="0" bIns="0" rtlCol="0" anchor="ctr"/>
          <a:lstStyle/>
          <a:p>
            <a:pPr marL="0" indent="0" algn="ctr">
              <a:buNone/>
            </a:pPr>
            <a:r>
              <a:rPr lang="en-US" sz="1600" b="1" i="1" dirty="0">
                <a:solidFill>
                  <a:srgbClr val="FFA33A"/>
                </a:solidFill>
                <a:latin typeface="Arial" pitchFamily="34" charset="0"/>
                <a:ea typeface="Arial" pitchFamily="34" charset="-122"/>
                <a:cs typeface="Arial" pitchFamily="34" charset="-120"/>
              </a:rPr>
              <a:t>The framework gives you the controls. It does not decide whether you used them.</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ACROSS ENVIRONMENTS</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200" b="1" dirty="0">
                <a:solidFill>
                  <a:srgbClr val="E9EEF7"/>
                </a:solidFill>
                <a:latin typeface="Arial" pitchFamily="34" charset="0"/>
                <a:ea typeface="Arial" pitchFamily="34" charset="-122"/>
                <a:cs typeface="Arial" pitchFamily="34" charset="-120"/>
              </a:rPr>
              <a:t>Four Environments, Four Different Answers</a:t>
            </a:r>
            <a:endParaRPr lang="en-US" sz="3200" dirty="0"/>
          </a:p>
        </p:txBody>
      </p:sp>
      <p:sp>
        <p:nvSpPr>
          <p:cNvPr id="4" name="Shape 2"/>
          <p:cNvSpPr/>
          <p:nvPr/>
        </p:nvSpPr>
        <p:spPr>
          <a:xfrm>
            <a:off x="548640" y="1783080"/>
            <a:ext cx="2606040" cy="3108960"/>
          </a:xfrm>
          <a:prstGeom prst="roundRect">
            <a:avLst>
              <a:gd name="adj" fmla="val 2807"/>
            </a:avLst>
          </a:prstGeom>
          <a:solidFill>
            <a:srgbClr val="141A26"/>
          </a:solidFill>
          <a:ln w="12700">
            <a:solidFill>
              <a:srgbClr val="4CC9F0"/>
            </a:solidFill>
            <a:prstDash val="solid"/>
          </a:ln>
        </p:spPr>
        <p:txBody>
          <a:bodyPr/>
          <a:lstStyle/>
          <a:p>
            <a:endParaRPr lang="en-NP"/>
          </a:p>
        </p:txBody>
      </p:sp>
      <p:sp>
        <p:nvSpPr>
          <p:cNvPr id="5" name="Text 3"/>
          <p:cNvSpPr txBox="1"/>
          <p:nvPr/>
        </p:nvSpPr>
        <p:spPr>
          <a:xfrm>
            <a:off x="749808" y="1965960"/>
            <a:ext cx="2240280" cy="274320"/>
          </a:xfrm>
          <a:prstGeom prst="rect">
            <a:avLst/>
          </a:prstGeom>
          <a:noFill/>
          <a:ln/>
        </p:spPr>
        <p:txBody>
          <a:bodyPr wrap="square" lIns="0" tIns="0" rIns="0" bIns="0" rtlCol="0" anchor="ctr"/>
          <a:lstStyle/>
          <a:p>
            <a:pPr marL="0" indent="0">
              <a:buNone/>
            </a:pPr>
            <a:r>
              <a:rPr lang="en-US" sz="1150" b="1" kern="0" spc="140" dirty="0">
                <a:solidFill>
                  <a:srgbClr val="4CC9F0"/>
                </a:solidFill>
                <a:latin typeface="Arial" pitchFamily="34" charset="0"/>
                <a:ea typeface="Arial" pitchFamily="34" charset="-122"/>
                <a:cs typeface="Arial" pitchFamily="34" charset="-120"/>
              </a:rPr>
              <a:t>DEVELOPMENT</a:t>
            </a:r>
            <a:endParaRPr lang="en-US" sz="1150" dirty="0"/>
          </a:p>
        </p:txBody>
      </p:sp>
      <p:sp>
        <p:nvSpPr>
          <p:cNvPr id="6" name="Shape 4"/>
          <p:cNvSpPr/>
          <p:nvPr/>
        </p:nvSpPr>
        <p:spPr>
          <a:xfrm>
            <a:off x="768096" y="2505456"/>
            <a:ext cx="91440" cy="91440"/>
          </a:xfrm>
          <a:prstGeom prst="ellipse">
            <a:avLst/>
          </a:prstGeom>
          <a:solidFill>
            <a:srgbClr val="4CC9F0"/>
          </a:solidFill>
          <a:ln w="12700">
            <a:solidFill>
              <a:srgbClr val="4CC9F0"/>
            </a:solidFill>
            <a:prstDash val="solid"/>
          </a:ln>
        </p:spPr>
        <p:txBody>
          <a:bodyPr/>
          <a:lstStyle/>
          <a:p>
            <a:endParaRPr lang="en-NP"/>
          </a:p>
        </p:txBody>
      </p:sp>
      <p:sp>
        <p:nvSpPr>
          <p:cNvPr id="7" name="Text 5"/>
          <p:cNvSpPr txBox="1"/>
          <p:nvPr/>
        </p:nvSpPr>
        <p:spPr>
          <a:xfrm>
            <a:off x="1005840" y="2423160"/>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User secrets, never appsettings</a:t>
            </a:r>
            <a:endParaRPr lang="en-US" sz="1050" dirty="0"/>
          </a:p>
        </p:txBody>
      </p:sp>
      <p:sp>
        <p:nvSpPr>
          <p:cNvPr id="8" name="Shape 6"/>
          <p:cNvSpPr/>
          <p:nvPr/>
        </p:nvSpPr>
        <p:spPr>
          <a:xfrm>
            <a:off x="768096" y="3072384"/>
            <a:ext cx="91440" cy="91440"/>
          </a:xfrm>
          <a:prstGeom prst="ellipse">
            <a:avLst/>
          </a:prstGeom>
          <a:solidFill>
            <a:srgbClr val="4CC9F0"/>
          </a:solidFill>
          <a:ln w="12700">
            <a:solidFill>
              <a:srgbClr val="4CC9F0"/>
            </a:solidFill>
            <a:prstDash val="solid"/>
          </a:ln>
        </p:spPr>
        <p:txBody>
          <a:bodyPr/>
          <a:lstStyle/>
          <a:p>
            <a:endParaRPr lang="en-NP"/>
          </a:p>
        </p:txBody>
      </p:sp>
      <p:sp>
        <p:nvSpPr>
          <p:cNvPr id="9" name="Text 7"/>
          <p:cNvSpPr txBox="1"/>
          <p:nvPr/>
        </p:nvSpPr>
        <p:spPr>
          <a:xfrm>
            <a:off x="1005840" y="2990088"/>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Self-signed certs are fine here</a:t>
            </a:r>
            <a:endParaRPr lang="en-US" sz="1050" dirty="0"/>
          </a:p>
        </p:txBody>
      </p:sp>
      <p:sp>
        <p:nvSpPr>
          <p:cNvPr id="10" name="Shape 8"/>
          <p:cNvSpPr/>
          <p:nvPr/>
        </p:nvSpPr>
        <p:spPr>
          <a:xfrm>
            <a:off x="768096" y="3639312"/>
            <a:ext cx="91440" cy="91440"/>
          </a:xfrm>
          <a:prstGeom prst="ellipse">
            <a:avLst/>
          </a:prstGeom>
          <a:solidFill>
            <a:srgbClr val="4CC9F0"/>
          </a:solidFill>
          <a:ln w="12700">
            <a:solidFill>
              <a:srgbClr val="4CC9F0"/>
            </a:solidFill>
            <a:prstDash val="solid"/>
          </a:ln>
        </p:spPr>
        <p:txBody>
          <a:bodyPr/>
          <a:lstStyle/>
          <a:p>
            <a:endParaRPr lang="en-NP"/>
          </a:p>
        </p:txBody>
      </p:sp>
      <p:sp>
        <p:nvSpPr>
          <p:cNvPr id="11" name="Text 9"/>
          <p:cNvSpPr txBox="1"/>
          <p:nvPr/>
        </p:nvSpPr>
        <p:spPr>
          <a:xfrm>
            <a:off x="1005840" y="3557016"/>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Verbose errors allowed</a:t>
            </a:r>
            <a:endParaRPr lang="en-US" sz="1050" dirty="0"/>
          </a:p>
        </p:txBody>
      </p:sp>
      <p:sp>
        <p:nvSpPr>
          <p:cNvPr id="12" name="Shape 10"/>
          <p:cNvSpPr/>
          <p:nvPr/>
        </p:nvSpPr>
        <p:spPr>
          <a:xfrm>
            <a:off x="768096" y="4206240"/>
            <a:ext cx="91440" cy="91440"/>
          </a:xfrm>
          <a:prstGeom prst="ellipse">
            <a:avLst/>
          </a:prstGeom>
          <a:solidFill>
            <a:srgbClr val="4CC9F0"/>
          </a:solidFill>
          <a:ln w="12700">
            <a:solidFill>
              <a:srgbClr val="4CC9F0"/>
            </a:solidFill>
            <a:prstDash val="solid"/>
          </a:ln>
        </p:spPr>
        <p:txBody>
          <a:bodyPr/>
          <a:lstStyle/>
          <a:p>
            <a:endParaRPr lang="en-NP"/>
          </a:p>
        </p:txBody>
      </p:sp>
      <p:sp>
        <p:nvSpPr>
          <p:cNvPr id="13" name="Text 11"/>
          <p:cNvSpPr txBox="1"/>
          <p:nvPr/>
        </p:nvSpPr>
        <p:spPr>
          <a:xfrm>
            <a:off x="1005840" y="4123944"/>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Synthetic data only</a:t>
            </a:r>
            <a:endParaRPr lang="en-US" sz="1050" dirty="0"/>
          </a:p>
        </p:txBody>
      </p:sp>
      <p:sp>
        <p:nvSpPr>
          <p:cNvPr id="14" name="Shape 12"/>
          <p:cNvSpPr/>
          <p:nvPr/>
        </p:nvSpPr>
        <p:spPr>
          <a:xfrm>
            <a:off x="3227832" y="3246120"/>
            <a:ext cx="201168" cy="146304"/>
          </a:xfrm>
          <a:prstGeom prst="rightArrow">
            <a:avLst/>
          </a:prstGeom>
          <a:solidFill>
            <a:srgbClr val="5C687D"/>
          </a:solidFill>
          <a:ln w="12700">
            <a:solidFill>
              <a:srgbClr val="0B0F17"/>
            </a:solidFill>
            <a:prstDash val="solid"/>
          </a:ln>
        </p:spPr>
        <p:txBody>
          <a:bodyPr/>
          <a:lstStyle/>
          <a:p>
            <a:endParaRPr lang="en-NP"/>
          </a:p>
        </p:txBody>
      </p:sp>
      <p:sp>
        <p:nvSpPr>
          <p:cNvPr id="15" name="Shape 13"/>
          <p:cNvSpPr/>
          <p:nvPr/>
        </p:nvSpPr>
        <p:spPr>
          <a:xfrm>
            <a:off x="3429000" y="1783080"/>
            <a:ext cx="2606040" cy="3108960"/>
          </a:xfrm>
          <a:prstGeom prst="roundRect">
            <a:avLst>
              <a:gd name="adj" fmla="val 2807"/>
            </a:avLst>
          </a:prstGeom>
          <a:solidFill>
            <a:srgbClr val="141A26"/>
          </a:solidFill>
          <a:ln w="12700">
            <a:solidFill>
              <a:srgbClr val="FFC15E"/>
            </a:solidFill>
            <a:prstDash val="solid"/>
          </a:ln>
        </p:spPr>
        <p:txBody>
          <a:bodyPr/>
          <a:lstStyle/>
          <a:p>
            <a:endParaRPr lang="en-NP"/>
          </a:p>
        </p:txBody>
      </p:sp>
      <p:sp>
        <p:nvSpPr>
          <p:cNvPr id="16" name="Text 14"/>
          <p:cNvSpPr txBox="1"/>
          <p:nvPr/>
        </p:nvSpPr>
        <p:spPr>
          <a:xfrm>
            <a:off x="3630168" y="1965960"/>
            <a:ext cx="2240280" cy="274320"/>
          </a:xfrm>
          <a:prstGeom prst="rect">
            <a:avLst/>
          </a:prstGeom>
          <a:noFill/>
          <a:ln/>
        </p:spPr>
        <p:txBody>
          <a:bodyPr wrap="square" lIns="0" tIns="0" rIns="0" bIns="0" rtlCol="0" anchor="ctr"/>
          <a:lstStyle/>
          <a:p>
            <a:pPr marL="0" indent="0">
              <a:buNone/>
            </a:pPr>
            <a:r>
              <a:rPr lang="en-US" sz="1150" b="1" kern="0" spc="140" dirty="0">
                <a:solidFill>
                  <a:srgbClr val="FFC15E"/>
                </a:solidFill>
                <a:latin typeface="Arial" pitchFamily="34" charset="0"/>
                <a:ea typeface="Arial" pitchFamily="34" charset="-122"/>
                <a:cs typeface="Arial" pitchFamily="34" charset="-120"/>
              </a:rPr>
              <a:t>CI / CD</a:t>
            </a:r>
            <a:endParaRPr lang="en-US" sz="1150" dirty="0"/>
          </a:p>
        </p:txBody>
      </p:sp>
      <p:sp>
        <p:nvSpPr>
          <p:cNvPr id="17" name="Shape 15"/>
          <p:cNvSpPr/>
          <p:nvPr/>
        </p:nvSpPr>
        <p:spPr>
          <a:xfrm>
            <a:off x="3648456" y="2505456"/>
            <a:ext cx="91440" cy="91440"/>
          </a:xfrm>
          <a:prstGeom prst="ellipse">
            <a:avLst/>
          </a:prstGeom>
          <a:solidFill>
            <a:srgbClr val="FFC15E"/>
          </a:solidFill>
          <a:ln w="12700">
            <a:solidFill>
              <a:srgbClr val="FFC15E"/>
            </a:solidFill>
            <a:prstDash val="solid"/>
          </a:ln>
        </p:spPr>
        <p:txBody>
          <a:bodyPr/>
          <a:lstStyle/>
          <a:p>
            <a:endParaRPr lang="en-NP"/>
          </a:p>
        </p:txBody>
      </p:sp>
      <p:sp>
        <p:nvSpPr>
          <p:cNvPr id="18" name="Text 16"/>
          <p:cNvSpPr txBox="1"/>
          <p:nvPr/>
        </p:nvSpPr>
        <p:spPr>
          <a:xfrm>
            <a:off x="3886200" y="2423160"/>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Scoped, short-lived tokens</a:t>
            </a:r>
            <a:endParaRPr lang="en-US" sz="1050" dirty="0"/>
          </a:p>
        </p:txBody>
      </p:sp>
      <p:sp>
        <p:nvSpPr>
          <p:cNvPr id="19" name="Shape 17"/>
          <p:cNvSpPr/>
          <p:nvPr/>
        </p:nvSpPr>
        <p:spPr>
          <a:xfrm>
            <a:off x="3648456" y="3072384"/>
            <a:ext cx="91440" cy="91440"/>
          </a:xfrm>
          <a:prstGeom prst="ellipse">
            <a:avLst/>
          </a:prstGeom>
          <a:solidFill>
            <a:srgbClr val="FFC15E"/>
          </a:solidFill>
          <a:ln w="12700">
            <a:solidFill>
              <a:srgbClr val="FFC15E"/>
            </a:solidFill>
            <a:prstDash val="solid"/>
          </a:ln>
        </p:spPr>
        <p:txBody>
          <a:bodyPr/>
          <a:lstStyle/>
          <a:p>
            <a:endParaRPr lang="en-NP"/>
          </a:p>
        </p:txBody>
      </p:sp>
      <p:sp>
        <p:nvSpPr>
          <p:cNvPr id="20" name="Text 18"/>
          <p:cNvSpPr txBox="1"/>
          <p:nvPr/>
        </p:nvSpPr>
        <p:spPr>
          <a:xfrm>
            <a:off x="3886200" y="2990088"/>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Secret scanning on every push</a:t>
            </a:r>
            <a:endParaRPr lang="en-US" sz="1050" dirty="0"/>
          </a:p>
        </p:txBody>
      </p:sp>
      <p:sp>
        <p:nvSpPr>
          <p:cNvPr id="21" name="Shape 19"/>
          <p:cNvSpPr/>
          <p:nvPr/>
        </p:nvSpPr>
        <p:spPr>
          <a:xfrm>
            <a:off x="3648456" y="3639312"/>
            <a:ext cx="91440" cy="91440"/>
          </a:xfrm>
          <a:prstGeom prst="ellipse">
            <a:avLst/>
          </a:prstGeom>
          <a:solidFill>
            <a:srgbClr val="FFC15E"/>
          </a:solidFill>
          <a:ln w="12700">
            <a:solidFill>
              <a:srgbClr val="FFC15E"/>
            </a:solidFill>
            <a:prstDash val="solid"/>
          </a:ln>
        </p:spPr>
        <p:txBody>
          <a:bodyPr/>
          <a:lstStyle/>
          <a:p>
            <a:endParaRPr lang="en-NP"/>
          </a:p>
        </p:txBody>
      </p:sp>
      <p:sp>
        <p:nvSpPr>
          <p:cNvPr id="22" name="Text 20"/>
          <p:cNvSpPr txBox="1"/>
          <p:nvPr/>
        </p:nvSpPr>
        <p:spPr>
          <a:xfrm>
            <a:off x="3886200" y="3557016"/>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Ephemeral build agents</a:t>
            </a:r>
            <a:endParaRPr lang="en-US" sz="1050" dirty="0"/>
          </a:p>
        </p:txBody>
      </p:sp>
      <p:sp>
        <p:nvSpPr>
          <p:cNvPr id="23" name="Shape 21"/>
          <p:cNvSpPr/>
          <p:nvPr/>
        </p:nvSpPr>
        <p:spPr>
          <a:xfrm>
            <a:off x="3648456" y="4206240"/>
            <a:ext cx="91440" cy="91440"/>
          </a:xfrm>
          <a:prstGeom prst="ellipse">
            <a:avLst/>
          </a:prstGeom>
          <a:solidFill>
            <a:srgbClr val="FFC15E"/>
          </a:solidFill>
          <a:ln w="12700">
            <a:solidFill>
              <a:srgbClr val="FFC15E"/>
            </a:solidFill>
            <a:prstDash val="solid"/>
          </a:ln>
        </p:spPr>
        <p:txBody>
          <a:bodyPr/>
          <a:lstStyle/>
          <a:p>
            <a:endParaRPr lang="en-NP"/>
          </a:p>
        </p:txBody>
      </p:sp>
      <p:sp>
        <p:nvSpPr>
          <p:cNvPr id="24" name="Text 22"/>
          <p:cNvSpPr txBox="1"/>
          <p:nvPr/>
        </p:nvSpPr>
        <p:spPr>
          <a:xfrm>
            <a:off x="3886200" y="4123944"/>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Signed artifacts</a:t>
            </a:r>
            <a:endParaRPr lang="en-US" sz="1050" dirty="0"/>
          </a:p>
        </p:txBody>
      </p:sp>
      <p:sp>
        <p:nvSpPr>
          <p:cNvPr id="25" name="Shape 23"/>
          <p:cNvSpPr/>
          <p:nvPr/>
        </p:nvSpPr>
        <p:spPr>
          <a:xfrm>
            <a:off x="6108192" y="3246120"/>
            <a:ext cx="201168" cy="146304"/>
          </a:xfrm>
          <a:prstGeom prst="rightArrow">
            <a:avLst/>
          </a:prstGeom>
          <a:solidFill>
            <a:srgbClr val="5C687D"/>
          </a:solidFill>
          <a:ln w="12700">
            <a:solidFill>
              <a:srgbClr val="0B0F17"/>
            </a:solidFill>
            <a:prstDash val="solid"/>
          </a:ln>
        </p:spPr>
        <p:txBody>
          <a:bodyPr/>
          <a:lstStyle/>
          <a:p>
            <a:endParaRPr lang="en-NP"/>
          </a:p>
        </p:txBody>
      </p:sp>
      <p:sp>
        <p:nvSpPr>
          <p:cNvPr id="26" name="Shape 24"/>
          <p:cNvSpPr/>
          <p:nvPr/>
        </p:nvSpPr>
        <p:spPr>
          <a:xfrm>
            <a:off x="6309360" y="1783080"/>
            <a:ext cx="2606040" cy="3108960"/>
          </a:xfrm>
          <a:prstGeom prst="roundRect">
            <a:avLst>
              <a:gd name="adj" fmla="val 2807"/>
            </a:avLst>
          </a:prstGeom>
          <a:solidFill>
            <a:srgbClr val="141A26"/>
          </a:solidFill>
          <a:ln w="12700">
            <a:solidFill>
              <a:srgbClr val="FFA33A"/>
            </a:solidFill>
            <a:prstDash val="solid"/>
          </a:ln>
        </p:spPr>
        <p:txBody>
          <a:bodyPr/>
          <a:lstStyle/>
          <a:p>
            <a:endParaRPr lang="en-NP"/>
          </a:p>
        </p:txBody>
      </p:sp>
      <p:sp>
        <p:nvSpPr>
          <p:cNvPr id="27" name="Text 25"/>
          <p:cNvSpPr txBox="1"/>
          <p:nvPr/>
        </p:nvSpPr>
        <p:spPr>
          <a:xfrm>
            <a:off x="6510528" y="1965960"/>
            <a:ext cx="2240280" cy="274320"/>
          </a:xfrm>
          <a:prstGeom prst="rect">
            <a:avLst/>
          </a:prstGeom>
          <a:noFill/>
          <a:ln/>
        </p:spPr>
        <p:txBody>
          <a:bodyPr wrap="square" lIns="0" tIns="0" rIns="0" bIns="0" rtlCol="0" anchor="ctr"/>
          <a:lstStyle/>
          <a:p>
            <a:pPr marL="0" indent="0">
              <a:buNone/>
            </a:pPr>
            <a:r>
              <a:rPr lang="en-US" sz="1150" b="1" kern="0" spc="140" dirty="0">
                <a:solidFill>
                  <a:srgbClr val="FFA33A"/>
                </a:solidFill>
                <a:latin typeface="Arial" pitchFamily="34" charset="0"/>
                <a:ea typeface="Arial" pitchFamily="34" charset="-122"/>
                <a:cs typeface="Arial" pitchFamily="34" charset="-120"/>
              </a:rPr>
              <a:t>STAGING</a:t>
            </a:r>
            <a:endParaRPr lang="en-US" sz="1150" dirty="0"/>
          </a:p>
        </p:txBody>
      </p:sp>
      <p:sp>
        <p:nvSpPr>
          <p:cNvPr id="28" name="Shape 26"/>
          <p:cNvSpPr/>
          <p:nvPr/>
        </p:nvSpPr>
        <p:spPr>
          <a:xfrm>
            <a:off x="6528816" y="2505456"/>
            <a:ext cx="91440" cy="91440"/>
          </a:xfrm>
          <a:prstGeom prst="ellipse">
            <a:avLst/>
          </a:prstGeom>
          <a:solidFill>
            <a:srgbClr val="FFA33A"/>
          </a:solidFill>
          <a:ln w="12700">
            <a:solidFill>
              <a:srgbClr val="FFA33A"/>
            </a:solidFill>
            <a:prstDash val="solid"/>
          </a:ln>
        </p:spPr>
        <p:txBody>
          <a:bodyPr/>
          <a:lstStyle/>
          <a:p>
            <a:endParaRPr lang="en-NP"/>
          </a:p>
        </p:txBody>
      </p:sp>
      <p:sp>
        <p:nvSpPr>
          <p:cNvPr id="29" name="Text 27"/>
          <p:cNvSpPr txBox="1"/>
          <p:nvPr/>
        </p:nvSpPr>
        <p:spPr>
          <a:xfrm>
            <a:off x="6766560" y="2423160"/>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Production-like config</a:t>
            </a:r>
            <a:endParaRPr lang="en-US" sz="1050" dirty="0"/>
          </a:p>
        </p:txBody>
      </p:sp>
      <p:sp>
        <p:nvSpPr>
          <p:cNvPr id="30" name="Shape 28"/>
          <p:cNvSpPr/>
          <p:nvPr/>
        </p:nvSpPr>
        <p:spPr>
          <a:xfrm>
            <a:off x="6528816" y="3072384"/>
            <a:ext cx="91440" cy="91440"/>
          </a:xfrm>
          <a:prstGeom prst="ellipse">
            <a:avLst/>
          </a:prstGeom>
          <a:solidFill>
            <a:srgbClr val="FFA33A"/>
          </a:solidFill>
          <a:ln w="12700">
            <a:solidFill>
              <a:srgbClr val="FFA33A"/>
            </a:solidFill>
            <a:prstDash val="solid"/>
          </a:ln>
        </p:spPr>
        <p:txBody>
          <a:bodyPr/>
          <a:lstStyle/>
          <a:p>
            <a:endParaRPr lang="en-NP"/>
          </a:p>
        </p:txBody>
      </p:sp>
      <p:sp>
        <p:nvSpPr>
          <p:cNvPr id="31" name="Text 29"/>
          <p:cNvSpPr txBox="1"/>
          <p:nvPr/>
        </p:nvSpPr>
        <p:spPr>
          <a:xfrm>
            <a:off x="6766560" y="2990088"/>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Real HTTPS + real headers</a:t>
            </a:r>
            <a:endParaRPr lang="en-US" sz="1050" dirty="0"/>
          </a:p>
        </p:txBody>
      </p:sp>
      <p:sp>
        <p:nvSpPr>
          <p:cNvPr id="32" name="Shape 30"/>
          <p:cNvSpPr/>
          <p:nvPr/>
        </p:nvSpPr>
        <p:spPr>
          <a:xfrm>
            <a:off x="6528816" y="3639312"/>
            <a:ext cx="91440" cy="91440"/>
          </a:xfrm>
          <a:prstGeom prst="ellipse">
            <a:avLst/>
          </a:prstGeom>
          <a:solidFill>
            <a:srgbClr val="FFA33A"/>
          </a:solidFill>
          <a:ln w="12700">
            <a:solidFill>
              <a:srgbClr val="FFA33A"/>
            </a:solidFill>
            <a:prstDash val="solid"/>
          </a:ln>
        </p:spPr>
        <p:txBody>
          <a:bodyPr/>
          <a:lstStyle/>
          <a:p>
            <a:endParaRPr lang="en-NP"/>
          </a:p>
        </p:txBody>
      </p:sp>
      <p:sp>
        <p:nvSpPr>
          <p:cNvPr id="33" name="Text 31"/>
          <p:cNvSpPr txBox="1"/>
          <p:nvPr/>
        </p:nvSpPr>
        <p:spPr>
          <a:xfrm>
            <a:off x="6766560" y="3557016"/>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No production data copies</a:t>
            </a:r>
            <a:endParaRPr lang="en-US" sz="1050" dirty="0"/>
          </a:p>
        </p:txBody>
      </p:sp>
      <p:sp>
        <p:nvSpPr>
          <p:cNvPr id="34" name="Shape 32"/>
          <p:cNvSpPr/>
          <p:nvPr/>
        </p:nvSpPr>
        <p:spPr>
          <a:xfrm>
            <a:off x="6528816" y="4206240"/>
            <a:ext cx="91440" cy="91440"/>
          </a:xfrm>
          <a:prstGeom prst="ellipse">
            <a:avLst/>
          </a:prstGeom>
          <a:solidFill>
            <a:srgbClr val="FFA33A"/>
          </a:solidFill>
          <a:ln w="12700">
            <a:solidFill>
              <a:srgbClr val="FFA33A"/>
            </a:solidFill>
            <a:prstDash val="solid"/>
          </a:ln>
        </p:spPr>
        <p:txBody>
          <a:bodyPr/>
          <a:lstStyle/>
          <a:p>
            <a:endParaRPr lang="en-NP"/>
          </a:p>
        </p:txBody>
      </p:sp>
      <p:sp>
        <p:nvSpPr>
          <p:cNvPr id="35" name="Text 33"/>
          <p:cNvSpPr txBox="1"/>
          <p:nvPr/>
        </p:nvSpPr>
        <p:spPr>
          <a:xfrm>
            <a:off x="6766560" y="4123944"/>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DAST runs here</a:t>
            </a:r>
            <a:endParaRPr lang="en-US" sz="1050" dirty="0"/>
          </a:p>
        </p:txBody>
      </p:sp>
      <p:sp>
        <p:nvSpPr>
          <p:cNvPr id="36" name="Shape 34"/>
          <p:cNvSpPr/>
          <p:nvPr/>
        </p:nvSpPr>
        <p:spPr>
          <a:xfrm>
            <a:off x="8988552" y="3246120"/>
            <a:ext cx="201168" cy="146304"/>
          </a:xfrm>
          <a:prstGeom prst="rightArrow">
            <a:avLst/>
          </a:prstGeom>
          <a:solidFill>
            <a:srgbClr val="5C687D"/>
          </a:solidFill>
          <a:ln w="12700">
            <a:solidFill>
              <a:srgbClr val="0B0F17"/>
            </a:solidFill>
            <a:prstDash val="solid"/>
          </a:ln>
        </p:spPr>
        <p:txBody>
          <a:bodyPr/>
          <a:lstStyle/>
          <a:p>
            <a:endParaRPr lang="en-NP"/>
          </a:p>
        </p:txBody>
      </p:sp>
      <p:sp>
        <p:nvSpPr>
          <p:cNvPr id="37" name="Shape 35"/>
          <p:cNvSpPr/>
          <p:nvPr/>
        </p:nvSpPr>
        <p:spPr>
          <a:xfrm>
            <a:off x="9189720" y="1783080"/>
            <a:ext cx="2606040" cy="3108960"/>
          </a:xfrm>
          <a:prstGeom prst="roundRect">
            <a:avLst>
              <a:gd name="adj" fmla="val 2807"/>
            </a:avLst>
          </a:prstGeom>
          <a:solidFill>
            <a:srgbClr val="141A26"/>
          </a:solidFill>
          <a:ln w="12700">
            <a:solidFill>
              <a:srgbClr val="FF6B5E"/>
            </a:solidFill>
            <a:prstDash val="solid"/>
          </a:ln>
        </p:spPr>
        <p:txBody>
          <a:bodyPr/>
          <a:lstStyle/>
          <a:p>
            <a:endParaRPr lang="en-NP"/>
          </a:p>
        </p:txBody>
      </p:sp>
      <p:sp>
        <p:nvSpPr>
          <p:cNvPr id="38" name="Text 36"/>
          <p:cNvSpPr txBox="1"/>
          <p:nvPr/>
        </p:nvSpPr>
        <p:spPr>
          <a:xfrm>
            <a:off x="9390888" y="1965960"/>
            <a:ext cx="2240280" cy="274320"/>
          </a:xfrm>
          <a:prstGeom prst="rect">
            <a:avLst/>
          </a:prstGeom>
          <a:noFill/>
          <a:ln/>
        </p:spPr>
        <p:txBody>
          <a:bodyPr wrap="square" lIns="0" tIns="0" rIns="0" bIns="0" rtlCol="0" anchor="ctr"/>
          <a:lstStyle/>
          <a:p>
            <a:pPr marL="0" indent="0">
              <a:buNone/>
            </a:pPr>
            <a:r>
              <a:rPr lang="en-US" sz="1150" b="1" kern="0" spc="140" dirty="0">
                <a:solidFill>
                  <a:srgbClr val="FF6B5E"/>
                </a:solidFill>
                <a:latin typeface="Arial" pitchFamily="34" charset="0"/>
                <a:ea typeface="Arial" pitchFamily="34" charset="-122"/>
                <a:cs typeface="Arial" pitchFamily="34" charset="-120"/>
              </a:rPr>
              <a:t>PRODUCTION</a:t>
            </a:r>
            <a:endParaRPr lang="en-US" sz="1150" dirty="0"/>
          </a:p>
        </p:txBody>
      </p:sp>
      <p:sp>
        <p:nvSpPr>
          <p:cNvPr id="39" name="Shape 37"/>
          <p:cNvSpPr/>
          <p:nvPr/>
        </p:nvSpPr>
        <p:spPr>
          <a:xfrm>
            <a:off x="9409176" y="2505456"/>
            <a:ext cx="91440" cy="91440"/>
          </a:xfrm>
          <a:prstGeom prst="ellipse">
            <a:avLst/>
          </a:prstGeom>
          <a:solidFill>
            <a:srgbClr val="FF6B5E"/>
          </a:solidFill>
          <a:ln w="12700">
            <a:solidFill>
              <a:srgbClr val="FF6B5E"/>
            </a:solidFill>
            <a:prstDash val="solid"/>
          </a:ln>
        </p:spPr>
        <p:txBody>
          <a:bodyPr/>
          <a:lstStyle/>
          <a:p>
            <a:endParaRPr lang="en-NP"/>
          </a:p>
        </p:txBody>
      </p:sp>
      <p:sp>
        <p:nvSpPr>
          <p:cNvPr id="40" name="Text 38"/>
          <p:cNvSpPr txBox="1"/>
          <p:nvPr/>
        </p:nvSpPr>
        <p:spPr>
          <a:xfrm>
            <a:off x="9646920" y="2423160"/>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Key Vault / managed identity</a:t>
            </a:r>
            <a:endParaRPr lang="en-US" sz="1050" dirty="0"/>
          </a:p>
        </p:txBody>
      </p:sp>
      <p:sp>
        <p:nvSpPr>
          <p:cNvPr id="41" name="Shape 39"/>
          <p:cNvSpPr/>
          <p:nvPr/>
        </p:nvSpPr>
        <p:spPr>
          <a:xfrm>
            <a:off x="9409176" y="3072384"/>
            <a:ext cx="91440" cy="91440"/>
          </a:xfrm>
          <a:prstGeom prst="ellipse">
            <a:avLst/>
          </a:prstGeom>
          <a:solidFill>
            <a:srgbClr val="FF6B5E"/>
          </a:solidFill>
          <a:ln w="12700">
            <a:solidFill>
              <a:srgbClr val="FF6B5E"/>
            </a:solidFill>
            <a:prstDash val="solid"/>
          </a:ln>
        </p:spPr>
        <p:txBody>
          <a:bodyPr/>
          <a:lstStyle/>
          <a:p>
            <a:endParaRPr lang="en-NP"/>
          </a:p>
        </p:txBody>
      </p:sp>
      <p:sp>
        <p:nvSpPr>
          <p:cNvPr id="42" name="Text 40"/>
          <p:cNvSpPr txBox="1"/>
          <p:nvPr/>
        </p:nvSpPr>
        <p:spPr>
          <a:xfrm>
            <a:off x="9646920" y="2990088"/>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Secure + HttpOnly cookies, HSTS</a:t>
            </a:r>
            <a:endParaRPr lang="en-US" sz="1050" dirty="0"/>
          </a:p>
        </p:txBody>
      </p:sp>
      <p:sp>
        <p:nvSpPr>
          <p:cNvPr id="43" name="Shape 41"/>
          <p:cNvSpPr/>
          <p:nvPr/>
        </p:nvSpPr>
        <p:spPr>
          <a:xfrm>
            <a:off x="9409176" y="3639312"/>
            <a:ext cx="91440" cy="91440"/>
          </a:xfrm>
          <a:prstGeom prst="ellipse">
            <a:avLst/>
          </a:prstGeom>
          <a:solidFill>
            <a:srgbClr val="FF6B5E"/>
          </a:solidFill>
          <a:ln w="12700">
            <a:solidFill>
              <a:srgbClr val="FF6B5E"/>
            </a:solidFill>
            <a:prstDash val="solid"/>
          </a:ln>
        </p:spPr>
        <p:txBody>
          <a:bodyPr/>
          <a:lstStyle/>
          <a:p>
            <a:endParaRPr lang="en-NP"/>
          </a:p>
        </p:txBody>
      </p:sp>
      <p:sp>
        <p:nvSpPr>
          <p:cNvPr id="44" name="Text 42"/>
          <p:cNvSpPr txBox="1"/>
          <p:nvPr/>
        </p:nvSpPr>
        <p:spPr>
          <a:xfrm>
            <a:off x="9646920" y="3557016"/>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Locked CORS, no Swagger</a:t>
            </a:r>
            <a:endParaRPr lang="en-US" sz="1050" dirty="0"/>
          </a:p>
        </p:txBody>
      </p:sp>
      <p:sp>
        <p:nvSpPr>
          <p:cNvPr id="45" name="Shape 43"/>
          <p:cNvSpPr/>
          <p:nvPr/>
        </p:nvSpPr>
        <p:spPr>
          <a:xfrm>
            <a:off x="9409176" y="4206240"/>
            <a:ext cx="91440" cy="91440"/>
          </a:xfrm>
          <a:prstGeom prst="ellipse">
            <a:avLst/>
          </a:prstGeom>
          <a:solidFill>
            <a:srgbClr val="FF6B5E"/>
          </a:solidFill>
          <a:ln w="12700">
            <a:solidFill>
              <a:srgbClr val="FF6B5E"/>
            </a:solidFill>
            <a:prstDash val="solid"/>
          </a:ln>
        </p:spPr>
        <p:txBody>
          <a:bodyPr/>
          <a:lstStyle/>
          <a:p>
            <a:endParaRPr lang="en-NP"/>
          </a:p>
        </p:txBody>
      </p:sp>
      <p:sp>
        <p:nvSpPr>
          <p:cNvPr id="46" name="Text 44"/>
          <p:cNvSpPr txBox="1"/>
          <p:nvPr/>
        </p:nvSpPr>
        <p:spPr>
          <a:xfrm>
            <a:off x="9646920" y="4123944"/>
            <a:ext cx="2011680" cy="502920"/>
          </a:xfrm>
          <a:prstGeom prst="rect">
            <a:avLst/>
          </a:prstGeom>
          <a:noFill/>
          <a:ln/>
        </p:spPr>
        <p:txBody>
          <a:bodyPr wrap="square" lIns="0" tIns="0" rIns="0" bIns="0" rtlCol="0" anchor="ctr"/>
          <a:lstStyle/>
          <a:p>
            <a:pPr marL="0" indent="0">
              <a:lnSpc>
                <a:spcPct val="112000"/>
              </a:lnSpc>
              <a:buNone/>
            </a:pPr>
            <a:r>
              <a:rPr lang="en-US" sz="1050" dirty="0">
                <a:solidFill>
                  <a:srgbClr val="E9EEF7"/>
                </a:solidFill>
                <a:latin typeface="Arial" pitchFamily="34" charset="0"/>
                <a:ea typeface="Arial" pitchFamily="34" charset="-122"/>
                <a:cs typeface="Arial" pitchFamily="34" charset="-120"/>
              </a:rPr>
              <a:t>Structured logs + real alerts</a:t>
            </a:r>
            <a:endParaRPr lang="en-US" sz="1050" dirty="0"/>
          </a:p>
        </p:txBody>
      </p:sp>
      <p:sp>
        <p:nvSpPr>
          <p:cNvPr id="47" name="Shape 45"/>
          <p:cNvSpPr/>
          <p:nvPr/>
        </p:nvSpPr>
        <p:spPr>
          <a:xfrm>
            <a:off x="548640" y="5120640"/>
            <a:ext cx="11091672" cy="1005840"/>
          </a:xfrm>
          <a:prstGeom prst="roundRect">
            <a:avLst>
              <a:gd name="adj" fmla="val 7273"/>
            </a:avLst>
          </a:prstGeom>
          <a:solidFill>
            <a:srgbClr val="2A1618"/>
          </a:solidFill>
          <a:ln w="12700">
            <a:solidFill>
              <a:srgbClr val="FF6B5E"/>
            </a:solidFill>
            <a:prstDash val="solid"/>
          </a:ln>
        </p:spPr>
        <p:txBody>
          <a:bodyPr/>
          <a:lstStyle/>
          <a:p>
            <a:endParaRPr lang="en-NP"/>
          </a:p>
        </p:txBody>
      </p:sp>
      <p:sp>
        <p:nvSpPr>
          <p:cNvPr id="48" name="Text 46"/>
          <p:cNvSpPr txBox="1"/>
          <p:nvPr/>
        </p:nvSpPr>
        <p:spPr>
          <a:xfrm>
            <a:off x="822960" y="5120640"/>
            <a:ext cx="10515600" cy="1005840"/>
          </a:xfrm>
          <a:prstGeom prst="rect">
            <a:avLst/>
          </a:prstGeom>
          <a:noFill/>
          <a:ln/>
        </p:spPr>
        <p:txBody>
          <a:bodyPr wrap="square" lIns="0" tIns="0" rIns="0" bIns="0" rtlCol="0" anchor="ctr"/>
          <a:lstStyle/>
          <a:p>
            <a:pPr marL="0" indent="0" algn="ctr">
              <a:buNone/>
            </a:pPr>
            <a:r>
              <a:rPr lang="en-US" sz="1700" b="1" i="1" dirty="0">
                <a:solidFill>
                  <a:srgbClr val="FFC0B8"/>
                </a:solidFill>
                <a:latin typeface="Arial" pitchFamily="34" charset="0"/>
                <a:ea typeface="Arial" pitchFamily="34" charset="-122"/>
                <a:cs typeface="Arial" pitchFamily="34" charset="-120"/>
              </a:rPr>
              <a:t>"Never trust production configuration just because development configuration works."</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THE PATH TO PRODUCTION</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200" b="1" dirty="0">
                <a:solidFill>
                  <a:srgbClr val="E9EEF7"/>
                </a:solidFill>
                <a:latin typeface="Arial" pitchFamily="34" charset="0"/>
                <a:ea typeface="Arial" pitchFamily="34" charset="-122"/>
                <a:cs typeface="Arial" pitchFamily="34" charset="-120"/>
              </a:rPr>
              <a:t>Controls On The Road, Not At The Gate</a:t>
            </a:r>
            <a:endParaRPr lang="en-US" sz="3200" dirty="0"/>
          </a:p>
        </p:txBody>
      </p:sp>
      <p:sp>
        <p:nvSpPr>
          <p:cNvPr id="4" name="Shape 2"/>
          <p:cNvSpPr/>
          <p:nvPr/>
        </p:nvSpPr>
        <p:spPr>
          <a:xfrm>
            <a:off x="548640" y="1828800"/>
            <a:ext cx="1298448" cy="685800"/>
          </a:xfrm>
          <a:prstGeom prst="roundRect">
            <a:avLst>
              <a:gd name="adj" fmla="val 10667"/>
            </a:avLst>
          </a:prstGeom>
          <a:solidFill>
            <a:srgbClr val="1A2130"/>
          </a:solidFill>
          <a:ln w="12700">
            <a:solidFill>
              <a:srgbClr val="4CC9F0"/>
            </a:solidFill>
            <a:prstDash val="solid"/>
          </a:ln>
        </p:spPr>
        <p:txBody>
          <a:bodyPr/>
          <a:lstStyle/>
          <a:p>
            <a:endParaRPr lang="en-NP"/>
          </a:p>
        </p:txBody>
      </p:sp>
      <p:sp>
        <p:nvSpPr>
          <p:cNvPr id="5" name="Text 3"/>
          <p:cNvSpPr txBox="1"/>
          <p:nvPr/>
        </p:nvSpPr>
        <p:spPr>
          <a:xfrm>
            <a:off x="594360" y="1828800"/>
            <a:ext cx="1207008" cy="685800"/>
          </a:xfrm>
          <a:prstGeom prst="rect">
            <a:avLst/>
          </a:prstGeom>
          <a:noFill/>
          <a:ln/>
        </p:spPr>
        <p:txBody>
          <a:bodyPr wrap="square" lIns="0" tIns="0" rIns="0" bIns="0" rtlCol="0" anchor="ctr"/>
          <a:lstStyle/>
          <a:p>
            <a:pPr marL="0" indent="0" algn="ctr">
              <a:lnSpc>
                <a:spcPct val="105000"/>
              </a:lnSpc>
              <a:buNone/>
            </a:pPr>
            <a:r>
              <a:rPr lang="en-US" sz="950" b="1" dirty="0">
                <a:solidFill>
                  <a:srgbClr val="4CC9F0"/>
                </a:solidFill>
                <a:latin typeface="Arial" pitchFamily="34" charset="0"/>
                <a:ea typeface="Arial" pitchFamily="34" charset="-122"/>
                <a:cs typeface="Arial" pitchFamily="34" charset="-120"/>
              </a:rPr>
              <a:t>Developer</a:t>
            </a:r>
            <a:endParaRPr lang="en-US" sz="950" dirty="0"/>
          </a:p>
        </p:txBody>
      </p:sp>
      <p:sp>
        <p:nvSpPr>
          <p:cNvPr id="6" name="Shape 4"/>
          <p:cNvSpPr/>
          <p:nvPr/>
        </p:nvSpPr>
        <p:spPr>
          <a:xfrm>
            <a:off x="1892808" y="2093976"/>
            <a:ext cx="164592" cy="146304"/>
          </a:xfrm>
          <a:prstGeom prst="rightArrow">
            <a:avLst/>
          </a:prstGeom>
          <a:solidFill>
            <a:srgbClr val="5C687D"/>
          </a:solidFill>
          <a:ln w="12700">
            <a:solidFill>
              <a:srgbClr val="0B0F17"/>
            </a:solidFill>
            <a:prstDash val="solid"/>
          </a:ln>
        </p:spPr>
        <p:txBody>
          <a:bodyPr/>
          <a:lstStyle/>
          <a:p>
            <a:endParaRPr lang="en-NP"/>
          </a:p>
        </p:txBody>
      </p:sp>
      <p:sp>
        <p:nvSpPr>
          <p:cNvPr id="7" name="Shape 5"/>
          <p:cNvSpPr/>
          <p:nvPr/>
        </p:nvSpPr>
        <p:spPr>
          <a:xfrm>
            <a:off x="1197864" y="2542032"/>
            <a:ext cx="0" cy="320040"/>
          </a:xfrm>
          <a:prstGeom prst="line">
            <a:avLst/>
          </a:prstGeom>
          <a:noFill/>
          <a:ln w="12700">
            <a:solidFill>
              <a:srgbClr val="3A4459"/>
            </a:solidFill>
            <a:prstDash val="solid"/>
          </a:ln>
        </p:spPr>
        <p:txBody>
          <a:bodyPr/>
          <a:lstStyle/>
          <a:p>
            <a:endParaRPr lang="en-NP"/>
          </a:p>
        </p:txBody>
      </p:sp>
      <p:sp>
        <p:nvSpPr>
          <p:cNvPr id="8" name="Shape 6"/>
          <p:cNvSpPr/>
          <p:nvPr/>
        </p:nvSpPr>
        <p:spPr>
          <a:xfrm>
            <a:off x="548640" y="2880360"/>
            <a:ext cx="1298448" cy="1234440"/>
          </a:xfrm>
          <a:prstGeom prst="roundRect">
            <a:avLst>
              <a:gd name="adj" fmla="val 5926"/>
            </a:avLst>
          </a:prstGeom>
          <a:solidFill>
            <a:srgbClr val="141A26"/>
          </a:solidFill>
          <a:ln w="12700">
            <a:solidFill>
              <a:srgbClr val="2A3446"/>
            </a:solidFill>
            <a:prstDash val="solid"/>
          </a:ln>
        </p:spPr>
        <p:txBody>
          <a:bodyPr/>
          <a:lstStyle/>
          <a:p>
            <a:endParaRPr lang="en-NP"/>
          </a:p>
        </p:txBody>
      </p:sp>
      <p:sp>
        <p:nvSpPr>
          <p:cNvPr id="9" name="Text 7"/>
          <p:cNvSpPr txBox="1"/>
          <p:nvPr/>
        </p:nvSpPr>
        <p:spPr>
          <a:xfrm>
            <a:off x="658368" y="306324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Pre-commit hooks</a:t>
            </a:r>
            <a:endParaRPr lang="en-US" sz="850" dirty="0"/>
          </a:p>
        </p:txBody>
      </p:sp>
      <p:sp>
        <p:nvSpPr>
          <p:cNvPr id="10" name="Text 8"/>
          <p:cNvSpPr txBox="1"/>
          <p:nvPr/>
        </p:nvSpPr>
        <p:spPr>
          <a:xfrm>
            <a:off x="658368" y="356616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Local secret scan</a:t>
            </a:r>
            <a:endParaRPr lang="en-US" sz="850" dirty="0"/>
          </a:p>
        </p:txBody>
      </p:sp>
      <p:sp>
        <p:nvSpPr>
          <p:cNvPr id="11" name="Shape 9"/>
          <p:cNvSpPr/>
          <p:nvPr/>
        </p:nvSpPr>
        <p:spPr>
          <a:xfrm>
            <a:off x="2011680" y="1828800"/>
            <a:ext cx="1298448" cy="685800"/>
          </a:xfrm>
          <a:prstGeom prst="roundRect">
            <a:avLst>
              <a:gd name="adj" fmla="val 10667"/>
            </a:avLst>
          </a:prstGeom>
          <a:solidFill>
            <a:srgbClr val="1A2130"/>
          </a:solidFill>
          <a:ln w="12700">
            <a:solidFill>
              <a:srgbClr val="4CC9F0"/>
            </a:solidFill>
            <a:prstDash val="solid"/>
          </a:ln>
        </p:spPr>
        <p:txBody>
          <a:bodyPr/>
          <a:lstStyle/>
          <a:p>
            <a:endParaRPr lang="en-NP"/>
          </a:p>
        </p:txBody>
      </p:sp>
      <p:sp>
        <p:nvSpPr>
          <p:cNvPr id="12" name="Text 10"/>
          <p:cNvSpPr txBox="1"/>
          <p:nvPr/>
        </p:nvSpPr>
        <p:spPr>
          <a:xfrm>
            <a:off x="2057400" y="1828800"/>
            <a:ext cx="1207008" cy="685800"/>
          </a:xfrm>
          <a:prstGeom prst="rect">
            <a:avLst/>
          </a:prstGeom>
          <a:noFill/>
          <a:ln/>
        </p:spPr>
        <p:txBody>
          <a:bodyPr wrap="square" lIns="0" tIns="0" rIns="0" bIns="0" rtlCol="0" anchor="ctr"/>
          <a:lstStyle/>
          <a:p>
            <a:pPr marL="0" indent="0" algn="ctr">
              <a:lnSpc>
                <a:spcPct val="105000"/>
              </a:lnSpc>
              <a:buNone/>
            </a:pPr>
            <a:r>
              <a:rPr lang="en-US" sz="950" b="1" dirty="0">
                <a:solidFill>
                  <a:srgbClr val="4CC9F0"/>
                </a:solidFill>
                <a:latin typeface="Arial" pitchFamily="34" charset="0"/>
                <a:ea typeface="Arial" pitchFamily="34" charset="-122"/>
                <a:cs typeface="Arial" pitchFamily="34" charset="-120"/>
              </a:rPr>
              <a:t>Git</a:t>
            </a:r>
            <a:endParaRPr lang="en-US" sz="950" dirty="0"/>
          </a:p>
        </p:txBody>
      </p:sp>
      <p:sp>
        <p:nvSpPr>
          <p:cNvPr id="13" name="Shape 11"/>
          <p:cNvSpPr/>
          <p:nvPr/>
        </p:nvSpPr>
        <p:spPr>
          <a:xfrm>
            <a:off x="3355848" y="2093976"/>
            <a:ext cx="164592" cy="146304"/>
          </a:xfrm>
          <a:prstGeom prst="rightArrow">
            <a:avLst/>
          </a:prstGeom>
          <a:solidFill>
            <a:srgbClr val="5C687D"/>
          </a:solidFill>
          <a:ln w="12700">
            <a:solidFill>
              <a:srgbClr val="0B0F17"/>
            </a:solidFill>
            <a:prstDash val="solid"/>
          </a:ln>
        </p:spPr>
        <p:txBody>
          <a:bodyPr/>
          <a:lstStyle/>
          <a:p>
            <a:endParaRPr lang="en-NP"/>
          </a:p>
        </p:txBody>
      </p:sp>
      <p:sp>
        <p:nvSpPr>
          <p:cNvPr id="14" name="Shape 12"/>
          <p:cNvSpPr/>
          <p:nvPr/>
        </p:nvSpPr>
        <p:spPr>
          <a:xfrm>
            <a:off x="2660904" y="2542032"/>
            <a:ext cx="0" cy="320040"/>
          </a:xfrm>
          <a:prstGeom prst="line">
            <a:avLst/>
          </a:prstGeom>
          <a:noFill/>
          <a:ln w="12700">
            <a:solidFill>
              <a:srgbClr val="3A4459"/>
            </a:solidFill>
            <a:prstDash val="solid"/>
          </a:ln>
        </p:spPr>
        <p:txBody>
          <a:bodyPr/>
          <a:lstStyle/>
          <a:p>
            <a:endParaRPr lang="en-NP"/>
          </a:p>
        </p:txBody>
      </p:sp>
      <p:sp>
        <p:nvSpPr>
          <p:cNvPr id="15" name="Shape 13"/>
          <p:cNvSpPr/>
          <p:nvPr/>
        </p:nvSpPr>
        <p:spPr>
          <a:xfrm>
            <a:off x="2011680" y="2880360"/>
            <a:ext cx="1298448" cy="1234440"/>
          </a:xfrm>
          <a:prstGeom prst="roundRect">
            <a:avLst>
              <a:gd name="adj" fmla="val 5926"/>
            </a:avLst>
          </a:prstGeom>
          <a:solidFill>
            <a:srgbClr val="141A26"/>
          </a:solidFill>
          <a:ln w="12700">
            <a:solidFill>
              <a:srgbClr val="2A3446"/>
            </a:solidFill>
            <a:prstDash val="solid"/>
          </a:ln>
        </p:spPr>
        <p:txBody>
          <a:bodyPr/>
          <a:lstStyle/>
          <a:p>
            <a:endParaRPr lang="en-NP"/>
          </a:p>
        </p:txBody>
      </p:sp>
      <p:sp>
        <p:nvSpPr>
          <p:cNvPr id="16" name="Text 14"/>
          <p:cNvSpPr txBox="1"/>
          <p:nvPr/>
        </p:nvSpPr>
        <p:spPr>
          <a:xfrm>
            <a:off x="2121408" y="306324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Branch protection</a:t>
            </a:r>
            <a:endParaRPr lang="en-US" sz="850" dirty="0"/>
          </a:p>
        </p:txBody>
      </p:sp>
      <p:sp>
        <p:nvSpPr>
          <p:cNvPr id="17" name="Text 15"/>
          <p:cNvSpPr txBox="1"/>
          <p:nvPr/>
        </p:nvSpPr>
        <p:spPr>
          <a:xfrm>
            <a:off x="2121408" y="356616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Required review</a:t>
            </a:r>
            <a:endParaRPr lang="en-US" sz="850" dirty="0"/>
          </a:p>
        </p:txBody>
      </p:sp>
      <p:sp>
        <p:nvSpPr>
          <p:cNvPr id="18" name="Shape 16"/>
          <p:cNvSpPr/>
          <p:nvPr/>
        </p:nvSpPr>
        <p:spPr>
          <a:xfrm>
            <a:off x="3474720" y="1828800"/>
            <a:ext cx="1298448" cy="685800"/>
          </a:xfrm>
          <a:prstGeom prst="roundRect">
            <a:avLst>
              <a:gd name="adj" fmla="val 10667"/>
            </a:avLst>
          </a:prstGeom>
          <a:solidFill>
            <a:srgbClr val="1A2130"/>
          </a:solidFill>
          <a:ln w="12700">
            <a:solidFill>
              <a:srgbClr val="FFC15E"/>
            </a:solidFill>
            <a:prstDash val="solid"/>
          </a:ln>
        </p:spPr>
        <p:txBody>
          <a:bodyPr/>
          <a:lstStyle/>
          <a:p>
            <a:endParaRPr lang="en-NP"/>
          </a:p>
        </p:txBody>
      </p:sp>
      <p:sp>
        <p:nvSpPr>
          <p:cNvPr id="19" name="Text 17"/>
          <p:cNvSpPr txBox="1"/>
          <p:nvPr/>
        </p:nvSpPr>
        <p:spPr>
          <a:xfrm>
            <a:off x="3520440" y="1828800"/>
            <a:ext cx="1207008" cy="685800"/>
          </a:xfrm>
          <a:prstGeom prst="rect">
            <a:avLst/>
          </a:prstGeom>
          <a:noFill/>
          <a:ln/>
        </p:spPr>
        <p:txBody>
          <a:bodyPr wrap="square" lIns="0" tIns="0" rIns="0" bIns="0" rtlCol="0" anchor="ctr"/>
          <a:lstStyle/>
          <a:p>
            <a:pPr marL="0" indent="0" algn="ctr">
              <a:lnSpc>
                <a:spcPct val="105000"/>
              </a:lnSpc>
              <a:buNone/>
            </a:pPr>
            <a:r>
              <a:rPr lang="en-US" sz="950" b="1" dirty="0">
                <a:solidFill>
                  <a:srgbClr val="FFC15E"/>
                </a:solidFill>
                <a:latin typeface="Arial" pitchFamily="34" charset="0"/>
                <a:ea typeface="Arial" pitchFamily="34" charset="-122"/>
                <a:cs typeface="Arial" pitchFamily="34" charset="-120"/>
              </a:rPr>
              <a:t>CI</a:t>
            </a:r>
            <a:endParaRPr lang="en-US" sz="950" dirty="0"/>
          </a:p>
        </p:txBody>
      </p:sp>
      <p:sp>
        <p:nvSpPr>
          <p:cNvPr id="20" name="Shape 18"/>
          <p:cNvSpPr/>
          <p:nvPr/>
        </p:nvSpPr>
        <p:spPr>
          <a:xfrm>
            <a:off x="4818888" y="2093976"/>
            <a:ext cx="164592" cy="146304"/>
          </a:xfrm>
          <a:prstGeom prst="rightArrow">
            <a:avLst/>
          </a:prstGeom>
          <a:solidFill>
            <a:srgbClr val="5C687D"/>
          </a:solidFill>
          <a:ln w="12700">
            <a:solidFill>
              <a:srgbClr val="0B0F17"/>
            </a:solidFill>
            <a:prstDash val="solid"/>
          </a:ln>
        </p:spPr>
        <p:txBody>
          <a:bodyPr/>
          <a:lstStyle/>
          <a:p>
            <a:endParaRPr lang="en-NP"/>
          </a:p>
        </p:txBody>
      </p:sp>
      <p:sp>
        <p:nvSpPr>
          <p:cNvPr id="21" name="Shape 19"/>
          <p:cNvSpPr/>
          <p:nvPr/>
        </p:nvSpPr>
        <p:spPr>
          <a:xfrm>
            <a:off x="4123944" y="2542032"/>
            <a:ext cx="0" cy="320040"/>
          </a:xfrm>
          <a:prstGeom prst="line">
            <a:avLst/>
          </a:prstGeom>
          <a:noFill/>
          <a:ln w="12700">
            <a:solidFill>
              <a:srgbClr val="3A4459"/>
            </a:solidFill>
            <a:prstDash val="solid"/>
          </a:ln>
        </p:spPr>
        <p:txBody>
          <a:bodyPr/>
          <a:lstStyle/>
          <a:p>
            <a:endParaRPr lang="en-NP"/>
          </a:p>
        </p:txBody>
      </p:sp>
      <p:sp>
        <p:nvSpPr>
          <p:cNvPr id="22" name="Shape 20"/>
          <p:cNvSpPr/>
          <p:nvPr/>
        </p:nvSpPr>
        <p:spPr>
          <a:xfrm>
            <a:off x="3474720" y="2880360"/>
            <a:ext cx="1298448" cy="1234440"/>
          </a:xfrm>
          <a:prstGeom prst="roundRect">
            <a:avLst>
              <a:gd name="adj" fmla="val 5926"/>
            </a:avLst>
          </a:prstGeom>
          <a:solidFill>
            <a:srgbClr val="141A26"/>
          </a:solidFill>
          <a:ln w="12700">
            <a:solidFill>
              <a:srgbClr val="2A3446"/>
            </a:solidFill>
            <a:prstDash val="solid"/>
          </a:ln>
        </p:spPr>
        <p:txBody>
          <a:bodyPr/>
          <a:lstStyle/>
          <a:p>
            <a:endParaRPr lang="en-NP"/>
          </a:p>
        </p:txBody>
      </p:sp>
      <p:sp>
        <p:nvSpPr>
          <p:cNvPr id="23" name="Text 21"/>
          <p:cNvSpPr txBox="1"/>
          <p:nvPr/>
        </p:nvSpPr>
        <p:spPr>
          <a:xfrm>
            <a:off x="3584448" y="306324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SAST + SCA</a:t>
            </a:r>
            <a:endParaRPr lang="en-US" sz="850" dirty="0"/>
          </a:p>
        </p:txBody>
      </p:sp>
      <p:sp>
        <p:nvSpPr>
          <p:cNvPr id="24" name="Text 22"/>
          <p:cNvSpPr txBox="1"/>
          <p:nvPr/>
        </p:nvSpPr>
        <p:spPr>
          <a:xfrm>
            <a:off x="3584448" y="356616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Secret scanning</a:t>
            </a:r>
            <a:endParaRPr lang="en-US" sz="850" dirty="0"/>
          </a:p>
        </p:txBody>
      </p:sp>
      <p:sp>
        <p:nvSpPr>
          <p:cNvPr id="25" name="Shape 23"/>
          <p:cNvSpPr/>
          <p:nvPr/>
        </p:nvSpPr>
        <p:spPr>
          <a:xfrm>
            <a:off x="4937760" y="1828800"/>
            <a:ext cx="1298448" cy="685800"/>
          </a:xfrm>
          <a:prstGeom prst="roundRect">
            <a:avLst>
              <a:gd name="adj" fmla="val 10667"/>
            </a:avLst>
          </a:prstGeom>
          <a:solidFill>
            <a:srgbClr val="1A2130"/>
          </a:solidFill>
          <a:ln w="12700">
            <a:solidFill>
              <a:srgbClr val="FFA33A"/>
            </a:solidFill>
            <a:prstDash val="solid"/>
          </a:ln>
        </p:spPr>
        <p:txBody>
          <a:bodyPr/>
          <a:lstStyle/>
          <a:p>
            <a:endParaRPr lang="en-NP"/>
          </a:p>
        </p:txBody>
      </p:sp>
      <p:sp>
        <p:nvSpPr>
          <p:cNvPr id="26" name="Text 24"/>
          <p:cNvSpPr txBox="1"/>
          <p:nvPr/>
        </p:nvSpPr>
        <p:spPr>
          <a:xfrm>
            <a:off x="4983480" y="1828800"/>
            <a:ext cx="1207008" cy="685800"/>
          </a:xfrm>
          <a:prstGeom prst="rect">
            <a:avLst/>
          </a:prstGeom>
          <a:noFill/>
          <a:ln/>
        </p:spPr>
        <p:txBody>
          <a:bodyPr wrap="square" lIns="0" tIns="0" rIns="0" bIns="0" rtlCol="0" anchor="ctr"/>
          <a:lstStyle/>
          <a:p>
            <a:pPr marL="0" indent="0" algn="ctr">
              <a:lnSpc>
                <a:spcPct val="105000"/>
              </a:lnSpc>
              <a:buNone/>
            </a:pPr>
            <a:r>
              <a:rPr lang="en-US" sz="950" b="1" dirty="0">
                <a:solidFill>
                  <a:srgbClr val="FFA33A"/>
                </a:solidFill>
                <a:latin typeface="Arial" pitchFamily="34" charset="0"/>
                <a:ea typeface="Arial" pitchFamily="34" charset="-122"/>
                <a:cs typeface="Arial" pitchFamily="34" charset="-120"/>
              </a:rPr>
              <a:t>Security gates</a:t>
            </a:r>
            <a:endParaRPr lang="en-US" sz="950" dirty="0"/>
          </a:p>
        </p:txBody>
      </p:sp>
      <p:sp>
        <p:nvSpPr>
          <p:cNvPr id="27" name="Shape 25"/>
          <p:cNvSpPr/>
          <p:nvPr/>
        </p:nvSpPr>
        <p:spPr>
          <a:xfrm>
            <a:off x="6281928" y="2093976"/>
            <a:ext cx="164592" cy="146304"/>
          </a:xfrm>
          <a:prstGeom prst="rightArrow">
            <a:avLst/>
          </a:prstGeom>
          <a:solidFill>
            <a:srgbClr val="5C687D"/>
          </a:solidFill>
          <a:ln w="12700">
            <a:solidFill>
              <a:srgbClr val="0B0F17"/>
            </a:solidFill>
            <a:prstDash val="solid"/>
          </a:ln>
        </p:spPr>
        <p:txBody>
          <a:bodyPr/>
          <a:lstStyle/>
          <a:p>
            <a:endParaRPr lang="en-NP"/>
          </a:p>
        </p:txBody>
      </p:sp>
      <p:sp>
        <p:nvSpPr>
          <p:cNvPr id="28" name="Shape 26"/>
          <p:cNvSpPr/>
          <p:nvPr/>
        </p:nvSpPr>
        <p:spPr>
          <a:xfrm>
            <a:off x="5586984" y="2542032"/>
            <a:ext cx="0" cy="320040"/>
          </a:xfrm>
          <a:prstGeom prst="line">
            <a:avLst/>
          </a:prstGeom>
          <a:noFill/>
          <a:ln w="12700">
            <a:solidFill>
              <a:srgbClr val="3A4459"/>
            </a:solidFill>
            <a:prstDash val="solid"/>
          </a:ln>
        </p:spPr>
        <p:txBody>
          <a:bodyPr/>
          <a:lstStyle/>
          <a:p>
            <a:endParaRPr lang="en-NP"/>
          </a:p>
        </p:txBody>
      </p:sp>
      <p:sp>
        <p:nvSpPr>
          <p:cNvPr id="29" name="Shape 27"/>
          <p:cNvSpPr/>
          <p:nvPr/>
        </p:nvSpPr>
        <p:spPr>
          <a:xfrm>
            <a:off x="4937760" y="2880360"/>
            <a:ext cx="1298448" cy="1234440"/>
          </a:xfrm>
          <a:prstGeom prst="roundRect">
            <a:avLst>
              <a:gd name="adj" fmla="val 5926"/>
            </a:avLst>
          </a:prstGeom>
          <a:solidFill>
            <a:srgbClr val="141A26"/>
          </a:solidFill>
          <a:ln w="12700">
            <a:solidFill>
              <a:srgbClr val="2A3446"/>
            </a:solidFill>
            <a:prstDash val="solid"/>
          </a:ln>
        </p:spPr>
        <p:txBody>
          <a:bodyPr/>
          <a:lstStyle/>
          <a:p>
            <a:endParaRPr lang="en-NP"/>
          </a:p>
        </p:txBody>
      </p:sp>
      <p:sp>
        <p:nvSpPr>
          <p:cNvPr id="30" name="Text 28"/>
          <p:cNvSpPr txBox="1"/>
          <p:nvPr/>
        </p:nvSpPr>
        <p:spPr>
          <a:xfrm>
            <a:off x="5047488" y="306324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Fail the build</a:t>
            </a:r>
            <a:endParaRPr lang="en-US" sz="850" dirty="0"/>
          </a:p>
        </p:txBody>
      </p:sp>
      <p:sp>
        <p:nvSpPr>
          <p:cNvPr id="31" name="Text 29"/>
          <p:cNvSpPr txBox="1"/>
          <p:nvPr/>
        </p:nvSpPr>
        <p:spPr>
          <a:xfrm>
            <a:off x="5047488" y="356616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No silent overrides</a:t>
            </a:r>
            <a:endParaRPr lang="en-US" sz="850" dirty="0"/>
          </a:p>
        </p:txBody>
      </p:sp>
      <p:sp>
        <p:nvSpPr>
          <p:cNvPr id="32" name="Shape 30"/>
          <p:cNvSpPr/>
          <p:nvPr/>
        </p:nvSpPr>
        <p:spPr>
          <a:xfrm>
            <a:off x="6400800" y="1828800"/>
            <a:ext cx="1298448" cy="685800"/>
          </a:xfrm>
          <a:prstGeom prst="roundRect">
            <a:avLst>
              <a:gd name="adj" fmla="val 10667"/>
            </a:avLst>
          </a:prstGeom>
          <a:solidFill>
            <a:srgbClr val="1A2130"/>
          </a:solidFill>
          <a:ln w="12700">
            <a:solidFill>
              <a:srgbClr val="FFA33A"/>
            </a:solidFill>
            <a:prstDash val="solid"/>
          </a:ln>
        </p:spPr>
        <p:txBody>
          <a:bodyPr/>
          <a:lstStyle/>
          <a:p>
            <a:endParaRPr lang="en-NP"/>
          </a:p>
        </p:txBody>
      </p:sp>
      <p:sp>
        <p:nvSpPr>
          <p:cNvPr id="33" name="Text 31"/>
          <p:cNvSpPr txBox="1"/>
          <p:nvPr/>
        </p:nvSpPr>
        <p:spPr>
          <a:xfrm>
            <a:off x="6446520" y="1828800"/>
            <a:ext cx="1207008" cy="685800"/>
          </a:xfrm>
          <a:prstGeom prst="rect">
            <a:avLst/>
          </a:prstGeom>
          <a:noFill/>
          <a:ln/>
        </p:spPr>
        <p:txBody>
          <a:bodyPr wrap="square" lIns="0" tIns="0" rIns="0" bIns="0" rtlCol="0" anchor="ctr"/>
          <a:lstStyle/>
          <a:p>
            <a:pPr marL="0" indent="0" algn="ctr">
              <a:lnSpc>
                <a:spcPct val="105000"/>
              </a:lnSpc>
              <a:buNone/>
            </a:pPr>
            <a:r>
              <a:rPr lang="en-US" sz="950" b="1" dirty="0">
                <a:solidFill>
                  <a:srgbClr val="FFA33A"/>
                </a:solidFill>
                <a:latin typeface="Arial" pitchFamily="34" charset="0"/>
                <a:ea typeface="Arial" pitchFamily="34" charset="-122"/>
                <a:cs typeface="Arial" pitchFamily="34" charset="-120"/>
              </a:rPr>
              <a:t>Artifact</a:t>
            </a:r>
            <a:endParaRPr lang="en-US" sz="950" dirty="0"/>
          </a:p>
        </p:txBody>
      </p:sp>
      <p:sp>
        <p:nvSpPr>
          <p:cNvPr id="34" name="Shape 32"/>
          <p:cNvSpPr/>
          <p:nvPr/>
        </p:nvSpPr>
        <p:spPr>
          <a:xfrm>
            <a:off x="7744968" y="2093976"/>
            <a:ext cx="164592" cy="146304"/>
          </a:xfrm>
          <a:prstGeom prst="rightArrow">
            <a:avLst/>
          </a:prstGeom>
          <a:solidFill>
            <a:srgbClr val="5C687D"/>
          </a:solidFill>
          <a:ln w="12700">
            <a:solidFill>
              <a:srgbClr val="0B0F17"/>
            </a:solidFill>
            <a:prstDash val="solid"/>
          </a:ln>
        </p:spPr>
        <p:txBody>
          <a:bodyPr/>
          <a:lstStyle/>
          <a:p>
            <a:endParaRPr lang="en-NP"/>
          </a:p>
        </p:txBody>
      </p:sp>
      <p:sp>
        <p:nvSpPr>
          <p:cNvPr id="35" name="Shape 33"/>
          <p:cNvSpPr/>
          <p:nvPr/>
        </p:nvSpPr>
        <p:spPr>
          <a:xfrm>
            <a:off x="7050024" y="2542032"/>
            <a:ext cx="0" cy="320040"/>
          </a:xfrm>
          <a:prstGeom prst="line">
            <a:avLst/>
          </a:prstGeom>
          <a:noFill/>
          <a:ln w="12700">
            <a:solidFill>
              <a:srgbClr val="3A4459"/>
            </a:solidFill>
            <a:prstDash val="solid"/>
          </a:ln>
        </p:spPr>
        <p:txBody>
          <a:bodyPr/>
          <a:lstStyle/>
          <a:p>
            <a:endParaRPr lang="en-NP"/>
          </a:p>
        </p:txBody>
      </p:sp>
      <p:sp>
        <p:nvSpPr>
          <p:cNvPr id="36" name="Shape 34"/>
          <p:cNvSpPr/>
          <p:nvPr/>
        </p:nvSpPr>
        <p:spPr>
          <a:xfrm>
            <a:off x="6400800" y="2880360"/>
            <a:ext cx="1298448" cy="1234440"/>
          </a:xfrm>
          <a:prstGeom prst="roundRect">
            <a:avLst>
              <a:gd name="adj" fmla="val 5926"/>
            </a:avLst>
          </a:prstGeom>
          <a:solidFill>
            <a:srgbClr val="141A26"/>
          </a:solidFill>
          <a:ln w="12700">
            <a:solidFill>
              <a:srgbClr val="2A3446"/>
            </a:solidFill>
            <a:prstDash val="solid"/>
          </a:ln>
        </p:spPr>
        <p:txBody>
          <a:bodyPr/>
          <a:lstStyle/>
          <a:p>
            <a:endParaRPr lang="en-NP"/>
          </a:p>
        </p:txBody>
      </p:sp>
      <p:sp>
        <p:nvSpPr>
          <p:cNvPr id="37" name="Text 35"/>
          <p:cNvSpPr txBox="1"/>
          <p:nvPr/>
        </p:nvSpPr>
        <p:spPr>
          <a:xfrm>
            <a:off x="6510528" y="306324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Signed + versioned</a:t>
            </a:r>
            <a:endParaRPr lang="en-US" sz="850" dirty="0"/>
          </a:p>
        </p:txBody>
      </p:sp>
      <p:sp>
        <p:nvSpPr>
          <p:cNvPr id="38" name="Text 36"/>
          <p:cNvSpPr txBox="1"/>
          <p:nvPr/>
        </p:nvSpPr>
        <p:spPr>
          <a:xfrm>
            <a:off x="6510528" y="356616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SBOM generated</a:t>
            </a:r>
            <a:endParaRPr lang="en-US" sz="850" dirty="0"/>
          </a:p>
        </p:txBody>
      </p:sp>
      <p:sp>
        <p:nvSpPr>
          <p:cNvPr id="39" name="Shape 37"/>
          <p:cNvSpPr/>
          <p:nvPr/>
        </p:nvSpPr>
        <p:spPr>
          <a:xfrm>
            <a:off x="7863840" y="1828800"/>
            <a:ext cx="1298448" cy="685800"/>
          </a:xfrm>
          <a:prstGeom prst="roundRect">
            <a:avLst>
              <a:gd name="adj" fmla="val 10667"/>
            </a:avLst>
          </a:prstGeom>
          <a:solidFill>
            <a:srgbClr val="1A2130"/>
          </a:solidFill>
          <a:ln w="12700">
            <a:solidFill>
              <a:srgbClr val="9A6BFF"/>
            </a:solidFill>
            <a:prstDash val="solid"/>
          </a:ln>
        </p:spPr>
        <p:txBody>
          <a:bodyPr/>
          <a:lstStyle/>
          <a:p>
            <a:endParaRPr lang="en-NP"/>
          </a:p>
        </p:txBody>
      </p:sp>
      <p:sp>
        <p:nvSpPr>
          <p:cNvPr id="40" name="Text 38"/>
          <p:cNvSpPr txBox="1"/>
          <p:nvPr/>
        </p:nvSpPr>
        <p:spPr>
          <a:xfrm>
            <a:off x="7909560" y="1828800"/>
            <a:ext cx="1207008" cy="685800"/>
          </a:xfrm>
          <a:prstGeom prst="rect">
            <a:avLst/>
          </a:prstGeom>
          <a:noFill/>
          <a:ln/>
        </p:spPr>
        <p:txBody>
          <a:bodyPr wrap="square" lIns="0" tIns="0" rIns="0" bIns="0" rtlCol="0" anchor="ctr"/>
          <a:lstStyle/>
          <a:p>
            <a:pPr marL="0" indent="0" algn="ctr">
              <a:lnSpc>
                <a:spcPct val="105000"/>
              </a:lnSpc>
              <a:buNone/>
            </a:pPr>
            <a:r>
              <a:rPr lang="en-US" sz="950" b="1" dirty="0">
                <a:solidFill>
                  <a:srgbClr val="9A6BFF"/>
                </a:solidFill>
                <a:latin typeface="Arial" pitchFamily="34" charset="0"/>
                <a:ea typeface="Arial" pitchFamily="34" charset="-122"/>
                <a:cs typeface="Arial" pitchFamily="34" charset="-120"/>
              </a:rPr>
              <a:t>Container / Host</a:t>
            </a:r>
            <a:endParaRPr lang="en-US" sz="950" dirty="0"/>
          </a:p>
        </p:txBody>
      </p:sp>
      <p:sp>
        <p:nvSpPr>
          <p:cNvPr id="41" name="Shape 39"/>
          <p:cNvSpPr/>
          <p:nvPr/>
        </p:nvSpPr>
        <p:spPr>
          <a:xfrm>
            <a:off x="9208008" y="2093976"/>
            <a:ext cx="164592" cy="146304"/>
          </a:xfrm>
          <a:prstGeom prst="rightArrow">
            <a:avLst/>
          </a:prstGeom>
          <a:solidFill>
            <a:srgbClr val="5C687D"/>
          </a:solidFill>
          <a:ln w="12700">
            <a:solidFill>
              <a:srgbClr val="0B0F17"/>
            </a:solidFill>
            <a:prstDash val="solid"/>
          </a:ln>
        </p:spPr>
        <p:txBody>
          <a:bodyPr/>
          <a:lstStyle/>
          <a:p>
            <a:endParaRPr lang="en-NP"/>
          </a:p>
        </p:txBody>
      </p:sp>
      <p:sp>
        <p:nvSpPr>
          <p:cNvPr id="42" name="Shape 40"/>
          <p:cNvSpPr/>
          <p:nvPr/>
        </p:nvSpPr>
        <p:spPr>
          <a:xfrm>
            <a:off x="8513064" y="2542032"/>
            <a:ext cx="0" cy="320040"/>
          </a:xfrm>
          <a:prstGeom prst="line">
            <a:avLst/>
          </a:prstGeom>
          <a:noFill/>
          <a:ln w="12700">
            <a:solidFill>
              <a:srgbClr val="3A4459"/>
            </a:solidFill>
            <a:prstDash val="solid"/>
          </a:ln>
        </p:spPr>
        <p:txBody>
          <a:bodyPr/>
          <a:lstStyle/>
          <a:p>
            <a:endParaRPr lang="en-NP"/>
          </a:p>
        </p:txBody>
      </p:sp>
      <p:sp>
        <p:nvSpPr>
          <p:cNvPr id="43" name="Shape 41"/>
          <p:cNvSpPr/>
          <p:nvPr/>
        </p:nvSpPr>
        <p:spPr>
          <a:xfrm>
            <a:off x="7863840" y="2880360"/>
            <a:ext cx="1298448" cy="1234440"/>
          </a:xfrm>
          <a:prstGeom prst="roundRect">
            <a:avLst>
              <a:gd name="adj" fmla="val 5926"/>
            </a:avLst>
          </a:prstGeom>
          <a:solidFill>
            <a:srgbClr val="141A26"/>
          </a:solidFill>
          <a:ln w="12700">
            <a:solidFill>
              <a:srgbClr val="2A3446"/>
            </a:solidFill>
            <a:prstDash val="solid"/>
          </a:ln>
        </p:spPr>
        <p:txBody>
          <a:bodyPr/>
          <a:lstStyle/>
          <a:p>
            <a:endParaRPr lang="en-NP"/>
          </a:p>
        </p:txBody>
      </p:sp>
      <p:sp>
        <p:nvSpPr>
          <p:cNvPr id="44" name="Text 42"/>
          <p:cNvSpPr txBox="1"/>
          <p:nvPr/>
        </p:nvSpPr>
        <p:spPr>
          <a:xfrm>
            <a:off x="7973568" y="306324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Image scanning</a:t>
            </a:r>
            <a:endParaRPr lang="en-US" sz="850" dirty="0"/>
          </a:p>
        </p:txBody>
      </p:sp>
      <p:sp>
        <p:nvSpPr>
          <p:cNvPr id="45" name="Text 43"/>
          <p:cNvSpPr txBox="1"/>
          <p:nvPr/>
        </p:nvSpPr>
        <p:spPr>
          <a:xfrm>
            <a:off x="7973568" y="356616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Non-root, minimal base</a:t>
            </a:r>
            <a:endParaRPr lang="en-US" sz="850" dirty="0"/>
          </a:p>
        </p:txBody>
      </p:sp>
      <p:sp>
        <p:nvSpPr>
          <p:cNvPr id="46" name="Shape 44"/>
          <p:cNvSpPr/>
          <p:nvPr/>
        </p:nvSpPr>
        <p:spPr>
          <a:xfrm>
            <a:off x="9326880" y="1828800"/>
            <a:ext cx="1298448" cy="685800"/>
          </a:xfrm>
          <a:prstGeom prst="roundRect">
            <a:avLst>
              <a:gd name="adj" fmla="val 10667"/>
            </a:avLst>
          </a:prstGeom>
          <a:solidFill>
            <a:srgbClr val="1A2130"/>
          </a:solidFill>
          <a:ln w="12700">
            <a:solidFill>
              <a:srgbClr val="9A6BFF"/>
            </a:solidFill>
            <a:prstDash val="solid"/>
          </a:ln>
        </p:spPr>
        <p:txBody>
          <a:bodyPr/>
          <a:lstStyle/>
          <a:p>
            <a:endParaRPr lang="en-NP"/>
          </a:p>
        </p:txBody>
      </p:sp>
      <p:sp>
        <p:nvSpPr>
          <p:cNvPr id="47" name="Text 45"/>
          <p:cNvSpPr txBox="1"/>
          <p:nvPr/>
        </p:nvSpPr>
        <p:spPr>
          <a:xfrm>
            <a:off x="9372600" y="1828800"/>
            <a:ext cx="1207008" cy="685800"/>
          </a:xfrm>
          <a:prstGeom prst="rect">
            <a:avLst/>
          </a:prstGeom>
          <a:noFill/>
          <a:ln/>
        </p:spPr>
        <p:txBody>
          <a:bodyPr wrap="square" lIns="0" tIns="0" rIns="0" bIns="0" rtlCol="0" anchor="ctr"/>
          <a:lstStyle/>
          <a:p>
            <a:pPr marL="0" indent="0" algn="ctr">
              <a:lnSpc>
                <a:spcPct val="105000"/>
              </a:lnSpc>
              <a:buNone/>
            </a:pPr>
            <a:r>
              <a:rPr lang="en-US" sz="950" b="1" dirty="0">
                <a:solidFill>
                  <a:srgbClr val="9A6BFF"/>
                </a:solidFill>
                <a:latin typeface="Arial" pitchFamily="34" charset="0"/>
                <a:ea typeface="Arial" pitchFamily="34" charset="-122"/>
                <a:cs typeface="Arial" pitchFamily="34" charset="-120"/>
              </a:rPr>
              <a:t>Cloud</a:t>
            </a:r>
            <a:endParaRPr lang="en-US" sz="950" dirty="0"/>
          </a:p>
        </p:txBody>
      </p:sp>
      <p:sp>
        <p:nvSpPr>
          <p:cNvPr id="48" name="Shape 46"/>
          <p:cNvSpPr/>
          <p:nvPr/>
        </p:nvSpPr>
        <p:spPr>
          <a:xfrm>
            <a:off x="10671048" y="2093976"/>
            <a:ext cx="164592" cy="146304"/>
          </a:xfrm>
          <a:prstGeom prst="rightArrow">
            <a:avLst/>
          </a:prstGeom>
          <a:solidFill>
            <a:srgbClr val="5C687D"/>
          </a:solidFill>
          <a:ln w="12700">
            <a:solidFill>
              <a:srgbClr val="0B0F17"/>
            </a:solidFill>
            <a:prstDash val="solid"/>
          </a:ln>
        </p:spPr>
        <p:txBody>
          <a:bodyPr/>
          <a:lstStyle/>
          <a:p>
            <a:endParaRPr lang="en-NP"/>
          </a:p>
        </p:txBody>
      </p:sp>
      <p:sp>
        <p:nvSpPr>
          <p:cNvPr id="49" name="Shape 47"/>
          <p:cNvSpPr/>
          <p:nvPr/>
        </p:nvSpPr>
        <p:spPr>
          <a:xfrm>
            <a:off x="9976104" y="2542032"/>
            <a:ext cx="0" cy="320040"/>
          </a:xfrm>
          <a:prstGeom prst="line">
            <a:avLst/>
          </a:prstGeom>
          <a:noFill/>
          <a:ln w="12700">
            <a:solidFill>
              <a:srgbClr val="3A4459"/>
            </a:solidFill>
            <a:prstDash val="solid"/>
          </a:ln>
        </p:spPr>
        <p:txBody>
          <a:bodyPr/>
          <a:lstStyle/>
          <a:p>
            <a:endParaRPr lang="en-NP"/>
          </a:p>
        </p:txBody>
      </p:sp>
      <p:sp>
        <p:nvSpPr>
          <p:cNvPr id="50" name="Shape 48"/>
          <p:cNvSpPr/>
          <p:nvPr/>
        </p:nvSpPr>
        <p:spPr>
          <a:xfrm>
            <a:off x="9326880" y="2880360"/>
            <a:ext cx="1298448" cy="1234440"/>
          </a:xfrm>
          <a:prstGeom prst="roundRect">
            <a:avLst>
              <a:gd name="adj" fmla="val 5926"/>
            </a:avLst>
          </a:prstGeom>
          <a:solidFill>
            <a:srgbClr val="141A26"/>
          </a:solidFill>
          <a:ln w="12700">
            <a:solidFill>
              <a:srgbClr val="2A3446"/>
            </a:solidFill>
            <a:prstDash val="solid"/>
          </a:ln>
        </p:spPr>
        <p:txBody>
          <a:bodyPr/>
          <a:lstStyle/>
          <a:p>
            <a:endParaRPr lang="en-NP"/>
          </a:p>
        </p:txBody>
      </p:sp>
      <p:sp>
        <p:nvSpPr>
          <p:cNvPr id="51" name="Text 49"/>
          <p:cNvSpPr txBox="1"/>
          <p:nvPr/>
        </p:nvSpPr>
        <p:spPr>
          <a:xfrm>
            <a:off x="9436608" y="306324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IaC scanning</a:t>
            </a:r>
            <a:endParaRPr lang="en-US" sz="850" dirty="0"/>
          </a:p>
        </p:txBody>
      </p:sp>
      <p:sp>
        <p:nvSpPr>
          <p:cNvPr id="52" name="Text 50"/>
          <p:cNvSpPr txBox="1"/>
          <p:nvPr/>
        </p:nvSpPr>
        <p:spPr>
          <a:xfrm>
            <a:off x="9436608" y="356616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Least-privilege identity</a:t>
            </a:r>
            <a:endParaRPr lang="en-US" sz="850" dirty="0"/>
          </a:p>
        </p:txBody>
      </p:sp>
      <p:sp>
        <p:nvSpPr>
          <p:cNvPr id="53" name="Shape 51"/>
          <p:cNvSpPr/>
          <p:nvPr/>
        </p:nvSpPr>
        <p:spPr>
          <a:xfrm>
            <a:off x="10789920" y="1828800"/>
            <a:ext cx="1298448" cy="685800"/>
          </a:xfrm>
          <a:prstGeom prst="roundRect">
            <a:avLst>
              <a:gd name="adj" fmla="val 10667"/>
            </a:avLst>
          </a:prstGeom>
          <a:solidFill>
            <a:srgbClr val="1A2130"/>
          </a:solidFill>
          <a:ln w="12700">
            <a:solidFill>
              <a:srgbClr val="4FD68A"/>
            </a:solidFill>
            <a:prstDash val="solid"/>
          </a:ln>
        </p:spPr>
        <p:txBody>
          <a:bodyPr/>
          <a:lstStyle/>
          <a:p>
            <a:endParaRPr lang="en-NP"/>
          </a:p>
        </p:txBody>
      </p:sp>
      <p:sp>
        <p:nvSpPr>
          <p:cNvPr id="54" name="Text 52"/>
          <p:cNvSpPr txBox="1"/>
          <p:nvPr/>
        </p:nvSpPr>
        <p:spPr>
          <a:xfrm>
            <a:off x="10835640" y="1828800"/>
            <a:ext cx="1207008" cy="685800"/>
          </a:xfrm>
          <a:prstGeom prst="rect">
            <a:avLst/>
          </a:prstGeom>
          <a:noFill/>
          <a:ln/>
        </p:spPr>
        <p:txBody>
          <a:bodyPr wrap="square" lIns="0" tIns="0" rIns="0" bIns="0" rtlCol="0" anchor="ctr"/>
          <a:lstStyle/>
          <a:p>
            <a:pPr marL="0" indent="0" algn="ctr">
              <a:lnSpc>
                <a:spcPct val="105000"/>
              </a:lnSpc>
              <a:buNone/>
            </a:pPr>
            <a:r>
              <a:rPr lang="en-US" sz="950" b="1" dirty="0">
                <a:solidFill>
                  <a:srgbClr val="4FD68A"/>
                </a:solidFill>
                <a:latin typeface="Arial" pitchFamily="34" charset="0"/>
                <a:ea typeface="Arial" pitchFamily="34" charset="-122"/>
                <a:cs typeface="Arial" pitchFamily="34" charset="-120"/>
              </a:rPr>
              <a:t>Monitoring</a:t>
            </a:r>
            <a:endParaRPr lang="en-US" sz="950" dirty="0"/>
          </a:p>
        </p:txBody>
      </p:sp>
      <p:sp>
        <p:nvSpPr>
          <p:cNvPr id="55" name="Shape 53"/>
          <p:cNvSpPr/>
          <p:nvPr/>
        </p:nvSpPr>
        <p:spPr>
          <a:xfrm>
            <a:off x="11439144" y="2542032"/>
            <a:ext cx="0" cy="320040"/>
          </a:xfrm>
          <a:prstGeom prst="line">
            <a:avLst/>
          </a:prstGeom>
          <a:noFill/>
          <a:ln w="12700">
            <a:solidFill>
              <a:srgbClr val="3A4459"/>
            </a:solidFill>
            <a:prstDash val="solid"/>
          </a:ln>
        </p:spPr>
        <p:txBody>
          <a:bodyPr/>
          <a:lstStyle/>
          <a:p>
            <a:endParaRPr lang="en-NP"/>
          </a:p>
        </p:txBody>
      </p:sp>
      <p:sp>
        <p:nvSpPr>
          <p:cNvPr id="56" name="Shape 54"/>
          <p:cNvSpPr/>
          <p:nvPr/>
        </p:nvSpPr>
        <p:spPr>
          <a:xfrm>
            <a:off x="10789920" y="2880360"/>
            <a:ext cx="1298448" cy="1234440"/>
          </a:xfrm>
          <a:prstGeom prst="roundRect">
            <a:avLst>
              <a:gd name="adj" fmla="val 5926"/>
            </a:avLst>
          </a:prstGeom>
          <a:solidFill>
            <a:srgbClr val="141A26"/>
          </a:solidFill>
          <a:ln w="12700">
            <a:solidFill>
              <a:srgbClr val="2A3446"/>
            </a:solidFill>
            <a:prstDash val="solid"/>
          </a:ln>
        </p:spPr>
        <p:txBody>
          <a:bodyPr/>
          <a:lstStyle/>
          <a:p>
            <a:endParaRPr lang="en-NP"/>
          </a:p>
        </p:txBody>
      </p:sp>
      <p:sp>
        <p:nvSpPr>
          <p:cNvPr id="57" name="Text 55"/>
          <p:cNvSpPr txBox="1"/>
          <p:nvPr/>
        </p:nvSpPr>
        <p:spPr>
          <a:xfrm>
            <a:off x="10899648" y="306324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Central logging</a:t>
            </a:r>
            <a:endParaRPr lang="en-US" sz="850" dirty="0"/>
          </a:p>
        </p:txBody>
      </p:sp>
      <p:sp>
        <p:nvSpPr>
          <p:cNvPr id="58" name="Text 56"/>
          <p:cNvSpPr txBox="1"/>
          <p:nvPr/>
        </p:nvSpPr>
        <p:spPr>
          <a:xfrm>
            <a:off x="10899648" y="3566160"/>
            <a:ext cx="1097280" cy="457200"/>
          </a:xfrm>
          <a:prstGeom prst="rect">
            <a:avLst/>
          </a:prstGeom>
          <a:noFill/>
          <a:ln/>
        </p:spPr>
        <p:txBody>
          <a:bodyPr wrap="square" lIns="0" tIns="0" rIns="0" bIns="0" rtlCol="0" anchor="ctr"/>
          <a:lstStyle/>
          <a:p>
            <a:pPr marL="0" indent="0" algn="ctr">
              <a:lnSpc>
                <a:spcPct val="115000"/>
              </a:lnSpc>
              <a:buNone/>
            </a:pPr>
            <a:r>
              <a:rPr lang="en-US" sz="850" dirty="0">
                <a:solidFill>
                  <a:srgbClr val="E9EEF7"/>
                </a:solidFill>
                <a:latin typeface="Arial" pitchFamily="34" charset="0"/>
                <a:ea typeface="Arial" pitchFamily="34" charset="-122"/>
                <a:cs typeface="Arial" pitchFamily="34" charset="-120"/>
              </a:rPr>
              <a:t>Alerts with an owner</a:t>
            </a:r>
            <a:endParaRPr lang="en-US" sz="850" dirty="0"/>
          </a:p>
        </p:txBody>
      </p:sp>
      <p:sp>
        <p:nvSpPr>
          <p:cNvPr id="59" name="Shape 57"/>
          <p:cNvSpPr/>
          <p:nvPr/>
        </p:nvSpPr>
        <p:spPr>
          <a:xfrm>
            <a:off x="548640" y="4480560"/>
            <a:ext cx="11091672" cy="1371600"/>
          </a:xfrm>
          <a:prstGeom prst="roundRect">
            <a:avLst>
              <a:gd name="adj" fmla="val 5333"/>
            </a:avLst>
          </a:prstGeom>
          <a:solidFill>
            <a:srgbClr val="1A2130"/>
          </a:solidFill>
          <a:ln w="12700">
            <a:solidFill>
              <a:srgbClr val="9A6BFF"/>
            </a:solidFill>
            <a:prstDash val="solid"/>
          </a:ln>
        </p:spPr>
        <p:txBody>
          <a:bodyPr/>
          <a:lstStyle/>
          <a:p>
            <a:endParaRPr lang="en-NP"/>
          </a:p>
        </p:txBody>
      </p:sp>
      <p:sp>
        <p:nvSpPr>
          <p:cNvPr id="60" name="Text 58"/>
          <p:cNvSpPr txBox="1"/>
          <p:nvPr/>
        </p:nvSpPr>
        <p:spPr>
          <a:xfrm>
            <a:off x="822960" y="4645152"/>
            <a:ext cx="4572000" cy="237744"/>
          </a:xfrm>
          <a:prstGeom prst="rect">
            <a:avLst/>
          </a:prstGeom>
          <a:noFill/>
          <a:ln/>
        </p:spPr>
        <p:txBody>
          <a:bodyPr wrap="square" lIns="0" tIns="0" rIns="0" bIns="0" rtlCol="0" anchor="ctr"/>
          <a:lstStyle/>
          <a:p>
            <a:pPr marL="0" indent="0">
              <a:buNone/>
            </a:pPr>
            <a:r>
              <a:rPr lang="en-US" sz="1000" b="1" kern="0" spc="160" dirty="0">
                <a:solidFill>
                  <a:srgbClr val="9A6BFF"/>
                </a:solidFill>
                <a:latin typeface="Arial" pitchFamily="34" charset="0"/>
                <a:ea typeface="Arial" pitchFamily="34" charset="-122"/>
                <a:cs typeface="Arial" pitchFamily="34" charset="-120"/>
              </a:rPr>
              <a:t>THE ONE THAT MATTERS MOST</a:t>
            </a:r>
            <a:endParaRPr lang="en-US" sz="1000" dirty="0"/>
          </a:p>
        </p:txBody>
      </p:sp>
      <p:sp>
        <p:nvSpPr>
          <p:cNvPr id="61" name="Text 59"/>
          <p:cNvSpPr txBox="1"/>
          <p:nvPr/>
        </p:nvSpPr>
        <p:spPr>
          <a:xfrm>
            <a:off x="822960" y="4956048"/>
            <a:ext cx="10515600" cy="777240"/>
          </a:xfrm>
          <a:prstGeom prst="rect">
            <a:avLst/>
          </a:prstGeom>
          <a:noFill/>
          <a:ln/>
        </p:spPr>
        <p:txBody>
          <a:bodyPr wrap="square" lIns="0" tIns="0" rIns="0" bIns="0" rtlCol="0" anchor="ctr"/>
          <a:lstStyle/>
          <a:p>
            <a:pPr marL="0" indent="0">
              <a:lnSpc>
                <a:spcPct val="120000"/>
              </a:lnSpc>
              <a:buNone/>
            </a:pPr>
            <a:r>
              <a:rPr lang="en-US" sz="1400" dirty="0">
                <a:solidFill>
                  <a:srgbClr val="E9EEF7"/>
                </a:solidFill>
                <a:latin typeface="Arial" pitchFamily="34" charset="0"/>
                <a:ea typeface="Arial" pitchFamily="34" charset="-122"/>
                <a:cs typeface="Arial" pitchFamily="34" charset="-120"/>
              </a:rPr>
              <a:t>Environment separation and least-privilege identity. Get those two right and most of the chain in section two simply cannot complete — because the thing that got compromised can’t reach the thing that matters.</a:t>
            </a:r>
            <a:endParaRPr lang="en-US" sz="1400" dirty="0"/>
          </a:p>
        </p:txBody>
      </p:sp>
      <p:sp>
        <p:nvSpPr>
          <p:cNvPr id="62" name="Text 60"/>
          <p:cNvSpPr txBox="1"/>
          <p:nvPr/>
        </p:nvSpPr>
        <p:spPr>
          <a:xfrm>
            <a:off x="548640" y="5989320"/>
            <a:ext cx="11091672" cy="320040"/>
          </a:xfrm>
          <a:prstGeom prst="rect">
            <a:avLst/>
          </a:prstGeom>
          <a:noFill/>
          <a:ln/>
        </p:spPr>
        <p:txBody>
          <a:bodyPr wrap="square" lIns="0" tIns="0" rIns="0" bIns="0" rtlCol="0" anchor="ctr"/>
          <a:lstStyle/>
          <a:p>
            <a:pPr marL="0" indent="0" algn="ctr">
              <a:buNone/>
            </a:pPr>
            <a:r>
              <a:rPr lang="en-US" sz="1250" i="1" dirty="0">
                <a:solidFill>
                  <a:srgbClr val="8C97AC"/>
                </a:solidFill>
                <a:latin typeface="Arial" pitchFamily="34" charset="0"/>
                <a:ea typeface="Arial" pitchFamily="34" charset="-122"/>
                <a:cs typeface="Arial" pitchFamily="34" charset="-120"/>
              </a:rPr>
              <a:t>Automate the checks. A control that depends on someone remembering is a control that fails on a Friday.</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MOVE FOR MOVE</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200" b="1" dirty="0">
                <a:solidFill>
                  <a:srgbClr val="E9EEF7"/>
                </a:solidFill>
                <a:latin typeface="Arial" pitchFamily="34" charset="0"/>
                <a:ea typeface="Arial" pitchFamily="34" charset="-122"/>
                <a:cs typeface="Arial" pitchFamily="34" charset="-120"/>
              </a:rPr>
              <a:t>Every Technique Has a Counter</a:t>
            </a:r>
            <a:endParaRPr lang="en-US" sz="3200" dirty="0"/>
          </a:p>
        </p:txBody>
      </p:sp>
      <p:sp>
        <p:nvSpPr>
          <p:cNvPr id="4" name="Text 2"/>
          <p:cNvSpPr txBox="1"/>
          <p:nvPr/>
        </p:nvSpPr>
        <p:spPr>
          <a:xfrm>
            <a:off x="548640" y="1691640"/>
            <a:ext cx="5120640" cy="274320"/>
          </a:xfrm>
          <a:prstGeom prst="rect">
            <a:avLst/>
          </a:prstGeom>
          <a:noFill/>
          <a:ln/>
        </p:spPr>
        <p:txBody>
          <a:bodyPr wrap="square" lIns="0" tIns="0" rIns="0" bIns="0" rtlCol="0" anchor="ctr"/>
          <a:lstStyle/>
          <a:p>
            <a:pPr marL="0" indent="0">
              <a:buNone/>
            </a:pPr>
            <a:r>
              <a:rPr lang="en-US" sz="1150" b="1" kern="0" spc="200" dirty="0">
                <a:solidFill>
                  <a:srgbClr val="FF6B5E"/>
                </a:solidFill>
                <a:latin typeface="Arial" pitchFamily="34" charset="0"/>
                <a:ea typeface="Arial" pitchFamily="34" charset="-122"/>
                <a:cs typeface="Arial" pitchFamily="34" charset="-120"/>
              </a:rPr>
              <a:t>ATTACKER DOES</a:t>
            </a:r>
            <a:endParaRPr lang="en-US" sz="1150" dirty="0"/>
          </a:p>
        </p:txBody>
      </p:sp>
      <p:sp>
        <p:nvSpPr>
          <p:cNvPr id="5" name="Text 3"/>
          <p:cNvSpPr txBox="1"/>
          <p:nvPr/>
        </p:nvSpPr>
        <p:spPr>
          <a:xfrm>
            <a:off x="6519672" y="1691640"/>
            <a:ext cx="5120640" cy="274320"/>
          </a:xfrm>
          <a:prstGeom prst="rect">
            <a:avLst/>
          </a:prstGeom>
          <a:noFill/>
          <a:ln/>
        </p:spPr>
        <p:txBody>
          <a:bodyPr wrap="square" lIns="0" tIns="0" rIns="0" bIns="0" rtlCol="0" anchor="ctr"/>
          <a:lstStyle/>
          <a:p>
            <a:pPr marL="0" indent="0">
              <a:buNone/>
            </a:pPr>
            <a:r>
              <a:rPr lang="en-US" sz="1150" b="1" kern="0" spc="200" dirty="0">
                <a:solidFill>
                  <a:srgbClr val="4FD68A"/>
                </a:solidFill>
                <a:latin typeface="Arial" pitchFamily="34" charset="0"/>
                <a:ea typeface="Arial" pitchFamily="34" charset="-122"/>
                <a:cs typeface="Arial" pitchFamily="34" charset="-120"/>
              </a:rPr>
              <a:t>DEFENDER DOES</a:t>
            </a:r>
            <a:endParaRPr lang="en-US" sz="1150" dirty="0"/>
          </a:p>
        </p:txBody>
      </p:sp>
      <p:sp>
        <p:nvSpPr>
          <p:cNvPr id="6" name="Shape 4"/>
          <p:cNvSpPr/>
          <p:nvPr/>
        </p:nvSpPr>
        <p:spPr>
          <a:xfrm>
            <a:off x="548640" y="2011680"/>
            <a:ext cx="5120640" cy="566928"/>
          </a:xfrm>
          <a:prstGeom prst="roundRect">
            <a:avLst>
              <a:gd name="adj" fmla="val 12903"/>
            </a:avLst>
          </a:prstGeom>
          <a:solidFill>
            <a:srgbClr val="141A26"/>
          </a:solidFill>
          <a:ln w="12700">
            <a:solidFill>
              <a:srgbClr val="3A2028"/>
            </a:solidFill>
            <a:prstDash val="solid"/>
          </a:ln>
        </p:spPr>
        <p:txBody>
          <a:bodyPr/>
          <a:lstStyle/>
          <a:p>
            <a:endParaRPr lang="en-NP"/>
          </a:p>
        </p:txBody>
      </p:sp>
      <p:sp>
        <p:nvSpPr>
          <p:cNvPr id="7" name="Text 5"/>
          <p:cNvSpPr txBox="1"/>
          <p:nvPr/>
        </p:nvSpPr>
        <p:spPr>
          <a:xfrm>
            <a:off x="777240" y="2011680"/>
            <a:ext cx="4663440" cy="566928"/>
          </a:xfrm>
          <a:prstGeom prst="rect">
            <a:avLst/>
          </a:prstGeom>
          <a:noFill/>
          <a:ln/>
        </p:spPr>
        <p:txBody>
          <a:bodyPr wrap="square" lIns="0" tIns="0" rIns="0" bIns="0" rtlCol="0" anchor="ctr"/>
          <a:lstStyle/>
          <a:p>
            <a:pPr marL="0" indent="0">
              <a:buNone/>
            </a:pPr>
            <a:r>
              <a:rPr lang="en-US" sz="1300" dirty="0">
                <a:solidFill>
                  <a:srgbClr val="FFC0B8"/>
                </a:solidFill>
                <a:latin typeface="Arial" pitchFamily="34" charset="0"/>
                <a:ea typeface="Arial" pitchFamily="34" charset="-122"/>
                <a:cs typeface="Arial" pitchFamily="34" charset="-120"/>
              </a:rPr>
              <a:t>Finds an exposed endpoint</a:t>
            </a:r>
            <a:endParaRPr lang="en-US" sz="1300" dirty="0"/>
          </a:p>
        </p:txBody>
      </p:sp>
      <p:sp>
        <p:nvSpPr>
          <p:cNvPr id="8" name="Shape 6"/>
          <p:cNvSpPr/>
          <p:nvPr/>
        </p:nvSpPr>
        <p:spPr>
          <a:xfrm>
            <a:off x="5815584" y="2221992"/>
            <a:ext cx="502920" cy="146304"/>
          </a:xfrm>
          <a:prstGeom prst="rightArrow">
            <a:avLst/>
          </a:prstGeom>
          <a:solidFill>
            <a:srgbClr val="9A6BFF"/>
          </a:solidFill>
          <a:ln w="12700">
            <a:solidFill>
              <a:srgbClr val="0B0F17"/>
            </a:solidFill>
            <a:prstDash val="solid"/>
          </a:ln>
        </p:spPr>
        <p:txBody>
          <a:bodyPr/>
          <a:lstStyle/>
          <a:p>
            <a:endParaRPr lang="en-NP"/>
          </a:p>
        </p:txBody>
      </p:sp>
      <p:sp>
        <p:nvSpPr>
          <p:cNvPr id="9" name="Shape 7"/>
          <p:cNvSpPr/>
          <p:nvPr/>
        </p:nvSpPr>
        <p:spPr>
          <a:xfrm>
            <a:off x="6519672" y="2011680"/>
            <a:ext cx="5120640" cy="566928"/>
          </a:xfrm>
          <a:prstGeom prst="roundRect">
            <a:avLst>
              <a:gd name="adj" fmla="val 12903"/>
            </a:avLst>
          </a:prstGeom>
          <a:solidFill>
            <a:srgbClr val="141A26"/>
          </a:solidFill>
          <a:ln w="12700">
            <a:solidFill>
              <a:srgbClr val="1F3A2A"/>
            </a:solidFill>
            <a:prstDash val="solid"/>
          </a:ln>
        </p:spPr>
        <p:txBody>
          <a:bodyPr/>
          <a:lstStyle/>
          <a:p>
            <a:endParaRPr lang="en-NP"/>
          </a:p>
        </p:txBody>
      </p:sp>
      <p:sp>
        <p:nvSpPr>
          <p:cNvPr id="10" name="Text 8"/>
          <p:cNvSpPr txBox="1"/>
          <p:nvPr/>
        </p:nvSpPr>
        <p:spPr>
          <a:xfrm>
            <a:off x="6748272" y="2011680"/>
            <a:ext cx="4663440" cy="566928"/>
          </a:xfrm>
          <a:prstGeom prst="rect">
            <a:avLst/>
          </a:prstGeom>
          <a:noFill/>
          <a:ln/>
        </p:spPr>
        <p:txBody>
          <a:bodyPr wrap="square" lIns="0" tIns="0" rIns="0" bIns="0" rtlCol="0" anchor="ctr"/>
          <a:lstStyle/>
          <a:p>
            <a:pPr marL="0" indent="0">
              <a:buNone/>
            </a:pPr>
            <a:r>
              <a:rPr lang="en-US" sz="1300" dirty="0">
                <a:solidFill>
                  <a:srgbClr val="A9EFC6"/>
                </a:solidFill>
                <a:latin typeface="Arial" pitchFamily="34" charset="0"/>
                <a:ea typeface="Arial" pitchFamily="34" charset="-122"/>
                <a:cs typeface="Arial" pitchFamily="34" charset="-120"/>
              </a:rPr>
              <a:t>Minimises and inventories attack surface</a:t>
            </a:r>
            <a:endParaRPr lang="en-US" sz="1300" dirty="0"/>
          </a:p>
        </p:txBody>
      </p:sp>
      <p:sp>
        <p:nvSpPr>
          <p:cNvPr id="11" name="Shape 9"/>
          <p:cNvSpPr/>
          <p:nvPr/>
        </p:nvSpPr>
        <p:spPr>
          <a:xfrm>
            <a:off x="548640" y="2615184"/>
            <a:ext cx="5120640" cy="566928"/>
          </a:xfrm>
          <a:prstGeom prst="roundRect">
            <a:avLst>
              <a:gd name="adj" fmla="val 12903"/>
            </a:avLst>
          </a:prstGeom>
          <a:solidFill>
            <a:srgbClr val="141A26"/>
          </a:solidFill>
          <a:ln w="12700">
            <a:solidFill>
              <a:srgbClr val="3A2028"/>
            </a:solidFill>
            <a:prstDash val="solid"/>
          </a:ln>
        </p:spPr>
        <p:txBody>
          <a:bodyPr/>
          <a:lstStyle/>
          <a:p>
            <a:endParaRPr lang="en-NP"/>
          </a:p>
        </p:txBody>
      </p:sp>
      <p:sp>
        <p:nvSpPr>
          <p:cNvPr id="12" name="Text 10"/>
          <p:cNvSpPr txBox="1"/>
          <p:nvPr/>
        </p:nvSpPr>
        <p:spPr>
          <a:xfrm>
            <a:off x="777240" y="2615184"/>
            <a:ext cx="4663440" cy="566928"/>
          </a:xfrm>
          <a:prstGeom prst="rect">
            <a:avLst/>
          </a:prstGeom>
          <a:noFill/>
          <a:ln/>
        </p:spPr>
        <p:txBody>
          <a:bodyPr wrap="square" lIns="0" tIns="0" rIns="0" bIns="0" rtlCol="0" anchor="ctr"/>
          <a:lstStyle/>
          <a:p>
            <a:pPr marL="0" indent="0">
              <a:buNone/>
            </a:pPr>
            <a:r>
              <a:rPr lang="en-US" sz="1300" dirty="0">
                <a:solidFill>
                  <a:srgbClr val="FFC0B8"/>
                </a:solidFill>
                <a:latin typeface="Arial" pitchFamily="34" charset="0"/>
                <a:ea typeface="Arial" pitchFamily="34" charset="-122"/>
                <a:cs typeface="Arial" pitchFamily="34" charset="-120"/>
              </a:rPr>
              <a:t>Changes an object ID</a:t>
            </a:r>
            <a:endParaRPr lang="en-US" sz="1300" dirty="0"/>
          </a:p>
        </p:txBody>
      </p:sp>
      <p:sp>
        <p:nvSpPr>
          <p:cNvPr id="13" name="Shape 11"/>
          <p:cNvSpPr/>
          <p:nvPr/>
        </p:nvSpPr>
        <p:spPr>
          <a:xfrm>
            <a:off x="5815584" y="2825496"/>
            <a:ext cx="502920" cy="146304"/>
          </a:xfrm>
          <a:prstGeom prst="rightArrow">
            <a:avLst/>
          </a:prstGeom>
          <a:solidFill>
            <a:srgbClr val="9A6BFF"/>
          </a:solidFill>
          <a:ln w="12700">
            <a:solidFill>
              <a:srgbClr val="0B0F17"/>
            </a:solidFill>
            <a:prstDash val="solid"/>
          </a:ln>
        </p:spPr>
        <p:txBody>
          <a:bodyPr/>
          <a:lstStyle/>
          <a:p>
            <a:endParaRPr lang="en-NP"/>
          </a:p>
        </p:txBody>
      </p:sp>
      <p:sp>
        <p:nvSpPr>
          <p:cNvPr id="14" name="Shape 12"/>
          <p:cNvSpPr/>
          <p:nvPr/>
        </p:nvSpPr>
        <p:spPr>
          <a:xfrm>
            <a:off x="6519672" y="2615184"/>
            <a:ext cx="5120640" cy="566928"/>
          </a:xfrm>
          <a:prstGeom prst="roundRect">
            <a:avLst>
              <a:gd name="adj" fmla="val 12903"/>
            </a:avLst>
          </a:prstGeom>
          <a:solidFill>
            <a:srgbClr val="141A26"/>
          </a:solidFill>
          <a:ln w="12700">
            <a:solidFill>
              <a:srgbClr val="1F3A2A"/>
            </a:solidFill>
            <a:prstDash val="solid"/>
          </a:ln>
        </p:spPr>
        <p:txBody>
          <a:bodyPr/>
          <a:lstStyle/>
          <a:p>
            <a:endParaRPr lang="en-NP"/>
          </a:p>
        </p:txBody>
      </p:sp>
      <p:sp>
        <p:nvSpPr>
          <p:cNvPr id="15" name="Text 13"/>
          <p:cNvSpPr txBox="1"/>
          <p:nvPr/>
        </p:nvSpPr>
        <p:spPr>
          <a:xfrm>
            <a:off x="6748272" y="2615184"/>
            <a:ext cx="4663440" cy="566928"/>
          </a:xfrm>
          <a:prstGeom prst="rect">
            <a:avLst/>
          </a:prstGeom>
          <a:noFill/>
          <a:ln/>
        </p:spPr>
        <p:txBody>
          <a:bodyPr wrap="square" lIns="0" tIns="0" rIns="0" bIns="0" rtlCol="0" anchor="ctr"/>
          <a:lstStyle/>
          <a:p>
            <a:pPr marL="0" indent="0">
              <a:buNone/>
            </a:pPr>
            <a:r>
              <a:rPr lang="en-US" sz="1300" dirty="0">
                <a:solidFill>
                  <a:srgbClr val="A9EFC6"/>
                </a:solidFill>
                <a:latin typeface="Arial" pitchFamily="34" charset="0"/>
                <a:ea typeface="Arial" pitchFamily="34" charset="-122"/>
                <a:cs typeface="Arial" pitchFamily="34" charset="-120"/>
              </a:rPr>
              <a:t>Enforces resource-level authorization</a:t>
            </a:r>
            <a:endParaRPr lang="en-US" sz="1300" dirty="0"/>
          </a:p>
        </p:txBody>
      </p:sp>
      <p:sp>
        <p:nvSpPr>
          <p:cNvPr id="16" name="Shape 14"/>
          <p:cNvSpPr/>
          <p:nvPr/>
        </p:nvSpPr>
        <p:spPr>
          <a:xfrm>
            <a:off x="548640" y="3218688"/>
            <a:ext cx="5120640" cy="566928"/>
          </a:xfrm>
          <a:prstGeom prst="roundRect">
            <a:avLst>
              <a:gd name="adj" fmla="val 12903"/>
            </a:avLst>
          </a:prstGeom>
          <a:solidFill>
            <a:srgbClr val="141A26"/>
          </a:solidFill>
          <a:ln w="12700">
            <a:solidFill>
              <a:srgbClr val="3A2028"/>
            </a:solidFill>
            <a:prstDash val="solid"/>
          </a:ln>
        </p:spPr>
        <p:txBody>
          <a:bodyPr/>
          <a:lstStyle/>
          <a:p>
            <a:endParaRPr lang="en-NP"/>
          </a:p>
        </p:txBody>
      </p:sp>
      <p:sp>
        <p:nvSpPr>
          <p:cNvPr id="17" name="Text 15"/>
          <p:cNvSpPr txBox="1"/>
          <p:nvPr/>
        </p:nvSpPr>
        <p:spPr>
          <a:xfrm>
            <a:off x="777240" y="3218688"/>
            <a:ext cx="4663440" cy="566928"/>
          </a:xfrm>
          <a:prstGeom prst="rect">
            <a:avLst/>
          </a:prstGeom>
          <a:noFill/>
          <a:ln/>
        </p:spPr>
        <p:txBody>
          <a:bodyPr wrap="square" lIns="0" tIns="0" rIns="0" bIns="0" rtlCol="0" anchor="ctr"/>
          <a:lstStyle/>
          <a:p>
            <a:pPr marL="0" indent="0">
              <a:buNone/>
            </a:pPr>
            <a:r>
              <a:rPr lang="en-US" sz="1300" dirty="0">
                <a:solidFill>
                  <a:srgbClr val="FFC0B8"/>
                </a:solidFill>
                <a:latin typeface="Arial" pitchFamily="34" charset="0"/>
                <a:ea typeface="Arial" pitchFamily="34" charset="-122"/>
                <a:cs typeface="Arial" pitchFamily="34" charset="-120"/>
              </a:rPr>
              <a:t>Hunts for secrets in code and logs</a:t>
            </a:r>
            <a:endParaRPr lang="en-US" sz="1300" dirty="0"/>
          </a:p>
        </p:txBody>
      </p:sp>
      <p:sp>
        <p:nvSpPr>
          <p:cNvPr id="18" name="Shape 16"/>
          <p:cNvSpPr/>
          <p:nvPr/>
        </p:nvSpPr>
        <p:spPr>
          <a:xfrm>
            <a:off x="5815584" y="3429000"/>
            <a:ext cx="502920" cy="146304"/>
          </a:xfrm>
          <a:prstGeom prst="rightArrow">
            <a:avLst/>
          </a:prstGeom>
          <a:solidFill>
            <a:srgbClr val="9A6BFF"/>
          </a:solidFill>
          <a:ln w="12700">
            <a:solidFill>
              <a:srgbClr val="0B0F17"/>
            </a:solidFill>
            <a:prstDash val="solid"/>
          </a:ln>
        </p:spPr>
        <p:txBody>
          <a:bodyPr/>
          <a:lstStyle/>
          <a:p>
            <a:endParaRPr lang="en-NP"/>
          </a:p>
        </p:txBody>
      </p:sp>
      <p:sp>
        <p:nvSpPr>
          <p:cNvPr id="19" name="Shape 17"/>
          <p:cNvSpPr/>
          <p:nvPr/>
        </p:nvSpPr>
        <p:spPr>
          <a:xfrm>
            <a:off x="6519672" y="3218688"/>
            <a:ext cx="5120640" cy="566928"/>
          </a:xfrm>
          <a:prstGeom prst="roundRect">
            <a:avLst>
              <a:gd name="adj" fmla="val 12903"/>
            </a:avLst>
          </a:prstGeom>
          <a:solidFill>
            <a:srgbClr val="141A26"/>
          </a:solidFill>
          <a:ln w="12700">
            <a:solidFill>
              <a:srgbClr val="1F3A2A"/>
            </a:solidFill>
            <a:prstDash val="solid"/>
          </a:ln>
        </p:spPr>
        <p:txBody>
          <a:bodyPr/>
          <a:lstStyle/>
          <a:p>
            <a:endParaRPr lang="en-NP"/>
          </a:p>
        </p:txBody>
      </p:sp>
      <p:sp>
        <p:nvSpPr>
          <p:cNvPr id="20" name="Text 18"/>
          <p:cNvSpPr txBox="1"/>
          <p:nvPr/>
        </p:nvSpPr>
        <p:spPr>
          <a:xfrm>
            <a:off x="6748272" y="3218688"/>
            <a:ext cx="4663440" cy="566928"/>
          </a:xfrm>
          <a:prstGeom prst="rect">
            <a:avLst/>
          </a:prstGeom>
          <a:noFill/>
          <a:ln/>
        </p:spPr>
        <p:txBody>
          <a:bodyPr wrap="square" lIns="0" tIns="0" rIns="0" bIns="0" rtlCol="0" anchor="ctr"/>
          <a:lstStyle/>
          <a:p>
            <a:pPr marL="0" indent="0">
              <a:buNone/>
            </a:pPr>
            <a:r>
              <a:rPr lang="en-US" sz="1300" dirty="0">
                <a:solidFill>
                  <a:srgbClr val="A9EFC6"/>
                </a:solidFill>
                <a:latin typeface="Arial" pitchFamily="34" charset="0"/>
                <a:ea typeface="Arial" pitchFamily="34" charset="-122"/>
                <a:cs typeface="Arial" pitchFamily="34" charset="-120"/>
              </a:rPr>
              <a:t>Uses a vault and managed identity</a:t>
            </a:r>
            <a:endParaRPr lang="en-US" sz="1300" dirty="0"/>
          </a:p>
        </p:txBody>
      </p:sp>
      <p:sp>
        <p:nvSpPr>
          <p:cNvPr id="21" name="Shape 19"/>
          <p:cNvSpPr/>
          <p:nvPr/>
        </p:nvSpPr>
        <p:spPr>
          <a:xfrm>
            <a:off x="548640" y="3822192"/>
            <a:ext cx="5120640" cy="566928"/>
          </a:xfrm>
          <a:prstGeom prst="roundRect">
            <a:avLst>
              <a:gd name="adj" fmla="val 12903"/>
            </a:avLst>
          </a:prstGeom>
          <a:solidFill>
            <a:srgbClr val="141A26"/>
          </a:solidFill>
          <a:ln w="12700">
            <a:solidFill>
              <a:srgbClr val="3A2028"/>
            </a:solidFill>
            <a:prstDash val="solid"/>
          </a:ln>
        </p:spPr>
        <p:txBody>
          <a:bodyPr/>
          <a:lstStyle/>
          <a:p>
            <a:endParaRPr lang="en-NP"/>
          </a:p>
        </p:txBody>
      </p:sp>
      <p:sp>
        <p:nvSpPr>
          <p:cNvPr id="22" name="Text 20"/>
          <p:cNvSpPr txBox="1"/>
          <p:nvPr/>
        </p:nvSpPr>
        <p:spPr>
          <a:xfrm>
            <a:off x="777240" y="3822192"/>
            <a:ext cx="4663440" cy="566928"/>
          </a:xfrm>
          <a:prstGeom prst="rect">
            <a:avLst/>
          </a:prstGeom>
          <a:noFill/>
          <a:ln/>
        </p:spPr>
        <p:txBody>
          <a:bodyPr wrap="square" lIns="0" tIns="0" rIns="0" bIns="0" rtlCol="0" anchor="ctr"/>
          <a:lstStyle/>
          <a:p>
            <a:pPr marL="0" indent="0">
              <a:buNone/>
            </a:pPr>
            <a:r>
              <a:rPr lang="en-US" sz="1300" dirty="0">
                <a:solidFill>
                  <a:srgbClr val="FFC0B8"/>
                </a:solidFill>
                <a:latin typeface="Arial" pitchFamily="34" charset="0"/>
                <a:ea typeface="Arial" pitchFamily="34" charset="-122"/>
                <a:cs typeface="Arial" pitchFamily="34" charset="-120"/>
              </a:rPr>
              <a:t>Chains small weaknesses together</a:t>
            </a:r>
            <a:endParaRPr lang="en-US" sz="1300" dirty="0"/>
          </a:p>
        </p:txBody>
      </p:sp>
      <p:sp>
        <p:nvSpPr>
          <p:cNvPr id="23" name="Shape 21"/>
          <p:cNvSpPr/>
          <p:nvPr/>
        </p:nvSpPr>
        <p:spPr>
          <a:xfrm>
            <a:off x="5815584" y="4032504"/>
            <a:ext cx="502920" cy="146304"/>
          </a:xfrm>
          <a:prstGeom prst="rightArrow">
            <a:avLst/>
          </a:prstGeom>
          <a:solidFill>
            <a:srgbClr val="9A6BFF"/>
          </a:solidFill>
          <a:ln w="12700">
            <a:solidFill>
              <a:srgbClr val="0B0F17"/>
            </a:solidFill>
            <a:prstDash val="solid"/>
          </a:ln>
        </p:spPr>
        <p:txBody>
          <a:bodyPr/>
          <a:lstStyle/>
          <a:p>
            <a:endParaRPr lang="en-NP"/>
          </a:p>
        </p:txBody>
      </p:sp>
      <p:sp>
        <p:nvSpPr>
          <p:cNvPr id="24" name="Shape 22"/>
          <p:cNvSpPr/>
          <p:nvPr/>
        </p:nvSpPr>
        <p:spPr>
          <a:xfrm>
            <a:off x="6519672" y="3822192"/>
            <a:ext cx="5120640" cy="566928"/>
          </a:xfrm>
          <a:prstGeom prst="roundRect">
            <a:avLst>
              <a:gd name="adj" fmla="val 12903"/>
            </a:avLst>
          </a:prstGeom>
          <a:solidFill>
            <a:srgbClr val="141A26"/>
          </a:solidFill>
          <a:ln w="12700">
            <a:solidFill>
              <a:srgbClr val="1F3A2A"/>
            </a:solidFill>
            <a:prstDash val="solid"/>
          </a:ln>
        </p:spPr>
        <p:txBody>
          <a:bodyPr/>
          <a:lstStyle/>
          <a:p>
            <a:endParaRPr lang="en-NP"/>
          </a:p>
        </p:txBody>
      </p:sp>
      <p:sp>
        <p:nvSpPr>
          <p:cNvPr id="25" name="Text 23"/>
          <p:cNvSpPr txBox="1"/>
          <p:nvPr/>
        </p:nvSpPr>
        <p:spPr>
          <a:xfrm>
            <a:off x="6748272" y="3822192"/>
            <a:ext cx="4663440" cy="566928"/>
          </a:xfrm>
          <a:prstGeom prst="rect">
            <a:avLst/>
          </a:prstGeom>
          <a:noFill/>
          <a:ln/>
        </p:spPr>
        <p:txBody>
          <a:bodyPr wrap="square" lIns="0" tIns="0" rIns="0" bIns="0" rtlCol="0" anchor="ctr"/>
          <a:lstStyle/>
          <a:p>
            <a:pPr marL="0" indent="0">
              <a:buNone/>
            </a:pPr>
            <a:r>
              <a:rPr lang="en-US" sz="1300" dirty="0">
                <a:solidFill>
                  <a:srgbClr val="A9EFC6"/>
                </a:solidFill>
                <a:latin typeface="Arial" pitchFamily="34" charset="0"/>
                <a:ea typeface="Arial" pitchFamily="34" charset="-122"/>
                <a:cs typeface="Arial" pitchFamily="34" charset="-120"/>
              </a:rPr>
              <a:t>Reduces privilege and blast radius</a:t>
            </a:r>
            <a:endParaRPr lang="en-US" sz="1300" dirty="0"/>
          </a:p>
        </p:txBody>
      </p:sp>
      <p:sp>
        <p:nvSpPr>
          <p:cNvPr id="26" name="Shape 24"/>
          <p:cNvSpPr/>
          <p:nvPr/>
        </p:nvSpPr>
        <p:spPr>
          <a:xfrm>
            <a:off x="548640" y="4425696"/>
            <a:ext cx="5120640" cy="566928"/>
          </a:xfrm>
          <a:prstGeom prst="roundRect">
            <a:avLst>
              <a:gd name="adj" fmla="val 12903"/>
            </a:avLst>
          </a:prstGeom>
          <a:solidFill>
            <a:srgbClr val="141A26"/>
          </a:solidFill>
          <a:ln w="12700">
            <a:solidFill>
              <a:srgbClr val="3A2028"/>
            </a:solidFill>
            <a:prstDash val="solid"/>
          </a:ln>
        </p:spPr>
        <p:txBody>
          <a:bodyPr/>
          <a:lstStyle/>
          <a:p>
            <a:endParaRPr lang="en-NP"/>
          </a:p>
        </p:txBody>
      </p:sp>
      <p:sp>
        <p:nvSpPr>
          <p:cNvPr id="27" name="Text 25"/>
          <p:cNvSpPr txBox="1"/>
          <p:nvPr/>
        </p:nvSpPr>
        <p:spPr>
          <a:xfrm>
            <a:off x="777240" y="4425696"/>
            <a:ext cx="4663440" cy="566928"/>
          </a:xfrm>
          <a:prstGeom prst="rect">
            <a:avLst/>
          </a:prstGeom>
          <a:noFill/>
          <a:ln/>
        </p:spPr>
        <p:txBody>
          <a:bodyPr wrap="square" lIns="0" tIns="0" rIns="0" bIns="0" rtlCol="0" anchor="ctr"/>
          <a:lstStyle/>
          <a:p>
            <a:pPr marL="0" indent="0">
              <a:buNone/>
            </a:pPr>
            <a:r>
              <a:rPr lang="en-US" sz="1300" dirty="0">
                <a:solidFill>
                  <a:srgbClr val="FFC0B8"/>
                </a:solidFill>
                <a:latin typeface="Arial" pitchFamily="34" charset="0"/>
                <a:ea typeface="Arial" pitchFamily="34" charset="-122"/>
                <a:cs typeface="Arial" pitchFamily="34" charset="-120"/>
              </a:rPr>
              <a:t>Automates discovery at scale</a:t>
            </a:r>
            <a:endParaRPr lang="en-US" sz="1300" dirty="0"/>
          </a:p>
        </p:txBody>
      </p:sp>
      <p:sp>
        <p:nvSpPr>
          <p:cNvPr id="28" name="Shape 26"/>
          <p:cNvSpPr/>
          <p:nvPr/>
        </p:nvSpPr>
        <p:spPr>
          <a:xfrm>
            <a:off x="5815584" y="4636008"/>
            <a:ext cx="502920" cy="146304"/>
          </a:xfrm>
          <a:prstGeom prst="rightArrow">
            <a:avLst/>
          </a:prstGeom>
          <a:solidFill>
            <a:srgbClr val="9A6BFF"/>
          </a:solidFill>
          <a:ln w="12700">
            <a:solidFill>
              <a:srgbClr val="0B0F17"/>
            </a:solidFill>
            <a:prstDash val="solid"/>
          </a:ln>
        </p:spPr>
        <p:txBody>
          <a:bodyPr/>
          <a:lstStyle/>
          <a:p>
            <a:endParaRPr lang="en-NP"/>
          </a:p>
        </p:txBody>
      </p:sp>
      <p:sp>
        <p:nvSpPr>
          <p:cNvPr id="29" name="Shape 27"/>
          <p:cNvSpPr/>
          <p:nvPr/>
        </p:nvSpPr>
        <p:spPr>
          <a:xfrm>
            <a:off x="6519672" y="4425696"/>
            <a:ext cx="5120640" cy="566928"/>
          </a:xfrm>
          <a:prstGeom prst="roundRect">
            <a:avLst>
              <a:gd name="adj" fmla="val 12903"/>
            </a:avLst>
          </a:prstGeom>
          <a:solidFill>
            <a:srgbClr val="141A26"/>
          </a:solidFill>
          <a:ln w="12700">
            <a:solidFill>
              <a:srgbClr val="1F3A2A"/>
            </a:solidFill>
            <a:prstDash val="solid"/>
          </a:ln>
        </p:spPr>
        <p:txBody>
          <a:bodyPr/>
          <a:lstStyle/>
          <a:p>
            <a:endParaRPr lang="en-NP"/>
          </a:p>
        </p:txBody>
      </p:sp>
      <p:sp>
        <p:nvSpPr>
          <p:cNvPr id="30" name="Text 28"/>
          <p:cNvSpPr txBox="1"/>
          <p:nvPr/>
        </p:nvSpPr>
        <p:spPr>
          <a:xfrm>
            <a:off x="6748272" y="4425696"/>
            <a:ext cx="4663440" cy="566928"/>
          </a:xfrm>
          <a:prstGeom prst="rect">
            <a:avLst/>
          </a:prstGeom>
          <a:noFill/>
          <a:ln/>
        </p:spPr>
        <p:txBody>
          <a:bodyPr wrap="square" lIns="0" tIns="0" rIns="0" bIns="0" rtlCol="0" anchor="ctr"/>
          <a:lstStyle/>
          <a:p>
            <a:pPr marL="0" indent="0">
              <a:buNone/>
            </a:pPr>
            <a:r>
              <a:rPr lang="en-US" sz="1300" dirty="0">
                <a:solidFill>
                  <a:srgbClr val="A9EFC6"/>
                </a:solidFill>
                <a:latin typeface="Arial" pitchFamily="34" charset="0"/>
                <a:ea typeface="Arial" pitchFamily="34" charset="-122"/>
                <a:cs typeface="Arial" pitchFamily="34" charset="-120"/>
              </a:rPr>
              <a:t>Automates security testing at scale</a:t>
            </a:r>
            <a:endParaRPr lang="en-US" sz="1300" dirty="0"/>
          </a:p>
        </p:txBody>
      </p:sp>
      <p:sp>
        <p:nvSpPr>
          <p:cNvPr id="31" name="Shape 29"/>
          <p:cNvSpPr/>
          <p:nvPr/>
        </p:nvSpPr>
        <p:spPr>
          <a:xfrm>
            <a:off x="548640" y="5029200"/>
            <a:ext cx="5120640" cy="566928"/>
          </a:xfrm>
          <a:prstGeom prst="roundRect">
            <a:avLst>
              <a:gd name="adj" fmla="val 12903"/>
            </a:avLst>
          </a:prstGeom>
          <a:solidFill>
            <a:srgbClr val="141A26"/>
          </a:solidFill>
          <a:ln w="12700">
            <a:solidFill>
              <a:srgbClr val="3A2028"/>
            </a:solidFill>
            <a:prstDash val="solid"/>
          </a:ln>
        </p:spPr>
        <p:txBody>
          <a:bodyPr/>
          <a:lstStyle/>
          <a:p>
            <a:endParaRPr lang="en-NP"/>
          </a:p>
        </p:txBody>
      </p:sp>
      <p:sp>
        <p:nvSpPr>
          <p:cNvPr id="32" name="Text 30"/>
          <p:cNvSpPr txBox="1"/>
          <p:nvPr/>
        </p:nvSpPr>
        <p:spPr>
          <a:xfrm>
            <a:off x="777240" y="5029200"/>
            <a:ext cx="4663440" cy="566928"/>
          </a:xfrm>
          <a:prstGeom prst="rect">
            <a:avLst/>
          </a:prstGeom>
          <a:noFill/>
          <a:ln/>
        </p:spPr>
        <p:txBody>
          <a:bodyPr wrap="square" lIns="0" tIns="0" rIns="0" bIns="0" rtlCol="0" anchor="ctr"/>
          <a:lstStyle/>
          <a:p>
            <a:pPr marL="0" indent="0">
              <a:buNone/>
            </a:pPr>
            <a:r>
              <a:rPr lang="en-US" sz="1300" dirty="0">
                <a:solidFill>
                  <a:srgbClr val="FFC0B8"/>
                </a:solidFill>
                <a:latin typeface="Arial" pitchFamily="34" charset="0"/>
                <a:ea typeface="Arial" pitchFamily="34" charset="-122"/>
                <a:cs typeface="Arial" pitchFamily="34" charset="-120"/>
              </a:rPr>
              <a:t>Counts on nobody watching</a:t>
            </a:r>
            <a:endParaRPr lang="en-US" sz="1300" dirty="0"/>
          </a:p>
        </p:txBody>
      </p:sp>
      <p:sp>
        <p:nvSpPr>
          <p:cNvPr id="33" name="Shape 31"/>
          <p:cNvSpPr/>
          <p:nvPr/>
        </p:nvSpPr>
        <p:spPr>
          <a:xfrm>
            <a:off x="5815584" y="5239512"/>
            <a:ext cx="502920" cy="146304"/>
          </a:xfrm>
          <a:prstGeom prst="rightArrow">
            <a:avLst/>
          </a:prstGeom>
          <a:solidFill>
            <a:srgbClr val="9A6BFF"/>
          </a:solidFill>
          <a:ln w="12700">
            <a:solidFill>
              <a:srgbClr val="0B0F17"/>
            </a:solidFill>
            <a:prstDash val="solid"/>
          </a:ln>
        </p:spPr>
        <p:txBody>
          <a:bodyPr/>
          <a:lstStyle/>
          <a:p>
            <a:endParaRPr lang="en-NP"/>
          </a:p>
        </p:txBody>
      </p:sp>
      <p:sp>
        <p:nvSpPr>
          <p:cNvPr id="34" name="Shape 32"/>
          <p:cNvSpPr/>
          <p:nvPr/>
        </p:nvSpPr>
        <p:spPr>
          <a:xfrm>
            <a:off x="6519672" y="5029200"/>
            <a:ext cx="5120640" cy="566928"/>
          </a:xfrm>
          <a:prstGeom prst="roundRect">
            <a:avLst>
              <a:gd name="adj" fmla="val 12903"/>
            </a:avLst>
          </a:prstGeom>
          <a:solidFill>
            <a:srgbClr val="141A26"/>
          </a:solidFill>
          <a:ln w="12700">
            <a:solidFill>
              <a:srgbClr val="1F3A2A"/>
            </a:solidFill>
            <a:prstDash val="solid"/>
          </a:ln>
        </p:spPr>
        <p:txBody>
          <a:bodyPr/>
          <a:lstStyle/>
          <a:p>
            <a:endParaRPr lang="en-NP"/>
          </a:p>
        </p:txBody>
      </p:sp>
      <p:sp>
        <p:nvSpPr>
          <p:cNvPr id="35" name="Text 33"/>
          <p:cNvSpPr txBox="1"/>
          <p:nvPr/>
        </p:nvSpPr>
        <p:spPr>
          <a:xfrm>
            <a:off x="6748272" y="5029200"/>
            <a:ext cx="4663440" cy="566928"/>
          </a:xfrm>
          <a:prstGeom prst="rect">
            <a:avLst/>
          </a:prstGeom>
          <a:noFill/>
          <a:ln/>
        </p:spPr>
        <p:txBody>
          <a:bodyPr wrap="square" lIns="0" tIns="0" rIns="0" bIns="0" rtlCol="0" anchor="ctr"/>
          <a:lstStyle/>
          <a:p>
            <a:pPr marL="0" indent="0">
              <a:buNone/>
            </a:pPr>
            <a:r>
              <a:rPr lang="en-US" sz="1300" dirty="0">
                <a:solidFill>
                  <a:srgbClr val="A9EFC6"/>
                </a:solidFill>
                <a:latin typeface="Arial" pitchFamily="34" charset="0"/>
                <a:ea typeface="Arial" pitchFamily="34" charset="-122"/>
                <a:cs typeface="Arial" pitchFamily="34" charset="-120"/>
              </a:rPr>
              <a:t>Alerts on the pattern, not just the log</a:t>
            </a:r>
            <a:endParaRPr lang="en-US" sz="1300" dirty="0"/>
          </a:p>
        </p:txBody>
      </p:sp>
      <p:sp>
        <p:nvSpPr>
          <p:cNvPr id="36" name="Shape 34"/>
          <p:cNvSpPr/>
          <p:nvPr/>
        </p:nvSpPr>
        <p:spPr>
          <a:xfrm>
            <a:off x="548640" y="5715000"/>
            <a:ext cx="11091672" cy="548640"/>
          </a:xfrm>
          <a:prstGeom prst="roundRect">
            <a:avLst>
              <a:gd name="adj" fmla="val 13333"/>
            </a:avLst>
          </a:prstGeom>
          <a:solidFill>
            <a:srgbClr val="2A2050"/>
          </a:solidFill>
          <a:ln w="12700">
            <a:solidFill>
              <a:srgbClr val="9A6BFF"/>
            </a:solidFill>
            <a:prstDash val="solid"/>
          </a:ln>
        </p:spPr>
        <p:txBody>
          <a:bodyPr/>
          <a:lstStyle/>
          <a:p>
            <a:endParaRPr lang="en-NP"/>
          </a:p>
        </p:txBody>
      </p:sp>
      <p:sp>
        <p:nvSpPr>
          <p:cNvPr id="37" name="Text 35"/>
          <p:cNvSpPr txBox="1"/>
          <p:nvPr/>
        </p:nvSpPr>
        <p:spPr>
          <a:xfrm>
            <a:off x="822960" y="5715000"/>
            <a:ext cx="10543032" cy="548640"/>
          </a:xfrm>
          <a:prstGeom prst="rect">
            <a:avLst/>
          </a:prstGeom>
          <a:noFill/>
          <a:ln/>
        </p:spPr>
        <p:txBody>
          <a:bodyPr wrap="square" lIns="0" tIns="0" rIns="0" bIns="0" rtlCol="0" anchor="ctr"/>
          <a:lstStyle/>
          <a:p>
            <a:pPr marL="0" indent="0" algn="ctr">
              <a:buNone/>
            </a:pPr>
            <a:r>
              <a:rPr lang="en-US" sz="1600" b="1" i="1" dirty="0">
                <a:solidFill>
                  <a:srgbClr val="D9C8FF"/>
                </a:solidFill>
                <a:latin typeface="Arial" pitchFamily="34" charset="0"/>
                <a:ea typeface="Arial" pitchFamily="34" charset="-122"/>
                <a:cs typeface="Arial" pitchFamily="34" charset="-120"/>
              </a:rPr>
              <a:t>"Every attacker technique should have a corresponding defensive control. If it doesn’t, that’s your backlog."</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FFA33A"/>
                </a:solidFill>
                <a:latin typeface="Arial" pitchFamily="34" charset="0"/>
                <a:ea typeface="Arial" pitchFamily="34" charset="-122"/>
                <a:cs typeface="Arial" pitchFamily="34" charset="-120"/>
              </a:rPr>
              <a:t>QUIZ #3  ·  YOU ARE THE ATTACKER</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400" b="1" dirty="0">
                <a:solidFill>
                  <a:srgbClr val="E9EEF7"/>
                </a:solidFill>
                <a:latin typeface="Arial" pitchFamily="34" charset="0"/>
                <a:ea typeface="Arial" pitchFamily="34" charset="-122"/>
                <a:cs typeface="Arial" pitchFamily="34" charset="-120"/>
              </a:rPr>
              <a:t>Where Do You Start?</a:t>
            </a:r>
            <a:endParaRPr lang="en-US" sz="3400" dirty="0"/>
          </a:p>
        </p:txBody>
      </p:sp>
      <p:sp>
        <p:nvSpPr>
          <p:cNvPr id="4" name="Shape 2"/>
          <p:cNvSpPr/>
          <p:nvPr/>
        </p:nvSpPr>
        <p:spPr>
          <a:xfrm>
            <a:off x="548640" y="1691640"/>
            <a:ext cx="5120640" cy="3063240"/>
          </a:xfrm>
          <a:prstGeom prst="roundRect">
            <a:avLst>
              <a:gd name="adj" fmla="val 2388"/>
            </a:avLst>
          </a:prstGeom>
          <a:solidFill>
            <a:srgbClr val="141A26"/>
          </a:solidFill>
          <a:ln w="12700">
            <a:solidFill>
              <a:srgbClr val="2A3446"/>
            </a:solidFill>
            <a:prstDash val="solid"/>
          </a:ln>
        </p:spPr>
        <p:txBody>
          <a:bodyPr/>
          <a:lstStyle/>
          <a:p>
            <a:endParaRPr lang="en-NP"/>
          </a:p>
        </p:txBody>
      </p:sp>
      <p:sp>
        <p:nvSpPr>
          <p:cNvPr id="5" name="Text 3"/>
          <p:cNvSpPr txBox="1"/>
          <p:nvPr/>
        </p:nvSpPr>
        <p:spPr>
          <a:xfrm>
            <a:off x="777240" y="1874520"/>
            <a:ext cx="4572000" cy="256032"/>
          </a:xfrm>
          <a:prstGeom prst="rect">
            <a:avLst/>
          </a:prstGeom>
          <a:noFill/>
          <a:ln/>
        </p:spPr>
        <p:txBody>
          <a:bodyPr wrap="square" lIns="0" tIns="0" rIns="0" bIns="0" rtlCol="0" anchor="ctr"/>
          <a:lstStyle/>
          <a:p>
            <a:pPr marL="0" indent="0">
              <a:buNone/>
            </a:pPr>
            <a:r>
              <a:rPr lang="en-US" sz="1050" b="1" kern="0" spc="160" dirty="0">
                <a:solidFill>
                  <a:srgbClr val="4CC9F0"/>
                </a:solidFill>
                <a:latin typeface="Arial" pitchFamily="34" charset="0"/>
                <a:ea typeface="Arial" pitchFamily="34" charset="-122"/>
                <a:cs typeface="Arial" pitchFamily="34" charset="-120"/>
              </a:rPr>
              <a:t>THE APPLICATION</a:t>
            </a:r>
            <a:endParaRPr lang="en-US" sz="1050" dirty="0"/>
          </a:p>
        </p:txBody>
      </p:sp>
      <p:sp>
        <p:nvSpPr>
          <p:cNvPr id="6" name="Shape 4"/>
          <p:cNvSpPr/>
          <p:nvPr/>
        </p:nvSpPr>
        <p:spPr>
          <a:xfrm>
            <a:off x="777240" y="2286000"/>
            <a:ext cx="2286000" cy="475488"/>
          </a:xfrm>
          <a:prstGeom prst="roundRect">
            <a:avLst>
              <a:gd name="adj" fmla="val 15385"/>
            </a:avLst>
          </a:prstGeom>
          <a:solidFill>
            <a:srgbClr val="1A2130"/>
          </a:solidFill>
          <a:ln w="12700">
            <a:solidFill>
              <a:srgbClr val="2A3446"/>
            </a:solidFill>
            <a:prstDash val="solid"/>
          </a:ln>
        </p:spPr>
        <p:txBody>
          <a:bodyPr/>
          <a:lstStyle/>
          <a:p>
            <a:endParaRPr lang="en-NP"/>
          </a:p>
        </p:txBody>
      </p:sp>
      <p:sp>
        <p:nvSpPr>
          <p:cNvPr id="7" name="Text 5"/>
          <p:cNvSpPr txBox="1"/>
          <p:nvPr/>
        </p:nvSpPr>
        <p:spPr>
          <a:xfrm>
            <a:off x="868680" y="2286000"/>
            <a:ext cx="2103120" cy="475488"/>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Public API</a:t>
            </a:r>
            <a:endParaRPr lang="en-US" sz="1100" dirty="0"/>
          </a:p>
        </p:txBody>
      </p:sp>
      <p:sp>
        <p:nvSpPr>
          <p:cNvPr id="8" name="Shape 6"/>
          <p:cNvSpPr/>
          <p:nvPr/>
        </p:nvSpPr>
        <p:spPr>
          <a:xfrm>
            <a:off x="3200400" y="2286000"/>
            <a:ext cx="2286000" cy="475488"/>
          </a:xfrm>
          <a:prstGeom prst="roundRect">
            <a:avLst>
              <a:gd name="adj" fmla="val 15385"/>
            </a:avLst>
          </a:prstGeom>
          <a:solidFill>
            <a:srgbClr val="1A2130"/>
          </a:solidFill>
          <a:ln w="12700">
            <a:solidFill>
              <a:srgbClr val="2A3446"/>
            </a:solidFill>
            <a:prstDash val="solid"/>
          </a:ln>
        </p:spPr>
        <p:txBody>
          <a:bodyPr/>
          <a:lstStyle/>
          <a:p>
            <a:endParaRPr lang="en-NP"/>
          </a:p>
        </p:txBody>
      </p:sp>
      <p:sp>
        <p:nvSpPr>
          <p:cNvPr id="9" name="Text 7"/>
          <p:cNvSpPr txBox="1"/>
          <p:nvPr/>
        </p:nvSpPr>
        <p:spPr>
          <a:xfrm>
            <a:off x="3291840" y="2286000"/>
            <a:ext cx="2103120" cy="475488"/>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Authentication</a:t>
            </a:r>
            <a:endParaRPr lang="en-US" sz="1100" dirty="0"/>
          </a:p>
        </p:txBody>
      </p:sp>
      <p:sp>
        <p:nvSpPr>
          <p:cNvPr id="10" name="Shape 8"/>
          <p:cNvSpPr/>
          <p:nvPr/>
        </p:nvSpPr>
        <p:spPr>
          <a:xfrm>
            <a:off x="777240" y="2871216"/>
            <a:ext cx="2286000" cy="475488"/>
          </a:xfrm>
          <a:prstGeom prst="roundRect">
            <a:avLst>
              <a:gd name="adj" fmla="val 15385"/>
            </a:avLst>
          </a:prstGeom>
          <a:solidFill>
            <a:srgbClr val="1A2130"/>
          </a:solidFill>
          <a:ln w="12700">
            <a:solidFill>
              <a:srgbClr val="2A3446"/>
            </a:solidFill>
            <a:prstDash val="solid"/>
          </a:ln>
        </p:spPr>
        <p:txBody>
          <a:bodyPr/>
          <a:lstStyle/>
          <a:p>
            <a:endParaRPr lang="en-NP"/>
          </a:p>
        </p:txBody>
      </p:sp>
      <p:sp>
        <p:nvSpPr>
          <p:cNvPr id="11" name="Text 9"/>
          <p:cNvSpPr txBox="1"/>
          <p:nvPr/>
        </p:nvSpPr>
        <p:spPr>
          <a:xfrm>
            <a:off x="868680" y="2871216"/>
            <a:ext cx="2103120" cy="475488"/>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User dashboard</a:t>
            </a:r>
            <a:endParaRPr lang="en-US" sz="1100" dirty="0"/>
          </a:p>
        </p:txBody>
      </p:sp>
      <p:sp>
        <p:nvSpPr>
          <p:cNvPr id="12" name="Shape 10"/>
          <p:cNvSpPr/>
          <p:nvPr/>
        </p:nvSpPr>
        <p:spPr>
          <a:xfrm>
            <a:off x="3200400" y="2871216"/>
            <a:ext cx="2286000" cy="475488"/>
          </a:xfrm>
          <a:prstGeom prst="roundRect">
            <a:avLst>
              <a:gd name="adj" fmla="val 15385"/>
            </a:avLst>
          </a:prstGeom>
          <a:solidFill>
            <a:srgbClr val="1A2130"/>
          </a:solidFill>
          <a:ln w="12700">
            <a:solidFill>
              <a:srgbClr val="2A3446"/>
            </a:solidFill>
            <a:prstDash val="solid"/>
          </a:ln>
        </p:spPr>
        <p:txBody>
          <a:bodyPr/>
          <a:lstStyle/>
          <a:p>
            <a:endParaRPr lang="en-NP"/>
          </a:p>
        </p:txBody>
      </p:sp>
      <p:sp>
        <p:nvSpPr>
          <p:cNvPr id="13" name="Text 11"/>
          <p:cNvSpPr txBox="1"/>
          <p:nvPr/>
        </p:nvSpPr>
        <p:spPr>
          <a:xfrm>
            <a:off x="3291840" y="2871216"/>
            <a:ext cx="2103120" cy="475488"/>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Admin API</a:t>
            </a:r>
            <a:endParaRPr lang="en-US" sz="1100" dirty="0"/>
          </a:p>
        </p:txBody>
      </p:sp>
      <p:sp>
        <p:nvSpPr>
          <p:cNvPr id="14" name="Shape 12"/>
          <p:cNvSpPr/>
          <p:nvPr/>
        </p:nvSpPr>
        <p:spPr>
          <a:xfrm>
            <a:off x="777240" y="3456432"/>
            <a:ext cx="2286000" cy="475488"/>
          </a:xfrm>
          <a:prstGeom prst="roundRect">
            <a:avLst>
              <a:gd name="adj" fmla="val 15385"/>
            </a:avLst>
          </a:prstGeom>
          <a:solidFill>
            <a:srgbClr val="1A2130"/>
          </a:solidFill>
          <a:ln w="12700">
            <a:solidFill>
              <a:srgbClr val="2A3446"/>
            </a:solidFill>
            <a:prstDash val="solid"/>
          </a:ln>
        </p:spPr>
        <p:txBody>
          <a:bodyPr/>
          <a:lstStyle/>
          <a:p>
            <a:endParaRPr lang="en-NP"/>
          </a:p>
        </p:txBody>
      </p:sp>
      <p:sp>
        <p:nvSpPr>
          <p:cNvPr id="15" name="Text 13"/>
          <p:cNvSpPr txBox="1"/>
          <p:nvPr/>
        </p:nvSpPr>
        <p:spPr>
          <a:xfrm>
            <a:off x="868680" y="3456432"/>
            <a:ext cx="2103120" cy="475488"/>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File upload</a:t>
            </a:r>
            <a:endParaRPr lang="en-US" sz="1100" dirty="0"/>
          </a:p>
        </p:txBody>
      </p:sp>
      <p:sp>
        <p:nvSpPr>
          <p:cNvPr id="16" name="Shape 14"/>
          <p:cNvSpPr/>
          <p:nvPr/>
        </p:nvSpPr>
        <p:spPr>
          <a:xfrm>
            <a:off x="3200400" y="3456432"/>
            <a:ext cx="2286000" cy="475488"/>
          </a:xfrm>
          <a:prstGeom prst="roundRect">
            <a:avLst>
              <a:gd name="adj" fmla="val 15385"/>
            </a:avLst>
          </a:prstGeom>
          <a:solidFill>
            <a:srgbClr val="1A2130"/>
          </a:solidFill>
          <a:ln w="12700">
            <a:solidFill>
              <a:srgbClr val="2A3446"/>
            </a:solidFill>
            <a:prstDash val="solid"/>
          </a:ln>
        </p:spPr>
        <p:txBody>
          <a:bodyPr/>
          <a:lstStyle/>
          <a:p>
            <a:endParaRPr lang="en-NP"/>
          </a:p>
        </p:txBody>
      </p:sp>
      <p:sp>
        <p:nvSpPr>
          <p:cNvPr id="17" name="Text 15"/>
          <p:cNvSpPr txBox="1"/>
          <p:nvPr/>
        </p:nvSpPr>
        <p:spPr>
          <a:xfrm>
            <a:off x="3291840" y="3456432"/>
            <a:ext cx="2103120" cy="475488"/>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Cloud storage</a:t>
            </a:r>
            <a:endParaRPr lang="en-US" sz="1100" dirty="0"/>
          </a:p>
        </p:txBody>
      </p:sp>
      <p:sp>
        <p:nvSpPr>
          <p:cNvPr id="18" name="Shape 16"/>
          <p:cNvSpPr/>
          <p:nvPr/>
        </p:nvSpPr>
        <p:spPr>
          <a:xfrm>
            <a:off x="777240" y="4041648"/>
            <a:ext cx="2286000" cy="475488"/>
          </a:xfrm>
          <a:prstGeom prst="roundRect">
            <a:avLst>
              <a:gd name="adj" fmla="val 15385"/>
            </a:avLst>
          </a:prstGeom>
          <a:solidFill>
            <a:srgbClr val="1A2130"/>
          </a:solidFill>
          <a:ln w="12700">
            <a:solidFill>
              <a:srgbClr val="2A3446"/>
            </a:solidFill>
            <a:prstDash val="solid"/>
          </a:ln>
        </p:spPr>
        <p:txBody>
          <a:bodyPr/>
          <a:lstStyle/>
          <a:p>
            <a:endParaRPr lang="en-NP"/>
          </a:p>
        </p:txBody>
      </p:sp>
      <p:sp>
        <p:nvSpPr>
          <p:cNvPr id="19" name="Text 17"/>
          <p:cNvSpPr txBox="1"/>
          <p:nvPr/>
        </p:nvSpPr>
        <p:spPr>
          <a:xfrm>
            <a:off x="868680" y="4041648"/>
            <a:ext cx="2103120" cy="475488"/>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SQL database</a:t>
            </a:r>
            <a:endParaRPr lang="en-US" sz="1100" dirty="0"/>
          </a:p>
        </p:txBody>
      </p:sp>
      <p:sp>
        <p:nvSpPr>
          <p:cNvPr id="20" name="Shape 18"/>
          <p:cNvSpPr/>
          <p:nvPr/>
        </p:nvSpPr>
        <p:spPr>
          <a:xfrm>
            <a:off x="3200400" y="4041648"/>
            <a:ext cx="2286000" cy="475488"/>
          </a:xfrm>
          <a:prstGeom prst="roundRect">
            <a:avLst>
              <a:gd name="adj" fmla="val 15385"/>
            </a:avLst>
          </a:prstGeom>
          <a:solidFill>
            <a:srgbClr val="1A2130"/>
          </a:solidFill>
          <a:ln w="12700">
            <a:solidFill>
              <a:srgbClr val="2A3446"/>
            </a:solidFill>
            <a:prstDash val="solid"/>
          </a:ln>
        </p:spPr>
        <p:txBody>
          <a:bodyPr/>
          <a:lstStyle/>
          <a:p>
            <a:endParaRPr lang="en-NP"/>
          </a:p>
        </p:txBody>
      </p:sp>
      <p:sp>
        <p:nvSpPr>
          <p:cNvPr id="21" name="Text 19"/>
          <p:cNvSpPr txBox="1"/>
          <p:nvPr/>
        </p:nvSpPr>
        <p:spPr>
          <a:xfrm>
            <a:off x="3291840" y="4041648"/>
            <a:ext cx="2103120" cy="475488"/>
          </a:xfrm>
          <a:prstGeom prst="rect">
            <a:avLst/>
          </a:prstGeom>
          <a:noFill/>
          <a:ln/>
        </p:spPr>
        <p:txBody>
          <a:bodyPr wrap="square" lIns="0" tIns="0" rIns="0" bIns="0" rtlCol="0" anchor="ctr"/>
          <a:lstStyle/>
          <a:p>
            <a:pPr marL="0" indent="0" algn="ctr">
              <a:buNone/>
            </a:pPr>
            <a:r>
              <a:rPr lang="en-US" sz="1100" dirty="0">
                <a:solidFill>
                  <a:srgbClr val="E9EEF7"/>
                </a:solidFill>
                <a:latin typeface="Arial" pitchFamily="34" charset="0"/>
                <a:ea typeface="Arial" pitchFamily="34" charset="-122"/>
                <a:cs typeface="Arial" pitchFamily="34" charset="-120"/>
              </a:rPr>
              <a:t>Payment API</a:t>
            </a:r>
            <a:endParaRPr lang="en-US" sz="1100" dirty="0"/>
          </a:p>
        </p:txBody>
      </p:sp>
      <p:sp>
        <p:nvSpPr>
          <p:cNvPr id="22" name="Shape 20"/>
          <p:cNvSpPr/>
          <p:nvPr/>
        </p:nvSpPr>
        <p:spPr>
          <a:xfrm>
            <a:off x="5943600" y="1691640"/>
            <a:ext cx="5696712" cy="3063240"/>
          </a:xfrm>
          <a:prstGeom prst="roundRect">
            <a:avLst>
              <a:gd name="adj" fmla="val 2388"/>
            </a:avLst>
          </a:prstGeom>
          <a:solidFill>
            <a:srgbClr val="141A26"/>
          </a:solidFill>
          <a:ln w="12700">
            <a:solidFill>
              <a:srgbClr val="FFA33A"/>
            </a:solidFill>
            <a:prstDash val="solid"/>
          </a:ln>
        </p:spPr>
        <p:txBody>
          <a:bodyPr/>
          <a:lstStyle/>
          <a:p>
            <a:endParaRPr lang="en-NP"/>
          </a:p>
        </p:txBody>
      </p:sp>
      <p:sp>
        <p:nvSpPr>
          <p:cNvPr id="23" name="Text 21"/>
          <p:cNvSpPr txBox="1"/>
          <p:nvPr/>
        </p:nvSpPr>
        <p:spPr>
          <a:xfrm>
            <a:off x="6172200" y="1874520"/>
            <a:ext cx="5212080" cy="256032"/>
          </a:xfrm>
          <a:prstGeom prst="rect">
            <a:avLst/>
          </a:prstGeom>
          <a:noFill/>
          <a:ln/>
        </p:spPr>
        <p:txBody>
          <a:bodyPr wrap="square" lIns="0" tIns="0" rIns="0" bIns="0" rtlCol="0" anchor="ctr"/>
          <a:lstStyle/>
          <a:p>
            <a:pPr marL="0" indent="0">
              <a:buNone/>
            </a:pPr>
            <a:r>
              <a:rPr lang="en-US" sz="1050" b="1" kern="0" spc="160" dirty="0">
                <a:solidFill>
                  <a:srgbClr val="FFA33A"/>
                </a:solidFill>
                <a:latin typeface="Arial" pitchFamily="34" charset="0"/>
                <a:ea typeface="Arial" pitchFamily="34" charset="-122"/>
                <a:cs typeface="Arial" pitchFamily="34" charset="-120"/>
              </a:rPr>
              <a:t>FIVE THINGS YOU NOTICED</a:t>
            </a:r>
            <a:endParaRPr lang="en-US" sz="1050" dirty="0"/>
          </a:p>
        </p:txBody>
      </p:sp>
      <p:sp>
        <p:nvSpPr>
          <p:cNvPr id="24" name="Text 22"/>
          <p:cNvSpPr txBox="1"/>
          <p:nvPr/>
        </p:nvSpPr>
        <p:spPr>
          <a:xfrm>
            <a:off x="6199632" y="2286000"/>
            <a:ext cx="320040" cy="457200"/>
          </a:xfrm>
          <a:prstGeom prst="rect">
            <a:avLst/>
          </a:prstGeom>
          <a:noFill/>
          <a:ln/>
        </p:spPr>
        <p:txBody>
          <a:bodyPr wrap="square" lIns="0" tIns="0" rIns="0" bIns="0" rtlCol="0" anchor="ctr"/>
          <a:lstStyle/>
          <a:p>
            <a:pPr marL="0" indent="0">
              <a:buNone/>
            </a:pPr>
            <a:r>
              <a:rPr lang="en-US" sz="1300" b="1" dirty="0">
                <a:solidFill>
                  <a:srgbClr val="FFA33A"/>
                </a:solidFill>
                <a:latin typeface="Courier New" pitchFamily="34" charset="0"/>
                <a:ea typeface="Courier New" pitchFamily="34" charset="-122"/>
                <a:cs typeface="Courier New" pitchFamily="34" charset="-120"/>
              </a:rPr>
              <a:t>A</a:t>
            </a:r>
            <a:endParaRPr lang="en-US" sz="1300" dirty="0"/>
          </a:p>
        </p:txBody>
      </p:sp>
      <p:sp>
        <p:nvSpPr>
          <p:cNvPr id="25" name="Text 23"/>
          <p:cNvSpPr txBox="1"/>
          <p:nvPr/>
        </p:nvSpPr>
        <p:spPr>
          <a:xfrm>
            <a:off x="6583680" y="2286000"/>
            <a:ext cx="4846320" cy="457200"/>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Object IDs are sequential</a:t>
            </a:r>
            <a:endParaRPr lang="en-US" sz="1250" dirty="0"/>
          </a:p>
        </p:txBody>
      </p:sp>
      <p:sp>
        <p:nvSpPr>
          <p:cNvPr id="26" name="Text 24"/>
          <p:cNvSpPr txBox="1"/>
          <p:nvPr/>
        </p:nvSpPr>
        <p:spPr>
          <a:xfrm>
            <a:off x="6199632" y="2779776"/>
            <a:ext cx="320040" cy="457200"/>
          </a:xfrm>
          <a:prstGeom prst="rect">
            <a:avLst/>
          </a:prstGeom>
          <a:noFill/>
          <a:ln/>
        </p:spPr>
        <p:txBody>
          <a:bodyPr wrap="square" lIns="0" tIns="0" rIns="0" bIns="0" rtlCol="0" anchor="ctr"/>
          <a:lstStyle/>
          <a:p>
            <a:pPr marL="0" indent="0">
              <a:buNone/>
            </a:pPr>
            <a:r>
              <a:rPr lang="en-US" sz="1300" b="1" dirty="0">
                <a:solidFill>
                  <a:srgbClr val="FFA33A"/>
                </a:solidFill>
                <a:latin typeface="Courier New" pitchFamily="34" charset="0"/>
                <a:ea typeface="Courier New" pitchFamily="34" charset="-122"/>
                <a:cs typeface="Courier New" pitchFamily="34" charset="-120"/>
              </a:rPr>
              <a:t>B</a:t>
            </a:r>
            <a:endParaRPr lang="en-US" sz="1300" dirty="0"/>
          </a:p>
        </p:txBody>
      </p:sp>
      <p:sp>
        <p:nvSpPr>
          <p:cNvPr id="27" name="Text 25"/>
          <p:cNvSpPr txBox="1"/>
          <p:nvPr/>
        </p:nvSpPr>
        <p:spPr>
          <a:xfrm>
            <a:off x="6583680" y="2779776"/>
            <a:ext cx="4846320" cy="457200"/>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The admin endpoint is publicly reachable</a:t>
            </a:r>
            <a:endParaRPr lang="en-US" sz="1250" dirty="0"/>
          </a:p>
        </p:txBody>
      </p:sp>
      <p:sp>
        <p:nvSpPr>
          <p:cNvPr id="28" name="Text 26"/>
          <p:cNvSpPr txBox="1"/>
          <p:nvPr/>
        </p:nvSpPr>
        <p:spPr>
          <a:xfrm>
            <a:off x="6199632" y="3273552"/>
            <a:ext cx="320040" cy="457200"/>
          </a:xfrm>
          <a:prstGeom prst="rect">
            <a:avLst/>
          </a:prstGeom>
          <a:noFill/>
          <a:ln/>
        </p:spPr>
        <p:txBody>
          <a:bodyPr wrap="square" lIns="0" tIns="0" rIns="0" bIns="0" rtlCol="0" anchor="ctr"/>
          <a:lstStyle/>
          <a:p>
            <a:pPr marL="0" indent="0">
              <a:buNone/>
            </a:pPr>
            <a:r>
              <a:rPr lang="en-US" sz="1300" b="1" dirty="0">
                <a:solidFill>
                  <a:srgbClr val="FFA33A"/>
                </a:solidFill>
                <a:latin typeface="Courier New" pitchFamily="34" charset="0"/>
                <a:ea typeface="Courier New" pitchFamily="34" charset="-122"/>
                <a:cs typeface="Courier New" pitchFamily="34" charset="-120"/>
              </a:rPr>
              <a:t>C</a:t>
            </a:r>
            <a:endParaRPr lang="en-US" sz="1300" dirty="0"/>
          </a:p>
        </p:txBody>
      </p:sp>
      <p:sp>
        <p:nvSpPr>
          <p:cNvPr id="29" name="Text 27"/>
          <p:cNvSpPr txBox="1"/>
          <p:nvPr/>
        </p:nvSpPr>
        <p:spPr>
          <a:xfrm>
            <a:off x="6583680" y="3273552"/>
            <a:ext cx="4846320" cy="457200"/>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Errors return full stack traces</a:t>
            </a:r>
            <a:endParaRPr lang="en-US" sz="1250" dirty="0"/>
          </a:p>
        </p:txBody>
      </p:sp>
      <p:sp>
        <p:nvSpPr>
          <p:cNvPr id="30" name="Text 28"/>
          <p:cNvSpPr txBox="1"/>
          <p:nvPr/>
        </p:nvSpPr>
        <p:spPr>
          <a:xfrm>
            <a:off x="6199632" y="3767328"/>
            <a:ext cx="320040" cy="457200"/>
          </a:xfrm>
          <a:prstGeom prst="rect">
            <a:avLst/>
          </a:prstGeom>
          <a:noFill/>
          <a:ln/>
        </p:spPr>
        <p:txBody>
          <a:bodyPr wrap="square" lIns="0" tIns="0" rIns="0" bIns="0" rtlCol="0" anchor="ctr"/>
          <a:lstStyle/>
          <a:p>
            <a:pPr marL="0" indent="0">
              <a:buNone/>
            </a:pPr>
            <a:r>
              <a:rPr lang="en-US" sz="1300" b="1" dirty="0">
                <a:solidFill>
                  <a:srgbClr val="FFA33A"/>
                </a:solidFill>
                <a:latin typeface="Courier New" pitchFamily="34" charset="0"/>
                <a:ea typeface="Courier New" pitchFamily="34" charset="-122"/>
                <a:cs typeface="Courier New" pitchFamily="34" charset="-120"/>
              </a:rPr>
              <a:t>D</a:t>
            </a:r>
            <a:endParaRPr lang="en-US" sz="1300" dirty="0"/>
          </a:p>
        </p:txBody>
      </p:sp>
      <p:sp>
        <p:nvSpPr>
          <p:cNvPr id="31" name="Text 29"/>
          <p:cNvSpPr txBox="1"/>
          <p:nvPr/>
        </p:nvSpPr>
        <p:spPr>
          <a:xfrm>
            <a:off x="6583680" y="3767328"/>
            <a:ext cx="4846320" cy="457200"/>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A NuGet package is three years old</a:t>
            </a:r>
            <a:endParaRPr lang="en-US" sz="1250" dirty="0"/>
          </a:p>
        </p:txBody>
      </p:sp>
      <p:sp>
        <p:nvSpPr>
          <p:cNvPr id="32" name="Text 30"/>
          <p:cNvSpPr txBox="1"/>
          <p:nvPr/>
        </p:nvSpPr>
        <p:spPr>
          <a:xfrm>
            <a:off x="6199632" y="4261104"/>
            <a:ext cx="320040" cy="457200"/>
          </a:xfrm>
          <a:prstGeom prst="rect">
            <a:avLst/>
          </a:prstGeom>
          <a:noFill/>
          <a:ln/>
        </p:spPr>
        <p:txBody>
          <a:bodyPr wrap="square" lIns="0" tIns="0" rIns="0" bIns="0" rtlCol="0" anchor="ctr"/>
          <a:lstStyle/>
          <a:p>
            <a:pPr marL="0" indent="0">
              <a:buNone/>
            </a:pPr>
            <a:r>
              <a:rPr lang="en-US" sz="1300" b="1" dirty="0">
                <a:solidFill>
                  <a:srgbClr val="FFA33A"/>
                </a:solidFill>
                <a:latin typeface="Courier New" pitchFamily="34" charset="0"/>
                <a:ea typeface="Courier New" pitchFamily="34" charset="-122"/>
                <a:cs typeface="Courier New" pitchFamily="34" charset="-120"/>
              </a:rPr>
              <a:t>E</a:t>
            </a:r>
            <a:endParaRPr lang="en-US" sz="1300" dirty="0"/>
          </a:p>
        </p:txBody>
      </p:sp>
      <p:sp>
        <p:nvSpPr>
          <p:cNvPr id="33" name="Text 31"/>
          <p:cNvSpPr txBox="1"/>
          <p:nvPr/>
        </p:nvSpPr>
        <p:spPr>
          <a:xfrm>
            <a:off x="6583680" y="4261104"/>
            <a:ext cx="4846320" cy="457200"/>
          </a:xfrm>
          <a:prstGeom prst="rect">
            <a:avLst/>
          </a:prstGeom>
          <a:noFill/>
          <a:ln/>
        </p:spPr>
        <p:txBody>
          <a:bodyPr wrap="square" lIns="0" tIns="0" rIns="0" bIns="0" rtlCol="0" anchor="ctr"/>
          <a:lstStyle/>
          <a:p>
            <a:pPr marL="0" indent="0">
              <a:buNone/>
            </a:pPr>
            <a:r>
              <a:rPr lang="en-US" sz="1250" dirty="0">
                <a:solidFill>
                  <a:srgbClr val="E9EEF7"/>
                </a:solidFill>
                <a:latin typeface="Arial" pitchFamily="34" charset="0"/>
                <a:ea typeface="Arial" pitchFamily="34" charset="-122"/>
                <a:cs typeface="Arial" pitchFamily="34" charset="-120"/>
              </a:rPr>
              <a:t>The cloud service account can read everything</a:t>
            </a:r>
            <a:endParaRPr lang="en-US" sz="1250" dirty="0"/>
          </a:p>
        </p:txBody>
      </p:sp>
      <p:sp>
        <p:nvSpPr>
          <p:cNvPr id="34" name="Text 32"/>
          <p:cNvSpPr txBox="1"/>
          <p:nvPr/>
        </p:nvSpPr>
        <p:spPr>
          <a:xfrm>
            <a:off x="548640" y="4937760"/>
            <a:ext cx="11091672" cy="320040"/>
          </a:xfrm>
          <a:prstGeom prst="rect">
            <a:avLst/>
          </a:prstGeom>
          <a:noFill/>
          <a:ln/>
        </p:spPr>
        <p:txBody>
          <a:bodyPr wrap="square" lIns="0" tIns="0" rIns="0" bIns="0" rtlCol="0" anchor="ctr"/>
          <a:lstStyle/>
          <a:p>
            <a:pPr marL="0" indent="0" algn="ctr">
              <a:buNone/>
            </a:pPr>
            <a:r>
              <a:rPr lang="en-US" sz="1600" b="1" dirty="0">
                <a:solidFill>
                  <a:srgbClr val="E9EEF7"/>
                </a:solidFill>
                <a:latin typeface="Arial" pitchFamily="34" charset="0"/>
                <a:ea typeface="Arial" pitchFamily="34" charset="-122"/>
                <a:cs typeface="Arial" pitchFamily="34" charset="-120"/>
              </a:rPr>
              <a:t>A / B / C / D / E  —  where do you go first, and why?</a:t>
            </a:r>
            <a:endParaRPr lang="en-US" sz="1600" dirty="0"/>
          </a:p>
        </p:txBody>
      </p:sp>
      <p:sp>
        <p:nvSpPr>
          <p:cNvPr id="35" name="Shape 33"/>
          <p:cNvSpPr/>
          <p:nvPr/>
        </p:nvSpPr>
        <p:spPr>
          <a:xfrm>
            <a:off x="548640" y="5321808"/>
            <a:ext cx="1764792" cy="530352"/>
          </a:xfrm>
          <a:prstGeom prst="roundRect">
            <a:avLst>
              <a:gd name="adj" fmla="val 17241"/>
            </a:avLst>
          </a:prstGeom>
          <a:solidFill>
            <a:srgbClr val="1A2130"/>
          </a:solidFill>
          <a:ln w="12700">
            <a:solidFill>
              <a:srgbClr val="9A6BFF"/>
            </a:solidFill>
            <a:prstDash val="solid"/>
          </a:ln>
        </p:spPr>
        <p:txBody>
          <a:bodyPr/>
          <a:lstStyle/>
          <a:p>
            <a:endParaRPr lang="en-NP"/>
          </a:p>
        </p:txBody>
      </p:sp>
      <p:sp>
        <p:nvSpPr>
          <p:cNvPr id="36" name="Text 34"/>
          <p:cNvSpPr txBox="1"/>
          <p:nvPr/>
        </p:nvSpPr>
        <p:spPr>
          <a:xfrm>
            <a:off x="658368" y="5321808"/>
            <a:ext cx="1545336" cy="530352"/>
          </a:xfrm>
          <a:prstGeom prst="rect">
            <a:avLst/>
          </a:prstGeom>
          <a:noFill/>
          <a:ln/>
        </p:spPr>
        <p:txBody>
          <a:bodyPr wrap="square" lIns="0" tIns="0" rIns="0" bIns="0" rtlCol="0" anchor="ctr"/>
          <a:lstStyle/>
          <a:p>
            <a:pPr marL="0" indent="0" algn="ctr">
              <a:buNone/>
            </a:pPr>
            <a:r>
              <a:rPr lang="en-US" sz="1100" b="1" dirty="0">
                <a:solidFill>
                  <a:srgbClr val="9A6BFF"/>
                </a:solidFill>
                <a:latin typeface="Arial" pitchFamily="34" charset="0"/>
                <a:ea typeface="Arial" pitchFamily="34" charset="-122"/>
                <a:cs typeface="Arial" pitchFamily="34" charset="-120"/>
              </a:rPr>
              <a:t>Exposure</a:t>
            </a:r>
            <a:endParaRPr lang="en-US" sz="1100" dirty="0"/>
          </a:p>
        </p:txBody>
      </p:sp>
      <p:sp>
        <p:nvSpPr>
          <p:cNvPr id="37" name="Shape 35"/>
          <p:cNvSpPr/>
          <p:nvPr/>
        </p:nvSpPr>
        <p:spPr>
          <a:xfrm>
            <a:off x="2404872" y="5321808"/>
            <a:ext cx="1764792" cy="530352"/>
          </a:xfrm>
          <a:prstGeom prst="roundRect">
            <a:avLst>
              <a:gd name="adj" fmla="val 17241"/>
            </a:avLst>
          </a:prstGeom>
          <a:solidFill>
            <a:srgbClr val="1A2130"/>
          </a:solidFill>
          <a:ln w="12700">
            <a:solidFill>
              <a:srgbClr val="9A6BFF"/>
            </a:solidFill>
            <a:prstDash val="solid"/>
          </a:ln>
        </p:spPr>
        <p:txBody>
          <a:bodyPr/>
          <a:lstStyle/>
          <a:p>
            <a:endParaRPr lang="en-NP"/>
          </a:p>
        </p:txBody>
      </p:sp>
      <p:sp>
        <p:nvSpPr>
          <p:cNvPr id="38" name="Text 36"/>
          <p:cNvSpPr txBox="1"/>
          <p:nvPr/>
        </p:nvSpPr>
        <p:spPr>
          <a:xfrm>
            <a:off x="2514600" y="5321808"/>
            <a:ext cx="1545336" cy="530352"/>
          </a:xfrm>
          <a:prstGeom prst="rect">
            <a:avLst/>
          </a:prstGeom>
          <a:noFill/>
          <a:ln/>
        </p:spPr>
        <p:txBody>
          <a:bodyPr wrap="square" lIns="0" tIns="0" rIns="0" bIns="0" rtlCol="0" anchor="ctr"/>
          <a:lstStyle/>
          <a:p>
            <a:pPr marL="0" indent="0" algn="ctr">
              <a:buNone/>
            </a:pPr>
            <a:r>
              <a:rPr lang="en-US" sz="1100" b="1" dirty="0">
                <a:solidFill>
                  <a:srgbClr val="9A6BFF"/>
                </a:solidFill>
                <a:latin typeface="Arial" pitchFamily="34" charset="0"/>
                <a:ea typeface="Arial" pitchFamily="34" charset="-122"/>
                <a:cs typeface="Arial" pitchFamily="34" charset="-120"/>
              </a:rPr>
              <a:t>Value</a:t>
            </a:r>
            <a:endParaRPr lang="en-US" sz="1100" dirty="0"/>
          </a:p>
        </p:txBody>
      </p:sp>
      <p:sp>
        <p:nvSpPr>
          <p:cNvPr id="39" name="Shape 37"/>
          <p:cNvSpPr/>
          <p:nvPr/>
        </p:nvSpPr>
        <p:spPr>
          <a:xfrm>
            <a:off x="4261104" y="5321808"/>
            <a:ext cx="1764792" cy="530352"/>
          </a:xfrm>
          <a:prstGeom prst="roundRect">
            <a:avLst>
              <a:gd name="adj" fmla="val 17241"/>
            </a:avLst>
          </a:prstGeom>
          <a:solidFill>
            <a:srgbClr val="1A2130"/>
          </a:solidFill>
          <a:ln w="12700">
            <a:solidFill>
              <a:srgbClr val="9A6BFF"/>
            </a:solidFill>
            <a:prstDash val="solid"/>
          </a:ln>
        </p:spPr>
        <p:txBody>
          <a:bodyPr/>
          <a:lstStyle/>
          <a:p>
            <a:endParaRPr lang="en-NP"/>
          </a:p>
        </p:txBody>
      </p:sp>
      <p:sp>
        <p:nvSpPr>
          <p:cNvPr id="40" name="Text 38"/>
          <p:cNvSpPr txBox="1"/>
          <p:nvPr/>
        </p:nvSpPr>
        <p:spPr>
          <a:xfrm>
            <a:off x="4370832" y="5321808"/>
            <a:ext cx="1545336" cy="530352"/>
          </a:xfrm>
          <a:prstGeom prst="rect">
            <a:avLst/>
          </a:prstGeom>
          <a:noFill/>
          <a:ln/>
        </p:spPr>
        <p:txBody>
          <a:bodyPr wrap="square" lIns="0" tIns="0" rIns="0" bIns="0" rtlCol="0" anchor="ctr"/>
          <a:lstStyle/>
          <a:p>
            <a:pPr marL="0" indent="0" algn="ctr">
              <a:buNone/>
            </a:pPr>
            <a:r>
              <a:rPr lang="en-US" sz="1100" b="1" dirty="0">
                <a:solidFill>
                  <a:srgbClr val="9A6BFF"/>
                </a:solidFill>
                <a:latin typeface="Arial" pitchFamily="34" charset="0"/>
                <a:ea typeface="Arial" pitchFamily="34" charset="-122"/>
                <a:cs typeface="Arial" pitchFamily="34" charset="-120"/>
              </a:rPr>
              <a:t>Ease</a:t>
            </a:r>
            <a:endParaRPr lang="en-US" sz="1100" dirty="0"/>
          </a:p>
        </p:txBody>
      </p:sp>
      <p:sp>
        <p:nvSpPr>
          <p:cNvPr id="41" name="Shape 39"/>
          <p:cNvSpPr/>
          <p:nvPr/>
        </p:nvSpPr>
        <p:spPr>
          <a:xfrm>
            <a:off x="6117336" y="5321808"/>
            <a:ext cx="1764792" cy="530352"/>
          </a:xfrm>
          <a:prstGeom prst="roundRect">
            <a:avLst>
              <a:gd name="adj" fmla="val 17241"/>
            </a:avLst>
          </a:prstGeom>
          <a:solidFill>
            <a:srgbClr val="1A2130"/>
          </a:solidFill>
          <a:ln w="12700">
            <a:solidFill>
              <a:srgbClr val="9A6BFF"/>
            </a:solidFill>
            <a:prstDash val="solid"/>
          </a:ln>
        </p:spPr>
        <p:txBody>
          <a:bodyPr/>
          <a:lstStyle/>
          <a:p>
            <a:endParaRPr lang="en-NP"/>
          </a:p>
        </p:txBody>
      </p:sp>
      <p:sp>
        <p:nvSpPr>
          <p:cNvPr id="42" name="Text 40"/>
          <p:cNvSpPr txBox="1"/>
          <p:nvPr/>
        </p:nvSpPr>
        <p:spPr>
          <a:xfrm>
            <a:off x="6227064" y="5321808"/>
            <a:ext cx="1545336" cy="530352"/>
          </a:xfrm>
          <a:prstGeom prst="rect">
            <a:avLst/>
          </a:prstGeom>
          <a:noFill/>
          <a:ln/>
        </p:spPr>
        <p:txBody>
          <a:bodyPr wrap="square" lIns="0" tIns="0" rIns="0" bIns="0" rtlCol="0" anchor="ctr"/>
          <a:lstStyle/>
          <a:p>
            <a:pPr marL="0" indent="0" algn="ctr">
              <a:buNone/>
            </a:pPr>
            <a:r>
              <a:rPr lang="en-US" sz="1100" b="1" dirty="0">
                <a:solidFill>
                  <a:srgbClr val="9A6BFF"/>
                </a:solidFill>
                <a:latin typeface="Arial" pitchFamily="34" charset="0"/>
                <a:ea typeface="Arial" pitchFamily="34" charset="-122"/>
                <a:cs typeface="Arial" pitchFamily="34" charset="-120"/>
              </a:rPr>
              <a:t>Privilege</a:t>
            </a:r>
            <a:endParaRPr lang="en-US" sz="1100" dirty="0"/>
          </a:p>
        </p:txBody>
      </p:sp>
      <p:sp>
        <p:nvSpPr>
          <p:cNvPr id="43" name="Shape 41"/>
          <p:cNvSpPr/>
          <p:nvPr/>
        </p:nvSpPr>
        <p:spPr>
          <a:xfrm>
            <a:off x="7973568" y="5321808"/>
            <a:ext cx="1764792" cy="530352"/>
          </a:xfrm>
          <a:prstGeom prst="roundRect">
            <a:avLst>
              <a:gd name="adj" fmla="val 17241"/>
            </a:avLst>
          </a:prstGeom>
          <a:solidFill>
            <a:srgbClr val="1A2130"/>
          </a:solidFill>
          <a:ln w="12700">
            <a:solidFill>
              <a:srgbClr val="9A6BFF"/>
            </a:solidFill>
            <a:prstDash val="solid"/>
          </a:ln>
        </p:spPr>
        <p:txBody>
          <a:bodyPr/>
          <a:lstStyle/>
          <a:p>
            <a:endParaRPr lang="en-NP"/>
          </a:p>
        </p:txBody>
      </p:sp>
      <p:sp>
        <p:nvSpPr>
          <p:cNvPr id="44" name="Text 42"/>
          <p:cNvSpPr txBox="1"/>
          <p:nvPr/>
        </p:nvSpPr>
        <p:spPr>
          <a:xfrm>
            <a:off x="8083296" y="5321808"/>
            <a:ext cx="1545336" cy="530352"/>
          </a:xfrm>
          <a:prstGeom prst="rect">
            <a:avLst/>
          </a:prstGeom>
          <a:noFill/>
          <a:ln/>
        </p:spPr>
        <p:txBody>
          <a:bodyPr wrap="square" lIns="0" tIns="0" rIns="0" bIns="0" rtlCol="0" anchor="ctr"/>
          <a:lstStyle/>
          <a:p>
            <a:pPr marL="0" indent="0" algn="ctr">
              <a:buNone/>
            </a:pPr>
            <a:r>
              <a:rPr lang="en-US" sz="1100" b="1" dirty="0">
                <a:solidFill>
                  <a:srgbClr val="9A6BFF"/>
                </a:solidFill>
                <a:latin typeface="Arial" pitchFamily="34" charset="0"/>
                <a:ea typeface="Arial" pitchFamily="34" charset="-122"/>
                <a:cs typeface="Arial" pitchFamily="34" charset="-120"/>
              </a:rPr>
              <a:t>Chain potential</a:t>
            </a:r>
            <a:endParaRPr lang="en-US" sz="1100" dirty="0"/>
          </a:p>
        </p:txBody>
      </p:sp>
      <p:sp>
        <p:nvSpPr>
          <p:cNvPr id="45" name="Shape 43"/>
          <p:cNvSpPr/>
          <p:nvPr/>
        </p:nvSpPr>
        <p:spPr>
          <a:xfrm>
            <a:off x="9829800" y="5321808"/>
            <a:ext cx="1764792" cy="530352"/>
          </a:xfrm>
          <a:prstGeom prst="roundRect">
            <a:avLst>
              <a:gd name="adj" fmla="val 17241"/>
            </a:avLst>
          </a:prstGeom>
          <a:solidFill>
            <a:srgbClr val="1A2130"/>
          </a:solidFill>
          <a:ln w="12700">
            <a:solidFill>
              <a:srgbClr val="9A6BFF"/>
            </a:solidFill>
            <a:prstDash val="solid"/>
          </a:ln>
        </p:spPr>
        <p:txBody>
          <a:bodyPr/>
          <a:lstStyle/>
          <a:p>
            <a:endParaRPr lang="en-NP"/>
          </a:p>
        </p:txBody>
      </p:sp>
      <p:sp>
        <p:nvSpPr>
          <p:cNvPr id="46" name="Text 44"/>
          <p:cNvSpPr txBox="1"/>
          <p:nvPr/>
        </p:nvSpPr>
        <p:spPr>
          <a:xfrm>
            <a:off x="9939528" y="5321808"/>
            <a:ext cx="1545336" cy="530352"/>
          </a:xfrm>
          <a:prstGeom prst="rect">
            <a:avLst/>
          </a:prstGeom>
          <a:noFill/>
          <a:ln/>
        </p:spPr>
        <p:txBody>
          <a:bodyPr wrap="square" lIns="0" tIns="0" rIns="0" bIns="0" rtlCol="0" anchor="ctr"/>
          <a:lstStyle/>
          <a:p>
            <a:pPr marL="0" indent="0" algn="ctr">
              <a:buNone/>
            </a:pPr>
            <a:r>
              <a:rPr lang="en-US" sz="1100" b="1" dirty="0">
                <a:solidFill>
                  <a:srgbClr val="9A6BFF"/>
                </a:solidFill>
                <a:latin typeface="Arial" pitchFamily="34" charset="0"/>
                <a:ea typeface="Arial" pitchFamily="34" charset="-122"/>
                <a:cs typeface="Arial" pitchFamily="34" charset="-120"/>
              </a:rPr>
              <a:t>Detection risk</a:t>
            </a:r>
            <a:endParaRPr lang="en-US" sz="1100" dirty="0"/>
          </a:p>
        </p:txBody>
      </p:sp>
      <p:sp>
        <p:nvSpPr>
          <p:cNvPr id="47" name="Text 45"/>
          <p:cNvSpPr txBox="1"/>
          <p:nvPr/>
        </p:nvSpPr>
        <p:spPr>
          <a:xfrm>
            <a:off x="548640" y="5961888"/>
            <a:ext cx="11091672" cy="320040"/>
          </a:xfrm>
          <a:prstGeom prst="rect">
            <a:avLst/>
          </a:prstGeom>
          <a:noFill/>
          <a:ln/>
        </p:spPr>
        <p:txBody>
          <a:bodyPr wrap="square" lIns="0" tIns="0" rIns="0" bIns="0" rtlCol="0" anchor="ctr"/>
          <a:lstStyle/>
          <a:p>
            <a:pPr marL="0" indent="0" algn="ctr">
              <a:buNone/>
            </a:pPr>
            <a:r>
              <a:rPr lang="en-US" sz="1300" i="1" dirty="0">
                <a:solidFill>
                  <a:srgbClr val="C9B6FF"/>
                </a:solidFill>
                <a:latin typeface="Arial" pitchFamily="34" charset="0"/>
                <a:ea typeface="Arial" pitchFamily="34" charset="-122"/>
                <a:cs typeface="Arial" pitchFamily="34" charset="-120"/>
              </a:rPr>
              <a:t>A mature attacker doesn’t pick the worst bug. They pick the best path.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070A11"/>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TAKE THIS TO WORK ON MONDAY</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400" b="1" dirty="0">
                <a:solidFill>
                  <a:srgbClr val="E9EEF7"/>
                </a:solidFill>
                <a:latin typeface="Arial" pitchFamily="34" charset="0"/>
                <a:ea typeface="Arial" pitchFamily="34" charset="-122"/>
                <a:cs typeface="Arial" pitchFamily="34" charset="-120"/>
              </a:rPr>
              <a:t>The 10-Second Security Test</a:t>
            </a:r>
            <a:endParaRPr lang="en-US" sz="3400" dirty="0"/>
          </a:p>
        </p:txBody>
      </p:sp>
      <p:sp>
        <p:nvSpPr>
          <p:cNvPr id="4" name="Text 2"/>
          <p:cNvSpPr txBox="1"/>
          <p:nvPr/>
        </p:nvSpPr>
        <p:spPr>
          <a:xfrm>
            <a:off x="548640" y="1463040"/>
            <a:ext cx="10607040" cy="365760"/>
          </a:xfrm>
          <a:prstGeom prst="rect">
            <a:avLst/>
          </a:prstGeom>
          <a:noFill/>
          <a:ln/>
        </p:spPr>
        <p:txBody>
          <a:bodyPr wrap="square" lIns="0" tIns="0" rIns="0" bIns="0" rtlCol="0" anchor="ctr"/>
          <a:lstStyle/>
          <a:p>
            <a:pPr marL="0" indent="0">
              <a:buNone/>
            </a:pPr>
            <a:r>
              <a:rPr lang="en-US" sz="1500" dirty="0">
                <a:solidFill>
                  <a:srgbClr val="8C97AC"/>
                </a:solidFill>
                <a:latin typeface="Arial" pitchFamily="34" charset="0"/>
                <a:ea typeface="Arial" pitchFamily="34" charset="-122"/>
                <a:cs typeface="Arial" pitchFamily="34" charset="-120"/>
              </a:rPr>
              <a:t>Ask these every single time you build or review an API.</a:t>
            </a:r>
            <a:endParaRPr lang="en-US" sz="1500" dirty="0"/>
          </a:p>
        </p:txBody>
      </p:sp>
      <p:sp>
        <p:nvSpPr>
          <p:cNvPr id="5" name="Text 3"/>
          <p:cNvSpPr txBox="1"/>
          <p:nvPr/>
        </p:nvSpPr>
        <p:spPr>
          <a:xfrm>
            <a:off x="548640" y="2011680"/>
            <a:ext cx="594360" cy="457200"/>
          </a:xfrm>
          <a:prstGeom prst="rect">
            <a:avLst/>
          </a:prstGeom>
          <a:noFill/>
          <a:ln/>
        </p:spPr>
        <p:txBody>
          <a:bodyPr wrap="square" lIns="0" tIns="0" rIns="0" bIns="0" rtlCol="0" anchor="ctr"/>
          <a:lstStyle/>
          <a:p>
            <a:pPr marL="0" indent="0">
              <a:buNone/>
            </a:pPr>
            <a:r>
              <a:rPr lang="en-US" sz="1500" b="1" dirty="0">
                <a:solidFill>
                  <a:srgbClr val="9A6BFF"/>
                </a:solidFill>
                <a:latin typeface="Courier New" pitchFamily="34" charset="0"/>
                <a:ea typeface="Courier New" pitchFamily="34" charset="-122"/>
                <a:cs typeface="Courier New" pitchFamily="34" charset="-120"/>
              </a:rPr>
              <a:t>01</a:t>
            </a:r>
            <a:endParaRPr lang="en-US" sz="1500" dirty="0"/>
          </a:p>
        </p:txBody>
      </p:sp>
      <p:sp>
        <p:nvSpPr>
          <p:cNvPr id="6" name="Text 4"/>
          <p:cNvSpPr txBox="1"/>
          <p:nvPr/>
        </p:nvSpPr>
        <p:spPr>
          <a:xfrm>
            <a:off x="1207008" y="2011680"/>
            <a:ext cx="4663440" cy="457200"/>
          </a:xfrm>
          <a:prstGeom prst="rect">
            <a:avLst/>
          </a:prstGeom>
          <a:noFill/>
          <a:ln/>
        </p:spPr>
        <p:txBody>
          <a:bodyPr wrap="square" lIns="0" tIns="0" rIns="0" bIns="0" rtlCol="0" anchor="ctr"/>
          <a:lstStyle/>
          <a:p>
            <a:pPr marL="0" indent="0">
              <a:buNone/>
            </a:pPr>
            <a:r>
              <a:rPr lang="en-US" sz="1550" b="1" dirty="0">
                <a:solidFill>
                  <a:srgbClr val="E9EEF7"/>
                </a:solidFill>
                <a:latin typeface="Arial" pitchFamily="34" charset="0"/>
                <a:ea typeface="Arial" pitchFamily="34" charset="-122"/>
                <a:cs typeface="Arial" pitchFamily="34" charset="-120"/>
              </a:rPr>
              <a:t>WHO can call it?</a:t>
            </a:r>
            <a:endParaRPr lang="en-US" sz="1550" dirty="0"/>
          </a:p>
        </p:txBody>
      </p:sp>
      <p:sp>
        <p:nvSpPr>
          <p:cNvPr id="7" name="Text 5"/>
          <p:cNvSpPr txBox="1"/>
          <p:nvPr/>
        </p:nvSpPr>
        <p:spPr>
          <a:xfrm>
            <a:off x="548640" y="2761488"/>
            <a:ext cx="594360" cy="457200"/>
          </a:xfrm>
          <a:prstGeom prst="rect">
            <a:avLst/>
          </a:prstGeom>
          <a:noFill/>
          <a:ln/>
        </p:spPr>
        <p:txBody>
          <a:bodyPr wrap="square" lIns="0" tIns="0" rIns="0" bIns="0" rtlCol="0" anchor="ctr"/>
          <a:lstStyle/>
          <a:p>
            <a:pPr marL="0" indent="0">
              <a:buNone/>
            </a:pPr>
            <a:r>
              <a:rPr lang="en-US" sz="1500" b="1" dirty="0">
                <a:solidFill>
                  <a:srgbClr val="9A6BFF"/>
                </a:solidFill>
                <a:latin typeface="Courier New" pitchFamily="34" charset="0"/>
                <a:ea typeface="Courier New" pitchFamily="34" charset="-122"/>
                <a:cs typeface="Courier New" pitchFamily="34" charset="-120"/>
              </a:rPr>
              <a:t>02</a:t>
            </a:r>
            <a:endParaRPr lang="en-US" sz="1500" dirty="0"/>
          </a:p>
        </p:txBody>
      </p:sp>
      <p:sp>
        <p:nvSpPr>
          <p:cNvPr id="8" name="Text 6"/>
          <p:cNvSpPr txBox="1"/>
          <p:nvPr/>
        </p:nvSpPr>
        <p:spPr>
          <a:xfrm>
            <a:off x="1207008" y="2761488"/>
            <a:ext cx="4663440" cy="457200"/>
          </a:xfrm>
          <a:prstGeom prst="rect">
            <a:avLst/>
          </a:prstGeom>
          <a:noFill/>
          <a:ln/>
        </p:spPr>
        <p:txBody>
          <a:bodyPr wrap="square" lIns="0" tIns="0" rIns="0" bIns="0" rtlCol="0" anchor="ctr"/>
          <a:lstStyle/>
          <a:p>
            <a:pPr marL="0" indent="0">
              <a:buNone/>
            </a:pPr>
            <a:r>
              <a:rPr lang="en-US" sz="1550" b="1" dirty="0">
                <a:solidFill>
                  <a:srgbClr val="E9EEF7"/>
                </a:solidFill>
                <a:latin typeface="Arial" pitchFamily="34" charset="0"/>
                <a:ea typeface="Arial" pitchFamily="34" charset="-122"/>
                <a:cs typeface="Arial" pitchFamily="34" charset="-120"/>
              </a:rPr>
              <a:t>WHAT can they access?</a:t>
            </a:r>
            <a:endParaRPr lang="en-US" sz="1550" dirty="0"/>
          </a:p>
        </p:txBody>
      </p:sp>
      <p:sp>
        <p:nvSpPr>
          <p:cNvPr id="9" name="Text 7"/>
          <p:cNvSpPr txBox="1"/>
          <p:nvPr/>
        </p:nvSpPr>
        <p:spPr>
          <a:xfrm>
            <a:off x="548640" y="3511296"/>
            <a:ext cx="594360" cy="457200"/>
          </a:xfrm>
          <a:prstGeom prst="rect">
            <a:avLst/>
          </a:prstGeom>
          <a:noFill/>
          <a:ln/>
        </p:spPr>
        <p:txBody>
          <a:bodyPr wrap="square" lIns="0" tIns="0" rIns="0" bIns="0" rtlCol="0" anchor="ctr"/>
          <a:lstStyle/>
          <a:p>
            <a:pPr marL="0" indent="0">
              <a:buNone/>
            </a:pPr>
            <a:r>
              <a:rPr lang="en-US" sz="1500" b="1" dirty="0">
                <a:solidFill>
                  <a:srgbClr val="9A6BFF"/>
                </a:solidFill>
                <a:latin typeface="Courier New" pitchFamily="34" charset="0"/>
                <a:ea typeface="Courier New" pitchFamily="34" charset="-122"/>
                <a:cs typeface="Courier New" pitchFamily="34" charset="-120"/>
              </a:rPr>
              <a:t>03</a:t>
            </a:r>
            <a:endParaRPr lang="en-US" sz="1500" dirty="0"/>
          </a:p>
        </p:txBody>
      </p:sp>
      <p:sp>
        <p:nvSpPr>
          <p:cNvPr id="10" name="Text 8"/>
          <p:cNvSpPr txBox="1"/>
          <p:nvPr/>
        </p:nvSpPr>
        <p:spPr>
          <a:xfrm>
            <a:off x="1207008" y="3511296"/>
            <a:ext cx="4663440" cy="457200"/>
          </a:xfrm>
          <a:prstGeom prst="rect">
            <a:avLst/>
          </a:prstGeom>
          <a:noFill/>
          <a:ln/>
        </p:spPr>
        <p:txBody>
          <a:bodyPr wrap="square" lIns="0" tIns="0" rIns="0" bIns="0" rtlCol="0" anchor="ctr"/>
          <a:lstStyle/>
          <a:p>
            <a:pPr marL="0" indent="0">
              <a:buNone/>
            </a:pPr>
            <a:r>
              <a:rPr lang="en-US" sz="1550" b="1" dirty="0">
                <a:solidFill>
                  <a:srgbClr val="E9EEF7"/>
                </a:solidFill>
                <a:latin typeface="Arial" pitchFamily="34" charset="0"/>
                <a:ea typeface="Arial" pitchFamily="34" charset="-122"/>
                <a:cs typeface="Arial" pitchFamily="34" charset="-120"/>
              </a:rPr>
              <a:t>What if they modify the input?</a:t>
            </a:r>
            <a:endParaRPr lang="en-US" sz="1550" dirty="0"/>
          </a:p>
        </p:txBody>
      </p:sp>
      <p:sp>
        <p:nvSpPr>
          <p:cNvPr id="11" name="Text 9"/>
          <p:cNvSpPr txBox="1"/>
          <p:nvPr/>
        </p:nvSpPr>
        <p:spPr>
          <a:xfrm>
            <a:off x="548640" y="4261104"/>
            <a:ext cx="594360" cy="457200"/>
          </a:xfrm>
          <a:prstGeom prst="rect">
            <a:avLst/>
          </a:prstGeom>
          <a:noFill/>
          <a:ln/>
        </p:spPr>
        <p:txBody>
          <a:bodyPr wrap="square" lIns="0" tIns="0" rIns="0" bIns="0" rtlCol="0" anchor="ctr"/>
          <a:lstStyle/>
          <a:p>
            <a:pPr marL="0" indent="0">
              <a:buNone/>
            </a:pPr>
            <a:r>
              <a:rPr lang="en-US" sz="1500" b="1" dirty="0">
                <a:solidFill>
                  <a:srgbClr val="9A6BFF"/>
                </a:solidFill>
                <a:latin typeface="Courier New" pitchFamily="34" charset="0"/>
                <a:ea typeface="Courier New" pitchFamily="34" charset="-122"/>
                <a:cs typeface="Courier New" pitchFamily="34" charset="-120"/>
              </a:rPr>
              <a:t>04</a:t>
            </a:r>
            <a:endParaRPr lang="en-US" sz="1500" dirty="0"/>
          </a:p>
        </p:txBody>
      </p:sp>
      <p:sp>
        <p:nvSpPr>
          <p:cNvPr id="12" name="Text 10"/>
          <p:cNvSpPr txBox="1"/>
          <p:nvPr/>
        </p:nvSpPr>
        <p:spPr>
          <a:xfrm>
            <a:off x="1207008" y="4261104"/>
            <a:ext cx="4663440" cy="457200"/>
          </a:xfrm>
          <a:prstGeom prst="rect">
            <a:avLst/>
          </a:prstGeom>
          <a:noFill/>
          <a:ln/>
        </p:spPr>
        <p:txBody>
          <a:bodyPr wrap="square" lIns="0" tIns="0" rIns="0" bIns="0" rtlCol="0" anchor="ctr"/>
          <a:lstStyle/>
          <a:p>
            <a:pPr marL="0" indent="0">
              <a:buNone/>
            </a:pPr>
            <a:r>
              <a:rPr lang="en-US" sz="1550" b="1" dirty="0">
                <a:solidFill>
                  <a:srgbClr val="E9EEF7"/>
                </a:solidFill>
                <a:latin typeface="Arial" pitchFamily="34" charset="0"/>
                <a:ea typeface="Arial" pitchFamily="34" charset="-122"/>
                <a:cs typeface="Arial" pitchFamily="34" charset="-120"/>
              </a:rPr>
              <a:t>What if they call it directly?</a:t>
            </a:r>
            <a:endParaRPr lang="en-US" sz="1550" dirty="0"/>
          </a:p>
        </p:txBody>
      </p:sp>
      <p:sp>
        <p:nvSpPr>
          <p:cNvPr id="13" name="Text 11"/>
          <p:cNvSpPr txBox="1"/>
          <p:nvPr/>
        </p:nvSpPr>
        <p:spPr>
          <a:xfrm>
            <a:off x="548640" y="5010912"/>
            <a:ext cx="594360" cy="457200"/>
          </a:xfrm>
          <a:prstGeom prst="rect">
            <a:avLst/>
          </a:prstGeom>
          <a:noFill/>
          <a:ln/>
        </p:spPr>
        <p:txBody>
          <a:bodyPr wrap="square" lIns="0" tIns="0" rIns="0" bIns="0" rtlCol="0" anchor="ctr"/>
          <a:lstStyle/>
          <a:p>
            <a:pPr marL="0" indent="0">
              <a:buNone/>
            </a:pPr>
            <a:r>
              <a:rPr lang="en-US" sz="1500" b="1" dirty="0">
                <a:solidFill>
                  <a:srgbClr val="9A6BFF"/>
                </a:solidFill>
                <a:latin typeface="Courier New" pitchFamily="34" charset="0"/>
                <a:ea typeface="Courier New" pitchFamily="34" charset="-122"/>
                <a:cs typeface="Courier New" pitchFamily="34" charset="-120"/>
              </a:rPr>
              <a:t>05</a:t>
            </a:r>
            <a:endParaRPr lang="en-US" sz="1500" dirty="0"/>
          </a:p>
        </p:txBody>
      </p:sp>
      <p:sp>
        <p:nvSpPr>
          <p:cNvPr id="14" name="Text 12"/>
          <p:cNvSpPr txBox="1"/>
          <p:nvPr/>
        </p:nvSpPr>
        <p:spPr>
          <a:xfrm>
            <a:off x="1207008" y="5010912"/>
            <a:ext cx="4663440" cy="457200"/>
          </a:xfrm>
          <a:prstGeom prst="rect">
            <a:avLst/>
          </a:prstGeom>
          <a:noFill/>
          <a:ln/>
        </p:spPr>
        <p:txBody>
          <a:bodyPr wrap="square" lIns="0" tIns="0" rIns="0" bIns="0" rtlCol="0" anchor="ctr"/>
          <a:lstStyle/>
          <a:p>
            <a:pPr marL="0" indent="0">
              <a:buNone/>
            </a:pPr>
            <a:r>
              <a:rPr lang="en-US" sz="1550" b="1" dirty="0">
                <a:solidFill>
                  <a:srgbClr val="E9EEF7"/>
                </a:solidFill>
                <a:latin typeface="Arial" pitchFamily="34" charset="0"/>
                <a:ea typeface="Arial" pitchFamily="34" charset="-122"/>
                <a:cs typeface="Arial" pitchFamily="34" charset="-120"/>
              </a:rPr>
              <a:t>What if they call it 10,000 times?</a:t>
            </a:r>
            <a:endParaRPr lang="en-US" sz="1550" dirty="0"/>
          </a:p>
        </p:txBody>
      </p:sp>
      <p:sp>
        <p:nvSpPr>
          <p:cNvPr id="15" name="Text 13"/>
          <p:cNvSpPr txBox="1"/>
          <p:nvPr/>
        </p:nvSpPr>
        <p:spPr>
          <a:xfrm>
            <a:off x="6309360" y="2011680"/>
            <a:ext cx="594360" cy="457200"/>
          </a:xfrm>
          <a:prstGeom prst="rect">
            <a:avLst/>
          </a:prstGeom>
          <a:noFill/>
          <a:ln/>
        </p:spPr>
        <p:txBody>
          <a:bodyPr wrap="square" lIns="0" tIns="0" rIns="0" bIns="0" rtlCol="0" anchor="ctr"/>
          <a:lstStyle/>
          <a:p>
            <a:pPr marL="0" indent="0">
              <a:buNone/>
            </a:pPr>
            <a:r>
              <a:rPr lang="en-US" sz="1500" b="1" dirty="0">
                <a:solidFill>
                  <a:srgbClr val="9A6BFF"/>
                </a:solidFill>
                <a:latin typeface="Courier New" pitchFamily="34" charset="0"/>
                <a:ea typeface="Courier New" pitchFamily="34" charset="-122"/>
                <a:cs typeface="Courier New" pitchFamily="34" charset="-120"/>
              </a:rPr>
              <a:t>06</a:t>
            </a:r>
            <a:endParaRPr lang="en-US" sz="1500" dirty="0"/>
          </a:p>
        </p:txBody>
      </p:sp>
      <p:sp>
        <p:nvSpPr>
          <p:cNvPr id="16" name="Text 14"/>
          <p:cNvSpPr txBox="1"/>
          <p:nvPr/>
        </p:nvSpPr>
        <p:spPr>
          <a:xfrm>
            <a:off x="6967728" y="2011680"/>
            <a:ext cx="4663440" cy="457200"/>
          </a:xfrm>
          <a:prstGeom prst="rect">
            <a:avLst/>
          </a:prstGeom>
          <a:noFill/>
          <a:ln/>
        </p:spPr>
        <p:txBody>
          <a:bodyPr wrap="square" lIns="0" tIns="0" rIns="0" bIns="0" rtlCol="0" anchor="ctr"/>
          <a:lstStyle/>
          <a:p>
            <a:pPr marL="0" indent="0">
              <a:buNone/>
            </a:pPr>
            <a:r>
              <a:rPr lang="en-US" sz="1550" b="1" dirty="0">
                <a:solidFill>
                  <a:srgbClr val="E9EEF7"/>
                </a:solidFill>
                <a:latin typeface="Arial" pitchFamily="34" charset="0"/>
                <a:ea typeface="Arial" pitchFamily="34" charset="-122"/>
                <a:cs typeface="Arial" pitchFamily="34" charset="-120"/>
              </a:rPr>
              <a:t>What if authentication disappears?</a:t>
            </a:r>
            <a:endParaRPr lang="en-US" sz="1550" dirty="0"/>
          </a:p>
        </p:txBody>
      </p:sp>
      <p:sp>
        <p:nvSpPr>
          <p:cNvPr id="17" name="Text 15"/>
          <p:cNvSpPr txBox="1"/>
          <p:nvPr/>
        </p:nvSpPr>
        <p:spPr>
          <a:xfrm>
            <a:off x="6309360" y="2761488"/>
            <a:ext cx="594360" cy="457200"/>
          </a:xfrm>
          <a:prstGeom prst="rect">
            <a:avLst/>
          </a:prstGeom>
          <a:noFill/>
          <a:ln/>
        </p:spPr>
        <p:txBody>
          <a:bodyPr wrap="square" lIns="0" tIns="0" rIns="0" bIns="0" rtlCol="0" anchor="ctr"/>
          <a:lstStyle/>
          <a:p>
            <a:pPr marL="0" indent="0">
              <a:buNone/>
            </a:pPr>
            <a:r>
              <a:rPr lang="en-US" sz="1500" b="1" dirty="0">
                <a:solidFill>
                  <a:srgbClr val="9A6BFF"/>
                </a:solidFill>
                <a:latin typeface="Courier New" pitchFamily="34" charset="0"/>
                <a:ea typeface="Courier New" pitchFamily="34" charset="-122"/>
                <a:cs typeface="Courier New" pitchFamily="34" charset="-120"/>
              </a:rPr>
              <a:t>07</a:t>
            </a:r>
            <a:endParaRPr lang="en-US" sz="1500" dirty="0"/>
          </a:p>
        </p:txBody>
      </p:sp>
      <p:sp>
        <p:nvSpPr>
          <p:cNvPr id="18" name="Text 16"/>
          <p:cNvSpPr txBox="1"/>
          <p:nvPr/>
        </p:nvSpPr>
        <p:spPr>
          <a:xfrm>
            <a:off x="6967728" y="2761488"/>
            <a:ext cx="4663440" cy="457200"/>
          </a:xfrm>
          <a:prstGeom prst="rect">
            <a:avLst/>
          </a:prstGeom>
          <a:noFill/>
          <a:ln/>
        </p:spPr>
        <p:txBody>
          <a:bodyPr wrap="square" lIns="0" tIns="0" rIns="0" bIns="0" rtlCol="0" anchor="ctr"/>
          <a:lstStyle/>
          <a:p>
            <a:pPr marL="0" indent="0">
              <a:buNone/>
            </a:pPr>
            <a:r>
              <a:rPr lang="en-US" sz="1550" b="1" dirty="0">
                <a:solidFill>
                  <a:srgbClr val="E9EEF7"/>
                </a:solidFill>
                <a:latin typeface="Arial" pitchFamily="34" charset="0"/>
                <a:ea typeface="Arial" pitchFamily="34" charset="-122"/>
                <a:cs typeface="Arial" pitchFamily="34" charset="-120"/>
              </a:rPr>
              <a:t>What if a dependency is compromised?</a:t>
            </a:r>
            <a:endParaRPr lang="en-US" sz="1550" dirty="0"/>
          </a:p>
        </p:txBody>
      </p:sp>
      <p:sp>
        <p:nvSpPr>
          <p:cNvPr id="19" name="Text 17"/>
          <p:cNvSpPr txBox="1"/>
          <p:nvPr/>
        </p:nvSpPr>
        <p:spPr>
          <a:xfrm>
            <a:off x="6309360" y="3511296"/>
            <a:ext cx="594360" cy="457200"/>
          </a:xfrm>
          <a:prstGeom prst="rect">
            <a:avLst/>
          </a:prstGeom>
          <a:noFill/>
          <a:ln/>
        </p:spPr>
        <p:txBody>
          <a:bodyPr wrap="square" lIns="0" tIns="0" rIns="0" bIns="0" rtlCol="0" anchor="ctr"/>
          <a:lstStyle/>
          <a:p>
            <a:pPr marL="0" indent="0">
              <a:buNone/>
            </a:pPr>
            <a:r>
              <a:rPr lang="en-US" sz="1500" b="1" dirty="0">
                <a:solidFill>
                  <a:srgbClr val="9A6BFF"/>
                </a:solidFill>
                <a:latin typeface="Courier New" pitchFamily="34" charset="0"/>
                <a:ea typeface="Courier New" pitchFamily="34" charset="-122"/>
                <a:cs typeface="Courier New" pitchFamily="34" charset="-120"/>
              </a:rPr>
              <a:t>08</a:t>
            </a:r>
            <a:endParaRPr lang="en-US" sz="1500" dirty="0"/>
          </a:p>
        </p:txBody>
      </p:sp>
      <p:sp>
        <p:nvSpPr>
          <p:cNvPr id="20" name="Text 18"/>
          <p:cNvSpPr txBox="1"/>
          <p:nvPr/>
        </p:nvSpPr>
        <p:spPr>
          <a:xfrm>
            <a:off x="6967728" y="3511296"/>
            <a:ext cx="4663440" cy="457200"/>
          </a:xfrm>
          <a:prstGeom prst="rect">
            <a:avLst/>
          </a:prstGeom>
          <a:noFill/>
          <a:ln/>
        </p:spPr>
        <p:txBody>
          <a:bodyPr wrap="square" lIns="0" tIns="0" rIns="0" bIns="0" rtlCol="0" anchor="ctr"/>
          <a:lstStyle/>
          <a:p>
            <a:pPr marL="0" indent="0">
              <a:buNone/>
            </a:pPr>
            <a:r>
              <a:rPr lang="en-US" sz="1550" b="1" dirty="0">
                <a:solidFill>
                  <a:srgbClr val="E9EEF7"/>
                </a:solidFill>
                <a:latin typeface="Arial" pitchFamily="34" charset="0"/>
                <a:ea typeface="Arial" pitchFamily="34" charset="-122"/>
                <a:cs typeface="Arial" pitchFamily="34" charset="-120"/>
              </a:rPr>
              <a:t>What if the server is compromised?</a:t>
            </a:r>
            <a:endParaRPr lang="en-US" sz="1550" dirty="0"/>
          </a:p>
        </p:txBody>
      </p:sp>
      <p:sp>
        <p:nvSpPr>
          <p:cNvPr id="21" name="Text 19"/>
          <p:cNvSpPr txBox="1"/>
          <p:nvPr/>
        </p:nvSpPr>
        <p:spPr>
          <a:xfrm>
            <a:off x="6309360" y="4261104"/>
            <a:ext cx="594360" cy="457200"/>
          </a:xfrm>
          <a:prstGeom prst="rect">
            <a:avLst/>
          </a:prstGeom>
          <a:noFill/>
          <a:ln/>
        </p:spPr>
        <p:txBody>
          <a:bodyPr wrap="square" lIns="0" tIns="0" rIns="0" bIns="0" rtlCol="0" anchor="ctr"/>
          <a:lstStyle/>
          <a:p>
            <a:pPr marL="0" indent="0">
              <a:buNone/>
            </a:pPr>
            <a:r>
              <a:rPr lang="en-US" sz="1500" b="1" dirty="0">
                <a:solidFill>
                  <a:srgbClr val="9A6BFF"/>
                </a:solidFill>
                <a:latin typeface="Courier New" pitchFamily="34" charset="0"/>
                <a:ea typeface="Courier New" pitchFamily="34" charset="-122"/>
                <a:cs typeface="Courier New" pitchFamily="34" charset="-120"/>
              </a:rPr>
              <a:t>09</a:t>
            </a:r>
            <a:endParaRPr lang="en-US" sz="1500" dirty="0"/>
          </a:p>
        </p:txBody>
      </p:sp>
      <p:sp>
        <p:nvSpPr>
          <p:cNvPr id="22" name="Text 20"/>
          <p:cNvSpPr txBox="1"/>
          <p:nvPr/>
        </p:nvSpPr>
        <p:spPr>
          <a:xfrm>
            <a:off x="6967728" y="4261104"/>
            <a:ext cx="4663440" cy="457200"/>
          </a:xfrm>
          <a:prstGeom prst="rect">
            <a:avLst/>
          </a:prstGeom>
          <a:noFill/>
          <a:ln/>
        </p:spPr>
        <p:txBody>
          <a:bodyPr wrap="square" lIns="0" tIns="0" rIns="0" bIns="0" rtlCol="0" anchor="ctr"/>
          <a:lstStyle/>
          <a:p>
            <a:pPr marL="0" indent="0">
              <a:buNone/>
            </a:pPr>
            <a:r>
              <a:rPr lang="en-US" sz="1550" b="1" dirty="0">
                <a:solidFill>
                  <a:srgbClr val="E9EEF7"/>
                </a:solidFill>
                <a:latin typeface="Arial" pitchFamily="34" charset="0"/>
                <a:ea typeface="Arial" pitchFamily="34" charset="-122"/>
                <a:cs typeface="Arial" pitchFamily="34" charset="-120"/>
              </a:rPr>
              <a:t>What gets logged — and what shouldn’t?</a:t>
            </a:r>
            <a:endParaRPr lang="en-US" sz="1550" dirty="0"/>
          </a:p>
        </p:txBody>
      </p:sp>
      <p:sp>
        <p:nvSpPr>
          <p:cNvPr id="23" name="Text 21"/>
          <p:cNvSpPr txBox="1"/>
          <p:nvPr/>
        </p:nvSpPr>
        <p:spPr>
          <a:xfrm>
            <a:off x="6309360" y="5010912"/>
            <a:ext cx="594360" cy="457200"/>
          </a:xfrm>
          <a:prstGeom prst="rect">
            <a:avLst/>
          </a:prstGeom>
          <a:noFill/>
          <a:ln/>
        </p:spPr>
        <p:txBody>
          <a:bodyPr wrap="square" lIns="0" tIns="0" rIns="0" bIns="0" rtlCol="0" anchor="ctr"/>
          <a:lstStyle/>
          <a:p>
            <a:pPr marL="0" indent="0">
              <a:buNone/>
            </a:pPr>
            <a:r>
              <a:rPr lang="en-US" sz="1500" b="1" dirty="0">
                <a:solidFill>
                  <a:srgbClr val="9A6BFF"/>
                </a:solidFill>
                <a:latin typeface="Courier New" pitchFamily="34" charset="0"/>
                <a:ea typeface="Courier New" pitchFamily="34" charset="-122"/>
                <a:cs typeface="Courier New" pitchFamily="34" charset="-120"/>
              </a:rPr>
              <a:t>10</a:t>
            </a:r>
            <a:endParaRPr lang="en-US" sz="1500" dirty="0"/>
          </a:p>
        </p:txBody>
      </p:sp>
      <p:sp>
        <p:nvSpPr>
          <p:cNvPr id="24" name="Text 22"/>
          <p:cNvSpPr txBox="1"/>
          <p:nvPr/>
        </p:nvSpPr>
        <p:spPr>
          <a:xfrm>
            <a:off x="6967728" y="5010912"/>
            <a:ext cx="4663440" cy="457200"/>
          </a:xfrm>
          <a:prstGeom prst="rect">
            <a:avLst/>
          </a:prstGeom>
          <a:noFill/>
          <a:ln/>
        </p:spPr>
        <p:txBody>
          <a:bodyPr wrap="square" lIns="0" tIns="0" rIns="0" bIns="0" rtlCol="0" anchor="ctr"/>
          <a:lstStyle/>
          <a:p>
            <a:pPr marL="0" indent="0">
              <a:buNone/>
            </a:pPr>
            <a:r>
              <a:rPr lang="en-US" sz="1550" b="1" dirty="0">
                <a:solidFill>
                  <a:srgbClr val="E9EEF7"/>
                </a:solidFill>
                <a:latin typeface="Arial" pitchFamily="34" charset="0"/>
                <a:ea typeface="Arial" pitchFamily="34" charset="-122"/>
                <a:cs typeface="Arial" pitchFamily="34" charset="-120"/>
              </a:rPr>
              <a:t>What would an attacker do next?</a:t>
            </a:r>
            <a:endParaRPr lang="en-US" sz="1550" dirty="0"/>
          </a:p>
        </p:txBody>
      </p:sp>
      <p:sp>
        <p:nvSpPr>
          <p:cNvPr id="25" name="Text 23"/>
          <p:cNvSpPr txBox="1"/>
          <p:nvPr/>
        </p:nvSpPr>
        <p:spPr>
          <a:xfrm>
            <a:off x="548640" y="5943600"/>
            <a:ext cx="11091672" cy="365760"/>
          </a:xfrm>
          <a:prstGeom prst="rect">
            <a:avLst/>
          </a:prstGeom>
          <a:noFill/>
          <a:ln/>
        </p:spPr>
        <p:txBody>
          <a:bodyPr wrap="square" lIns="0" tIns="0" rIns="0" bIns="0" rtlCol="0" anchor="ctr"/>
          <a:lstStyle/>
          <a:p>
            <a:pPr marL="0" indent="0" algn="ctr">
              <a:buNone/>
            </a:pPr>
            <a:r>
              <a:rPr lang="en-US" sz="1400" i="1" dirty="0">
                <a:solidFill>
                  <a:srgbClr val="8C97AC"/>
                </a:solidFill>
                <a:latin typeface="Arial" pitchFamily="34" charset="0"/>
                <a:ea typeface="Arial" pitchFamily="34" charset="-122"/>
                <a:cs typeface="Arial" pitchFamily="34" charset="-120"/>
              </a:rPr>
              <a:t>Ten seconds per endpoint. Cheaper than an incident review.</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0058400" cy="256032"/>
          </a:xfrm>
          <a:prstGeom prst="rect">
            <a:avLst/>
          </a:prstGeom>
          <a:noFill/>
          <a:ln/>
        </p:spPr>
        <p:txBody>
          <a:bodyPr wrap="square" lIns="0" tIns="0" rIns="0" bIns="0" rtlCol="0" anchor="ctr"/>
          <a:lstStyle/>
          <a:p>
            <a:pPr marL="0" indent="0">
              <a:buNone/>
            </a:pPr>
            <a:r>
              <a:rPr lang="en-US" sz="1150" b="1" kern="0" spc="220" dirty="0">
                <a:solidFill>
                  <a:srgbClr val="9A6BFF"/>
                </a:solidFill>
                <a:latin typeface="Arial" pitchFamily="34" charset="0"/>
                <a:ea typeface="Arial" pitchFamily="34" charset="-122"/>
                <a:cs typeface="Arial" pitchFamily="34" charset="-120"/>
              </a:rPr>
              <a:t>IF YOU REMEMBER NOTHING ELSE</a:t>
            </a:r>
            <a:endParaRPr lang="en-US" sz="1150" dirty="0"/>
          </a:p>
        </p:txBody>
      </p:sp>
      <p:sp>
        <p:nvSpPr>
          <p:cNvPr id="3" name="Text 1"/>
          <p:cNvSpPr txBox="1"/>
          <p:nvPr/>
        </p:nvSpPr>
        <p:spPr>
          <a:xfrm>
            <a:off x="548640" y="749808"/>
            <a:ext cx="11091672" cy="685800"/>
          </a:xfrm>
          <a:prstGeom prst="rect">
            <a:avLst/>
          </a:prstGeom>
          <a:noFill/>
          <a:ln/>
        </p:spPr>
        <p:txBody>
          <a:bodyPr wrap="square" lIns="0" tIns="0" rIns="0" bIns="0" rtlCol="0" anchor="ctr"/>
          <a:lstStyle/>
          <a:p>
            <a:pPr marL="0" indent="0">
              <a:lnSpc>
                <a:spcPct val="100000"/>
              </a:lnSpc>
              <a:buNone/>
            </a:pPr>
            <a:r>
              <a:rPr lang="en-US" sz="3600" b="1" dirty="0">
                <a:solidFill>
                  <a:srgbClr val="E9EEF7"/>
                </a:solidFill>
                <a:latin typeface="Arial" pitchFamily="34" charset="0"/>
                <a:ea typeface="Arial" pitchFamily="34" charset="-122"/>
                <a:cs typeface="Arial" pitchFamily="34" charset="-120"/>
              </a:rPr>
              <a:t>The Golden Rules</a:t>
            </a:r>
            <a:endParaRPr lang="en-US" sz="3600" dirty="0"/>
          </a:p>
        </p:txBody>
      </p:sp>
      <p:sp>
        <p:nvSpPr>
          <p:cNvPr id="4" name="Text 2"/>
          <p:cNvSpPr txBox="1"/>
          <p:nvPr/>
        </p:nvSpPr>
        <p:spPr>
          <a:xfrm>
            <a:off x="548640" y="1783080"/>
            <a:ext cx="640080" cy="502920"/>
          </a:xfrm>
          <a:prstGeom prst="rect">
            <a:avLst/>
          </a:prstGeom>
          <a:noFill/>
          <a:ln/>
        </p:spPr>
        <p:txBody>
          <a:bodyPr wrap="square" lIns="0" tIns="0" rIns="0" bIns="0" rtlCol="0" anchor="ctr"/>
          <a:lstStyle/>
          <a:p>
            <a:pPr marL="0" indent="0">
              <a:buNone/>
            </a:pPr>
            <a:r>
              <a:rPr lang="en-US" sz="1700" b="1" dirty="0">
                <a:solidFill>
                  <a:srgbClr val="9A6BFF"/>
                </a:solidFill>
                <a:latin typeface="Courier New" pitchFamily="34" charset="0"/>
                <a:ea typeface="Courier New" pitchFamily="34" charset="-122"/>
                <a:cs typeface="Courier New" pitchFamily="34" charset="-120"/>
              </a:rPr>
              <a:t>01</a:t>
            </a:r>
            <a:endParaRPr lang="en-US" sz="1700" dirty="0"/>
          </a:p>
        </p:txBody>
      </p:sp>
      <p:sp>
        <p:nvSpPr>
          <p:cNvPr id="5" name="Text 3"/>
          <p:cNvSpPr txBox="1"/>
          <p:nvPr/>
        </p:nvSpPr>
        <p:spPr>
          <a:xfrm>
            <a:off x="1261872" y="1783080"/>
            <a:ext cx="4617720" cy="502920"/>
          </a:xfrm>
          <a:prstGeom prst="rect">
            <a:avLst/>
          </a:prstGeom>
          <a:noFill/>
          <a:ln/>
        </p:spPr>
        <p:txBody>
          <a:bodyPr wrap="square" lIns="0" tIns="0" rIns="0" bIns="0" rtlCol="0" anchor="ctr"/>
          <a:lstStyle/>
          <a:p>
            <a:pPr marL="0" indent="0">
              <a:lnSpc>
                <a:spcPct val="100000"/>
              </a:lnSpc>
              <a:buNone/>
            </a:pPr>
            <a:r>
              <a:rPr lang="en-US" sz="1650" b="1" dirty="0">
                <a:solidFill>
                  <a:srgbClr val="E9EEF7"/>
                </a:solidFill>
                <a:latin typeface="Arial" pitchFamily="34" charset="0"/>
                <a:ea typeface="Arial" pitchFamily="34" charset="-122"/>
                <a:cs typeface="Arial" pitchFamily="34" charset="-120"/>
              </a:rPr>
              <a:t>Never trust the client.</a:t>
            </a:r>
            <a:endParaRPr lang="en-US" sz="1650" dirty="0"/>
          </a:p>
        </p:txBody>
      </p:sp>
      <p:sp>
        <p:nvSpPr>
          <p:cNvPr id="6" name="Text 4"/>
          <p:cNvSpPr txBox="1"/>
          <p:nvPr/>
        </p:nvSpPr>
        <p:spPr>
          <a:xfrm>
            <a:off x="548640" y="2624328"/>
            <a:ext cx="640080" cy="502920"/>
          </a:xfrm>
          <a:prstGeom prst="rect">
            <a:avLst/>
          </a:prstGeom>
          <a:noFill/>
          <a:ln/>
        </p:spPr>
        <p:txBody>
          <a:bodyPr wrap="square" lIns="0" tIns="0" rIns="0" bIns="0" rtlCol="0" anchor="ctr"/>
          <a:lstStyle/>
          <a:p>
            <a:pPr marL="0" indent="0">
              <a:buNone/>
            </a:pPr>
            <a:r>
              <a:rPr lang="en-US" sz="1700" b="1" dirty="0">
                <a:solidFill>
                  <a:srgbClr val="9A6BFF"/>
                </a:solidFill>
                <a:latin typeface="Courier New" pitchFamily="34" charset="0"/>
                <a:ea typeface="Courier New" pitchFamily="34" charset="-122"/>
                <a:cs typeface="Courier New" pitchFamily="34" charset="-120"/>
              </a:rPr>
              <a:t>02</a:t>
            </a:r>
            <a:endParaRPr lang="en-US" sz="1700" dirty="0"/>
          </a:p>
        </p:txBody>
      </p:sp>
      <p:sp>
        <p:nvSpPr>
          <p:cNvPr id="7" name="Text 5"/>
          <p:cNvSpPr txBox="1"/>
          <p:nvPr/>
        </p:nvSpPr>
        <p:spPr>
          <a:xfrm>
            <a:off x="1261872" y="2624328"/>
            <a:ext cx="4617720" cy="502920"/>
          </a:xfrm>
          <a:prstGeom prst="rect">
            <a:avLst/>
          </a:prstGeom>
          <a:noFill/>
          <a:ln/>
        </p:spPr>
        <p:txBody>
          <a:bodyPr wrap="square" lIns="0" tIns="0" rIns="0" bIns="0" rtlCol="0" anchor="ctr"/>
          <a:lstStyle/>
          <a:p>
            <a:pPr marL="0" indent="0">
              <a:lnSpc>
                <a:spcPct val="100000"/>
              </a:lnSpc>
              <a:buNone/>
            </a:pPr>
            <a:r>
              <a:rPr lang="en-US" sz="1650" b="1" dirty="0">
                <a:solidFill>
                  <a:srgbClr val="E9EEF7"/>
                </a:solidFill>
                <a:latin typeface="Arial" pitchFamily="34" charset="0"/>
                <a:ea typeface="Arial" pitchFamily="34" charset="-122"/>
                <a:cs typeface="Arial" pitchFamily="34" charset="-120"/>
              </a:rPr>
              <a:t>Authentication is not authorization.</a:t>
            </a:r>
            <a:endParaRPr lang="en-US" sz="1650" dirty="0"/>
          </a:p>
        </p:txBody>
      </p:sp>
      <p:sp>
        <p:nvSpPr>
          <p:cNvPr id="8" name="Text 6"/>
          <p:cNvSpPr txBox="1"/>
          <p:nvPr/>
        </p:nvSpPr>
        <p:spPr>
          <a:xfrm>
            <a:off x="548640" y="3465576"/>
            <a:ext cx="640080" cy="502920"/>
          </a:xfrm>
          <a:prstGeom prst="rect">
            <a:avLst/>
          </a:prstGeom>
          <a:noFill/>
          <a:ln/>
        </p:spPr>
        <p:txBody>
          <a:bodyPr wrap="square" lIns="0" tIns="0" rIns="0" bIns="0" rtlCol="0" anchor="ctr"/>
          <a:lstStyle/>
          <a:p>
            <a:pPr marL="0" indent="0">
              <a:buNone/>
            </a:pPr>
            <a:r>
              <a:rPr lang="en-US" sz="1700" b="1" dirty="0">
                <a:solidFill>
                  <a:srgbClr val="9A6BFF"/>
                </a:solidFill>
                <a:latin typeface="Courier New" pitchFamily="34" charset="0"/>
                <a:ea typeface="Courier New" pitchFamily="34" charset="-122"/>
                <a:cs typeface="Courier New" pitchFamily="34" charset="-120"/>
              </a:rPr>
              <a:t>03</a:t>
            </a:r>
            <a:endParaRPr lang="en-US" sz="1700" dirty="0"/>
          </a:p>
        </p:txBody>
      </p:sp>
      <p:sp>
        <p:nvSpPr>
          <p:cNvPr id="9" name="Text 7"/>
          <p:cNvSpPr txBox="1"/>
          <p:nvPr/>
        </p:nvSpPr>
        <p:spPr>
          <a:xfrm>
            <a:off x="1261872" y="3465576"/>
            <a:ext cx="4617720" cy="502920"/>
          </a:xfrm>
          <a:prstGeom prst="rect">
            <a:avLst/>
          </a:prstGeom>
          <a:noFill/>
          <a:ln/>
        </p:spPr>
        <p:txBody>
          <a:bodyPr wrap="square" lIns="0" tIns="0" rIns="0" bIns="0" rtlCol="0" anchor="ctr"/>
          <a:lstStyle/>
          <a:p>
            <a:pPr marL="0" indent="0">
              <a:lnSpc>
                <a:spcPct val="100000"/>
              </a:lnSpc>
              <a:buNone/>
            </a:pPr>
            <a:r>
              <a:rPr lang="en-US" sz="1650" b="1" dirty="0">
                <a:solidFill>
                  <a:srgbClr val="E9EEF7"/>
                </a:solidFill>
                <a:latin typeface="Arial" pitchFamily="34" charset="0"/>
                <a:ea typeface="Arial" pitchFamily="34" charset="-122"/>
                <a:cs typeface="Arial" pitchFamily="34" charset="-120"/>
              </a:rPr>
              <a:t>Validate at the boundary.</a:t>
            </a:r>
            <a:endParaRPr lang="en-US" sz="1650" dirty="0"/>
          </a:p>
        </p:txBody>
      </p:sp>
      <p:sp>
        <p:nvSpPr>
          <p:cNvPr id="10" name="Text 8"/>
          <p:cNvSpPr txBox="1"/>
          <p:nvPr/>
        </p:nvSpPr>
        <p:spPr>
          <a:xfrm>
            <a:off x="548640" y="4306824"/>
            <a:ext cx="640080" cy="502920"/>
          </a:xfrm>
          <a:prstGeom prst="rect">
            <a:avLst/>
          </a:prstGeom>
          <a:noFill/>
          <a:ln/>
        </p:spPr>
        <p:txBody>
          <a:bodyPr wrap="square" lIns="0" tIns="0" rIns="0" bIns="0" rtlCol="0" anchor="ctr"/>
          <a:lstStyle/>
          <a:p>
            <a:pPr marL="0" indent="0">
              <a:buNone/>
            </a:pPr>
            <a:r>
              <a:rPr lang="en-US" sz="1700" b="1" dirty="0">
                <a:solidFill>
                  <a:srgbClr val="9A6BFF"/>
                </a:solidFill>
                <a:latin typeface="Courier New" pitchFamily="34" charset="0"/>
                <a:ea typeface="Courier New" pitchFamily="34" charset="-122"/>
                <a:cs typeface="Courier New" pitchFamily="34" charset="-120"/>
              </a:rPr>
              <a:t>04</a:t>
            </a:r>
            <a:endParaRPr lang="en-US" sz="1700" dirty="0"/>
          </a:p>
        </p:txBody>
      </p:sp>
      <p:sp>
        <p:nvSpPr>
          <p:cNvPr id="11" name="Text 9"/>
          <p:cNvSpPr txBox="1"/>
          <p:nvPr/>
        </p:nvSpPr>
        <p:spPr>
          <a:xfrm>
            <a:off x="1261872" y="4306824"/>
            <a:ext cx="4617720" cy="502920"/>
          </a:xfrm>
          <a:prstGeom prst="rect">
            <a:avLst/>
          </a:prstGeom>
          <a:noFill/>
          <a:ln/>
        </p:spPr>
        <p:txBody>
          <a:bodyPr wrap="square" lIns="0" tIns="0" rIns="0" bIns="0" rtlCol="0" anchor="ctr"/>
          <a:lstStyle/>
          <a:p>
            <a:pPr marL="0" indent="0">
              <a:lnSpc>
                <a:spcPct val="100000"/>
              </a:lnSpc>
              <a:buNone/>
            </a:pPr>
            <a:r>
              <a:rPr lang="en-US" sz="1650" b="1" dirty="0">
                <a:solidFill>
                  <a:srgbClr val="E9EEF7"/>
                </a:solidFill>
                <a:latin typeface="Arial" pitchFamily="34" charset="0"/>
                <a:ea typeface="Arial" pitchFamily="34" charset="-122"/>
                <a:cs typeface="Arial" pitchFamily="34" charset="-120"/>
              </a:rPr>
              <a:t>Enforce least privilege.</a:t>
            </a:r>
            <a:endParaRPr lang="en-US" sz="1650" dirty="0"/>
          </a:p>
        </p:txBody>
      </p:sp>
      <p:sp>
        <p:nvSpPr>
          <p:cNvPr id="12" name="Text 10"/>
          <p:cNvSpPr txBox="1"/>
          <p:nvPr/>
        </p:nvSpPr>
        <p:spPr>
          <a:xfrm>
            <a:off x="548640" y="5148072"/>
            <a:ext cx="640080" cy="502920"/>
          </a:xfrm>
          <a:prstGeom prst="rect">
            <a:avLst/>
          </a:prstGeom>
          <a:noFill/>
          <a:ln/>
        </p:spPr>
        <p:txBody>
          <a:bodyPr wrap="square" lIns="0" tIns="0" rIns="0" bIns="0" rtlCol="0" anchor="ctr"/>
          <a:lstStyle/>
          <a:p>
            <a:pPr marL="0" indent="0">
              <a:buNone/>
            </a:pPr>
            <a:r>
              <a:rPr lang="en-US" sz="1700" b="1" dirty="0">
                <a:solidFill>
                  <a:srgbClr val="9A6BFF"/>
                </a:solidFill>
                <a:latin typeface="Courier New" pitchFamily="34" charset="0"/>
                <a:ea typeface="Courier New" pitchFamily="34" charset="-122"/>
                <a:cs typeface="Courier New" pitchFamily="34" charset="-120"/>
              </a:rPr>
              <a:t>05</a:t>
            </a:r>
            <a:endParaRPr lang="en-US" sz="1700" dirty="0"/>
          </a:p>
        </p:txBody>
      </p:sp>
      <p:sp>
        <p:nvSpPr>
          <p:cNvPr id="13" name="Text 11"/>
          <p:cNvSpPr txBox="1"/>
          <p:nvPr/>
        </p:nvSpPr>
        <p:spPr>
          <a:xfrm>
            <a:off x="1261872" y="5148072"/>
            <a:ext cx="4617720" cy="502920"/>
          </a:xfrm>
          <a:prstGeom prst="rect">
            <a:avLst/>
          </a:prstGeom>
          <a:noFill/>
          <a:ln/>
        </p:spPr>
        <p:txBody>
          <a:bodyPr wrap="square" lIns="0" tIns="0" rIns="0" bIns="0" rtlCol="0" anchor="ctr"/>
          <a:lstStyle/>
          <a:p>
            <a:pPr marL="0" indent="0">
              <a:lnSpc>
                <a:spcPct val="100000"/>
              </a:lnSpc>
              <a:buNone/>
            </a:pPr>
            <a:r>
              <a:rPr lang="en-US" sz="1650" b="1" dirty="0">
                <a:solidFill>
                  <a:srgbClr val="E9EEF7"/>
                </a:solidFill>
                <a:latin typeface="Arial" pitchFamily="34" charset="0"/>
                <a:ea typeface="Arial" pitchFamily="34" charset="-122"/>
                <a:cs typeface="Arial" pitchFamily="34" charset="-120"/>
              </a:rPr>
              <a:t>Protect secrets like production data.</a:t>
            </a:r>
            <a:endParaRPr lang="en-US" sz="1650" dirty="0"/>
          </a:p>
        </p:txBody>
      </p:sp>
      <p:sp>
        <p:nvSpPr>
          <p:cNvPr id="14" name="Text 12"/>
          <p:cNvSpPr txBox="1"/>
          <p:nvPr/>
        </p:nvSpPr>
        <p:spPr>
          <a:xfrm>
            <a:off x="6309360" y="1783080"/>
            <a:ext cx="640080" cy="502920"/>
          </a:xfrm>
          <a:prstGeom prst="rect">
            <a:avLst/>
          </a:prstGeom>
          <a:noFill/>
          <a:ln/>
        </p:spPr>
        <p:txBody>
          <a:bodyPr wrap="square" lIns="0" tIns="0" rIns="0" bIns="0" rtlCol="0" anchor="ctr"/>
          <a:lstStyle/>
          <a:p>
            <a:pPr marL="0" indent="0">
              <a:buNone/>
            </a:pPr>
            <a:r>
              <a:rPr lang="en-US" sz="1700" b="1" dirty="0">
                <a:solidFill>
                  <a:srgbClr val="9A6BFF"/>
                </a:solidFill>
                <a:latin typeface="Courier New" pitchFamily="34" charset="0"/>
                <a:ea typeface="Courier New" pitchFamily="34" charset="-122"/>
                <a:cs typeface="Courier New" pitchFamily="34" charset="-120"/>
              </a:rPr>
              <a:t>06</a:t>
            </a:r>
            <a:endParaRPr lang="en-US" sz="1700" dirty="0"/>
          </a:p>
        </p:txBody>
      </p:sp>
      <p:sp>
        <p:nvSpPr>
          <p:cNvPr id="15" name="Text 13"/>
          <p:cNvSpPr txBox="1"/>
          <p:nvPr/>
        </p:nvSpPr>
        <p:spPr>
          <a:xfrm>
            <a:off x="7022592" y="1783080"/>
            <a:ext cx="4617720" cy="502920"/>
          </a:xfrm>
          <a:prstGeom prst="rect">
            <a:avLst/>
          </a:prstGeom>
          <a:noFill/>
          <a:ln/>
        </p:spPr>
        <p:txBody>
          <a:bodyPr wrap="square" lIns="0" tIns="0" rIns="0" bIns="0" rtlCol="0" anchor="ctr"/>
          <a:lstStyle/>
          <a:p>
            <a:pPr marL="0" indent="0">
              <a:lnSpc>
                <a:spcPct val="100000"/>
              </a:lnSpc>
              <a:buNone/>
            </a:pPr>
            <a:r>
              <a:rPr lang="en-US" sz="1650" b="1" dirty="0">
                <a:solidFill>
                  <a:srgbClr val="E9EEF7"/>
                </a:solidFill>
                <a:latin typeface="Arial" pitchFamily="34" charset="0"/>
                <a:ea typeface="Arial" pitchFamily="34" charset="-122"/>
                <a:cs typeface="Arial" pitchFamily="34" charset="-120"/>
              </a:rPr>
              <a:t>Dependencies are your attack surface.</a:t>
            </a:r>
            <a:endParaRPr lang="en-US" sz="1650" dirty="0"/>
          </a:p>
        </p:txBody>
      </p:sp>
      <p:sp>
        <p:nvSpPr>
          <p:cNvPr id="16" name="Text 14"/>
          <p:cNvSpPr txBox="1"/>
          <p:nvPr/>
        </p:nvSpPr>
        <p:spPr>
          <a:xfrm>
            <a:off x="6309360" y="2624328"/>
            <a:ext cx="640080" cy="502920"/>
          </a:xfrm>
          <a:prstGeom prst="rect">
            <a:avLst/>
          </a:prstGeom>
          <a:noFill/>
          <a:ln/>
        </p:spPr>
        <p:txBody>
          <a:bodyPr wrap="square" lIns="0" tIns="0" rIns="0" bIns="0" rtlCol="0" anchor="ctr"/>
          <a:lstStyle/>
          <a:p>
            <a:pPr marL="0" indent="0">
              <a:buNone/>
            </a:pPr>
            <a:r>
              <a:rPr lang="en-US" sz="1700" b="1" dirty="0">
                <a:solidFill>
                  <a:srgbClr val="9A6BFF"/>
                </a:solidFill>
                <a:latin typeface="Courier New" pitchFamily="34" charset="0"/>
                <a:ea typeface="Courier New" pitchFamily="34" charset="-122"/>
                <a:cs typeface="Courier New" pitchFamily="34" charset="-120"/>
              </a:rPr>
              <a:t>07</a:t>
            </a:r>
            <a:endParaRPr lang="en-US" sz="1700" dirty="0"/>
          </a:p>
        </p:txBody>
      </p:sp>
      <p:sp>
        <p:nvSpPr>
          <p:cNvPr id="17" name="Text 15"/>
          <p:cNvSpPr txBox="1"/>
          <p:nvPr/>
        </p:nvSpPr>
        <p:spPr>
          <a:xfrm>
            <a:off x="7022592" y="2624328"/>
            <a:ext cx="4617720" cy="502920"/>
          </a:xfrm>
          <a:prstGeom prst="rect">
            <a:avLst/>
          </a:prstGeom>
          <a:noFill/>
          <a:ln/>
        </p:spPr>
        <p:txBody>
          <a:bodyPr wrap="square" lIns="0" tIns="0" rIns="0" bIns="0" rtlCol="0" anchor="ctr"/>
          <a:lstStyle/>
          <a:p>
            <a:pPr marL="0" indent="0">
              <a:lnSpc>
                <a:spcPct val="100000"/>
              </a:lnSpc>
              <a:buNone/>
            </a:pPr>
            <a:r>
              <a:rPr lang="en-US" sz="1650" b="1" dirty="0">
                <a:solidFill>
                  <a:srgbClr val="E9EEF7"/>
                </a:solidFill>
                <a:latin typeface="Arial" pitchFamily="34" charset="0"/>
                <a:ea typeface="Arial" pitchFamily="34" charset="-122"/>
                <a:cs typeface="Arial" pitchFamily="34" charset="-120"/>
              </a:rPr>
              <a:t>Config matters as much as code.</a:t>
            </a:r>
            <a:endParaRPr lang="en-US" sz="1650" dirty="0"/>
          </a:p>
        </p:txBody>
      </p:sp>
      <p:sp>
        <p:nvSpPr>
          <p:cNvPr id="18" name="Text 16"/>
          <p:cNvSpPr txBox="1"/>
          <p:nvPr/>
        </p:nvSpPr>
        <p:spPr>
          <a:xfrm>
            <a:off x="6309360" y="3465576"/>
            <a:ext cx="640080" cy="502920"/>
          </a:xfrm>
          <a:prstGeom prst="rect">
            <a:avLst/>
          </a:prstGeom>
          <a:noFill/>
          <a:ln/>
        </p:spPr>
        <p:txBody>
          <a:bodyPr wrap="square" lIns="0" tIns="0" rIns="0" bIns="0" rtlCol="0" anchor="ctr"/>
          <a:lstStyle/>
          <a:p>
            <a:pPr marL="0" indent="0">
              <a:buNone/>
            </a:pPr>
            <a:r>
              <a:rPr lang="en-US" sz="1700" b="1" dirty="0">
                <a:solidFill>
                  <a:srgbClr val="9A6BFF"/>
                </a:solidFill>
                <a:latin typeface="Courier New" pitchFamily="34" charset="0"/>
                <a:ea typeface="Courier New" pitchFamily="34" charset="-122"/>
                <a:cs typeface="Courier New" pitchFamily="34" charset="-120"/>
              </a:rPr>
              <a:t>08</a:t>
            </a:r>
            <a:endParaRPr lang="en-US" sz="1700" dirty="0"/>
          </a:p>
        </p:txBody>
      </p:sp>
      <p:sp>
        <p:nvSpPr>
          <p:cNvPr id="19" name="Text 17"/>
          <p:cNvSpPr txBox="1"/>
          <p:nvPr/>
        </p:nvSpPr>
        <p:spPr>
          <a:xfrm>
            <a:off x="7022592" y="3465576"/>
            <a:ext cx="4617720" cy="502920"/>
          </a:xfrm>
          <a:prstGeom prst="rect">
            <a:avLst/>
          </a:prstGeom>
          <a:noFill/>
          <a:ln/>
        </p:spPr>
        <p:txBody>
          <a:bodyPr wrap="square" lIns="0" tIns="0" rIns="0" bIns="0" rtlCol="0" anchor="ctr"/>
          <a:lstStyle/>
          <a:p>
            <a:pPr marL="0" indent="0">
              <a:lnSpc>
                <a:spcPct val="100000"/>
              </a:lnSpc>
              <a:buNone/>
            </a:pPr>
            <a:r>
              <a:rPr lang="en-US" sz="1650" b="1" dirty="0">
                <a:solidFill>
                  <a:srgbClr val="E9EEF7"/>
                </a:solidFill>
                <a:latin typeface="Arial" pitchFamily="34" charset="0"/>
                <a:ea typeface="Arial" pitchFamily="34" charset="-122"/>
                <a:cs typeface="Arial" pitchFamily="34" charset="-120"/>
              </a:rPr>
              <a:t>Log what matters. Alert on it.</a:t>
            </a:r>
            <a:endParaRPr lang="en-US" sz="1650" dirty="0"/>
          </a:p>
        </p:txBody>
      </p:sp>
      <p:sp>
        <p:nvSpPr>
          <p:cNvPr id="20" name="Text 18"/>
          <p:cNvSpPr txBox="1"/>
          <p:nvPr/>
        </p:nvSpPr>
        <p:spPr>
          <a:xfrm>
            <a:off x="6309360" y="4306824"/>
            <a:ext cx="640080" cy="502920"/>
          </a:xfrm>
          <a:prstGeom prst="rect">
            <a:avLst/>
          </a:prstGeom>
          <a:noFill/>
          <a:ln/>
        </p:spPr>
        <p:txBody>
          <a:bodyPr wrap="square" lIns="0" tIns="0" rIns="0" bIns="0" rtlCol="0" anchor="ctr"/>
          <a:lstStyle/>
          <a:p>
            <a:pPr marL="0" indent="0">
              <a:buNone/>
            </a:pPr>
            <a:r>
              <a:rPr lang="en-US" sz="1700" b="1" dirty="0">
                <a:solidFill>
                  <a:srgbClr val="9A6BFF"/>
                </a:solidFill>
                <a:latin typeface="Courier New" pitchFamily="34" charset="0"/>
                <a:ea typeface="Courier New" pitchFamily="34" charset="-122"/>
                <a:cs typeface="Courier New" pitchFamily="34" charset="-120"/>
              </a:rPr>
              <a:t>09</a:t>
            </a:r>
            <a:endParaRPr lang="en-US" sz="1700" dirty="0"/>
          </a:p>
        </p:txBody>
      </p:sp>
      <p:sp>
        <p:nvSpPr>
          <p:cNvPr id="21" name="Text 19"/>
          <p:cNvSpPr txBox="1"/>
          <p:nvPr/>
        </p:nvSpPr>
        <p:spPr>
          <a:xfrm>
            <a:off x="7022592" y="4306824"/>
            <a:ext cx="4617720" cy="502920"/>
          </a:xfrm>
          <a:prstGeom prst="rect">
            <a:avLst/>
          </a:prstGeom>
          <a:noFill/>
          <a:ln/>
        </p:spPr>
        <p:txBody>
          <a:bodyPr wrap="square" lIns="0" tIns="0" rIns="0" bIns="0" rtlCol="0" anchor="ctr"/>
          <a:lstStyle/>
          <a:p>
            <a:pPr marL="0" indent="0">
              <a:lnSpc>
                <a:spcPct val="100000"/>
              </a:lnSpc>
              <a:buNone/>
            </a:pPr>
            <a:r>
              <a:rPr lang="en-US" sz="1650" b="1" dirty="0">
                <a:solidFill>
                  <a:srgbClr val="E9EEF7"/>
                </a:solidFill>
                <a:latin typeface="Arial" pitchFamily="34" charset="0"/>
                <a:ea typeface="Arial" pitchFamily="34" charset="-122"/>
                <a:cs typeface="Arial" pitchFamily="34" charset="-120"/>
              </a:rPr>
              <a:t>Assume weaknesses will be chained.</a:t>
            </a:r>
            <a:endParaRPr lang="en-US" sz="1650" dirty="0"/>
          </a:p>
        </p:txBody>
      </p:sp>
      <p:sp>
        <p:nvSpPr>
          <p:cNvPr id="22" name="Text 20"/>
          <p:cNvSpPr txBox="1"/>
          <p:nvPr/>
        </p:nvSpPr>
        <p:spPr>
          <a:xfrm>
            <a:off x="6309360" y="5148072"/>
            <a:ext cx="640080" cy="502920"/>
          </a:xfrm>
          <a:prstGeom prst="rect">
            <a:avLst/>
          </a:prstGeom>
          <a:noFill/>
          <a:ln/>
        </p:spPr>
        <p:txBody>
          <a:bodyPr wrap="square" lIns="0" tIns="0" rIns="0" bIns="0" rtlCol="0" anchor="ctr"/>
          <a:lstStyle/>
          <a:p>
            <a:pPr marL="0" indent="0">
              <a:buNone/>
            </a:pPr>
            <a:r>
              <a:rPr lang="en-US" sz="1700" b="1" dirty="0">
                <a:solidFill>
                  <a:srgbClr val="9A6BFF"/>
                </a:solidFill>
                <a:latin typeface="Courier New" pitchFamily="34" charset="0"/>
                <a:ea typeface="Courier New" pitchFamily="34" charset="-122"/>
                <a:cs typeface="Courier New" pitchFamily="34" charset="-120"/>
              </a:rPr>
              <a:t>10</a:t>
            </a:r>
            <a:endParaRPr lang="en-US" sz="1700" dirty="0"/>
          </a:p>
        </p:txBody>
      </p:sp>
      <p:sp>
        <p:nvSpPr>
          <p:cNvPr id="23" name="Text 21"/>
          <p:cNvSpPr txBox="1"/>
          <p:nvPr/>
        </p:nvSpPr>
        <p:spPr>
          <a:xfrm>
            <a:off x="7022592" y="5148072"/>
            <a:ext cx="4617720" cy="502920"/>
          </a:xfrm>
          <a:prstGeom prst="rect">
            <a:avLst/>
          </a:prstGeom>
          <a:noFill/>
          <a:ln/>
        </p:spPr>
        <p:txBody>
          <a:bodyPr wrap="square" lIns="0" tIns="0" rIns="0" bIns="0" rtlCol="0" anchor="ctr"/>
          <a:lstStyle/>
          <a:p>
            <a:pPr marL="0" indent="0">
              <a:lnSpc>
                <a:spcPct val="100000"/>
              </a:lnSpc>
              <a:buNone/>
            </a:pPr>
            <a:r>
              <a:rPr lang="en-US" sz="1650" b="1" dirty="0">
                <a:solidFill>
                  <a:srgbClr val="E9EEF7"/>
                </a:solidFill>
                <a:latin typeface="Arial" pitchFamily="34" charset="0"/>
                <a:ea typeface="Arial" pitchFamily="34" charset="-122"/>
                <a:cs typeface="Arial" pitchFamily="34" charset="-120"/>
              </a:rPr>
              <a:t>Build security into the lifecycle.</a:t>
            </a:r>
            <a:endParaRPr lang="en-US" sz="1650" dirty="0"/>
          </a:p>
        </p:txBody>
      </p:sp>
      <p:sp>
        <p:nvSpPr>
          <p:cNvPr id="25" name="Text 22"/>
          <p:cNvSpPr txBox="1"/>
          <p:nvPr/>
        </p:nvSpPr>
        <p:spPr>
          <a:xfrm>
            <a:off x="8595360" y="6382512"/>
            <a:ext cx="3044952" cy="228600"/>
          </a:xfrm>
          <a:prstGeom prst="rect">
            <a:avLst/>
          </a:prstGeom>
          <a:noFill/>
          <a:ln/>
        </p:spPr>
        <p:txBody>
          <a:bodyPr wrap="square" lIns="0" tIns="0" rIns="0" bIns="0" rtlCol="0" anchor="ctr"/>
          <a:lstStyle/>
          <a:p>
            <a:pPr marL="0" indent="0" algn="r">
              <a:buNone/>
            </a:pPr>
            <a:r>
              <a:rPr lang="en-US" sz="900" kern="0" spc="100" dirty="0">
                <a:solidFill>
                  <a:srgbClr val="3B4558"/>
                </a:solidFill>
                <a:latin typeface="Arial" pitchFamily="34" charset="0"/>
                <a:ea typeface="Arial" pitchFamily="34" charset="-122"/>
                <a:cs typeface="Arial" pitchFamily="34" charset="-120"/>
              </a:rPr>
              <a:t>HACK TO SECURE IT   ·   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070A11"/>
        </a:solidFill>
        <a:effectLst/>
      </p:bgPr>
    </p:bg>
    <p:spTree>
      <p:nvGrpSpPr>
        <p:cNvPr id="1" name=""/>
        <p:cNvGrpSpPr/>
        <p:nvPr/>
      </p:nvGrpSpPr>
      <p:grpSpPr>
        <a:xfrm>
          <a:off x="0" y="0"/>
          <a:ext cx="0" cy="0"/>
          <a:chOff x="0" y="0"/>
          <a:chExt cx="0" cy="0"/>
        </a:xfrm>
      </p:grpSpPr>
      <p:sp>
        <p:nvSpPr>
          <p:cNvPr id="2" name="Text 0"/>
          <p:cNvSpPr txBox="1"/>
          <p:nvPr/>
        </p:nvSpPr>
        <p:spPr>
          <a:xfrm>
            <a:off x="822960" y="1737360"/>
            <a:ext cx="10515600" cy="868680"/>
          </a:xfrm>
          <a:prstGeom prst="rect">
            <a:avLst/>
          </a:prstGeom>
          <a:noFill/>
          <a:ln/>
        </p:spPr>
        <p:txBody>
          <a:bodyPr wrap="square" lIns="0" tIns="0" rIns="0" bIns="0" rtlCol="0" anchor="ctr"/>
          <a:lstStyle/>
          <a:p>
            <a:pPr marL="0" indent="0">
              <a:buNone/>
            </a:pPr>
            <a:r>
              <a:rPr lang="en-US" sz="4000" b="1" dirty="0">
                <a:solidFill>
                  <a:srgbClr val="E9EEF7"/>
                </a:solidFill>
                <a:latin typeface="Arial" pitchFamily="34" charset="0"/>
                <a:ea typeface="Arial" pitchFamily="34" charset="-122"/>
                <a:cs typeface="Arial" pitchFamily="34" charset="-120"/>
              </a:rPr>
              <a:t>Hackers don’t break applications.</a:t>
            </a:r>
            <a:endParaRPr lang="en-US" sz="4000" dirty="0"/>
          </a:p>
        </p:txBody>
      </p:sp>
      <p:sp>
        <p:nvSpPr>
          <p:cNvPr id="3" name="Text 1"/>
          <p:cNvSpPr txBox="1"/>
          <p:nvPr/>
        </p:nvSpPr>
        <p:spPr>
          <a:xfrm>
            <a:off x="822960" y="2697480"/>
            <a:ext cx="10515600" cy="1554480"/>
          </a:xfrm>
          <a:prstGeom prst="rect">
            <a:avLst/>
          </a:prstGeom>
          <a:noFill/>
          <a:ln/>
        </p:spPr>
        <p:txBody>
          <a:bodyPr wrap="square" lIns="0" tIns="0" rIns="0" bIns="0" rtlCol="0" anchor="ctr"/>
          <a:lstStyle/>
          <a:p>
            <a:pPr marL="0" indent="0">
              <a:lnSpc>
                <a:spcPct val="110000"/>
              </a:lnSpc>
              <a:buNone/>
            </a:pPr>
            <a:r>
              <a:rPr lang="en-US" sz="4000" b="1" dirty="0">
                <a:solidFill>
                  <a:srgbClr val="9A6BFF"/>
                </a:solidFill>
                <a:latin typeface="Arial" pitchFamily="34" charset="0"/>
                <a:ea typeface="Arial" pitchFamily="34" charset="-122"/>
                <a:cs typeface="Arial" pitchFamily="34" charset="-120"/>
              </a:rPr>
              <a:t>They find the assumptions</a:t>
            </a:r>
            <a:endParaRPr lang="en-US" sz="4000" dirty="0"/>
          </a:p>
          <a:p>
            <a:pPr marL="0" indent="0">
              <a:lnSpc>
                <a:spcPct val="110000"/>
              </a:lnSpc>
              <a:buNone/>
            </a:pPr>
            <a:r>
              <a:rPr lang="en-US" sz="4000" b="1" dirty="0">
                <a:solidFill>
                  <a:srgbClr val="9A6BFF"/>
                </a:solidFill>
                <a:latin typeface="Arial" pitchFamily="34" charset="0"/>
                <a:ea typeface="Arial" pitchFamily="34" charset="-122"/>
                <a:cs typeface="Arial" pitchFamily="34" charset="-120"/>
              </a:rPr>
              <a:t>developers forgot to secure.</a:t>
            </a:r>
            <a:endParaRPr lang="en-US" sz="4000" dirty="0"/>
          </a:p>
        </p:txBody>
      </p:sp>
      <p:sp>
        <p:nvSpPr>
          <p:cNvPr id="4" name="Shape 2"/>
          <p:cNvSpPr/>
          <p:nvPr/>
        </p:nvSpPr>
        <p:spPr>
          <a:xfrm>
            <a:off x="822960" y="4572000"/>
            <a:ext cx="1463040" cy="41148"/>
          </a:xfrm>
          <a:prstGeom prst="rect">
            <a:avLst/>
          </a:prstGeom>
          <a:solidFill>
            <a:srgbClr val="FF6B5E"/>
          </a:solidFill>
          <a:ln w="12700">
            <a:solidFill>
              <a:srgbClr val="0B0F17"/>
            </a:solidFill>
            <a:prstDash val="solid"/>
          </a:ln>
        </p:spPr>
        <p:txBody>
          <a:bodyPr/>
          <a:lstStyle/>
          <a:p>
            <a:endParaRPr lang="en-NP"/>
          </a:p>
        </p:txBody>
      </p:sp>
      <p:sp>
        <p:nvSpPr>
          <p:cNvPr id="5" name="Text 3"/>
          <p:cNvSpPr txBox="1"/>
          <p:nvPr/>
        </p:nvSpPr>
        <p:spPr>
          <a:xfrm>
            <a:off x="822960" y="4983480"/>
            <a:ext cx="10515600" cy="548640"/>
          </a:xfrm>
          <a:prstGeom prst="rect">
            <a:avLst/>
          </a:prstGeom>
          <a:noFill/>
          <a:ln/>
        </p:spPr>
        <p:txBody>
          <a:bodyPr wrap="square" lIns="0" tIns="0" rIns="0" bIns="0" rtlCol="0" anchor="ctr"/>
          <a:lstStyle/>
          <a:p>
            <a:pPr marL="0" indent="0">
              <a:buNone/>
            </a:pPr>
            <a:r>
              <a:rPr lang="en-US" sz="2600" b="1" dirty="0">
                <a:solidFill>
                  <a:srgbClr val="E9EEF7"/>
                </a:solidFill>
                <a:latin typeface="Arial" pitchFamily="34" charset="0"/>
                <a:ea typeface="Arial" pitchFamily="34" charset="-122"/>
                <a:cs typeface="Arial" pitchFamily="34" charset="-120"/>
              </a:rPr>
              <a:t>Think like an attacker.   Build like a defender.</a:t>
            </a:r>
            <a:endParaRPr lang="en-US" sz="2600" dirty="0"/>
          </a:p>
        </p:txBody>
      </p:sp>
      <p:sp>
        <p:nvSpPr>
          <p:cNvPr id="6" name="Text 4"/>
          <p:cNvSpPr txBox="1"/>
          <p:nvPr/>
        </p:nvSpPr>
        <p:spPr>
          <a:xfrm>
            <a:off x="822960" y="5715000"/>
            <a:ext cx="10515600" cy="365760"/>
          </a:xfrm>
          <a:prstGeom prst="rect">
            <a:avLst/>
          </a:prstGeom>
          <a:noFill/>
          <a:ln/>
        </p:spPr>
        <p:txBody>
          <a:bodyPr wrap="square" lIns="0" tIns="0" rIns="0" bIns="0" rtlCol="0" anchor="ctr"/>
          <a:lstStyle/>
          <a:p>
            <a:pPr marL="0" indent="0">
              <a:buNone/>
            </a:pPr>
            <a:r>
              <a:rPr lang="en-US" sz="1500" i="1" dirty="0">
                <a:solidFill>
                  <a:srgbClr val="8C97AC"/>
                </a:solidFill>
                <a:latin typeface="Arial" pitchFamily="34" charset="0"/>
                <a:ea typeface="Arial" pitchFamily="34" charset="-122"/>
                <a:cs typeface="Arial" pitchFamily="34" charset="-120"/>
              </a:rPr>
              <a:t>You already have the hardest skill for this: you know how the thing is built.</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0B0F17"/>
        </a:solidFill>
        <a:effectLst/>
      </p:bgPr>
    </p:bg>
    <p:spTree>
      <p:nvGrpSpPr>
        <p:cNvPr id="1" name=""/>
        <p:cNvGrpSpPr/>
        <p:nvPr/>
      </p:nvGrpSpPr>
      <p:grpSpPr>
        <a:xfrm>
          <a:off x="0" y="0"/>
          <a:ext cx="0" cy="0"/>
          <a:chOff x="0" y="0"/>
          <a:chExt cx="0" cy="0"/>
        </a:xfrm>
      </p:grpSpPr>
      <p:sp>
        <p:nvSpPr>
          <p:cNvPr id="2" name="Text 0"/>
          <p:cNvSpPr txBox="1"/>
          <p:nvPr/>
        </p:nvSpPr>
        <p:spPr>
          <a:xfrm>
            <a:off x="822960" y="1463040"/>
            <a:ext cx="10515600" cy="1005840"/>
          </a:xfrm>
          <a:prstGeom prst="rect">
            <a:avLst/>
          </a:prstGeom>
          <a:noFill/>
          <a:ln/>
        </p:spPr>
        <p:txBody>
          <a:bodyPr wrap="square" lIns="0" tIns="0" rIns="0" bIns="0" rtlCol="0" anchor="ctr"/>
          <a:lstStyle/>
          <a:p>
            <a:pPr marL="0" indent="0">
              <a:buNone/>
            </a:pPr>
            <a:r>
              <a:rPr lang="en-US" sz="5200" b="1" dirty="0">
                <a:solidFill>
                  <a:srgbClr val="E9EEF7"/>
                </a:solidFill>
                <a:latin typeface="Arial" pitchFamily="34" charset="0"/>
                <a:ea typeface="Arial" pitchFamily="34" charset="-122"/>
                <a:cs typeface="Arial" pitchFamily="34" charset="-120"/>
              </a:rPr>
              <a:t>Your Turn.</a:t>
            </a:r>
            <a:endParaRPr lang="en-US" sz="5200" dirty="0"/>
          </a:p>
        </p:txBody>
      </p:sp>
      <p:sp>
        <p:nvSpPr>
          <p:cNvPr id="3" name="Text 1"/>
          <p:cNvSpPr txBox="1"/>
          <p:nvPr/>
        </p:nvSpPr>
        <p:spPr>
          <a:xfrm>
            <a:off x="822960" y="2514600"/>
            <a:ext cx="10515600" cy="502920"/>
          </a:xfrm>
          <a:prstGeom prst="rect">
            <a:avLst/>
          </a:prstGeom>
          <a:noFill/>
          <a:ln/>
        </p:spPr>
        <p:txBody>
          <a:bodyPr wrap="square" lIns="0" tIns="0" rIns="0" bIns="0" rtlCol="0" anchor="ctr"/>
          <a:lstStyle/>
          <a:p>
            <a:pPr marL="0" indent="0">
              <a:buNone/>
            </a:pPr>
            <a:r>
              <a:rPr lang="en-US" sz="2400" dirty="0">
                <a:solidFill>
                  <a:srgbClr val="C9B6FF"/>
                </a:solidFill>
                <a:latin typeface="Arial" pitchFamily="34" charset="0"/>
                <a:ea typeface="Arial" pitchFamily="34" charset="-122"/>
                <a:cs typeface="Arial" pitchFamily="34" charset="-120"/>
              </a:rPr>
              <a:t>What would you try to break first?</a:t>
            </a:r>
            <a:endParaRPr lang="en-US" sz="2400" dirty="0"/>
          </a:p>
        </p:txBody>
      </p:sp>
      <p:sp>
        <p:nvSpPr>
          <p:cNvPr id="4" name="Shape 2"/>
          <p:cNvSpPr/>
          <p:nvPr/>
        </p:nvSpPr>
        <p:spPr>
          <a:xfrm>
            <a:off x="822960" y="3429000"/>
            <a:ext cx="5852160" cy="2286000"/>
          </a:xfrm>
          <a:prstGeom prst="roundRect">
            <a:avLst>
              <a:gd name="adj" fmla="val 3200"/>
            </a:avLst>
          </a:prstGeom>
          <a:solidFill>
            <a:srgbClr val="141A26"/>
          </a:solidFill>
          <a:ln w="12700">
            <a:solidFill>
              <a:srgbClr val="2A3446"/>
            </a:solidFill>
            <a:prstDash val="solid"/>
          </a:ln>
        </p:spPr>
        <p:txBody>
          <a:bodyPr/>
          <a:lstStyle/>
          <a:p>
            <a:endParaRPr lang="en-NP"/>
          </a:p>
        </p:txBody>
      </p:sp>
      <p:sp>
        <p:nvSpPr>
          <p:cNvPr id="5" name="Text 3"/>
          <p:cNvSpPr txBox="1"/>
          <p:nvPr/>
        </p:nvSpPr>
        <p:spPr>
          <a:xfrm>
            <a:off x="1097280" y="3611880"/>
            <a:ext cx="5303520" cy="256032"/>
          </a:xfrm>
          <a:prstGeom prst="rect">
            <a:avLst/>
          </a:prstGeom>
          <a:noFill/>
          <a:ln/>
        </p:spPr>
        <p:txBody>
          <a:bodyPr wrap="square" lIns="0" tIns="0" rIns="0" bIns="0" rtlCol="0" anchor="ctr"/>
          <a:lstStyle/>
          <a:p>
            <a:pPr marL="0" indent="0">
              <a:buNone/>
            </a:pPr>
            <a:r>
              <a:rPr lang="en-US" sz="1050" b="1" kern="0" spc="180" dirty="0">
                <a:solidFill>
                  <a:srgbClr val="9A6BFF"/>
                </a:solidFill>
                <a:latin typeface="Arial" pitchFamily="34" charset="0"/>
                <a:ea typeface="Arial" pitchFamily="34" charset="-122"/>
                <a:cs typeface="Arial" pitchFamily="34" charset="-120"/>
              </a:rPr>
              <a:t>FIND ME</a:t>
            </a:r>
            <a:endParaRPr lang="en-US" sz="1050" dirty="0"/>
          </a:p>
        </p:txBody>
      </p:sp>
      <p:sp>
        <p:nvSpPr>
          <p:cNvPr id="6" name="Text 4"/>
          <p:cNvSpPr txBox="1"/>
          <p:nvPr/>
        </p:nvSpPr>
        <p:spPr>
          <a:xfrm>
            <a:off x="1097280" y="3977640"/>
            <a:ext cx="1371600" cy="274320"/>
          </a:xfrm>
          <a:prstGeom prst="rect">
            <a:avLst/>
          </a:prstGeom>
          <a:noFill/>
          <a:ln/>
        </p:spPr>
        <p:txBody>
          <a:bodyPr wrap="square" lIns="0" tIns="0" rIns="0" bIns="0" rtlCol="0" anchor="ctr"/>
          <a:lstStyle/>
          <a:p>
            <a:pPr marL="0" indent="0">
              <a:buNone/>
            </a:pPr>
            <a:r>
              <a:rPr lang="en-US" sz="900" b="1" kern="0" spc="120" dirty="0">
                <a:solidFill>
                  <a:srgbClr val="5C687D"/>
                </a:solidFill>
                <a:latin typeface="Arial" pitchFamily="34" charset="0"/>
                <a:ea typeface="Arial" pitchFamily="34" charset="-122"/>
                <a:cs typeface="Arial" pitchFamily="34" charset="-120"/>
              </a:rPr>
              <a:t>NAME</a:t>
            </a:r>
            <a:endParaRPr lang="en-US" sz="900" dirty="0"/>
          </a:p>
        </p:txBody>
      </p:sp>
      <p:sp>
        <p:nvSpPr>
          <p:cNvPr id="7" name="Text 5"/>
          <p:cNvSpPr txBox="1"/>
          <p:nvPr/>
        </p:nvSpPr>
        <p:spPr>
          <a:xfrm>
            <a:off x="2514600" y="3977640"/>
            <a:ext cx="3931920" cy="274320"/>
          </a:xfrm>
          <a:prstGeom prst="rect">
            <a:avLst/>
          </a:prstGeom>
          <a:noFill/>
          <a:ln/>
        </p:spPr>
        <p:txBody>
          <a:bodyPr wrap="square" lIns="0" tIns="0" rIns="0" bIns="0" rtlCol="0" anchor="ctr"/>
          <a:lstStyle/>
          <a:p>
            <a:pPr marL="0" indent="0">
              <a:buNone/>
            </a:pPr>
            <a:r>
              <a:rPr lang="en-US" sz="1300" dirty="0">
                <a:solidFill>
                  <a:srgbClr val="E9EEF7"/>
                </a:solidFill>
                <a:latin typeface="Arial" pitchFamily="34" charset="0"/>
                <a:ea typeface="Arial" pitchFamily="34" charset="-122"/>
                <a:cs typeface="Arial" pitchFamily="34" charset="-120"/>
              </a:rPr>
              <a:t>BIPUL GHIMIRE</a:t>
            </a:r>
            <a:endParaRPr lang="en-US" sz="1300" dirty="0"/>
          </a:p>
        </p:txBody>
      </p:sp>
      <p:sp>
        <p:nvSpPr>
          <p:cNvPr id="8" name="Text 6"/>
          <p:cNvSpPr txBox="1"/>
          <p:nvPr/>
        </p:nvSpPr>
        <p:spPr>
          <a:xfrm>
            <a:off x="1097280" y="4398264"/>
            <a:ext cx="1371600" cy="274320"/>
          </a:xfrm>
          <a:prstGeom prst="rect">
            <a:avLst/>
          </a:prstGeom>
          <a:noFill/>
          <a:ln/>
        </p:spPr>
        <p:txBody>
          <a:bodyPr wrap="square" lIns="0" tIns="0" rIns="0" bIns="0" rtlCol="0" anchor="ctr"/>
          <a:lstStyle/>
          <a:p>
            <a:pPr marL="0" indent="0">
              <a:buNone/>
            </a:pPr>
            <a:r>
              <a:rPr lang="en-US" sz="900" b="1" kern="0" spc="120" dirty="0">
                <a:solidFill>
                  <a:srgbClr val="5C687D"/>
                </a:solidFill>
                <a:latin typeface="Arial" pitchFamily="34" charset="0"/>
                <a:ea typeface="Arial" pitchFamily="34" charset="-122"/>
                <a:cs typeface="Arial" pitchFamily="34" charset="-120"/>
              </a:rPr>
              <a:t>GITHUB</a:t>
            </a:r>
            <a:endParaRPr lang="en-US" sz="900" dirty="0"/>
          </a:p>
        </p:txBody>
      </p:sp>
      <p:sp>
        <p:nvSpPr>
          <p:cNvPr id="9" name="Text 7"/>
          <p:cNvSpPr txBox="1"/>
          <p:nvPr/>
        </p:nvSpPr>
        <p:spPr>
          <a:xfrm>
            <a:off x="2514600" y="4398264"/>
            <a:ext cx="3931920" cy="274320"/>
          </a:xfrm>
          <a:prstGeom prst="rect">
            <a:avLst/>
          </a:prstGeom>
          <a:noFill/>
          <a:ln/>
        </p:spPr>
        <p:txBody>
          <a:bodyPr wrap="square" lIns="0" tIns="0" rIns="0" bIns="0" rtlCol="0" anchor="ctr"/>
          <a:lstStyle/>
          <a:p>
            <a:pPr marL="0" indent="0">
              <a:buNone/>
            </a:pPr>
            <a:r>
              <a:rPr lang="en-US" sz="1300" dirty="0" err="1">
                <a:solidFill>
                  <a:srgbClr val="E9EEF7"/>
                </a:solidFill>
                <a:latin typeface="Arial" pitchFamily="34" charset="0"/>
                <a:ea typeface="Arial" pitchFamily="34" charset="-122"/>
                <a:cs typeface="Arial" pitchFamily="34" charset="-120"/>
              </a:rPr>
              <a:t>github.com</a:t>
            </a:r>
            <a:r>
              <a:rPr lang="en-US" sz="1300" dirty="0">
                <a:solidFill>
                  <a:srgbClr val="E9EEF7"/>
                </a:solidFill>
                <a:latin typeface="Arial" pitchFamily="34" charset="0"/>
                <a:ea typeface="Arial" pitchFamily="34" charset="-122"/>
                <a:cs typeface="Arial" pitchFamily="34" charset="-120"/>
              </a:rPr>
              <a:t>/</a:t>
            </a:r>
            <a:r>
              <a:rPr lang="en-US" sz="1300" dirty="0" err="1">
                <a:solidFill>
                  <a:srgbClr val="E9EEF7"/>
                </a:solidFill>
                <a:latin typeface="Arial" pitchFamily="34" charset="0"/>
                <a:ea typeface="Arial" pitchFamily="34" charset="-122"/>
                <a:cs typeface="Arial" pitchFamily="34" charset="-120"/>
              </a:rPr>
              <a:t>hyphenTBG</a:t>
            </a:r>
            <a:endParaRPr lang="en-US" sz="1300" dirty="0"/>
          </a:p>
        </p:txBody>
      </p:sp>
      <p:sp>
        <p:nvSpPr>
          <p:cNvPr id="10" name="Text 8"/>
          <p:cNvSpPr txBox="1"/>
          <p:nvPr/>
        </p:nvSpPr>
        <p:spPr>
          <a:xfrm>
            <a:off x="1097280" y="4818888"/>
            <a:ext cx="1371600" cy="274320"/>
          </a:xfrm>
          <a:prstGeom prst="rect">
            <a:avLst/>
          </a:prstGeom>
          <a:noFill/>
          <a:ln/>
        </p:spPr>
        <p:txBody>
          <a:bodyPr wrap="square" lIns="0" tIns="0" rIns="0" bIns="0" rtlCol="0" anchor="ctr"/>
          <a:lstStyle/>
          <a:p>
            <a:pPr marL="0" indent="0">
              <a:buNone/>
            </a:pPr>
            <a:r>
              <a:rPr lang="en-US" sz="900" b="1" kern="0" spc="120" dirty="0">
                <a:solidFill>
                  <a:srgbClr val="5C687D"/>
                </a:solidFill>
                <a:latin typeface="Arial" pitchFamily="34" charset="0"/>
                <a:ea typeface="Arial" pitchFamily="34" charset="-122"/>
                <a:cs typeface="Arial" pitchFamily="34" charset="-120"/>
              </a:rPr>
              <a:t>LINKEDIN</a:t>
            </a:r>
            <a:endParaRPr lang="en-US" sz="900" dirty="0"/>
          </a:p>
        </p:txBody>
      </p:sp>
      <p:sp>
        <p:nvSpPr>
          <p:cNvPr id="11" name="Text 9"/>
          <p:cNvSpPr txBox="1"/>
          <p:nvPr/>
        </p:nvSpPr>
        <p:spPr>
          <a:xfrm>
            <a:off x="2514600" y="4818888"/>
            <a:ext cx="3931920" cy="274320"/>
          </a:xfrm>
          <a:prstGeom prst="rect">
            <a:avLst/>
          </a:prstGeom>
          <a:noFill/>
          <a:ln/>
        </p:spPr>
        <p:txBody>
          <a:bodyPr wrap="square" lIns="0" tIns="0" rIns="0" bIns="0" rtlCol="0" anchor="ctr"/>
          <a:lstStyle/>
          <a:p>
            <a:pPr marL="0" indent="0">
              <a:buNone/>
            </a:pPr>
            <a:r>
              <a:rPr lang="en-US" sz="1300" dirty="0">
                <a:solidFill>
                  <a:srgbClr val="E9EEF7"/>
                </a:solidFill>
                <a:latin typeface="Arial" pitchFamily="34" charset="0"/>
                <a:ea typeface="Arial" pitchFamily="34" charset="-122"/>
                <a:cs typeface="Arial" pitchFamily="34" charset="-120"/>
              </a:rPr>
              <a:t>linkedin.com/in/</a:t>
            </a:r>
            <a:r>
              <a:rPr lang="en-US" sz="1300" dirty="0" err="1">
                <a:solidFill>
                  <a:srgbClr val="E9EEF7"/>
                </a:solidFill>
                <a:latin typeface="Arial" pitchFamily="34" charset="0"/>
                <a:ea typeface="Arial" pitchFamily="34" charset="-122"/>
                <a:cs typeface="Arial" pitchFamily="34" charset="-120"/>
              </a:rPr>
              <a:t>bipulghimire-thebul</a:t>
            </a:r>
            <a:endParaRPr lang="en-US" sz="1300" dirty="0"/>
          </a:p>
        </p:txBody>
      </p:sp>
      <p:sp>
        <p:nvSpPr>
          <p:cNvPr id="12" name="Text 10"/>
          <p:cNvSpPr txBox="1"/>
          <p:nvPr/>
        </p:nvSpPr>
        <p:spPr>
          <a:xfrm>
            <a:off x="1097280" y="5239512"/>
            <a:ext cx="1371600" cy="274320"/>
          </a:xfrm>
          <a:prstGeom prst="rect">
            <a:avLst/>
          </a:prstGeom>
          <a:noFill/>
          <a:ln/>
        </p:spPr>
        <p:txBody>
          <a:bodyPr wrap="square" lIns="0" tIns="0" rIns="0" bIns="0" rtlCol="0" anchor="ctr"/>
          <a:lstStyle/>
          <a:p>
            <a:pPr marL="0" indent="0">
              <a:buNone/>
            </a:pPr>
            <a:r>
              <a:rPr lang="en-US" sz="900" b="1" kern="0" spc="120" dirty="0">
                <a:solidFill>
                  <a:srgbClr val="5C687D"/>
                </a:solidFill>
                <a:latin typeface="Arial" pitchFamily="34" charset="0"/>
                <a:ea typeface="Arial" pitchFamily="34" charset="-122"/>
                <a:cs typeface="Arial" pitchFamily="34" charset="-120"/>
              </a:rPr>
              <a:t>EMAIL / SITE</a:t>
            </a:r>
            <a:endParaRPr lang="en-US" sz="900" dirty="0"/>
          </a:p>
        </p:txBody>
      </p:sp>
      <p:sp>
        <p:nvSpPr>
          <p:cNvPr id="13" name="Text 11"/>
          <p:cNvSpPr txBox="1"/>
          <p:nvPr/>
        </p:nvSpPr>
        <p:spPr>
          <a:xfrm>
            <a:off x="2514600" y="5239512"/>
            <a:ext cx="3931920" cy="274320"/>
          </a:xfrm>
          <a:prstGeom prst="rect">
            <a:avLst/>
          </a:prstGeom>
          <a:noFill/>
          <a:ln/>
        </p:spPr>
        <p:txBody>
          <a:bodyPr wrap="square" lIns="0" tIns="0" rIns="0" bIns="0" rtlCol="0" anchor="ctr"/>
          <a:lstStyle/>
          <a:p>
            <a:pPr marL="0" indent="0">
              <a:buNone/>
            </a:pPr>
            <a:r>
              <a:rPr lang="en-US" sz="1300" dirty="0" err="1">
                <a:solidFill>
                  <a:srgbClr val="E9EEF7"/>
                </a:solidFill>
                <a:latin typeface="Arial" pitchFamily="34" charset="0"/>
                <a:cs typeface="Arial" pitchFamily="34" charset="-120"/>
              </a:rPr>
              <a:t>bipulghimire.com.np</a:t>
            </a:r>
            <a:endParaRPr lang="en-US" sz="1300" dirty="0"/>
          </a:p>
        </p:txBody>
      </p:sp>
      <p:sp>
        <p:nvSpPr>
          <p:cNvPr id="15" name="Text 13"/>
          <p:cNvSpPr txBox="1"/>
          <p:nvPr/>
        </p:nvSpPr>
        <p:spPr>
          <a:xfrm>
            <a:off x="7406640" y="3429000"/>
            <a:ext cx="2286000" cy="2286000"/>
          </a:xfrm>
          <a:prstGeom prst="rect">
            <a:avLst/>
          </a:prstGeom>
          <a:noFill/>
          <a:ln/>
        </p:spPr>
        <p:txBody>
          <a:bodyPr wrap="square" lIns="0" tIns="0" rIns="0" bIns="0" rtlCol="0" anchor="ctr"/>
          <a:lstStyle/>
          <a:p>
            <a:pPr marL="0" indent="0" algn="ctr">
              <a:lnSpc>
                <a:spcPct val="120000"/>
              </a:lnSpc>
              <a:buNone/>
            </a:pPr>
            <a:endParaRPr lang="en-US" sz="1200" dirty="0"/>
          </a:p>
        </p:txBody>
      </p:sp>
      <p:sp>
        <p:nvSpPr>
          <p:cNvPr id="19" name="Text 17"/>
          <p:cNvSpPr txBox="1"/>
          <p:nvPr/>
        </p:nvSpPr>
        <p:spPr>
          <a:xfrm>
            <a:off x="10315448" y="5144008"/>
            <a:ext cx="1307592" cy="377952"/>
          </a:xfrm>
          <a:prstGeom prst="rect">
            <a:avLst/>
          </a:prstGeom>
          <a:noFill/>
          <a:ln/>
        </p:spPr>
        <p:txBody>
          <a:bodyPr wrap="square" lIns="0" tIns="0" rIns="0" bIns="0" rtlCol="0" anchor="ctr"/>
          <a:lstStyle/>
          <a:p>
            <a:pPr marL="0" indent="0" algn="ctr">
              <a:lnSpc>
                <a:spcPct val="120000"/>
              </a:lnSpc>
              <a:buNone/>
            </a:pPr>
            <a:r>
              <a:rPr lang="en-US" sz="1100" i="1" dirty="0">
                <a:solidFill>
                  <a:srgbClr val="8C97AC"/>
                </a:solidFill>
                <a:latin typeface="Arial" pitchFamily="34" charset="0"/>
                <a:cs typeface="Arial" pitchFamily="34" charset="-120"/>
              </a:rPr>
              <a:t>Questions</a:t>
            </a:r>
            <a:endParaRPr lang="en-US" sz="1100" dirty="0"/>
          </a:p>
        </p:txBody>
      </p:sp>
      <p:sp>
        <p:nvSpPr>
          <p:cNvPr id="20" name="Text 18"/>
          <p:cNvSpPr txBox="1"/>
          <p:nvPr/>
        </p:nvSpPr>
        <p:spPr>
          <a:xfrm>
            <a:off x="822960" y="6035040"/>
            <a:ext cx="10515600" cy="365760"/>
          </a:xfrm>
          <a:prstGeom prst="rect">
            <a:avLst/>
          </a:prstGeom>
          <a:noFill/>
          <a:ln/>
        </p:spPr>
        <p:txBody>
          <a:bodyPr wrap="square" lIns="0" tIns="0" rIns="0" bIns="0" rtlCol="0" anchor="ctr"/>
          <a:lstStyle/>
          <a:p>
            <a:pPr marL="0" indent="0">
              <a:buNone/>
            </a:pPr>
            <a:r>
              <a:rPr lang="en-US" sz="1400" i="1" dirty="0">
                <a:solidFill>
                  <a:srgbClr val="8C97AC"/>
                </a:solidFill>
                <a:latin typeface="Arial" pitchFamily="34" charset="0"/>
                <a:ea typeface="Arial" pitchFamily="34" charset="-122"/>
                <a:cs typeface="Arial" pitchFamily="34" charset="-120"/>
              </a:rPr>
              <a:t>Thank you — and please go check one endpoint tonight.</a:t>
            </a:r>
            <a:endParaRPr lang="en-US" sz="1400" dirty="0"/>
          </a:p>
        </p:txBody>
      </p:sp>
      <p:sp>
        <p:nvSpPr>
          <p:cNvPr id="21" name="Text 0">
            <a:extLst>
              <a:ext uri="{FF2B5EF4-FFF2-40B4-BE49-F238E27FC236}">
                <a16:creationId xmlns:a16="http://schemas.microsoft.com/office/drawing/2014/main" id="{75F9C57A-5826-72D7-FA84-19C592647A4D}"/>
              </a:ext>
            </a:extLst>
          </p:cNvPr>
          <p:cNvSpPr txBox="1"/>
          <p:nvPr/>
        </p:nvSpPr>
        <p:spPr>
          <a:xfrm>
            <a:off x="10315448" y="3366732"/>
            <a:ext cx="1023112" cy="1589316"/>
          </a:xfrm>
          <a:prstGeom prst="rect">
            <a:avLst/>
          </a:prstGeom>
          <a:noFill/>
          <a:ln/>
        </p:spPr>
        <p:txBody>
          <a:bodyPr wrap="square" lIns="0" tIns="0" rIns="0" bIns="0" rtlCol="0" anchor="ctr"/>
          <a:lstStyle/>
          <a:p>
            <a:pPr marL="0" indent="0" algn="r">
              <a:buNone/>
            </a:pPr>
            <a:r>
              <a:rPr lang="en-US" sz="15000" b="1" dirty="0">
                <a:solidFill>
                  <a:srgbClr val="172033"/>
                </a:solidFill>
                <a:latin typeface="Cambria" pitchFamily="34" charset="0"/>
                <a:ea typeface="Cambria" pitchFamily="34" charset="-122"/>
                <a:cs typeface="Cambria" pitchFamily="34" charset="-120"/>
              </a:rPr>
              <a:t>?</a:t>
            </a:r>
            <a:endParaRPr lang="en-US" sz="15000" dirty="0"/>
          </a:p>
        </p:txBody>
      </p:sp>
      <p:pic>
        <p:nvPicPr>
          <p:cNvPr id="16" name="Picture 15">
            <a:extLst>
              <a:ext uri="{FF2B5EF4-FFF2-40B4-BE49-F238E27FC236}">
                <a16:creationId xmlns:a16="http://schemas.microsoft.com/office/drawing/2014/main" id="{FDC41692-7DCE-25A1-1467-6EFB01FD69C2}"/>
              </a:ext>
            </a:extLst>
          </p:cNvPr>
          <p:cNvPicPr>
            <a:picLocks noChangeAspect="1"/>
          </p:cNvPicPr>
          <p:nvPr/>
        </p:nvPicPr>
        <p:blipFill>
          <a:blip r:embed="rId3"/>
          <a:stretch>
            <a:fillRect/>
          </a:stretch>
        </p:blipFill>
        <p:spPr>
          <a:xfrm>
            <a:off x="7501234" y="3496268"/>
            <a:ext cx="2113794" cy="20579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645</TotalTime>
  <Words>12309</Words>
  <Application>Microsoft Macintosh PowerPoint</Application>
  <PresentationFormat>Widescreen</PresentationFormat>
  <Paragraphs>781</Paragraphs>
  <Slides>41</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 to Secure It</dc:title>
  <dc:subject>PptxGenJS Presentation</dc:subject>
  <dc:creator>Hack to Secure It</dc:creator>
  <cp:lastModifiedBy>Bipul Ghimire</cp:lastModifiedBy>
  <cp:revision>27</cp:revision>
  <dcterms:created xsi:type="dcterms:W3CDTF">2026-09-03T12:23:47Z</dcterms:created>
  <dcterms:modified xsi:type="dcterms:W3CDTF">2026-09-05T07:08:54Z</dcterms:modified>
</cp:coreProperties>
</file>